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Xin chào thầy/cô và các bạn. Hôm nay nhóm mình trình bày Chương 11 của giáo trình</a:t>
            </a:r>
          </a:p>
          <a:p>
            <a:r>
              <a:t>"Cloud Computing: Concepts and Technologies" của Manvi và Shyam, chủ đề Bảo mật đám mây.</a:t>
            </a:r>
          </a:p>
          <a:p>
            <a:r>
              <a:t>Đây là chương khép lại phần kiến trúc và dịch vụ, trả lời câu hỏi: khi ta đưa dữ liệu và</a:t>
            </a:r>
          </a:p>
          <a:p>
            <a:r>
              <a:t>ứng dụng lên Đám mây thì rủi ro nằm ở đâu và ta bảo vệ bằng cách nào.</a:t>
            </a:r>
          </a:p>
          <a:p>
            <a:r>
              <a:t>Bài gồm bảy mục, đi từ bảo mật dữ liệu, kỹ thuật mã hóa, hạ tầng, rồi tới từng mô hình</a:t>
            </a:r>
          </a:p>
          <a:p>
            <a:r>
              <a:t>dịch vụ PaaS, SaaS, máy chủ ảo và cuối cùng là các biện pháp kiểm soát.</a:t>
            </a:r>
          </a:p>
          <a:p>
            <a:r>
              <a:t>Mình bắt đầu với mục tiêu bài học.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Sau chương này, chúng ta cần làm được ba việc.</a:t>
            </a:r>
          </a:p>
          <a:p>
            <a:r>
              <a:t>Một là đánh giá được bảo mật dữ liệu trong Đám mây — dữ liệu nằm yên và dữ liệu đang di chuyển.</a:t>
            </a:r>
          </a:p>
          <a:p>
            <a:r>
              <a:t>Hai là mô tả được cách quản lý bảo mật, tức là tổ chức phòng thủ ở mức hạ tầng và kiểm soát truy cập.</a:t>
            </a:r>
          </a:p>
          <a:p>
            <a:r>
              <a:t>Ba là so sánh được ba mô hình dịch vụ IaaS, PaaS, SaaS khác nhau ở chỗ nào về trách nhiệm bảo mật.</a:t>
            </a:r>
          </a:p>
          <a:p>
            <a:r>
              <a:t>Định nghĩa ở dưới rất đáng nhớ: bảo mật đám mây không phải một công nghệ đơn lẻ, mà là một tập hợp</a:t>
            </a:r>
          </a:p>
          <a:p>
            <a:r>
              <a:t>phương pháp, công nghệ và biện pháp kiểm soát. Nó là lĩnh vực con của bảo mật máy tính, bảo mật mạng</a:t>
            </a:r>
          </a:p>
          <a:p>
            <a:r>
              <a:t>và bảo mật dữ liệu — nghĩa là mọi kiến thức an toàn thông tin cũ vẫn còn giá trị.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bản đồ của bài. Bảy mục chia làm ba khối lớn.</a:t>
            </a:r>
          </a:p>
          <a:p>
            <a:r>
              <a:t>Khối một, mục 11.1 và 11.2, nói về dữ liệu và cách mã hóa dữ liệu.</a:t>
            </a:r>
          </a:p>
          <a:p>
            <a:r>
              <a:t>Khối hai, mục 11.3, nói về hạ tầng và mạng.</a:t>
            </a:r>
          </a:p>
          <a:p>
            <a:r>
              <a:t>Khối ba, từ 11.4 đến 11.7, đi theo từng mô hình dịch vụ: PaaS, SaaS, máy chủ ảo trên IaaS,</a:t>
            </a:r>
          </a:p>
          <a:p>
            <a:r>
              <a:t>rồi tổng kết bằng bốn loại biện pháp kiểm soát.</a:t>
            </a:r>
          </a:p>
          <a:p>
            <a:r>
              <a:t>Các bạn để ý mạch này: dữ liệu — mã hóa — hạ tầng — ứng dụng — kiểm soát. Đi từ trong ra ngoài.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Ý chính của slide này là phạm vi và mô hình trách nhiệm.</a:t>
            </a:r>
          </a:p>
          <a:p>
            <a:r>
              <a:t>Bảo mật đám mây không gắn với riêng một mô hình nào: nó áp dụng cho cả SaaS, PaaS, IaaS,</a:t>
            </a:r>
          </a:p>
          <a:p>
            <a:r>
              <a:t>và cho cả bốn mô hình triển khai riêng tư, lai, công cộng, cộng đồng.</a:t>
            </a:r>
          </a:p>
          <a:p>
            <a:r>
              <a:t>Sách chia mối quan ngại thành đúng hai nhóm: nhóm mà nhà cung cấp phải đối mặt và nhóm mà</a:t>
            </a:r>
          </a:p>
          <a:p>
            <a:r>
              <a:t>khách hàng phải đối mặt. Và điểm cần nhấn mạnh là trách nhiệm được chia sẻ.</a:t>
            </a:r>
          </a:p>
          <a:p>
            <a:r>
              <a:t>Nhà cung cấp bảo đảm dịch vụ của họ an toàn; còn khách hàng phải thực hiện các biện pháp hỗ trợ —</a:t>
            </a:r>
          </a:p>
          <a:p>
            <a:r>
              <a:t>ví dụ đơn giản nhất trong sách là dùng mật khẩu mạnh.</a:t>
            </a:r>
          </a:p>
          <a:p>
            <a:r>
              <a:t>Nếu khách hàng phó mặc hoàn toàn cho nhà cung cấp thì mô hình này gãy — ý đó sẽ quay lại ở phần tổng kết.</a:t>
            </a:r>
          </a:p>
          <a:p>
            <a:r>
              <a:t>Bây giờ ta xem ba tính chất nền tảng của an toàn thông tin.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Bộ ba CIA là khung tư duy kinh điển, và sách nhắc lại ngay đầu chương vì mọi thứ phía sau đều quy về đây.</a:t>
            </a:r>
          </a:p>
          <a:p>
            <a:r>
              <a:t>Bí mật là ngăn tiết lộ nội dung trái phép — chú ý sách nói rõ "dù có chủ ý hay không có chủ ý",</a:t>
            </a:r>
          </a:p>
          <a:p>
            <a:r>
              <a:t>tức là rò rỉ do cấu hình sai cũng là mất tính bí mật.</a:t>
            </a:r>
          </a:p>
          <a:p>
            <a:r>
              <a:t>Toàn vẹn là thông điệp gửi đi đúng bằng thông điệp nhận về; nếu kẻ tấn công sửa được luồng thông tin</a:t>
            </a:r>
          </a:p>
          <a:p>
            <a:r>
              <a:t>giữa đường thì toàn vẹn bị phá.</a:t>
            </a:r>
          </a:p>
          <a:p>
            <a:r>
              <a:t>Sẵn sàng là hệ thống phải dùng được khi người dùng hợp lệ cần tới.</a:t>
            </a:r>
          </a:p>
          <a:p>
            <a:r>
              <a:t>Điểm khác biệt khi lên Đám mây nằm ở khối màu xanh phía dưới: phần lớn hạ tầng chuyển sang</a:t>
            </a:r>
          </a:p>
          <a:p>
            <a:r>
              <a:t>tay bên thứ ba, tạo ra các vành đai ảo thay cho vành đai vật lý cũ, và mô hình bảo mật trở thành</a:t>
            </a:r>
          </a:p>
          <a:p>
            <a:r>
              <a:t>nghĩa vụ chia sẻ giữa khách hàng và nhà cung cấp.</a:t>
            </a:r>
          </a:p>
          <a:p>
            <a:r>
              <a:t>Với khung này trong đầu, ta vào mục 11.1 — bảo mật dữ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Phần đầu tiên: dữ liệu và mã hóa. Đây là phần nền, vì mọi biện pháp phía sau đều nhằm</a:t>
            </a:r>
          </a:p>
          <a:p>
            <a:r>
              <a:t>bảo vệ dữ liệu. Ta sẽ đi qua dữ liệu đang truyền, rủi ro lớn nhất của nó, rồi tới ba</a:t>
            </a:r>
          </a:p>
          <a:p>
            <a:r>
              <a:t>họ kỹ thuật mã hóa đặc trưng cho Đám mây.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Mục 11.1 mở đầu bằng khái niệm dữ liệu đang truyền — data-in-transit. Định nghĩa của sách rất gọn:</a:t>
            </a:r>
          </a:p>
          <a:p>
            <a:r>
              <a:t>đó là dữ liệu đòi hỏi phải mã hóa khi di chuyển từ thiết bị này sang thiết bị khác.</a:t>
            </a:r>
          </a:p>
          <a:p>
            <a:r>
              <a:t>Sách cho ba ví dụ phổ biến.</a:t>
            </a:r>
          </a:p>
          <a:p>
            <a:r>
              <a:t>Thứ nhất là mạng công cộng: ví dụ ứng dụng ngân hàng trên điện thoại gọi ra Internet.</a:t>
            </a:r>
          </a:p>
          <a:p>
            <a:r>
              <a:t>Thứ hai là mạng riêng. Ở đây có một ý rất đáng nhớ: nguyên tắc phòng thủ theo chiều sâu nói rằng</a:t>
            </a:r>
          </a:p>
          <a:p>
            <a:r>
              <a:t>đừng giả định mạng nội bộ đã an toàn — vì vậy ta mã hóa trên mạng riêng y như trên mạng công cộng.</a:t>
            </a:r>
          </a:p>
          <a:p>
            <a:r>
              <a:t>Thứ ba là thiết bị cục bộ, và đây là chỗ nhiều người quên: chính phương tiện truyền có thể chặn bắt</a:t>
            </a:r>
          </a:p>
          <a:p>
            <a:r>
              <a:t>dữ liệu. Sách lấy ví dụ sợi cáp USB có khả năng ghi lại hoặc truyền đi dữ liệu.</a:t>
            </a:r>
          </a:p>
          <a:p>
            <a:r>
              <a:t>Slide sau ta xem hai loại dữ liệu đang truyền và rủi ro lớn nhất.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Sách chia dữ liệu đang truyền thành đúng hai loại: đi qua mạng công cộng không đáng tin cậy,</a:t>
            </a:r>
          </a:p>
          <a:p>
            <a:r>
              <a:t>và đi trong phạm vi một mạng riêng như LAN doanh nghiệp.</a:t>
            </a:r>
          </a:p>
          <a:p>
            <a:r>
              <a:t>Nhưng ý quan trọng nhất của slide này nằm ở khối đỏ. Rủi ro chính đối với dữ liệu đang truyền</a:t>
            </a:r>
          </a:p>
          <a:p>
            <a:r>
              <a:t>không phải là "quên mã hóa", mà là "mã hóa nhưng không dùng thuật toán đã được kiểm chứng".</a:t>
            </a:r>
          </a:p>
          <a:p>
            <a:r>
              <a:t>Sách nói thẳng: điều này hiển nhiên với chuyên gia bảo mật, nhưng người dùng Đám mây công cộng</a:t>
            </a:r>
          </a:p>
          <a:p>
            <a:r>
              <a:t>thường không hiểu — và điều đó đúng cho cả ba mô hình IaaS, PaaS lẫn SaaS.</a:t>
            </a:r>
          </a:p>
          <a:p>
            <a:r>
              <a:t>Bên phải là một khía cạnh hay bị bỏ quên: siêu dữ liệu. Khách hàng cần hỏi nhà cung cấp ba câu:</a:t>
            </a:r>
          </a:p>
          <a:p>
            <a:r>
              <a:t>nắm giữ siêu dữ liệu nào, bảo mật ra sao, và tôi có quyền truy cập gì.</a:t>
            </a:r>
          </a:p>
          <a:p>
            <a:r>
              <a:t>Và một quy luật: dữ liệu của ta ở nhà cung cấp càng nhiều thì siêu dữ liệu đó càng giá trị —</a:t>
            </a:r>
          </a:p>
          <a:p>
            <a:r>
              <a:t>tức là càng trở thành mục tiêu hấp dẫn.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này là danh mục các mối quan ngại mà sách liệt kê. Ý nền là: Đám mây không phải một công nghệ,</a:t>
            </a:r>
          </a:p>
          <a:p>
            <a:r>
              <a:t>mà là chồng nhiều công nghệ — mạng, cơ sở dữ liệu, hệ điều hành, ảo hóa, lập lịch, giao dịch,</a:t>
            </a:r>
          </a:p>
          <a:p>
            <a:r>
              <a:t>cân bằng tải... nên bề mặt tấn công rất rộng.</a:t>
            </a:r>
          </a:p>
          <a:p>
            <a:r>
              <a:t>Bảy khái niệm ở đây các bạn nên nắm tên tiếng Anh vì đề thi hay hỏi: data transmission,</a:t>
            </a:r>
          </a:p>
          <a:p>
            <a:r>
              <a:t>virtualization security, network security, data integrity, data privacy, data location,</a:t>
            </a:r>
          </a:p>
          <a:p>
            <a:r>
              <a:t>data availability.</a:t>
            </a:r>
          </a:p>
          <a:p>
            <a:r>
              <a:t>Mình nhấn hai cái hay nhầm: toàn vẹn dữ liệu ở đây được sách mô tả gắn với việc xác định</a:t>
            </a:r>
          </a:p>
          <a:p>
            <a:r>
              <a:t>dữ liệu nào có thể chia sẻ với bên thứ ba; còn quyền riêng tư gắn với độ chính xác và</a:t>
            </a:r>
          </a:p>
          <a:p>
            <a:r>
              <a:t>tính nhất quán của dữ liệu lưu trữ.</a:t>
            </a:r>
          </a:p>
          <a:p>
            <a:r>
              <a:t>Và vị trí dữ liệu — data location — rất quan trọng về mặt pháp lý: dữ liệu nằm trong các nhóm logic</a:t>
            </a:r>
          </a:p>
          <a:p>
            <a:r>
              <a:t>trải trên nhiều máy chủ, nhiều địa điểm, thường do công ty lưu trữ sở hữu và quản lý.</a:t>
            </a:r>
          </a:p>
          <a:p>
            <a:r>
              <a:t>Sách khép mục này bằng hai ví dụ cụ thể phải bảo vệ: mạng liên kết các hệ thống, và ánh xạ</a:t>
            </a:r>
          </a:p>
          <a:p>
            <a:r>
              <a:t>máy ảo lên máy vật lý. Đó chính là cầu nối sang phần mã hóa.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Sang mục 11.2. Trước hết là định nghĩa: mã hóa đám mây là biến dữ liệu của khách hàng thành bản mã</a:t>
            </a:r>
          </a:p>
          <a:p>
            <a:r>
              <a:t>trước khi đặt lên Đám mây lưu trữ. Nghĩa là việc mã hóa xảy ra trước khi dữ liệu rời khỏi tầm kiểm soát.</a:t>
            </a:r>
          </a:p>
          <a:p>
            <a:r>
              <a:t>Sách trình bày ba kỹ thuật quan trọng, và mỗi kỹ thuật trả lời một nhu cầu khác nhau.</a:t>
            </a:r>
          </a:p>
          <a:p>
            <a:r>
              <a:t>ABE trả lời câu hỏi "ai được giải mã" — khóa và bản mã đều gắn với thuộc tính, ví dụ quốc gia</a:t>
            </a:r>
          </a:p>
          <a:p>
            <a:r>
              <a:t>người đó sinh sống hay loại gói thuê bao; chỉ giải mã được khi hai tập thuộc tính khớp nhau.</a:t>
            </a:r>
          </a:p>
          <a:p>
            <a:r>
              <a:t>FHE trả lời câu hỏi "làm sao tính toán mà không lộ dữ liệu" — cho phép tính tổng và tích ngay</a:t>
            </a:r>
          </a:p>
          <a:p>
            <a:r>
              <a:t>trên bản mã mà không cần giải mã.</a:t>
            </a:r>
          </a:p>
          <a:p>
            <a:r>
              <a:t>SE trả lời câu hỏi "làm sao tìm kiếm mà không lộ nội dung" — và chia làm hai nhánh: khóa đối xứng</a:t>
            </a:r>
          </a:p>
          <a:p>
            <a:r>
              <a:t>và khóa công khai. Với nhánh đối xứng, người ta thường xây chỉ mục từ khóa để tìm nhanh hơn.</a:t>
            </a:r>
          </a:p>
          <a:p>
            <a:r>
              <a:t>Ba slide tiếp theo ta đi sâu lần lượt vào từng kỹ thuật.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 có hai biến thể và các bạn cần phân biệt rõ vì tên rất dễ nhầm.</a:t>
            </a:r>
          </a:p>
          <a:p>
            <a:r>
              <a:t>CP-ABE, tức ABE theo chính sách bản mã: bên mã hóa kiểm soát chiến lược truy cập.</a:t>
            </a:r>
          </a:p>
          <a:p>
            <a:r>
              <a:t>Ý tưởng chính của CP-ABE tập trung vào thiết kế cấu trúc truy cập.</a:t>
            </a:r>
          </a:p>
          <a:p>
            <a:r>
              <a:t>Cách nhớ: chính sách nằm trong bản mã — tôi mã hóa và tôi quy định ai mở được.</a:t>
            </a:r>
          </a:p>
          <a:p>
            <a:r>
              <a:t>KP-ABE, tức ABE theo chính sách khóa: các tập thuộc tính dùng để mô tả văn bản đã mã hóa,</a:t>
            </a:r>
          </a:p>
          <a:p>
            <a:r>
              <a:t>còn khóa riêng thì được gắn với chính sách mà người dùng sẽ có.</a:t>
            </a:r>
          </a:p>
          <a:p>
            <a:r>
              <a:t>Cách nhớ: chính sách nằm trong khóa.</a:t>
            </a:r>
          </a:p>
          <a:p>
            <a:r>
              <a:t>Sơ đồ phía dưới mô tả cơ chế chung: thuộc tính người dùng sinh ra khóa bí mật, bản mã cũng</a:t>
            </a:r>
          </a:p>
          <a:p>
            <a:r>
              <a:t>mang thuộc tính, và giải mã chỉ thành công khi hai bên khớp nhau.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một lược đồ KP-ABE phi tập trung. Từ khóa cần nhớ là "phi tập trung":</a:t>
            </a:r>
          </a:p>
          <a:p>
            <a:r>
              <a:t>không cần cố định số lượng cơ quan thuộc tính, và cơ quan nào cũng có thể gia nhập hay rời đi</a:t>
            </a:r>
          </a:p>
          <a:p>
            <a:r>
              <a:t>bất cứ lúc nào mà không phải khởi động lại hệ thống. Đó chính là ưu điểm về khả năng mở rộng.</a:t>
            </a:r>
          </a:p>
          <a:p>
            <a:r>
              <a:t>Lược đồ gồm năm mô-đun con, chạy tuần tự như sơ đồ.</a:t>
            </a:r>
          </a:p>
          <a:p>
            <a:r>
              <a:t>Thiết lập toàn cục nhận tham số bảo mật, trả ra tham số hệ thống dùng chung.</a:t>
            </a:r>
          </a:p>
          <a:p>
            <a:r>
              <a:t>Thiết lập cơ quan: mỗi cơ quan tự sinh cặp khóa công khai và khóa riêng cho các thuộc tính nó quản lý.</a:t>
            </a:r>
          </a:p>
          <a:p>
            <a:r>
              <a:t>Cấp phát khóa là bước thú vị nhất: người dùng và cơ quan tương tác qua một giao thức cấp phát khóa</a:t>
            </a:r>
          </a:p>
          <a:p>
            <a:r>
              <a:t>ẩn danh — tức là cơ quan xác định được người dùng có thuộc tính gì mà không cần biết danh tính,</a:t>
            </a:r>
          </a:p>
          <a:p>
            <a:r>
              <a:t>rồi trả về chứng thư giải mã.</a:t>
            </a:r>
          </a:p>
          <a:p>
            <a:r>
              <a:t>Mã hóa nhận tập thuộc tính cộng với dữ liệu, xuất ra bản mã.</a:t>
            </a:r>
          </a:p>
          <a:p>
            <a:r>
              <a:t>Giải mã thành công khi và chỉ khi thuộc tính của người dùng thỏa mãn cấu trúc truy cập.</a:t>
            </a:r>
          </a:p>
          <a:p>
            <a:r>
              <a:t>Câu hỏi tiếp theo là: làm sao chứng minh lược đồ này an toàn? Đó là nội dung slide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này trả lời câu hỏi "an toàn nghĩa là gì" theo ngôn ngữ mật mã học.</a:t>
            </a:r>
          </a:p>
          <a:p>
            <a:r>
              <a:t>Người ta mô hình hóa nó thành một trò chơi giữa đối thủ và người thách đấu, gồm bốn bước.</a:t>
            </a:r>
          </a:p>
          <a:p>
            <a:r>
              <a:t>Bước một, đối thủ được hỏi bao nhiêu khóa bí mật tùy thích. Nhưng có một ràng buộc:</a:t>
            </a:r>
          </a:p>
          <a:p>
            <a:r>
              <a:t>với mỗi người dùng phải tồn tại ít nhất một cơ quan thuộc tính chưa bị xâm phạm — nhờ vậy</a:t>
            </a:r>
          </a:p>
          <a:p>
            <a:r>
              <a:t>đối thủ chỉ gom được một lượng khóa không đủ để giải mã.</a:t>
            </a:r>
          </a:p>
          <a:p>
            <a:r>
              <a:t>Bước hai là thách đấu: đối thủ đưa ra hai bản rõ m0 và m1, người thách đấu chọn ngẫu nhiên một</a:t>
            </a:r>
          </a:p>
          <a:p>
            <a:r>
              <a:t>cái để mã hóa và trả bản mã về.</a:t>
            </a:r>
          </a:p>
          <a:p>
            <a:r>
              <a:t>Bước ba, đối thủ vẫn được hỏi thêm khóa, miễn là giữ nguyên ràng buộc.</a:t>
            </a:r>
          </a:p>
          <a:p>
            <a:r>
              <a:t>Bước bốn, đối thủ đoán xem thông điệp nào đã được mã hóa.</a:t>
            </a:r>
          </a:p>
          <a:p>
            <a:r>
              <a:t>Công thức bên phải rất quan trọng: đối thủ thành công nếu đoán đúng với xác suất một phần hai</a:t>
            </a:r>
          </a:p>
          <a:p>
            <a:r>
              <a:t>cộng epsilon, với epsilon là hàm không thể bỏ qua. Trực giác là: đoán mò luôn cho 50%,</a:t>
            </a:r>
          </a:p>
          <a:p>
            <a:r>
              <a:t>nên chỉ khi đối thủ vượt 50% một lượng đáng kể thì mới coi là phá được.</a:t>
            </a:r>
          </a:p>
          <a:p>
            <a:r>
              <a:t>Ngược lại, nếu đối thủ không đạt được lợi thế đáng kể thì ta nói lược đồ an toàn trước</a:t>
            </a:r>
          </a:p>
          <a:p>
            <a:r>
              <a:t>mô hình ID chọn lọc.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FHE là kỹ thuật được sách nhấn mạnh nhất, nên ta dành hai slide.</a:t>
            </a:r>
          </a:p>
          <a:p>
            <a:r>
              <a:t>Slide này nói về kiến trúc — ai đóng vai gì.</a:t>
            </a:r>
          </a:p>
          <a:p>
            <a:r>
              <a:t>Người dùng là bên thuê ngoài việc tính toán cho Đám mây, nhưng dữ liệu của họ phải được bảo vệ</a:t>
            </a:r>
          </a:p>
          <a:p>
            <a:r>
              <a:t>khỏi sự dò xét trái phép.</a:t>
            </a:r>
          </a:p>
          <a:p>
            <a:r>
              <a:t>Nút tính toán đồng cấu, viết tắt HC, là nơi thực sự chạy phép tính. Điểm mấu chốt: các nút này</a:t>
            </a:r>
          </a:p>
          <a:p>
            <a:r>
              <a:t>dùng CPU, GPU hoặc FPGA và KHÔNG được bảo vệ — tức là ta không tin chúng.</a:t>
            </a:r>
          </a:p>
          <a:p>
            <a:r>
              <a:t>Nút khởi tạo, bootstrapping node, thì chạy bên trong một vùng bao an toàn — secure enclave — và</a:t>
            </a:r>
          </a:p>
          <a:p>
            <a:r>
              <a:t>đây là nơi duy nhất được tin cậy.</a:t>
            </a:r>
          </a:p>
          <a:p>
            <a:r>
              <a:t>Luồng làm việc gồm ba bước. Đầu tiên người dùng xác minh cấu hình Đám mây bằng chứng thực từ xa,</a:t>
            </a:r>
          </a:p>
          <a:p>
            <a:r>
              <a:t>rồi thiết lập khóa bí mật chia sẻ với nút khởi tạo. Sau đó cung ứng tham số và khóa qua kênh bí mật đó.</a:t>
            </a:r>
          </a:p>
          <a:p>
            <a:r>
              <a:t>Cuối cùng dữ liệu đã mã hóa được gửi tới các nút HC để tính.</a:t>
            </a:r>
          </a:p>
          <a:p>
            <a:r>
              <a:t>Vậy tại sao lại cần nút khởi tạo? Slide sau trả lời.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Vấn đề kỹ thuật của FHE là nhiễu: mỗi phép tính trên bản mã làm nhiễu tích lũy thêm, đến một mức</a:t>
            </a:r>
          </a:p>
          <a:p>
            <a:r>
              <a:t>nào đó thì bản mã không còn giải mã đúng được nữa.</a:t>
            </a:r>
          </a:p>
          <a:p>
            <a:r>
              <a:t>Bootstrapping giải quyết chuyện đó. Bản mã trung gian được gửi từ nút HC sang nút khởi tạo.</a:t>
            </a:r>
          </a:p>
          <a:p>
            <a:r>
              <a:t>Nút khởi tạo chạy trong vùng bao an toàn nên nó được phép giải mã, rồi mã hóa lại bằng khóa bí mật,</a:t>
            </a:r>
          </a:p>
          <a:p>
            <a:r>
              <a:t>và gửi bản mã đã làm mới trở lại. Nhiễu bị loại bỏ, các nút HC tính tiếp được.</a:t>
            </a:r>
          </a:p>
          <a:p>
            <a:r>
              <a:t>Khi toàn bộ quá trình xong, bản mã quay về người dùng và chỉ người dùng mới giải mã ra kết quả.</a:t>
            </a:r>
          </a:p>
          <a:p>
            <a:r>
              <a:t>Về ứng dụng, sách nêu hai điểm. Thứ nhất là lưu trữ và tính toán thuê ngoài có bảo toàn quyền riêng tư:</a:t>
            </a:r>
          </a:p>
          <a:p>
            <a:r>
              <a:t>dữ liệu mã hóa vẫn có thể gửi ra Đám mây thương mại để xử lý.</a:t>
            </a:r>
          </a:p>
          <a:p>
            <a:r>
              <a:t>Thứ hai là ví dụ rất thuyết phục trong y tế: phân tích dự báo trong chăm sóc sức khỏe vốn khó triển khai</a:t>
            </a:r>
          </a:p>
          <a:p>
            <a:r>
              <a:t>vì lo ngại quyền riêng tư của dữ liệu bệnh nhân; nếu nhà cung cấp chỉ thao tác trên dữ liệu đã mã hóa</a:t>
            </a:r>
          </a:p>
          <a:p>
            <a:r>
              <a:t>thì lo ngại đó giảm đi đáng kể.</a:t>
            </a:r>
          </a:p>
          <a:p>
            <a:r>
              <a:t>Lát nữa ở mục 11.5 ta sẽ có một ví dụ số rất dễ hiểu về FHE.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Mã hóa có thể tìm kiếm giải quyết một nghịch lý: dữ liệu đã mã hóa thì làm sao tìm kiếm được?</a:t>
            </a:r>
          </a:p>
          <a:p>
            <a:r>
              <a:t>Ý tưởng là phơi bày một phân đoạn thông tin đủ để nhận diện ngữ cảnh, mà không phơi bày chính nội dung.</a:t>
            </a:r>
          </a:p>
          <a:p>
            <a:r>
              <a:t>Quy trình gồm bốn bước như bên trái: chủ sở hữu mã hóa dữ liệu bằng khóa riêng; từ khóa thì được chia sẻ</a:t>
            </a:r>
          </a:p>
          <a:p>
            <a:r>
              <a:t>dưới dạng mã hóa bằng khóa công khai của nhà cung cấp tìm kiếm hoặc khóa bí mật chia sẻ;</a:t>
            </a:r>
          </a:p>
          <a:p>
            <a:r>
              <a:t>khi có truy vấn, nhà cung cấp mở phong bì từ khóa ra đối sánh; nếu khớp thì nó chỉ làm nhiệm vụ</a:t>
            </a:r>
          </a:p>
          <a:p>
            <a:r>
              <a:t>kết nối hai bên, còn điều khoản truy cập do chủ sở hữu và bên yêu cầu tự thương lượng — không có</a:t>
            </a:r>
          </a:p>
          <a:p>
            <a:r>
              <a:t>mặt nhà cung cấp. Đây là điểm hay: nhà cung cấp tìm kiếm không bao giờ thấy nội dung thật.</a:t>
            </a:r>
          </a:p>
          <a:p>
            <a:r>
              <a:t>Ví dụ bên phải rất dễ hình dung. Alice đi nghỉ, muốn mọi thư khẩn được chuyển cho John.</a:t>
            </a:r>
          </a:p>
          <a:p>
            <a:r>
              <a:t>Nhưng Bob mã hóa thư bằng khóa công khai của Alice, nên cổng thư không biết thư nào là khẩn.</a:t>
            </a:r>
          </a:p>
          <a:p>
            <a:r>
              <a:t>Giải pháp: John trích xuất từ khóa "urgent", áp dụng mã hóa khóa công khai với tìm kiếm theo từ khóa,</a:t>
            </a:r>
          </a:p>
          <a:p>
            <a:r>
              <a:t>rồi gửi dữ liệu này cho cổng. Cổng nhờ đó giải mã được danh sách từ khóa và định tuyến đúng,</a:t>
            </a:r>
          </a:p>
          <a:p>
            <a:r>
              <a:t>mà vẫn không đọc được nội dung thư.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WPS là ví dụ thực tế khép lại mục mã hóa — nó cho ta thấy chọn mô hình dịch vụ nào thì kéo theo</a:t>
            </a:r>
          </a:p>
          <a:p>
            <a:r>
              <a:t>trách nhiệm bảo mật nào.</a:t>
            </a:r>
          </a:p>
          <a:p>
            <a:r>
              <a:t>WPS là chuẩn của OGC, Hiệp hội Không gian Địa lý Mở, định nghĩa giao diện chuẩn hóa để cung cấp</a:t>
            </a:r>
          </a:p>
          <a:p>
            <a:r>
              <a:t>dịch vụ xử lý không gian địa lý qua Internet. Nó triển khai được trên cả ba mô hình dịch vụ.</a:t>
            </a:r>
          </a:p>
          <a:p>
            <a:r>
              <a:t>Trên IaaS: toàn quyền kiểm soát, nhưng ảo hóa ở mức thấp nên người dùng phải tự lo nhiều rủi ro bảo mật.</a:t>
            </a:r>
          </a:p>
          <a:p>
            <a:r>
              <a:t>Sách nói cách này hợp lý khi tổ chức cần nhiều loại WPS khác nhau và có đủ nhân lực quản trị.</a:t>
            </a:r>
          </a:p>
          <a:p>
            <a:r>
              <a:t>Trên PaaS: trừu tượng cao hơn, nền tảng lo giúp phần mở rộng. Nhưng có một ràng buộc kỹ thuật</a:t>
            </a:r>
          </a:p>
          <a:p>
            <a:r>
              <a:t>đáng nhớ: mã nguồn WPS không tạo được tệp tạm, nên dữ liệu tạm phải đẩy vào bảng cơ sở dữ liệu của Đám mây.</a:t>
            </a:r>
          </a:p>
          <a:p>
            <a:r>
              <a:t>Ba gạch đầu dòng cuối là các chi tiết sách nêu: ba kiểu khả năng mở rộng khác nhau;</a:t>
            </a:r>
          </a:p>
          <a:p>
            <a:r>
              <a:t>cơ chế SSO của Google App Engine với mật khẩu dùng một lần gửi qua điện thoại;</a:t>
            </a:r>
          </a:p>
          <a:p>
            <a:r>
              <a:t>và cuối cùng, mọi Đám mây đều cho phép SSL — nhưng nhớ rằng SSL chỉ mã hóa đường truyền,</a:t>
            </a:r>
          </a:p>
          <a:p>
            <a:r>
              <a:t>còn mã hóa dữ liệu thì phải do thư viện lập trình và hệ quản trị cơ sở dữ liệu đảm nhiệm.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Phần hai chuyển từ dữ liệu xuống hạ tầng. Câu hỏi ở đây là: khi hạ tầng tính toán nằm ở</a:t>
            </a:r>
          </a:p>
          <a:p>
            <a:r>
              <a:t>nhà cung cấp, mạng và máy chủ bị đe dọa như thế nào, và ta chia vùng tin cậy ra sao.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Mục 11.3 mở đầu bằng định nghĩa InfoSec. Định nghĩa này dài nhưng đáng đọc kỹ vì nó liệt kê</a:t>
            </a:r>
          </a:p>
          <a:p>
            <a:r>
              <a:t>đủ các hành vi trái phép cần ngăn chặn: truy cập, sử dụng, tiết lộ, gián đoạn, sửa đổi, kiểm tra,</a:t>
            </a:r>
          </a:p>
          <a:p>
            <a:r>
              <a:t>ghi lại, phá hủy. Và thông tin ở đây là bất kỳ dạng nào — điện tử hay vật lý.</a:t>
            </a:r>
          </a:p>
          <a:p>
            <a:r>
              <a:t>Trọng tâm của InfoSec là bảo vệ cân bằng bộ ba CIA, nhưng có một vế thứ hai rất thực tế mà</a:t>
            </a:r>
          </a:p>
          <a:p>
            <a:r>
              <a:t>sinh viên hay bỏ qua: phải làm mà không cản trở năng suất của tổ chức. Bảo mật quá chặt đến mức</a:t>
            </a:r>
          </a:p>
          <a:p>
            <a:r>
              <a:t>không ai làm việc được thì cũng là thất bại.</a:t>
            </a:r>
          </a:p>
          <a:p>
            <a:r>
              <a:t>Cách đạt được điều đó là quy trình quản lý rủi ro nhiều bước: nhận diện tài sản, nguồn đe dọa,</a:t>
            </a:r>
          </a:p>
          <a:p>
            <a:r>
              <a:t>lỗ hổng, tác động tiềm tàng, các biện pháp kiểm soát khả dĩ, rồi đánh giá hiệu quả của kế hoạch.</a:t>
            </a:r>
          </a:p>
          <a:p>
            <a:r>
              <a:t>Và để hiểu mối đe dọa với hạ tầng Đám mây, sách yêu cầu hiểu bảo mật truyền thông — gồm hai nhóm</a:t>
            </a:r>
          </a:p>
          <a:p>
            <a:r>
              <a:t>nội dung ở cuối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một thông điệp trấn an nhưng rất quan trọng về mặt thực tiễn.</a:t>
            </a:r>
          </a:p>
          <a:p>
            <a:r>
              <a:t>Khi xét cấp độ mạng, sách nói rõ: với Đám mây riêng, không có cuộc tấn công mới, không có lỗ hổng mới,</a:t>
            </a:r>
          </a:p>
          <a:p>
            <a:r>
              <a:t>cũng không có thay đổi nào về rủi ro mà nhân sự bảo mật cần cân nhắc thêm.</a:t>
            </a:r>
          </a:p>
          <a:p>
            <a:r>
              <a:t>Lý do: kiến trúc công nghệ thông tin có thể đổi, nhưng tô-pô mạng thì gần như không đổi.</a:t>
            </a:r>
          </a:p>
          <a:p>
            <a:r>
              <a:t>Nếu tổ chức đã có một extranet riêng — tức là một intranet cho phép truy cập một phần từ bên ngoài</a:t>
            </a:r>
          </a:p>
          <a:p>
            <a:r>
              <a:t>qua Internet một cách an toàn — thì thực tế tô-pô mạng cho Đám mây riêng đã có sẵn rồi.</a:t>
            </a:r>
          </a:p>
          <a:p>
            <a:r>
              <a:t>Hình 11.1 minh họa đúng điều đó: bên trái là Internet mở cho mọi người và mạng khách hàng,</a:t>
            </a:r>
          </a:p>
          <a:p>
            <a:r>
              <a:t>ở giữa là extranet đi qua tường lửa, bên trong là intranet với máy chủ riêng.</a:t>
            </a:r>
          </a:p>
          <a:p>
            <a:r>
              <a:t>Nhắc nhanh ba khái niệm: Internet mở cho tất cả; intranet là mạng của nhóm nhỏ, chỉ thành viên truy cập;</a:t>
            </a:r>
          </a:p>
          <a:p>
            <a:r>
              <a:t>extranet dành cho người thuộc một mạng cụ thể, có định danh đăng nhập và mật khẩu.</a:t>
            </a:r>
          </a:p>
          <a:p>
            <a:r>
              <a:t>Đám mây riêng thì yên tâm như vậy. Còn Đám mây công cộng thì sao? Slide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Với Đám mây công cộng thì câu chuyện khác hẳn. Sách chỉ ra đúng ba yếu tố rủi ro đáng kể.</a:t>
            </a:r>
          </a:p>
          <a:p>
            <a:r>
              <a:t>Thứ nhất là tính bí mật và toàn vẹn của dữ liệu đang truyền đi tới và đi từ nhà cung cấp.</a:t>
            </a:r>
          </a:p>
          <a:p>
            <a:r>
              <a:t>Tài nguyên trước đây nằm gọn trong mạng riêng nay bị phơi ra Internet. Sách có một nhận xét đắt giá:</a:t>
            </a:r>
          </a:p>
          <a:p>
            <a:r>
              <a:t>ai dùng HTTPS thay cho HTTP thì đã giảm được rủi ro về toàn vẹn; còn ai vẫn dùng HTTP thì</a:t>
            </a:r>
          </a:p>
          <a:p>
            <a:r>
              <a:t>dữ liệu có thể bị thay đổi mà họ không hề hay biết.</a:t>
            </a:r>
          </a:p>
          <a:p>
            <a:r>
              <a:t>Thứ hai là kiểm soát truy cập phù hợp — xác thực, ủy quyền, kiểm toán. Điểm đáng lo: khả năng</a:t>
            </a:r>
          </a:p>
          <a:p>
            <a:r>
              <a:t>kiểm toán mạng của nhà cung cấp, chưa nói tới giám sát thời gian thực, gần như không tồn tại.</a:t>
            </a:r>
          </a:p>
          <a:p>
            <a:r>
              <a:t>Thứ ba là tính sẵn sàng của các tài nguyên hướng Internet, vì ngày càng nhiều dữ liệu và nhân sự</a:t>
            </a:r>
          </a:p>
          <a:p>
            <a:r>
              <a:t>phụ thuộc vào thiết bị lưu trữ bên ngoài.</a:t>
            </a:r>
          </a:p>
          <a:p>
            <a:r>
              <a:t>Khối đỏ cuối là ví dụ lịch sử rất hay. Nghiên cứu trình bày trước NANOG năm 2006 đếm được</a:t>
            </a:r>
          </a:p>
          <a:p>
            <a:r>
              <a:t>hàng trăm cấu hình sai mỗi tháng. Và tháng 2 năm 2008, Pakistan Telecom công bố một tuyến giả</a:t>
            </a:r>
          </a:p>
          <a:p>
            <a:r>
              <a:t>cho YouTube nhằm chặn YouTube trong nước, kết quả là YouTube không truy cập được trên toàn cầu</a:t>
            </a:r>
          </a:p>
          <a:p>
            <a:r>
              <a:t>suốt hai giờ. Một cấu hình sai ở một nhà mạng làm sập dịch vụ toàn thế giới — đó là minh chứng</a:t>
            </a:r>
          </a:p>
          <a:p>
            <a:r>
              <a:t>cho việc tính sẵn sàng phụ thuộc vào bên thứ 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Vùng tin cậy là câu trả lời của sách cho một mối đe dọa rất khó chịu: mối đe dọa dai dẳng nâng cao</a:t>
            </a:r>
          </a:p>
          <a:p>
            <a:r>
              <a:t>và đặc biệt là kẻ nội gián của chính nhà cung cấp.</a:t>
            </a:r>
          </a:p>
          <a:p>
            <a:r>
              <a:t>Định nghĩa: TZ là sự kết hợp giữa phân đoạn mạng và quản lý danh tính, truy cập. Nó định nghĩa</a:t>
            </a:r>
          </a:p>
          <a:p>
            <a:r>
              <a:t>ranh giới vật lý, logic hoặc ảo quanh tài nguyên mạng, triển khai bằng thiết bị vật lý,</a:t>
            </a:r>
          </a:p>
          <a:p>
            <a:r>
              <a:t>bằng tường lửa và chuyển mạch ảo, hoặc cả hai.</a:t>
            </a:r>
          </a:p>
          <a:p>
            <a:r>
              <a:t>Mô hình đe dọa ở khối vàng: nhân sự CSP có quyền truy cập vật lý vào trung tâm dữ liệu, nên về lý thuyết</a:t>
            </a:r>
          </a:p>
          <a:p>
            <a:r>
              <a:t>họ có thể chạm tay vào máy chứa dữ liệu của ta. Nhưng số lượng máy quá lớn nên kẻ tấn công trước hết</a:t>
            </a:r>
          </a:p>
          <a:p>
            <a:r>
              <a:t>phải tìm ra đúng phần cứng đang chứa dữ liệu mục tiêu.</a:t>
            </a:r>
          </a:p>
          <a:p>
            <a:r>
              <a:t>Sơ đồ mô tả đúng bốn bước tấn công: liệt kê các máy ảo của cơ quan, thu hẹp danh sách nhờ dữ liệu cấu hình,</a:t>
            </a:r>
          </a:p>
          <a:p>
            <a:r>
              <a:t>ánh xạ vào sơ đồ bố trí trung tâm dữ liệu, và cuối cùng tiêm mã độc qua truy cập vật lý rồi phát tín hiệu</a:t>
            </a:r>
          </a:p>
          <a:p>
            <a:r>
              <a:t>về các nút điều khiển để mở rộng tấn công.</a:t>
            </a:r>
          </a:p>
          <a:p>
            <a:r>
              <a:t>Những tín hiệu nào giúp thu hẹp? Nhóm bảo mật, cổng đang mở, dữ liệu IAM, quy ước đặt tên của bên thuê,</a:t>
            </a:r>
          </a:p>
          <a:p>
            <a:r>
              <a:t>và cả kích cỡ tương đối về bộ nhớ, đĩa, CPU, I/O — vì máy chủ web lớn hay cơ sở dữ liệu lớn nhìn là nhận ra.</a:t>
            </a:r>
          </a:p>
          <a:p>
            <a:r>
              <a:t>Phòng thủ chính là phân đoạn trung tâm dữ liệu thành các khoang và giữ riêng bản đồ vật lý với bản đồ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Phần ba đi vào tầng ứng dụng, và đây chính là nơi trả lời mục tiêu thứ ba của chương:</a:t>
            </a:r>
          </a:p>
          <a:p>
            <a:r>
              <a:t>so sánh trách nhiệm bảo mật giữa các mô hình dịch vụ. Ta xem PaaS trước, rồi tới SaaS.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Mục 11.4 nói về PaaS. Trước hết sách phân loại nhà cung cấp PaaS làm hai nhóm: nhóm nhà cung cấp</a:t>
            </a:r>
          </a:p>
          <a:p>
            <a:r>
              <a:t>phần mềm như Bungee, Etelos, GigaSpaces, Eucalyptus; và nhóm CSP như Google App Engine,</a:t>
            </a:r>
          </a:p>
          <a:p>
            <a:r>
              <a:t>Force.com của Salesforce, Microsoft Azure, Intuit QuickBase.</a:t>
            </a:r>
          </a:p>
          <a:p>
            <a:r>
              <a:t>Về trách nhiệm: CSP của PaaS lo bảo mật ngăn xếp phần mềm nền tảng, bao gồm cả bộ máy thực thi</a:t>
            </a:r>
          </a:p>
          <a:p>
            <a:r>
              <a:t>chạy ứng dụng của khách hàng. Nhưng đây mới là điểm tinh tế: ứng dụng PaaS thường gọi tới ứng dụng,</a:t>
            </a:r>
          </a:p>
          <a:p>
            <a:r>
              <a:t>thành phần hay dịch vụ web của bên thứ ba, và khi đó trách nhiệm bảo mật thuộc về bên thứ ba đó.</a:t>
            </a:r>
          </a:p>
          <a:p>
            <a:r>
              <a:t>Vì vậy khách hàng phải hiểu rõ ứng dụng của mình phụ thuộc vào những dịch vụ nào, và đánh giá rủi ro</a:t>
            </a:r>
          </a:p>
          <a:p>
            <a:r>
              <a:t>cho từng phụ thuộc.</a:t>
            </a:r>
          </a:p>
          <a:p>
            <a:r>
              <a:t>Khuyến nghị thực tiễn của sách: PaaS còn non trẻ, nên hãy đánh giá rủi ro và áp dụng đúng tiêu chuẩn</a:t>
            </a:r>
          </a:p>
          <a:p>
            <a:r>
              <a:t>bảo mật phần mềm như khi mua bất kỳ phần mềm doanh nghiệp nào — đừng vì nó là "cloud" mà nới lỏng.</a:t>
            </a:r>
          </a:p>
          <a:p>
            <a:r>
              <a:t>Cuối cùng là vấn đề minh bạch, rất thời sự: các CSP ngại chia sẻ thông tin bảo mật nền tảng vì sợ</a:t>
            </a:r>
          </a:p>
          <a:p>
            <a:r>
              <a:t>giúp tin tặc. Sách phản biện lại: khách hàng doanh nghiệp nên đòi hỏi minh bạch để còn đánh giá rủi ro</a:t>
            </a:r>
          </a:p>
          <a:p>
            <a:r>
              <a:t>và quản lý bảo mật liên tục.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này gom ba biện pháp cụ thể cho PaaS.</a:t>
            </a:r>
          </a:p>
          <a:p>
            <a:r>
              <a:t>Thứ nhất, quản lý kiểm soát truy cập. Điểm cần nhớ: nó bao trùm cả người dùng thường lẫn quản trị viên</a:t>
            </a:r>
          </a:p>
          <a:p>
            <a:r>
              <a:t>có đặc quyền. Bốn câu hỏi phải trả lời là: gán quyền hạn thế nào, gán dựa trên chức năng công việc ra sao,</a:t>
            </a:r>
          </a:p>
          <a:p>
            <a:r>
              <a:t>xác thực bằng phương thức nào và mạnh đến đâu, và kiểm toán báo cáo thế nào để xác minh.</a:t>
            </a:r>
          </a:p>
          <a:p>
            <a:r>
              <a:t>Thứ hai, gia cố hệ điều hành máy chủ. Đây là ý quan trọng nhất của slide: lỗ hổng trong hệ điều hành</a:t>
            </a:r>
          </a:p>
          <a:p>
            <a:r>
              <a:t>của máy chủ vật lý lan ngược lên hệ điều hành máy ảo. Nếu chỉ một VM bị xâm phạm thì thiệt hại giới hạn</a:t>
            </a:r>
          </a:p>
          <a:p>
            <a:r>
              <a:t>trong miền khách; nhưng nếu host bị xâm phạm thì kẻ tấn công chạm được vào tất cả dịch vụ trên tất cả</a:t>
            </a:r>
          </a:p>
          <a:p>
            <a:r>
              <a:t>máy ảo mà máy đó lưu trữ. Năm kỹ thuật gia cố ở dưới các bạn nên thuộc: mật khẩu mạnh, vô hiệu hóa</a:t>
            </a:r>
          </a:p>
          <a:p>
            <a:r>
              <a:t>dịch vụ không cần thiết, xác thực đầy đủ, tường lửa riêng cho từng máy chủ, và vá lỗi thường xuyên</a:t>
            </a:r>
          </a:p>
          <a:p>
            <a:r>
              <a:t>sau khi kiểm thử ngoài môi trường sản xuất.</a:t>
            </a:r>
          </a:p>
          <a:p>
            <a:r>
              <a:t>Thứ ba là SSO. Ưu điểm thì rõ: mật khẩu mạnh hơn, quản trị dễ hơn, truy cập nhanh hơn.</a:t>
            </a:r>
          </a:p>
          <a:p>
            <a:r>
              <a:t>Nhưng nhược điểm lớn cũng phải nói thẳng: qua được cửa đầu tiên rồi thì người dùng tự do đi lại</a:t>
            </a:r>
          </a:p>
          <a:p>
            <a:r>
              <a:t>trong mạng mà không bị hạn chế. Ví dụ quen thuộc: đăng nhập Gmail xong là có luôn YouTube,</a:t>
            </a:r>
          </a:p>
          <a:p>
            <a:r>
              <a:t>Google Drive, Google Photos.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Sang SaaS. Ở mô hình này nhà cung cấp quản lý toàn bộ bộ ứng dụng, nên phần lớn trách nhiệm bảo mật</a:t>
            </a:r>
          </a:p>
          <a:p>
            <a:r>
              <a:t>ứng dụng và thành phần thuộc về họ. Khách hàng thì lo phần bảo mật vận hành — chủ yếu là quản lý</a:t>
            </a:r>
          </a:p>
          <a:p>
            <a:r>
              <a:t>người dùng và quản lý truy cập, và chỉ ở mức mà nhà cung cấp hỗ trợ.</a:t>
            </a:r>
          </a:p>
          <a:p>
            <a:r>
              <a:t>Vì khách hàng không kiểm soát được gì nhiều, thông lệ phổ biến là yêu cầu nhà cung cấp cung cấp</a:t>
            </a:r>
          </a:p>
          <a:p>
            <a:r>
              <a:t>thông tin về thực hành bảo mật của họ: thiết kế, kiến trúc, phát triển, kiểm thử bảo mật ứng dụng</a:t>
            </a:r>
          </a:p>
          <a:p>
            <a:r>
              <a:t>cả hộp đen lẫn hộp trắng, và quản lý phát hành.</a:t>
            </a:r>
          </a:p>
          <a:p>
            <a:r>
              <a:t>Hai khối dưới là một cảnh báo thực tế. Google Apps cho phép người dùng cuối gán quyền đọc ghi,</a:t>
            </a:r>
          </a:p>
          <a:p>
            <a:r>
              <a:t>nhưng quản lý đặc quyền không đủ mịn, nên có thể không khớp với tiêu chuẩn kiểm soát truy cập</a:t>
            </a:r>
          </a:p>
          <a:p>
            <a:r>
              <a:t>của tổ chức.</a:t>
            </a:r>
          </a:p>
          <a:p>
            <a:r>
              <a:t>Ví dụ cụ thể mà sách đưa ra rất dễ nhớ: hình ảnh nhúng trong Google Docs không được bảo vệ giống</a:t>
            </a:r>
          </a:p>
          <a:p>
            <a:r>
              <a:t>như bản thân tài liệu. Nếu bạn từng chia sẻ tài liệu có hình nhúng, thì người kia vẫn xem được</a:t>
            </a:r>
          </a:p>
          <a:p>
            <a:r>
              <a:t>những hình ảnh đó ngay cả sau khi bạn đã ngừng chia sẻ. Đây là bài học: quyền kiểm soát chia sẻ</a:t>
            </a:r>
          </a:p>
          <a:p>
            <a:r>
              <a:t>của bạn có thể không bao trùm hết mọi thành phần của dữ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slide mình muốn các bạn nhớ nhất về FHE, vì nó biến một khái niệm trừu tượng thành bốn con số.</a:t>
            </a:r>
          </a:p>
          <a:p>
            <a:r>
              <a:t>Trước hết phân biệt: mã hóa đồng cấu bộ phận chỉ cho phép một số phép toán trên bản mã,</a:t>
            </a:r>
          </a:p>
          <a:p>
            <a:r>
              <a:t>còn mã hóa đồng cấu toàn phần hỗ trợ tính toán tùy ý. Hệ quả rất mạnh: chương trình không bao giờ</a:t>
            </a:r>
          </a:p>
          <a:p>
            <a:r>
              <a:t>phải giải mã đầu vào, nên có thể để một bên không đáng tin cậy chạy nó mà không lộ đầu vào</a:t>
            </a:r>
          </a:p>
          <a:p>
            <a:r>
              <a:t>lẫn trạng thái nội bộ.</a:t>
            </a:r>
          </a:p>
          <a:p>
            <a:r>
              <a:t>Ví dụ của sách: Doanh nghiệp B có tập dữ liệu rất quan trọng gồm hai số 5 và 10.</a:t>
            </a:r>
          </a:p>
          <a:p>
            <a:r>
              <a:t>Bước một, để mã hóa, B nhân mỗi phần tử với 2, được 10 và 20. Đây là một "phép mã hóa" đơn giản</a:t>
            </a:r>
          </a:p>
          <a:p>
            <a:r>
              <a:t>hóa cho dễ hiểu thôi.</a:t>
            </a:r>
          </a:p>
          <a:p>
            <a:r>
              <a:t>Bước hai, B gửi tập đã mã hóa lên Đám mây. Vài tháng sau chính phủ hỏi tổng các phần tử VIDS.</a:t>
            </a:r>
          </a:p>
          <a:p>
            <a:r>
              <a:t>Bước ba, B bận nên nhờ nhà cung cấp Đám mây tính. Nhà cung cấp chỉ nhìn thấy 10 và 20, cộng lại</a:t>
            </a:r>
          </a:p>
          <a:p>
            <a:r>
              <a:t>được 30 và trả về.</a:t>
            </a:r>
          </a:p>
          <a:p>
            <a:r>
              <a:t>Bước bốn, B giải mã 30 — tức là chia 2 — được 15, và đưa cho chính phủ con số 15.</a:t>
            </a:r>
          </a:p>
          <a:p>
            <a:r>
              <a:t>Kết quả đúng bằng 5 cộng 10. Nhà cung cấp đã làm được việc hữu ích cho B mà chưa từng nhìn thấy</a:t>
            </a:r>
          </a:p>
          <a:p>
            <a:r>
              <a:t>dữ liệu thật. Đó chính là tinh thần của FHE.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một trong những ý hay nhất chương, và cũng rất dễ ra đề.</a:t>
            </a:r>
          </a:p>
          <a:p>
            <a:r>
              <a:t>Trong mô hình truyền thống, ta bảo vệ tài nguyên bằng cách kiểm soát máy nào được kết nối —</a:t>
            </a:r>
          </a:p>
          <a:p>
            <a:r>
              <a:t>tức dựa trên thuộc tính của máy chủ như địa chỉ IP. Nhưng trong Đám mây, người dùng truy cập</a:t>
            </a:r>
          </a:p>
          <a:p>
            <a:r>
              <a:t>từ bất kỳ máy nào có Internet, nên kiểu kiểm soát này suy giảm vai trò: nó không thỏa đáng,</a:t>
            </a:r>
          </a:p>
          <a:p>
            <a:r>
              <a:t>không duy nhất giữa các người dùng, và có thể dẫn tới hạch toán sai.</a:t>
            </a:r>
          </a:p>
          <a:p>
            <a:r>
              <a:t>Nó vẫn tồn tại, dưới dạng chính sách tường lửa Đám mây ở điểm vào và điểm ra, dùng bốn tham số</a:t>
            </a:r>
          </a:p>
          <a:p>
            <a:r>
              <a:t>TCP/IP quen thuộc: IP nguồn, cổng nguồn, IP đích, cổng đích.</a:t>
            </a:r>
          </a:p>
          <a:p>
            <a:r>
              <a:t>Ngược lại, kiểm soát truy cập người dùng thì cần được nhấn mạnh mạnh mẽ, vì nó ràng buộc danh tính</a:t>
            </a:r>
          </a:p>
          <a:p>
            <a:r>
              <a:t>người dùng với tài nguyên, cho phép kiểm soát chi tiết mịn, hạch toán, tuân thủ và bảo vệ dữ liệu.</a:t>
            </a:r>
          </a:p>
          <a:p>
            <a:r>
              <a:t>Bốn biện pháp chủ chốt: xác thực mạnh, SSO, quản lý đặc quyền, ghi nhật ký và giám sát.</a:t>
            </a:r>
          </a:p>
          <a:p>
            <a:r>
              <a:t>Sách cũng nhắc ISO/IEC 27002 định nghĩa sáu mục tiêu kiểm soát truy cập.</a:t>
            </a:r>
          </a:p>
          <a:p>
            <a:r>
              <a:t>Và một lưu ý cho IaaS: khách hàng phải giám sát cả ứng dụng lẫn các thực thể máy chủ ảo —</a:t>
            </a:r>
          </a:p>
          <a:p>
            <a:r>
              <a:t>ví dụ chạy thương mại điện tử trên Amazon EC2.</a:t>
            </a:r>
          </a:p>
          <a:p>
            <a:r>
              <a:t>Câu chốt: trong Đám mây, trọng tâm dịch chuyển từ "bạn đang ở đâu trong mạng" sang "bạn là ai".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Phần cuối gồm hai mục: bảo mật máy chủ ảo — tức phần việc của khách hàng khi dùng IaaS —</a:t>
            </a:r>
          </a:p>
          <a:p>
            <a:r>
              <a:t>và bốn loại biện pháp kiểm soát, là khung tổng kết cho toàn chương.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Mục 11.6 là phần rất thực hành: khi thuê IaaS, khách hàng tự tạo máy chủ ảo, và chính sự dễ dàng đó</a:t>
            </a:r>
          </a:p>
          <a:p>
            <a:r>
              <a:t>sinh ra rủi ro — máy chủ ảo không an toàn được tạo ra hàng loạt. Nguyên tắc nền là cấu hình an toàn</a:t>
            </a:r>
          </a:p>
          <a:p>
            <a:r>
              <a:t>theo mặc định phải bằng hoặc vượt các đường cơ sở của ngành.</a:t>
            </a:r>
          </a:p>
          <a:p>
            <a:r>
              <a:t>Sáu khuyến nghị các bạn nên nhớ theo cặp.</a:t>
            </a:r>
          </a:p>
          <a:p>
            <a:r>
              <a:t>Hai cái đầu về ảnh máy ảo: dùng ảnh tùy chỉnh chỉ chứa dịch vụ cần thiết — vừa thu hẹp bề mặt tấn công</a:t>
            </a:r>
          </a:p>
          <a:p>
            <a:r>
              <a:t>vừa giảm số bản vá; và theo dõi kiểm kê ảnh, trong đó ảnh của nhà cung cấp phải được gia cố như máy nội bộ,</a:t>
            </a:r>
          </a:p>
          <a:p>
            <a:r>
              <a:t>tốt nhất là tự cung cấp ảnh của mình.</a:t>
            </a:r>
          </a:p>
          <a:p>
            <a:r>
              <a:t>Hai cái giữa về khóa và chứng thư: cô lập khóa giải mã khỏi chính Đám mây đang chứa dữ liệu — vì để</a:t>
            </a:r>
          </a:p>
          <a:p>
            <a:r>
              <a:t>chung một chỗ thì mã hóa mất ý nghĩa; và không nhúng chứng thư xác thực vào ảnh, ngoại trừ khóa để</a:t>
            </a:r>
          </a:p>
          <a:p>
            <a:r>
              <a:t>giải mã khóa hệ thống tệp. Không cho truy cập shell bằng mật khẩu, nhưng với sudo hoặc truy cập</a:t>
            </a:r>
          </a:p>
          <a:p>
            <a:r>
              <a:t>theo vai trò thì mật khẩu là bắt buộc.</a:t>
            </a:r>
          </a:p>
          <a:p>
            <a:r>
              <a:t>Hai cái cuối về vận hành: chạy tường lửa trên từng máy chủ và chỉ mở cổng tối thiểu, tắt FTP,</a:t>
            </a:r>
          </a:p>
          <a:p>
            <a:r>
              <a:t>dịch vụ in, dịch vụ tệp mạng, dịch vụ cơ sở dữ liệu nếu không dùng; và bật kiểm toán, đẩy nhật ký</a:t>
            </a:r>
          </a:p>
          <a:p>
            <a:r>
              <a:t>sự kiện bảo mật sang một máy chủ nhật ký chuyên dụng được cô lập và bảo vệ ở mức cao hơn.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Mục 11.7 là khung tổng kết. Sách nói: kiến trúc bảo mật Đám mây chỉ hiệu quả nếu các triển khai</a:t>
            </a:r>
          </a:p>
          <a:p>
            <a:r>
              <a:t>phòng thủ đúng đắn được đặt đúng chỗ. Và có bốn loại biện pháp kiểm soát, mình sắp theo trục thời gian</a:t>
            </a:r>
          </a:p>
          <a:p>
            <a:r>
              <a:t>của một sự cố cho dễ nhớ.</a:t>
            </a:r>
          </a:p>
          <a:p>
            <a:r>
              <a:t>Răn đe — deterrent — nằm trước sự cố, mục đích làm giảm ý định tấn công. Sách ví như biển cảnh báo</a:t>
            </a:r>
          </a:p>
          <a:p>
            <a:r>
              <a:t>trên hàng rào: nó không chặn được ai, nhưng báo cho kẻ tấn công biết sẽ có hậu quả bất lợi.</a:t>
            </a:r>
          </a:p>
          <a:p>
            <a:r>
              <a:t>Phòng ngừa — preventive — cũng trước sự cố, nhưng tác động thật: giảm thiểu hoặc loại bỏ lỗ hổng.</a:t>
            </a:r>
          </a:p>
          <a:p>
            <a:r>
              <a:t>Ví dụ điển hình là xác thực mạnh, vừa khiến người dùng trái phép khó vào, vừa tăng khả năng nhận diện</a:t>
            </a:r>
          </a:p>
          <a:p>
            <a:r>
              <a:t>đúng người dùng hợp lệ.</a:t>
            </a:r>
          </a:p>
          <a:p>
            <a:r>
              <a:t>Phát hiện — detective — hoạt động khi sự cố đang xảy ra: giám sát hệ thống và mạng, phát hiện và</a:t>
            </a:r>
          </a:p>
          <a:p>
            <a:r>
              <a:t>ngăn chặn xâm nhập, rồi báo hiệu cho nhóm phòng ngừa hoặc khắc phục.</a:t>
            </a:r>
          </a:p>
          <a:p>
            <a:r>
              <a:t>Khắc phục — corrective — hoạt động trong và sau sự cố, làm giảm hậu quả bằng cách giới hạn thiệt hại.</a:t>
            </a:r>
          </a:p>
          <a:p>
            <a:r>
              <a:t>Ví dụ kinh điển là khôi phục bản sao lưu để dựng lại hệ thống đã bị xâm phạm.</a:t>
            </a:r>
          </a:p>
          <a:p>
            <a:r>
              <a:t>Bốn loại này là câu trả lời gọn nhất cho câu hỏi "quản lý bảo mật trong Đám mây là gì".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Tóm lại sáu ý.</a:t>
            </a:r>
          </a:p>
          <a:p>
            <a:r>
              <a:t>Một, bảo mật đám mây là trách nhiệm chia sẻ — không ai gánh hết.</a:t>
            </a:r>
          </a:p>
          <a:p>
            <a:r>
              <a:t>Hai, bộ ba CIA vẫn là khung tư duy, nhưng phần lớn ngăn xếp giờ nằm dưới kiểm soát bên thứ ba.</a:t>
            </a:r>
          </a:p>
          <a:p>
            <a:r>
              <a:t>Ba, với dữ liệu đang truyền, rủi ro chính là không dùng thuật toán mã hóa đã được kiểm chứng,</a:t>
            </a:r>
          </a:p>
          <a:p>
            <a:r>
              <a:t>và điều này đúng cho cả IaaS, PaaS lẫn SaaS.</a:t>
            </a:r>
          </a:p>
          <a:p>
            <a:r>
              <a:t>Bốn, ba kỹ thuật mã hóa ABE, FHE, SE trả lời ba nhu cầu khác nhau: ai được truy cập,</a:t>
            </a:r>
          </a:p>
          <a:p>
            <a:r>
              <a:t>tính toán mà không giải mã, và tìm kiếm mà không lộ nội dung.</a:t>
            </a:r>
          </a:p>
          <a:p>
            <a:r>
              <a:t>Năm, về hạ tầng: Đám mây riêng gần như tương đương extranet an toàn, còn Đám mây công cộng</a:t>
            </a:r>
          </a:p>
          <a:p>
            <a:r>
              <a:t>cộng thêm ba rủi ro là phơi bày dữ liệu đang truyền, khó kiểm toán, và phụ thuộc tính sẵn sàng bên ngoài.</a:t>
            </a:r>
          </a:p>
          <a:p>
            <a:r>
              <a:t>Sáu, quản lý bảo mật vận hành qua bốn loại kiểm soát: răn đe, phòng ngừa, phát hiện, khắc phục.</a:t>
            </a:r>
          </a:p>
          <a:p>
            <a:r>
              <a:t>Khối vàng cuối là lời cảnh báo của chính tác giả, và mình nghĩ đây là câu đáng nhớ nhất:</a:t>
            </a:r>
          </a:p>
          <a:p>
            <a:r>
              <a:t>tổ chức nào chỉ dựa hoàn toàn vào bảo mật tích hợp sẵn của nhà cung cấp là đang tự phơi mình</a:t>
            </a:r>
          </a:p>
          <a:p>
            <a:r>
              <a:t>trước rủi ro không cần thiết. Đặc biệt là các chứng thư và bí mật sinh ra ồ ạt trong môi trường</a:t>
            </a:r>
          </a:p>
          <a:p>
            <a:r>
              <a:t>tự động hóa mà nhiều cái không bao giờ được bảo mật. Chỉ cần một cái bị lộ, kẻ tấn công có điểm</a:t>
            </a:r>
          </a:p>
          <a:p>
            <a:r>
              <a:t>xuất phát để di chuyển ngang qua mạng, dữ liệu, ứng dụng, và chạm tới tài sản quan trọng nhất.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Phần trình bày của nhóm mình đến đây là hết. Xin cảm ơn thầy cô và các bạn đã lắng nghe.</a:t>
            </a:r>
          </a:p>
          <a:p>
            <a:r>
              <a:t>Nhóm rất mong nhận được câu hỏi và góp ý.</a:t>
            </a:r>
          </a:p>
          <a:p>
            <a:r>
              <a:t>Nếu cần gợi ý thảo luận, mình đề xuất vài hướng: một là so sánh cụ thể trách nhiệm bảo mật</a:t>
            </a:r>
          </a:p>
          <a:p>
            <a:r>
              <a:t>giữa IaaS, PaaS và SaaS; hai là vì sao FHE tuy mạnh nhưng chưa phổ biến trong thực tế;</a:t>
            </a:r>
          </a:p>
          <a:p>
            <a:r>
              <a:t>ba là trong tổ chức của các bạn, bốn loại biện pháp kiểm soát đang được triển khai tới đâu.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Oval 2"/>
          <p:cNvSpPr/>
          <p:nvPr/>
        </p:nvSpPr>
        <p:spPr>
          <a:xfrm>
            <a:off x="8259775" y="-1554480"/>
            <a:ext cx="5120640" cy="5120640"/>
          </a:xfrm>
          <a:prstGeom prst="ellipse">
            <a:avLst/>
          </a:prstGeom>
          <a:solidFill>
            <a:srgbClr val="17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Oval 3"/>
          <p:cNvSpPr/>
          <p:nvPr/>
        </p:nvSpPr>
        <p:spPr>
          <a:xfrm>
            <a:off x="9814255" y="3840480"/>
            <a:ext cx="4023360" cy="4023360"/>
          </a:xfrm>
          <a:prstGeom prst="ellipse">
            <a:avLst/>
          </a:prstGeom>
          <a:solidFill>
            <a:srgbClr val="17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D9BD3"/>
                </a:solidFill>
                <a:latin typeface="Arial"/>
              </a:rPr>
              <a:t>CHƯƠNG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9144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Arial"/>
              </a:rPr>
              <a:t>BẢO MẬT ĐÁM MÂY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101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5D9BD3"/>
                </a:solidFill>
                <a:latin typeface="Arial"/>
              </a:rPr>
              <a:t>Cloud Security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51560" y="3977639"/>
            <a:ext cx="2057400" cy="0"/>
          </a:xfrm>
          <a:prstGeom prst="line">
            <a:avLst/>
          </a:prstGeom>
          <a:ln w="3810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51560" y="4297680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DD3E6"/>
                </a:solidFill>
                <a:latin typeface="Arial"/>
              </a:rPr>
              <a:t>Dữ liệu · Mã hóa · Hạ tầng · PaaS · SaaS · Máy chủ ảo · Kiểm soát bảo mật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sz="1100" b="0" i="0">
                <a:solidFill>
                  <a:srgbClr val="8FB2CE"/>
                </a:solidFill>
                <a:latin typeface="Arial"/>
              </a:rPr>
              <a:t>Nguồn: Sunilkumar S. Manvi &amp; Gopal Krishna Shyam, “Cloud Computing: Concepts and Technologies”, CRC Press, 2021 — tr. 205–227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77724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57784"/>
            <a:ext cx="10783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2D4E"/>
                </a:solidFill>
                <a:latin typeface="Arial"/>
              </a:rPr>
              <a:t>Mục tiêu bài học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15568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600200"/>
            <a:ext cx="3466490" cy="2148840"/>
          </a:xfrm>
          <a:prstGeom prst="roundRect">
            <a:avLst>
              <a:gd name="adj" fmla="val 5000"/>
            </a:avLst>
          </a:prstGeom>
          <a:solidFill>
            <a:srgbClr val="EAF2F9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Oval 6"/>
          <p:cNvSpPr/>
          <p:nvPr/>
        </p:nvSpPr>
        <p:spPr>
          <a:xfrm>
            <a:off x="822960" y="1389888"/>
            <a:ext cx="512064" cy="51206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295442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2D4E"/>
                </a:solidFill>
                <a:latin typeface="Arial"/>
              </a:rPr>
              <a:t>Đánh giá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42032"/>
            <a:ext cx="295442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A47"/>
                </a:solidFill>
                <a:latin typeface="Arial"/>
              </a:rPr>
              <a:t>Đánh giá </a:t>
            </a:r>
            <a:r>
              <a:rPr sz="1200" b="1" i="0">
                <a:solidFill>
                  <a:srgbClr val="1F6FB2"/>
                </a:solidFill>
                <a:latin typeface="Arial"/>
              </a:rPr>
              <a:t>bảo mật dữ liệu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trong Đám mây: dữ liệu đang truyền, siêu dữ liệu và các mối quan ngại chính.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2602" y="1600200"/>
            <a:ext cx="3466490" cy="2148840"/>
          </a:xfrm>
          <a:prstGeom prst="roundRect">
            <a:avLst>
              <a:gd name="adj" fmla="val 5000"/>
            </a:avLst>
          </a:prstGeom>
          <a:solidFill>
            <a:srgbClr val="EAF2F9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Oval 10"/>
          <p:cNvSpPr/>
          <p:nvPr/>
        </p:nvSpPr>
        <p:spPr>
          <a:xfrm>
            <a:off x="4618634" y="1389888"/>
            <a:ext cx="512064" cy="51206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8634" y="2103120"/>
            <a:ext cx="295442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2D4E"/>
                </a:solidFill>
                <a:latin typeface="Arial"/>
              </a:rPr>
              <a:t>Mô tả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8634" y="2542032"/>
            <a:ext cx="295442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A47"/>
                </a:solidFill>
                <a:latin typeface="Arial"/>
              </a:rPr>
              <a:t>Mô tả </a:t>
            </a:r>
            <a:r>
              <a:rPr sz="1200" b="1" i="0">
                <a:solidFill>
                  <a:srgbClr val="1F6FB2"/>
                </a:solidFill>
                <a:latin typeface="Arial"/>
              </a:rPr>
              <a:t>quản lý bảo mật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trong Đám mây: hạ tầng, vùng tin cậy, kiểm soát truy cập và các biện pháp kiểm soát.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1600200"/>
            <a:ext cx="3466490" cy="2148840"/>
          </a:xfrm>
          <a:prstGeom prst="roundRect">
            <a:avLst>
              <a:gd name="adj" fmla="val 5000"/>
            </a:avLst>
          </a:prstGeom>
          <a:solidFill>
            <a:srgbClr val="EAF2F9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Oval 14"/>
          <p:cNvSpPr/>
          <p:nvPr/>
        </p:nvSpPr>
        <p:spPr>
          <a:xfrm>
            <a:off x="8414308" y="1389888"/>
            <a:ext cx="512064" cy="51206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4308" y="2103120"/>
            <a:ext cx="295442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2D4E"/>
                </a:solidFill>
                <a:latin typeface="Arial"/>
              </a:rPr>
              <a:t>So sánh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4308" y="2542032"/>
            <a:ext cx="295442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A47"/>
                </a:solidFill>
                <a:latin typeface="Arial"/>
              </a:rPr>
              <a:t>So sánh và đối chiếu bảo mật </a:t>
            </a:r>
            <a:r>
              <a:rPr sz="1200" b="1" i="0">
                <a:solidFill>
                  <a:srgbClr val="1F6FB2"/>
                </a:solidFill>
                <a:latin typeface="Arial"/>
              </a:rPr>
              <a:t>IaaS, PaaS, SaaS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trong các triển khai Đám mây.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041648"/>
            <a:ext cx="11057839" cy="1417320"/>
          </a:xfrm>
          <a:prstGeom prst="roundRect">
            <a:avLst>
              <a:gd name="adj" fmla="val 55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4206240"/>
            <a:ext cx="10728655" cy="232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2D4E"/>
                </a:solidFill>
                <a:latin typeface="Arial"/>
              </a:rPr>
              <a:t>Bảo mật đám mây (Cloud security) là gì?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20692"/>
            <a:ext cx="10728655" cy="6395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3A47"/>
                </a:solidFill>
                <a:latin typeface="Arial"/>
              </a:rPr>
              <a:t>Là tập hợp rộng lớn các </a:t>
            </a:r>
            <a:r>
              <a:rPr sz="1200" b="1" i="0">
                <a:solidFill>
                  <a:srgbClr val="1F6FB2"/>
                </a:solidFill>
                <a:latin typeface="Arial"/>
              </a:rPr>
              <a:t>phương pháp tiếp cận, công nghệ và biện pháp kiểm soát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được triển khai nhằm bảo đảm thông tin, ứng dụng và hạ tầng liên quan của điện toán đám mây.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A47"/>
                </a:solidFill>
                <a:latin typeface="Arial"/>
              </a:rPr>
              <a:t>Là </a:t>
            </a:r>
            <a:r>
              <a:rPr sz="1200" b="1" i="0">
                <a:solidFill>
                  <a:srgbClr val="1F6FB2"/>
                </a:solidFill>
                <a:latin typeface="Arial"/>
              </a:rPr>
              <a:t>lĩnh vực con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của bảo mật máy tính (computer security), bảo mật mạng (network security) và rộng hơn là bảo mật dữ liệu (data security).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Chương 11 · Bảo mật đám mây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77724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57784"/>
            <a:ext cx="10783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2D4E"/>
                </a:solidFill>
                <a:latin typeface="Arial"/>
              </a:rPr>
              <a:t>Nội dung trình bày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15568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417320"/>
            <a:ext cx="5346039" cy="841248"/>
          </a:xfrm>
          <a:prstGeom prst="roundRect">
            <a:avLst>
              <a:gd name="adj" fmla="val 7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68580" cy="8412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1563624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6FB2"/>
                </a:solidFill>
                <a:latin typeface="Arial"/>
              </a:rPr>
              <a:t>11.1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1056" y="1545336"/>
            <a:ext cx="41573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2D4E"/>
                </a:solidFill>
                <a:latin typeface="Arial"/>
              </a:rPr>
              <a:t>Bảo mật dữ liệu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874519"/>
            <a:ext cx="4157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88A"/>
                </a:solidFill>
                <a:latin typeface="Arial"/>
              </a:rPr>
              <a:t>Dữ liệu đang truyền, siêu dữ liệu, các mối quan ngại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417320"/>
            <a:ext cx="5346039" cy="841248"/>
          </a:xfrm>
          <a:prstGeom prst="roundRect">
            <a:avLst>
              <a:gd name="adj" fmla="val 7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78727" y="1417320"/>
            <a:ext cx="68580" cy="8412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98183" y="1563624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6FB2"/>
                </a:solidFill>
                <a:latin typeface="Arial"/>
              </a:rPr>
              <a:t>11.2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2855" y="1545336"/>
            <a:ext cx="41573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2D4E"/>
                </a:solidFill>
                <a:latin typeface="Arial"/>
              </a:rPr>
              <a:t>Kỹ thuật mã hóa trong Đám mây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2855" y="1874519"/>
            <a:ext cx="4157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88A"/>
                </a:solidFill>
                <a:latin typeface="Arial"/>
              </a:rPr>
              <a:t>ABE · FHE · SE · WPS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423160"/>
            <a:ext cx="5346039" cy="841248"/>
          </a:xfrm>
          <a:prstGeom prst="roundRect">
            <a:avLst>
              <a:gd name="adj" fmla="val 7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2423160"/>
            <a:ext cx="68580" cy="8412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6384" y="2569464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6FB2"/>
                </a:solidFill>
                <a:latin typeface="Arial"/>
              </a:rPr>
              <a:t>11.3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1056" y="2551176"/>
            <a:ext cx="41573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2D4E"/>
                </a:solidFill>
                <a:latin typeface="Arial"/>
              </a:rPr>
              <a:t>Bảo mật hạ tầng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91056" y="2880360"/>
            <a:ext cx="4157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88A"/>
                </a:solidFill>
                <a:latin typeface="Arial"/>
              </a:rPr>
              <a:t>Cấp độ mạng và lược đồ Vùng tin cậy (TZ)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8727" y="2423160"/>
            <a:ext cx="5346039" cy="841248"/>
          </a:xfrm>
          <a:prstGeom prst="roundRect">
            <a:avLst>
              <a:gd name="adj" fmla="val 7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278727" y="2423160"/>
            <a:ext cx="68580" cy="8412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2569464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6FB2"/>
                </a:solidFill>
                <a:latin typeface="Arial"/>
              </a:rPr>
              <a:t>11.4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02855" y="2551176"/>
            <a:ext cx="41573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2D4E"/>
                </a:solidFill>
                <a:latin typeface="Arial"/>
              </a:rPr>
              <a:t>Bảo mật ứng dụng PaaS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2855" y="2880360"/>
            <a:ext cx="4157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88A"/>
                </a:solidFill>
                <a:latin typeface="Arial"/>
              </a:rPr>
              <a:t>Kiểm soát truy cập, gia cố OS, SSO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429000"/>
            <a:ext cx="5346039" cy="841248"/>
          </a:xfrm>
          <a:prstGeom prst="roundRect">
            <a:avLst>
              <a:gd name="adj" fmla="val 7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66928" y="3429000"/>
            <a:ext cx="68580" cy="8412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6384" y="3575304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6FB2"/>
                </a:solidFill>
                <a:latin typeface="Arial"/>
              </a:rPr>
              <a:t>11.5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91056" y="3557016"/>
            <a:ext cx="41573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2D4E"/>
                </a:solidFill>
                <a:latin typeface="Arial"/>
              </a:rPr>
              <a:t>Bảo mật ứng dụng SaaS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3886200"/>
            <a:ext cx="4157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88A"/>
                </a:solidFill>
                <a:latin typeface="Arial"/>
              </a:rPr>
              <a:t>Lược đồ FHE và kiểm soát truy cập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78727" y="3429000"/>
            <a:ext cx="5346039" cy="841248"/>
          </a:xfrm>
          <a:prstGeom prst="roundRect">
            <a:avLst>
              <a:gd name="adj" fmla="val 7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278727" y="3429000"/>
            <a:ext cx="68580" cy="8412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98183" y="3575304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6FB2"/>
                </a:solidFill>
                <a:latin typeface="Arial"/>
              </a:rPr>
              <a:t>11.6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02855" y="3557016"/>
            <a:ext cx="41573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2D4E"/>
                </a:solidFill>
                <a:latin typeface="Arial"/>
              </a:rPr>
              <a:t>Bảo mật máy chủ 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02855" y="3886200"/>
            <a:ext cx="4157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88A"/>
                </a:solidFill>
                <a:latin typeface="Arial"/>
              </a:rPr>
              <a:t>Cấu hình an toàn theo mặc định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434840"/>
            <a:ext cx="5346039" cy="841248"/>
          </a:xfrm>
          <a:prstGeom prst="roundRect">
            <a:avLst>
              <a:gd name="adj" fmla="val 7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66928" y="4434840"/>
            <a:ext cx="68580" cy="8412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86384" y="4581144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6FB2"/>
                </a:solidFill>
                <a:latin typeface="Arial"/>
              </a:rPr>
              <a:t>11.7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91056" y="4562856"/>
            <a:ext cx="41573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2D4E"/>
                </a:solidFill>
                <a:latin typeface="Arial"/>
              </a:rPr>
              <a:t>Các biện pháp kiểm soát bảo mật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91056" y="4892040"/>
            <a:ext cx="4157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88A"/>
                </a:solidFill>
                <a:latin typeface="Arial"/>
              </a:rPr>
              <a:t>Răn đe · Phòng ngừa · Phát hiện · Khắc phục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Chương 11 · Bảo mật đám mây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77724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TỔNG QUAN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57784"/>
            <a:ext cx="10783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2D4E"/>
                </a:solidFill>
                <a:latin typeface="Arial"/>
              </a:rPr>
              <a:t>Bảo mật đám mây bao trùm những gì?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15568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1389888"/>
            <a:ext cx="5715000" cy="426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A47"/>
                </a:solidFill>
                <a:latin typeface="Arial"/>
              </a:rPr>
              <a:t>Bảo mật đám mây áp dụng cho </a:t>
            </a:r>
            <a:r>
              <a:rPr sz="1300" b="1" i="0">
                <a:solidFill>
                  <a:srgbClr val="0E2D4E"/>
                </a:solidFill>
                <a:latin typeface="Arial"/>
              </a:rPr>
              <a:t>mọi mô hình dịch vụ</a:t>
            </a:r>
            <a:r>
              <a:rPr sz="1300" b="0" i="0">
                <a:solidFill>
                  <a:srgbClr val="2B3A47"/>
                </a:solidFill>
                <a:latin typeface="Arial"/>
              </a:rPr>
              <a:t> và </a:t>
            </a:r>
            <a:r>
              <a:rPr sz="1300" b="1" i="0">
                <a:solidFill>
                  <a:srgbClr val="0E2D4E"/>
                </a:solidFill>
                <a:latin typeface="Arial"/>
              </a:rPr>
              <a:t>mọi mô hình triển khai</a:t>
            </a:r>
            <a:r>
              <a:rPr sz="1300" b="0" i="0">
                <a:solidFill>
                  <a:srgbClr val="2B3A47"/>
                </a:solidFill>
                <a:latin typeface="Arial"/>
              </a:rPr>
              <a:t>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1722120" cy="566928"/>
          </a:xfrm>
          <a:prstGeom prst="roundRect">
            <a:avLst>
              <a:gd name="adj" fmla="val 9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D4E"/>
                </a:solidFill>
                <a:latin typeface="Arial"/>
              </a:rPr>
              <a:t>SaaS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07336" y="2084831"/>
            <a:ext cx="237744" cy="146304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2563368" y="1874519"/>
            <a:ext cx="1722120" cy="566928"/>
          </a:xfrm>
          <a:prstGeom prst="roundRect">
            <a:avLst>
              <a:gd name="adj" fmla="val 9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D4E"/>
                </a:solidFill>
                <a:latin typeface="Arial"/>
              </a:rPr>
              <a:t>PaaS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303776" y="2084831"/>
            <a:ext cx="237744" cy="146304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559808" y="1874519"/>
            <a:ext cx="1722120" cy="566928"/>
          </a:xfrm>
          <a:prstGeom prst="roundRect">
            <a:avLst>
              <a:gd name="adj" fmla="val 9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D4E"/>
                </a:solidFill>
                <a:latin typeface="Arial"/>
              </a:rPr>
              <a:t>IaaS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633472"/>
            <a:ext cx="5715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88A"/>
                </a:solidFill>
                <a:latin typeface="Arial"/>
              </a:rPr>
              <a:t>Mô hình triển khai: riêng tư · lai · công cộng · cộng đồng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063240"/>
            <a:ext cx="5715000" cy="2971800"/>
          </a:xfrm>
          <a:prstGeom prst="roundRect">
            <a:avLst>
              <a:gd name="adj" fmla="val 55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3227832"/>
            <a:ext cx="5385816" cy="232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2D4E"/>
                </a:solidFill>
                <a:latin typeface="Arial"/>
              </a:rPr>
              <a:t>Hai nhóm mối quan ngại bảo mật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42284"/>
            <a:ext cx="5385816" cy="1138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1F6FB2"/>
                </a:solidFill>
                <a:latin typeface="Arial"/>
              </a:rPr>
              <a:t>Nhà cung cấp phải đối mặt: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các tổ chức cung cấp phần mềm, nền tảng hoặc hạ tầng dưới dạng dịch vụ qua Đám mây.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1F6FB2"/>
                </a:solidFill>
                <a:latin typeface="Arial"/>
              </a:rPr>
              <a:t>Khách hàng phải đối mặt: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tổ chức, hiệp hội có ứng dụng hoặc thông tin được lưu trữ trên Đám mây.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A47"/>
                </a:solidFill>
                <a:latin typeface="Arial"/>
              </a:rPr>
              <a:t>→ Trách nhiệm được </a:t>
            </a:r>
            <a:r>
              <a:rPr sz="1200" b="1" i="0">
                <a:solidFill>
                  <a:srgbClr val="1F6FB2"/>
                </a:solidFill>
                <a:latin typeface="Arial"/>
              </a:rPr>
              <a:t>chia sẻ giữa hai bên</a:t>
            </a:r>
            <a:r>
              <a:rPr sz="1200" b="0" i="0">
                <a:solidFill>
                  <a:srgbClr val="2B3A47"/>
                </a:solidFill>
                <a:latin typeface="Arial"/>
              </a:rPr>
              <a:t>, không bên nào gánh hết.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7688" y="1389888"/>
            <a:ext cx="4977079" cy="4663440"/>
          </a:xfrm>
          <a:prstGeom prst="roundRect">
            <a:avLst>
              <a:gd name="adj" fmla="val 35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810347" y="1719072"/>
            <a:ext cx="2651760" cy="749808"/>
          </a:xfrm>
          <a:prstGeom prst="roundRect">
            <a:avLst>
              <a:gd name="adj" fmla="val 12000"/>
            </a:avLst>
          </a:prstGeom>
          <a:solidFill>
            <a:srgbClr val="1F6FB2"/>
          </a:solidFill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Nhà cung cấp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CFE2F2"/>
                </a:solidFill>
                <a:latin typeface="Arial"/>
              </a:rPr>
              <a:t>(CSP)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0296" y="2578608"/>
            <a:ext cx="4391863" cy="3662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Nhà cung cấp:</a:t>
            </a:r>
            <a:r>
              <a:rPr sz="1100" b="0" i="0">
                <a:solidFill>
                  <a:srgbClr val="2B3A47"/>
                </a:solidFill>
                <a:latin typeface="Arial"/>
              </a:rPr>
              <a:t> bảo đảm dịch vụ của họ an toàn, dữ liệu và ứng dụng của khách hàng được bảo vệ.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9044787" y="3017520"/>
            <a:ext cx="182880" cy="237744"/>
          </a:xfrm>
          <a:prstGeom prst="down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7627467" y="3346704"/>
            <a:ext cx="3017520" cy="786384"/>
          </a:xfrm>
          <a:prstGeom prst="roundRect">
            <a:avLst>
              <a:gd name="adj" fmla="val 12000"/>
            </a:avLst>
          </a:prstGeom>
          <a:solidFill>
            <a:srgbClr val="0E2D4E"/>
          </a:solidFill>
          <a:ln w="12700">
            <a:solidFill>
              <a:srgbClr val="0E2D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TRÁCH NHIỆM CHIA SẺ</a:t>
            </a:r>
          </a:p>
        </p:txBody>
      </p:sp>
      <p:sp>
        <p:nvSpPr>
          <p:cNvPr id="21" name="Up Arrow 20"/>
          <p:cNvSpPr/>
          <p:nvPr/>
        </p:nvSpPr>
        <p:spPr>
          <a:xfrm>
            <a:off x="9044787" y="4242816"/>
            <a:ext cx="182880" cy="237744"/>
          </a:xfrm>
          <a:prstGeom prst="up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940296" y="4572000"/>
            <a:ext cx="4391863" cy="3662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Khách hàng:</a:t>
            </a:r>
            <a:r>
              <a:rPr sz="1100" b="0" i="0">
                <a:solidFill>
                  <a:srgbClr val="2B3A47"/>
                </a:solidFill>
                <a:latin typeface="Arial"/>
              </a:rPr>
              <a:t> thực hiện các biện pháp hỗ trợ, chẳng hạn dùng mật khẩu mạnh.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0347" y="5047488"/>
            <a:ext cx="265176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2D4E"/>
                </a:solidFill>
                <a:latin typeface="Arial"/>
              </a:rPr>
              <a:t>Khách hàng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64788A"/>
                </a:solidFill>
                <a:latin typeface="Arial"/>
              </a:rPr>
              <a:t>(Client)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Chương 11 · Bảo mật đám mây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77724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CÁC KHÁI NIỆM SƠ BỘ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57784"/>
            <a:ext cx="10783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2D4E"/>
                </a:solidFill>
                <a:latin typeface="Arial"/>
              </a:rPr>
              <a:t>Bộ ba CIA: Bí mật – Toàn vẹn – Sẵn sàng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15568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04088" y="1371600"/>
            <a:ext cx="4160520" cy="3063240"/>
          </a:xfrm>
          <a:prstGeom prst="roundRect">
            <a:avLst>
              <a:gd name="adj" fmla="val 4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874519" y="1627632"/>
            <a:ext cx="1828800" cy="566928"/>
          </a:xfrm>
          <a:prstGeom prst="roundRect">
            <a:avLst>
              <a:gd name="adj" fmla="val 14000"/>
            </a:avLst>
          </a:prstGeom>
          <a:solidFill>
            <a:srgbClr val="1F6FB2"/>
          </a:solidFill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Bí mật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" y="3246120"/>
            <a:ext cx="1691640" cy="566928"/>
          </a:xfrm>
          <a:prstGeom prst="roundRect">
            <a:avLst>
              <a:gd name="adj" fmla="val 14000"/>
            </a:avLst>
          </a:prstGeom>
          <a:solidFill>
            <a:srgbClr val="0E2D4E"/>
          </a:solidFill>
          <a:ln w="12700">
            <a:solidFill>
              <a:srgbClr val="0E2D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Toàn vẹn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16936" y="3246120"/>
            <a:ext cx="1691640" cy="566928"/>
          </a:xfrm>
          <a:prstGeom prst="roundRect">
            <a:avLst>
              <a:gd name="adj" fmla="val 14000"/>
            </a:avLst>
          </a:prstGeom>
          <a:solidFill>
            <a:srgbClr val="0E2D4E"/>
          </a:solidFill>
          <a:ln w="12700">
            <a:solidFill>
              <a:srgbClr val="0E2D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Sẵn sàng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618488" y="2194560"/>
            <a:ext cx="640080" cy="1051560"/>
          </a:xfrm>
          <a:prstGeom prst="line">
            <a:avLst/>
          </a:prstGeom>
          <a:ln w="25400">
            <a:solidFill>
              <a:srgbClr val="5D9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319272" y="2194560"/>
            <a:ext cx="585215" cy="1051560"/>
          </a:xfrm>
          <a:prstGeom prst="line">
            <a:avLst/>
          </a:prstGeom>
          <a:ln w="25400">
            <a:solidFill>
              <a:srgbClr val="5D9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670048" y="3529584"/>
            <a:ext cx="246888" cy="0"/>
          </a:xfrm>
          <a:prstGeom prst="line">
            <a:avLst/>
          </a:prstGeom>
          <a:ln w="25400">
            <a:solidFill>
              <a:srgbClr val="5D9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121408" y="267004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B2"/>
                </a:solidFill>
                <a:latin typeface="Arial"/>
              </a:rPr>
              <a:t>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4023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4788A"/>
                </a:solidFill>
                <a:latin typeface="Arial"/>
              </a:rPr>
              <a:t>Confidentiality – Integrity – Availability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3208" y="1458468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6FB2"/>
                </a:solidFill>
                <a:latin typeface="Arial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4376" y="1463040"/>
            <a:ext cx="6330391" cy="419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D4E"/>
                </a:solidFill>
                <a:latin typeface="Arial"/>
              </a:rPr>
              <a:t>Tính bí mật (Confidentiality):</a:t>
            </a:r>
            <a:r>
              <a:rPr sz="1300" b="0" i="0">
                <a:solidFill>
                  <a:srgbClr val="2B3A47"/>
                </a:solidFill>
                <a:latin typeface="Arial"/>
              </a:rPr>
              <a:t> ngăn chặn việc tiết lộ nội dung một cách trái phép, dù cố ý hay vô ý.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8" y="2043176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6FB2"/>
                </a:solidFill>
                <a:latin typeface="Arial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4376" y="2047748"/>
            <a:ext cx="6330391" cy="419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D4E"/>
                </a:solidFill>
                <a:latin typeface="Arial"/>
              </a:rPr>
              <a:t>Tính toàn vẹn (Integrity):</a:t>
            </a:r>
            <a:r>
              <a:rPr sz="1300" b="0" i="0">
                <a:solidFill>
                  <a:srgbClr val="2B3A47"/>
                </a:solidFill>
                <a:latin typeface="Arial"/>
              </a:rPr>
              <a:t> bảo đảm thông điệp gửi đi chính là thông điệp nhận về, không bị thay đổi trên đường truyền.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3208" y="2627884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6FB2"/>
                </a:solidFill>
                <a:latin typeface="Arial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4376" y="2632456"/>
            <a:ext cx="6330391" cy="419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D4E"/>
                </a:solidFill>
                <a:latin typeface="Arial"/>
              </a:rPr>
              <a:t>Tính sẵn sàng (Availability):</a:t>
            </a:r>
            <a:r>
              <a:rPr sz="1300" b="0" i="0">
                <a:solidFill>
                  <a:srgbClr val="2B3A47"/>
                </a:solidFill>
                <a:latin typeface="Arial"/>
              </a:rPr>
              <a:t> các thành phần tạo ra độ tin cậy và tính ổn định, để người dùng hợp lệ luôn truy cập được khi cần.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663440"/>
            <a:ext cx="11057839" cy="1371600"/>
          </a:xfrm>
          <a:prstGeom prst="roundRect">
            <a:avLst>
              <a:gd name="adj" fmla="val 5500"/>
            </a:avLst>
          </a:prstGeom>
          <a:solidFill>
            <a:srgbClr val="EAF2F9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1520" y="4828031"/>
            <a:ext cx="10728655" cy="232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2D4E"/>
                </a:solidFill>
                <a:latin typeface="Arial"/>
              </a:rPr>
              <a:t>Vì sao bài toán đổi khác khi lên Đám mây?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42484"/>
            <a:ext cx="10728655" cy="664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2B3A47"/>
                </a:solidFill>
                <a:latin typeface="Arial"/>
              </a:rPr>
              <a:t>Phần lớn </a:t>
            </a:r>
            <a:r>
              <a:rPr sz="1200" b="1" i="0">
                <a:solidFill>
                  <a:srgbClr val="1F6FB2"/>
                </a:solidFill>
                <a:latin typeface="Arial"/>
              </a:rPr>
              <a:t>mạng, hệ thống, ứng dụng và thông tin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chuyển sang nằm dưới sự kiểm soát của </a:t>
            </a:r>
            <a:r>
              <a:rPr sz="1200" b="1" i="0">
                <a:solidFill>
                  <a:srgbClr val="1F6FB2"/>
                </a:solidFill>
                <a:latin typeface="Arial"/>
              </a:rPr>
              <a:t>bên thứ ba</a:t>
            </a:r>
            <a:r>
              <a:rPr sz="1200" b="0" i="0">
                <a:solidFill>
                  <a:srgbClr val="2B3A47"/>
                </a:solidFill>
                <a:latin typeface="Arial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A47"/>
                </a:solidFill>
                <a:latin typeface="Arial"/>
              </a:rPr>
              <a:t>Mô hình này tạo ra những </a:t>
            </a:r>
            <a:r>
              <a:rPr sz="1200" b="1" i="0">
                <a:solidFill>
                  <a:srgbClr val="1F6FB2"/>
                </a:solidFill>
                <a:latin typeface="Arial"/>
              </a:rPr>
              <a:t>“hòn đảo” Đám mây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với các </a:t>
            </a:r>
            <a:r>
              <a:rPr sz="1200" b="1" i="0">
                <a:solidFill>
                  <a:srgbClr val="1F6FB2"/>
                </a:solidFill>
                <a:latin typeface="Arial"/>
              </a:rPr>
              <a:t>vành đai ảo (virtual perimeter)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và một mô hình bảo mật có nghĩa vụ </a:t>
            </a:r>
            <a:r>
              <a:rPr sz="1200" b="1" i="0">
                <a:solidFill>
                  <a:srgbClr val="1F6FB2"/>
                </a:solidFill>
                <a:latin typeface="Arial"/>
              </a:rPr>
              <a:t>chia sẻ giữa khách hàng và CSP</a:t>
            </a:r>
            <a:r>
              <a:rPr sz="120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Chương 11 · Bảo mật đám mây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Oval 3"/>
          <p:cNvSpPr/>
          <p:nvPr/>
        </p:nvSpPr>
        <p:spPr>
          <a:xfrm>
            <a:off x="8899855" y="-1188720"/>
            <a:ext cx="4206240" cy="4206240"/>
          </a:xfrm>
          <a:prstGeom prst="ellipse">
            <a:avLst/>
          </a:prstGeom>
          <a:solidFill>
            <a:srgbClr val="17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Oval 4"/>
          <p:cNvSpPr/>
          <p:nvPr/>
        </p:nvSpPr>
        <p:spPr>
          <a:xfrm>
            <a:off x="10180015" y="4023360"/>
            <a:ext cx="3291840" cy="3291840"/>
          </a:xfrm>
          <a:prstGeom prst="ellipse">
            <a:avLst/>
          </a:prstGeom>
          <a:solidFill>
            <a:srgbClr val="17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D9BD3"/>
                </a:solidFill>
                <a:latin typeface="Arial"/>
              </a:rPr>
              <a:t>PHẦN I  ·  MỤC 11.1 – 11.2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7863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Bảo mật dữ liệu
và kỹ thuật mã hóa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3767328"/>
            <a:ext cx="1691640" cy="0"/>
          </a:xfrm>
          <a:prstGeom prst="line">
            <a:avLst/>
          </a:prstGeom>
          <a:ln w="3175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51560" y="406908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DD3E6"/>
                </a:solidFill>
                <a:latin typeface="Arial"/>
              </a:rPr>
              <a:t>— Dữ liệu đang truyền (data-in-transit) và rủi ro chính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37997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DD3E6"/>
                </a:solidFill>
                <a:latin typeface="Arial"/>
              </a:rPr>
              <a:t>— Siêu dữ liệu và các mối quan ngại bảo mật trong Đám mây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690872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DD3E6"/>
                </a:solidFill>
                <a:latin typeface="Arial"/>
              </a:rPr>
              <a:t>— Ba kỹ thuật mã hóa: ABE, FHE, SE và dịch vụ WPS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77724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11.1 BẢO MẬT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57784"/>
            <a:ext cx="10783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2D4E"/>
                </a:solidFill>
                <a:latin typeface="Arial"/>
              </a:rPr>
              <a:t>Dữ liệu đang truyền (Data-in-transit)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15568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1389888"/>
            <a:ext cx="11057839" cy="246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A47"/>
                </a:solidFill>
                <a:latin typeface="Arial"/>
              </a:rPr>
              <a:t>Dữ liệu đang truyền nhận diện </a:t>
            </a:r>
            <a:r>
              <a:rPr sz="1400" b="1" i="0">
                <a:solidFill>
                  <a:srgbClr val="0E2D4E"/>
                </a:solidFill>
                <a:latin typeface="Arial"/>
              </a:rPr>
              <a:t>dữ liệu đòi hỏi phải mã hóa</a:t>
            </a:r>
            <a:r>
              <a:rPr sz="1400" b="0" i="0">
                <a:solidFill>
                  <a:srgbClr val="2B3A47"/>
                </a:solidFill>
                <a:latin typeface="Arial"/>
              </a:rPr>
              <a:t> khi di chuyển từ thiết bị này sang thiết bị khác.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11680"/>
            <a:ext cx="3478682" cy="3977639"/>
          </a:xfrm>
          <a:prstGeom prst="roundRect">
            <a:avLst>
              <a:gd name="adj" fmla="val 45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011680"/>
            <a:ext cx="3478682" cy="731520"/>
          </a:xfrm>
          <a:prstGeom prst="roundRect">
            <a:avLst>
              <a:gd name="adj" fmla="val 12000"/>
            </a:avLst>
          </a:prstGeom>
          <a:solidFill>
            <a:srgbClr val="1F6FB2"/>
          </a:solidFill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6928" y="2395728"/>
            <a:ext cx="3478682" cy="347472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9808" y="2130552"/>
            <a:ext cx="311292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Mạng công cộng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32304"/>
            <a:ext cx="311292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CFE2F2"/>
                </a:solidFill>
                <a:latin typeface="Arial"/>
              </a:rPr>
              <a:t>Public Networks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903220"/>
            <a:ext cx="146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907792"/>
            <a:ext cx="2966618" cy="375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Chuyển giao dữ liệu qua các mạng công cộng như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Internet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392932"/>
            <a:ext cx="146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397504"/>
            <a:ext cx="2966618" cy="544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Ví dụ: ứng dụng trên điện thoại di động kết nối tới dịch vụ ngân hàng để yêu cầu một giao dịch.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052062"/>
            <a:ext cx="146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056634"/>
            <a:ext cx="2966618" cy="375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Thường được mã hóa bằng các giao thức như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HTTP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56506" y="2011680"/>
            <a:ext cx="3478682" cy="3977639"/>
          </a:xfrm>
          <a:prstGeom prst="roundRect">
            <a:avLst>
              <a:gd name="adj" fmla="val 45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4356506" y="2011680"/>
            <a:ext cx="3478682" cy="731520"/>
          </a:xfrm>
          <a:prstGeom prst="roundRect">
            <a:avLst>
              <a:gd name="adj" fmla="val 12000"/>
            </a:avLst>
          </a:prstGeom>
          <a:solidFill>
            <a:srgbClr val="1F6FB2"/>
          </a:solidFill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356506" y="2395728"/>
            <a:ext cx="3478682" cy="347472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39386" y="2130552"/>
            <a:ext cx="311292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Mạng riêng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9386" y="2432304"/>
            <a:ext cx="311292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CFE2F2"/>
                </a:solidFill>
                <a:latin typeface="Arial"/>
              </a:rPr>
              <a:t>Private Networks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9386" y="2903220"/>
            <a:ext cx="146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5690" y="2907792"/>
            <a:ext cx="2966618" cy="375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Chuyển giao qua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mạng cục bộ đã được bảo mật</a:t>
            </a:r>
            <a:r>
              <a:rPr sz="1150" b="0" i="0">
                <a:solidFill>
                  <a:srgbClr val="2B3A47"/>
                </a:solidFill>
                <a:latin typeface="Arial"/>
              </a:rPr>
              <a:t>, ví dụ trong một văn phòng.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9386" y="3392932"/>
            <a:ext cx="146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5690" y="3397504"/>
            <a:ext cx="2966618" cy="544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Nguyên tắc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phòng thủ theo chiều sâu (defense in depth)</a:t>
            </a:r>
            <a:r>
              <a:rPr sz="1150" b="0" i="0">
                <a:solidFill>
                  <a:srgbClr val="2B3A47"/>
                </a:solidFill>
                <a:latin typeface="Arial"/>
              </a:rPr>
              <a:t>: đừng tin rằng mạng đã được bảo mật đúng cách.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9386" y="4052062"/>
            <a:ext cx="146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5690" y="4056634"/>
            <a:ext cx="2966618" cy="375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→ Áp dụng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cùng mức mã hóa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như với mạng công cộng.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46084" y="2011680"/>
            <a:ext cx="3478682" cy="3977639"/>
          </a:xfrm>
          <a:prstGeom prst="roundRect">
            <a:avLst>
              <a:gd name="adj" fmla="val 45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8146084" y="2011680"/>
            <a:ext cx="3478682" cy="731520"/>
          </a:xfrm>
          <a:prstGeom prst="roundRect">
            <a:avLst>
              <a:gd name="adj" fmla="val 12000"/>
            </a:avLst>
          </a:prstGeom>
          <a:solidFill>
            <a:srgbClr val="1F6FB2"/>
          </a:solidFill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146084" y="2395728"/>
            <a:ext cx="3478682" cy="347472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28964" y="2130552"/>
            <a:ext cx="311292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Thiết bị cục bộ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8964" y="2432304"/>
            <a:ext cx="311292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CFE2F2"/>
                </a:solidFill>
                <a:latin typeface="Arial"/>
              </a:rPr>
              <a:t>Local Devices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8964" y="2903220"/>
            <a:ext cx="146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5268" y="2907792"/>
            <a:ext cx="2966618" cy="375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Chuyển giao giữa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máy tính, thiết bị lưu trữ và thiết bị ngoại vi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8964" y="3392932"/>
            <a:ext cx="146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5268" y="3397504"/>
            <a:ext cx="2966618" cy="375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Chính phương tiện truyền có thể chặn bắt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dữ liệu.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8964" y="3882644"/>
            <a:ext cx="146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5268" y="3887216"/>
            <a:ext cx="2966618" cy="544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Ví dụ: một dây cáp USB nối thiết bị với máy tính có thể ghi lại hoặc truyền đi dữ liệu.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Chương 11 · Bảo mật đám mây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77724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11.1 BẢO MẬT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57784"/>
            <a:ext cx="10783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2D4E"/>
                </a:solidFill>
                <a:latin typeface="Arial"/>
              </a:rPr>
              <a:t>Hai loại dữ liệu · Rủi ro chính · Siêu dữ liệu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15568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1389888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HAI LOẠI DỮ LIỆU ĐANG TRUYỀN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1773936"/>
            <a:ext cx="237744" cy="23774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1755648"/>
            <a:ext cx="5148072" cy="4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A47"/>
                </a:solidFill>
                <a:latin typeface="Arial"/>
              </a:rPr>
              <a:t>Thông tin lưu chuyển qua </a:t>
            </a:r>
            <a:r>
              <a:rPr sz="1250" b="1" i="0">
                <a:solidFill>
                  <a:srgbClr val="0E2D4E"/>
                </a:solidFill>
                <a:latin typeface="Arial"/>
              </a:rPr>
              <a:t>mạng công cộng hoặc mạng không đáng tin cậy</a:t>
            </a:r>
            <a:r>
              <a:rPr sz="1250" b="0" i="0">
                <a:solidFill>
                  <a:srgbClr val="2B3A47"/>
                </a:solidFill>
                <a:latin typeface="Arial"/>
              </a:rPr>
              <a:t> như Internet.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2318512"/>
            <a:ext cx="237744" cy="23774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300224"/>
            <a:ext cx="5148072" cy="4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A47"/>
                </a:solidFill>
                <a:latin typeface="Arial"/>
              </a:rPr>
              <a:t>Dữ liệu lưu chuyển trong phạm vi giới hạn của một </a:t>
            </a:r>
            <a:r>
              <a:rPr sz="1250" b="1" i="0">
                <a:solidFill>
                  <a:srgbClr val="0E2D4E"/>
                </a:solidFill>
                <a:latin typeface="Arial"/>
              </a:rPr>
              <a:t>mạng riêng</a:t>
            </a:r>
            <a:r>
              <a:rPr sz="1250" b="0" i="0">
                <a:solidFill>
                  <a:srgbClr val="2B3A47"/>
                </a:solidFill>
                <a:latin typeface="Arial"/>
              </a:rPr>
              <a:t>, như LAN của công ty hay doanh nghiệp.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27248"/>
            <a:ext cx="5532120" cy="1828800"/>
          </a:xfrm>
          <a:prstGeom prst="roundRect">
            <a:avLst>
              <a:gd name="adj" fmla="val 5500"/>
            </a:avLst>
          </a:prstGeom>
          <a:solidFill>
            <a:srgbClr val="FBEDEB"/>
          </a:solidFill>
          <a:ln w="12700">
            <a:solidFill>
              <a:srgbClr val="EE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5202936" cy="2251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B8342A"/>
                </a:solidFill>
                <a:latin typeface="Arial"/>
              </a:rPr>
              <a:t>⚠  Rủi ro chính (Primary risk)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99307"/>
            <a:ext cx="5202936" cy="1159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Đối với dữ liệu đang truyền, rủi ro chính </a:t>
            </a:r>
            <a:r>
              <a:rPr sz="1150" b="1" i="0">
                <a:solidFill>
                  <a:srgbClr val="B8342A"/>
                </a:solidFill>
                <a:latin typeface="Arial"/>
              </a:rPr>
              <a:t>không nằm ở việc có mã hóa hay không</a:t>
            </a:r>
            <a:r>
              <a:rPr sz="1150" b="0" i="0">
                <a:solidFill>
                  <a:srgbClr val="2B3A47"/>
                </a:solidFill>
                <a:latin typeface="Arial"/>
              </a:rPr>
              <a:t>, mà là </a:t>
            </a:r>
            <a:r>
              <a:rPr sz="1150" b="1" i="0">
                <a:solidFill>
                  <a:srgbClr val="B8342A"/>
                </a:solidFill>
                <a:latin typeface="Arial"/>
              </a:rPr>
              <a:t>không sử dụng một thuật toán mã hóa đã được kiểm chứng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(vetted encryption algorithm).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Yêu cầu này hiển nhiên với chuyên gia bảo mật, nhưng </a:t>
            </a:r>
            <a:r>
              <a:rPr sz="1150" b="1" i="0">
                <a:solidFill>
                  <a:srgbClr val="B8342A"/>
                </a:solidFill>
                <a:latin typeface="Arial"/>
              </a:rPr>
              <a:t>thường không được hiểu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bởi người dùng Đám mây công cộng — bất kể đó là IaaS, PaaS hay SaaS.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64808" y="1389888"/>
            <a:ext cx="5159959" cy="3310128"/>
          </a:xfrm>
          <a:prstGeom prst="roundRect">
            <a:avLst>
              <a:gd name="adj" fmla="val 5500"/>
            </a:avLst>
          </a:prstGeom>
          <a:solidFill>
            <a:srgbClr val="EAF2F9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629400" y="1554480"/>
            <a:ext cx="4830775" cy="2251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2D4E"/>
                </a:solidFill>
                <a:latin typeface="Arial"/>
              </a:rPr>
              <a:t>Vượt ra ngoài bản thân dữ liệu: SIÊU DỮ LIỆU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1861947"/>
            <a:ext cx="4830775" cy="2032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Khách hàng không chỉ quan tâm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dữ liệu nào được thu thập</a:t>
            </a:r>
            <a:r>
              <a:rPr sz="1150" b="0" i="0">
                <a:solidFill>
                  <a:srgbClr val="2B3A47"/>
                </a:solidFill>
                <a:latin typeface="Arial"/>
              </a:rPr>
              <a:t>, mà còn quan tâm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CSP bảo vệ dữ liệu đó ra sao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Ba câu hỏi cần đặt ra với nhà cung cấp: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   • Nhà cung cấp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nắm giữ siêu dữ liệu (metadata) nào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về dữ liệu của tôi?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   • Siêu dữ liệu đó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được bảo mật như thế nào</a:t>
            </a:r>
            <a:r>
              <a:rPr sz="1150" b="0" i="0">
                <a:solidFill>
                  <a:srgbClr val="2B3A47"/>
                </a:solidFill>
                <a:latin typeface="Arial"/>
              </a:rPr>
              <a:t>?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   • Khách hàng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có quyền truy cập gì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đối với siêu dữ liệu đó?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Khối lượng dữ liệu của tôi ở một nhà cung cấp càng tăng → giá trị siêu dữ liệu đó càng tăng theo.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47488"/>
            <a:ext cx="5532120" cy="1188720"/>
          </a:xfrm>
          <a:prstGeom prst="roundRect">
            <a:avLst>
              <a:gd name="adj" fmla="val 55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5212079"/>
            <a:ext cx="5202936" cy="2181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D4E"/>
                </a:solidFill>
                <a:latin typeface="Arial"/>
              </a:rPr>
              <a:t>Ghi nhớ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12561"/>
            <a:ext cx="5202936" cy="3812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Cùng một dữ liệu, cùng một mức mã hóa — dù đi qua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Internet hay LAN nội bộ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 Mạng riêng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không phải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lý do để hạ thấp tiêu chuẩn bảo vệ.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Chương 11 · Bảo mật đám mây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77724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11.1 BẢO MẬT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57784"/>
            <a:ext cx="10783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2D4E"/>
                </a:solidFill>
                <a:latin typeface="Arial"/>
              </a:rPr>
              <a:t>Các mối quan ngại bảo mật đáng kể trong Đám mây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15568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1371600"/>
            <a:ext cx="11057839" cy="411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A47"/>
                </a:solidFill>
                <a:latin typeface="Arial"/>
              </a:rPr>
              <a:t>Điện toán đám mây bao hàm </a:t>
            </a:r>
            <a:r>
              <a:rPr sz="1250" b="1" i="0">
                <a:solidFill>
                  <a:srgbClr val="0E2D4E"/>
                </a:solidFill>
                <a:latin typeface="Arial"/>
              </a:rPr>
              <a:t>nhiều công nghệ</a:t>
            </a:r>
            <a:r>
              <a:rPr sz="1250" b="0" i="0">
                <a:solidFill>
                  <a:srgbClr val="2B3A47"/>
                </a:solidFill>
                <a:latin typeface="Arial"/>
              </a:rPr>
              <a:t>: mạng, cơ sở dữ liệu, hệ điều hành, ảo hóa, lập lịch tài nguyên, quản lý giao dịch, cân bằng tải, kiểm soát tương tranh và quản lý bộ nhớ.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03120"/>
            <a:ext cx="2586151" cy="1572768"/>
          </a:xfrm>
          <a:prstGeom prst="roundRect">
            <a:avLst>
              <a:gd name="adj" fmla="val 7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103120"/>
            <a:ext cx="2586151" cy="685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3232" y="2286000"/>
            <a:ext cx="22935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D4E"/>
                </a:solidFill>
                <a:latin typeface="Arial"/>
              </a:rPr>
              <a:t>Truyền dữ liệu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560320"/>
            <a:ext cx="22935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1F6FB2"/>
                </a:solidFill>
                <a:latin typeface="Arial"/>
              </a:rPr>
              <a:t>Data Transmission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834639"/>
            <a:ext cx="2293543" cy="6659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A47"/>
                </a:solidFill>
                <a:latin typeface="Arial"/>
              </a:rPr>
              <a:t>Gửi dữ liệu số hoặc tương tự tới một hoặc nhiều thiết bị; điểm–điểm, điểm–đa điểm, đa điểm–đa điểm.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103120"/>
            <a:ext cx="2586151" cy="1572768"/>
          </a:xfrm>
          <a:prstGeom prst="roundRect">
            <a:avLst>
              <a:gd name="adj" fmla="val 7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390823" y="2103120"/>
            <a:ext cx="2586151" cy="685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37127" y="2286000"/>
            <a:ext cx="22935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D4E"/>
                </a:solidFill>
                <a:latin typeface="Arial"/>
              </a:rPr>
              <a:t>Bảo mật ảo hóa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7127" y="2560320"/>
            <a:ext cx="22935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1F6FB2"/>
                </a:solidFill>
                <a:latin typeface="Arial"/>
              </a:rPr>
              <a:t>Virtualization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7127" y="2834639"/>
            <a:ext cx="2293543" cy="5086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A47"/>
                </a:solidFill>
                <a:latin typeface="Arial"/>
              </a:rPr>
              <a:t>Các biện pháp, thủ tục, quy trình bảo đảm sự bảo vệ của hạ tầng/môi trường ảo hóa.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4719" y="2103120"/>
            <a:ext cx="2586151" cy="1572768"/>
          </a:xfrm>
          <a:prstGeom prst="roundRect">
            <a:avLst>
              <a:gd name="adj" fmla="val 7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214719" y="2103120"/>
            <a:ext cx="2586151" cy="685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61023" y="2286000"/>
            <a:ext cx="22935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D4E"/>
                </a:solidFill>
                <a:latin typeface="Arial"/>
              </a:rPr>
              <a:t>Bảo mật mạng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1023" y="2560320"/>
            <a:ext cx="22935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1F6FB2"/>
                </a:solidFill>
                <a:latin typeface="Arial"/>
              </a:rPr>
              <a:t>Network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1023" y="2834639"/>
            <a:ext cx="2293543" cy="5086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A47"/>
                </a:solidFill>
                <a:latin typeface="Arial"/>
              </a:rPr>
              <a:t>Chiến lược bảo đảm an toàn cho tài sản và toàn bộ lưu lượng mạng của tổ chức.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38615" y="2103120"/>
            <a:ext cx="2586151" cy="1572768"/>
          </a:xfrm>
          <a:prstGeom prst="roundRect">
            <a:avLst>
              <a:gd name="adj" fmla="val 7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9038615" y="2103120"/>
            <a:ext cx="2586151" cy="685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84919" y="2286000"/>
            <a:ext cx="22935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D4E"/>
                </a:solidFill>
                <a:latin typeface="Arial"/>
              </a:rPr>
              <a:t>Toàn vẹn dữ liệu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4919" y="2560320"/>
            <a:ext cx="22935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1F6FB2"/>
                </a:solidFill>
                <a:latin typeface="Arial"/>
              </a:rPr>
              <a:t>Data Integrity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4919" y="2834639"/>
            <a:ext cx="2293543" cy="5086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A47"/>
                </a:solidFill>
                <a:latin typeface="Arial"/>
              </a:rPr>
              <a:t>Xác định dữ liệu nào trong hệ thống </a:t>
            </a:r>
            <a:r>
              <a:rPr sz="1050" b="1" i="0">
                <a:solidFill>
                  <a:srgbClr val="0E2D4E"/>
                </a:solidFill>
                <a:latin typeface="Arial"/>
              </a:rPr>
              <a:t>có thể được chia sẻ với bên thứ ba</a:t>
            </a:r>
            <a:r>
              <a:rPr sz="10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858768"/>
            <a:ext cx="2586151" cy="1572768"/>
          </a:xfrm>
          <a:prstGeom prst="roundRect">
            <a:avLst>
              <a:gd name="adj" fmla="val 7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66928" y="3858768"/>
            <a:ext cx="2586151" cy="685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3232" y="4041648"/>
            <a:ext cx="22935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D4E"/>
                </a:solidFill>
                <a:latin typeface="Arial"/>
              </a:rPr>
              <a:t>Quyền riêng tư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315968"/>
            <a:ext cx="22935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1F6FB2"/>
                </a:solidFill>
                <a:latin typeface="Arial"/>
              </a:rPr>
              <a:t>Data Privacy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4590288"/>
            <a:ext cx="2293543" cy="5086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A47"/>
                </a:solidFill>
                <a:latin typeface="Arial"/>
              </a:rPr>
              <a:t>Tính toàn vẹn dữ liệu: </a:t>
            </a:r>
            <a:r>
              <a:rPr sz="1050" b="1" i="0">
                <a:solidFill>
                  <a:srgbClr val="0E2D4E"/>
                </a:solidFill>
                <a:latin typeface="Arial"/>
              </a:rPr>
              <a:t>độ chính xác và tính nhất quán</a:t>
            </a:r>
            <a:r>
              <a:rPr sz="1050" b="0" i="0">
                <a:solidFill>
                  <a:srgbClr val="2B3A47"/>
                </a:solidFill>
                <a:latin typeface="Arial"/>
              </a:rPr>
              <a:t> của dữ liệu được lưu trữ.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90823" y="3858768"/>
            <a:ext cx="2586151" cy="1572768"/>
          </a:xfrm>
          <a:prstGeom prst="roundRect">
            <a:avLst>
              <a:gd name="adj" fmla="val 7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3390823" y="3858768"/>
            <a:ext cx="2586151" cy="685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537127" y="4041648"/>
            <a:ext cx="22935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D4E"/>
                </a:solidFill>
                <a:latin typeface="Arial"/>
              </a:rPr>
              <a:t>Vị trí dữ liệu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37127" y="4315968"/>
            <a:ext cx="22935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1F6FB2"/>
                </a:solidFill>
                <a:latin typeface="Arial"/>
              </a:rPr>
              <a:t>Data Location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37127" y="4590288"/>
            <a:ext cx="2293543" cy="5086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A47"/>
                </a:solidFill>
                <a:latin typeface="Arial"/>
              </a:rPr>
              <a:t>Dữ liệu số được lưu trữ trong </a:t>
            </a:r>
            <a:r>
              <a:rPr sz="1050" b="1" i="0">
                <a:solidFill>
                  <a:srgbClr val="0E2D4E"/>
                </a:solidFill>
                <a:latin typeface="Arial"/>
              </a:rPr>
              <a:t>các nhóm logic</a:t>
            </a:r>
            <a:r>
              <a:rPr sz="1050" b="0" i="0">
                <a:solidFill>
                  <a:srgbClr val="2B3A47"/>
                </a:solidFill>
                <a:latin typeface="Arial"/>
              </a:rPr>
              <a:t>, trải rộng trên nhiều máy chủ và nhiều địa điểm.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4719" y="3858768"/>
            <a:ext cx="2586151" cy="1572768"/>
          </a:xfrm>
          <a:prstGeom prst="roundRect">
            <a:avLst>
              <a:gd name="adj" fmla="val 7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214719" y="3858768"/>
            <a:ext cx="2586151" cy="685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361023" y="4041648"/>
            <a:ext cx="22935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D4E"/>
                </a:solidFill>
                <a:latin typeface="Arial"/>
              </a:rPr>
              <a:t>Sẵn sàng dữ liệu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315968"/>
            <a:ext cx="22935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1F6FB2"/>
                </a:solidFill>
                <a:latin typeface="Arial"/>
              </a:rPr>
              <a:t>Data Availability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4590288"/>
            <a:ext cx="2293543" cy="5086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A47"/>
                </a:solidFill>
                <a:latin typeface="Arial"/>
              </a:rPr>
              <a:t>Dữ liệu </a:t>
            </a:r>
            <a:r>
              <a:rPr sz="1050" b="1" i="0">
                <a:solidFill>
                  <a:srgbClr val="0E2D4E"/>
                </a:solidFill>
                <a:latin typeface="Arial"/>
              </a:rPr>
              <a:t>tiếp tục sẵn sàng</a:t>
            </a:r>
            <a:r>
              <a:rPr sz="1050" b="0" i="0">
                <a:solidFill>
                  <a:srgbClr val="2B3A47"/>
                </a:solidFill>
                <a:latin typeface="Arial"/>
              </a:rPr>
              <a:t> ở mức hiệu năng yêu cầu, từ tình huống bình thường đến “thảm họa”.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38615" y="3858768"/>
            <a:ext cx="2586151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4788A"/>
                </a:solidFill>
                <a:latin typeface="Arial"/>
              </a:rPr>
              <a:t>Hai ví dụ về thứ phải bảo vệ: mạng liên kết các hệ thống trong một Đám mây, và ánh xạ máy ảo sang máy vật lý.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Chương 11 · Bảo mật đám mây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77724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11.2 KỸ THUẬT MÃ HÓA TRONG ĐÁM MÂY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57784"/>
            <a:ext cx="10783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2D4E"/>
                </a:solidFill>
                <a:latin typeface="Arial"/>
              </a:rPr>
              <a:t>Ba họ kỹ thuật mã hóa đặc trưng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15568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371600"/>
            <a:ext cx="11057839" cy="822960"/>
          </a:xfrm>
          <a:prstGeom prst="roundRect">
            <a:avLst>
              <a:gd name="adj" fmla="val 5500"/>
            </a:avLst>
          </a:prstGeom>
          <a:solidFill>
            <a:srgbClr val="EAF2F9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0664" y="1545336"/>
            <a:ext cx="10710367" cy="426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6FB2"/>
                </a:solidFill>
                <a:latin typeface="Arial"/>
              </a:rPr>
              <a:t>Mã hóa đám mây (Cloud encryption)</a:t>
            </a:r>
            <a:r>
              <a:rPr sz="1300" b="0" i="0">
                <a:solidFill>
                  <a:srgbClr val="2B3A47"/>
                </a:solidFill>
                <a:latin typeface="Arial"/>
              </a:rPr>
              <a:t> là sự biến đổi dữ liệu của khách hàng thành </a:t>
            </a:r>
            <a:r>
              <a:rPr sz="1300" b="1" i="0">
                <a:solidFill>
                  <a:srgbClr val="1F6FB2"/>
                </a:solidFill>
                <a:latin typeface="Arial"/>
              </a:rPr>
              <a:t>bản mã (ciphertext)</a:t>
            </a:r>
            <a:r>
              <a:rPr sz="1300" b="0" i="0">
                <a:solidFill>
                  <a:srgbClr val="2B3A47"/>
                </a:solidFill>
                <a:latin typeface="Arial"/>
              </a:rPr>
              <a:t> trước khi được đặt lên một Đám mây lưu trữ.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377440"/>
            <a:ext cx="3478682" cy="3017520"/>
          </a:xfrm>
          <a:prstGeom prst="roundRect">
            <a:avLst>
              <a:gd name="adj" fmla="val 5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68096" y="2578608"/>
            <a:ext cx="960120" cy="502920"/>
          </a:xfrm>
          <a:prstGeom prst="roundRect">
            <a:avLst>
              <a:gd name="adj" fmla="val 16000"/>
            </a:avLst>
          </a:prstGeom>
          <a:solidFill>
            <a:srgbClr val="0E2D4E"/>
          </a:solidFill>
          <a:ln w="12700">
            <a:solidFill>
              <a:srgbClr val="0E2D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ABE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2596896"/>
            <a:ext cx="199735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D4E"/>
                </a:solidFill>
                <a:latin typeface="Arial"/>
              </a:rPr>
              <a:t>Mã hóa dựa trên thuộc tính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200400"/>
            <a:ext cx="30763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1F6FB2"/>
                </a:solidFill>
                <a:latin typeface="Arial"/>
              </a:rPr>
              <a:t>Attribute-Based Encryption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525012"/>
            <a:ext cx="146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29584"/>
            <a:ext cx="2930042" cy="714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Mã hóa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khóa công khai</a:t>
            </a:r>
            <a:r>
              <a:rPr sz="1150" b="0" i="0">
                <a:solidFill>
                  <a:srgbClr val="2B3A47"/>
                </a:solidFill>
                <a:latin typeface="Arial"/>
              </a:rPr>
              <a:t>, trong đó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khóa bí mật của người dùng và bản mã phụ thuộc vào các thuộc tính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(ví dụ: quốc gia sinh sống, loại gói thuê bao).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4353560"/>
            <a:ext cx="146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58132"/>
            <a:ext cx="2930042" cy="544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Giải mã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chỉ khả thi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nếu tập thuộc tính của khóa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khớp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với tập thuộc tính của bản mã.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6506" y="2377440"/>
            <a:ext cx="3478682" cy="3017520"/>
          </a:xfrm>
          <a:prstGeom prst="roundRect">
            <a:avLst>
              <a:gd name="adj" fmla="val 5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4557674" y="2578608"/>
            <a:ext cx="960120" cy="502920"/>
          </a:xfrm>
          <a:prstGeom prst="roundRect">
            <a:avLst>
              <a:gd name="adj" fmla="val 16000"/>
            </a:avLst>
          </a:prstGeom>
          <a:solidFill>
            <a:srgbClr val="0E2D4E"/>
          </a:solidFill>
          <a:ln w="12700">
            <a:solidFill>
              <a:srgbClr val="0E2D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FHE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6666" y="2596896"/>
            <a:ext cx="199735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D4E"/>
                </a:solidFill>
                <a:latin typeface="Arial"/>
              </a:rPr>
              <a:t>Mã hóa đồng cấu toàn phần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7674" y="3200400"/>
            <a:ext cx="30763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1F6FB2"/>
                </a:solidFill>
                <a:latin typeface="Arial"/>
              </a:rPr>
              <a:t>Fully Homomorphic Encryption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7674" y="3525012"/>
            <a:ext cx="146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3978" y="3529584"/>
            <a:ext cx="2930042" cy="375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Cho phép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thực hiện phép tính trên dữ liệu đã mã hóa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7674" y="4014724"/>
            <a:ext cx="146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3978" y="4019295"/>
            <a:ext cx="2930042" cy="375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Cho phép tính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tổng và tích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đối với dữ liệu đã mã hóa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mà không cần giải mã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46084" y="2377440"/>
            <a:ext cx="3478682" cy="3017520"/>
          </a:xfrm>
          <a:prstGeom prst="roundRect">
            <a:avLst>
              <a:gd name="adj" fmla="val 5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347252" y="2578608"/>
            <a:ext cx="960120" cy="502920"/>
          </a:xfrm>
          <a:prstGeom prst="roundRect">
            <a:avLst>
              <a:gd name="adj" fmla="val 16000"/>
            </a:avLst>
          </a:prstGeom>
          <a:solidFill>
            <a:srgbClr val="0E2D4E"/>
          </a:solidFill>
          <a:ln w="12700">
            <a:solidFill>
              <a:srgbClr val="0E2D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6244" y="2596896"/>
            <a:ext cx="199735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D4E"/>
                </a:solidFill>
                <a:latin typeface="Arial"/>
              </a:rPr>
              <a:t>Mã hóa có thể tìm kiếm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7252" y="3200400"/>
            <a:ext cx="30763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1F6FB2"/>
                </a:solidFill>
                <a:latin typeface="Arial"/>
              </a:rPr>
              <a:t>Searchable Encryption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7252" y="3525012"/>
            <a:ext cx="146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93556" y="3529584"/>
            <a:ext cx="2930042" cy="375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Hệ thống mật mã cung cấp chức năng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tìm kiếm an toàn trên dữ liệu đã mã hóa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7252" y="4014724"/>
            <a:ext cx="146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93556" y="4019295"/>
            <a:ext cx="2930042" cy="544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Hai loại: dựa trên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mật mã khóa bí mật (đối xứng)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và dựa trên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mật mã khóa công khai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532120"/>
            <a:ext cx="11057839" cy="566928"/>
          </a:xfrm>
          <a:prstGeom prst="roundRect">
            <a:avLst>
              <a:gd name="adj" fmla="val 5500"/>
            </a:avLst>
          </a:prstGeom>
          <a:solidFill>
            <a:srgbClr val="FDF4E4"/>
          </a:solidFill>
          <a:ln w="12700">
            <a:solidFill>
              <a:srgbClr val="EBD2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94944" y="5660136"/>
            <a:ext cx="10801807" cy="2089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Để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cải thiện hiệu quả tìm kiếm</a:t>
            </a:r>
            <a:r>
              <a:rPr sz="1150" b="0" i="0">
                <a:solidFill>
                  <a:srgbClr val="2B3A47"/>
                </a:solidFill>
                <a:latin typeface="Arial"/>
              </a:rPr>
              <a:t>, SE khóa đối xứng thường xây dựng các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chỉ mục từ khóa (keyword index)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để trả lời các truy vấn của người dùng.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Chương 11 · Bảo mật đám mây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77724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11.2 ABE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57784"/>
            <a:ext cx="10783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2D4E"/>
                </a:solidFill>
                <a:latin typeface="Arial"/>
              </a:rPr>
              <a:t>Hai chính sách: CP-ABE và KP-ABE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15568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371600"/>
            <a:ext cx="5323179" cy="1874519"/>
          </a:xfrm>
          <a:prstGeom prst="roundRect">
            <a:avLst>
              <a:gd name="adj" fmla="val 5500"/>
            </a:avLst>
          </a:prstGeom>
          <a:solidFill>
            <a:srgbClr val="EAF2F9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4993995" cy="232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2D4E"/>
                </a:solidFill>
                <a:latin typeface="Arial"/>
              </a:rPr>
              <a:t>CP-ABE  ·  ABE theo chính sách bản mã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50644"/>
            <a:ext cx="4993995" cy="933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2B3A47"/>
                </a:solidFill>
                <a:latin typeface="Arial"/>
              </a:rPr>
              <a:t>Ciphertext-Policy ABE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1F6FB2"/>
                </a:solidFill>
                <a:latin typeface="Arial"/>
              </a:rPr>
              <a:t>Bên mã hóa (encryptor) kiểm soát chiến lược truy cập.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A47"/>
                </a:solidFill>
                <a:latin typeface="Arial"/>
              </a:rPr>
              <a:t>Ý tưởng chính: tập trung vào </a:t>
            </a:r>
            <a:r>
              <a:rPr sz="1200" b="1" i="0">
                <a:solidFill>
                  <a:srgbClr val="1F6FB2"/>
                </a:solidFill>
                <a:latin typeface="Arial"/>
              </a:rPr>
              <a:t>thiết kế của cấu trúc truy cập (access structure)</a:t>
            </a:r>
            <a:r>
              <a:rPr sz="120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1587" y="1371600"/>
            <a:ext cx="5323179" cy="1874519"/>
          </a:xfrm>
          <a:prstGeom prst="roundRect">
            <a:avLst>
              <a:gd name="adj" fmla="val 5500"/>
            </a:avLst>
          </a:prstGeom>
          <a:solidFill>
            <a:srgbClr val="EAF2F9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66179" y="1536192"/>
            <a:ext cx="4993995" cy="232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2D4E"/>
                </a:solidFill>
                <a:latin typeface="Arial"/>
              </a:rPr>
              <a:t>KP-ABE  ·  ABE theo chính sách khóa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6179" y="1850644"/>
            <a:ext cx="4993995" cy="933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2B3A47"/>
                </a:solidFill>
                <a:latin typeface="Arial"/>
              </a:rPr>
              <a:t>Key-Policy ABE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1F6FB2"/>
                </a:solidFill>
                <a:latin typeface="Arial"/>
              </a:rPr>
              <a:t>Các tập thuộc tính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được dùng để </a:t>
            </a:r>
            <a:r>
              <a:rPr sz="1200" b="1" i="0">
                <a:solidFill>
                  <a:srgbClr val="1F6FB2"/>
                </a:solidFill>
                <a:latin typeface="Arial"/>
              </a:rPr>
              <a:t>mô tả các văn bản đã mã hóa</a:t>
            </a:r>
            <a:r>
              <a:rPr sz="1200" b="0" i="0">
                <a:solidFill>
                  <a:srgbClr val="2B3A47"/>
                </a:solidFill>
                <a:latin typeface="Arial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6FB2"/>
                </a:solidFill>
                <a:latin typeface="Arial"/>
              </a:rPr>
              <a:t>Các khóa riêng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được liên kết với </a:t>
            </a:r>
            <a:r>
              <a:rPr sz="1200" b="1" i="0">
                <a:solidFill>
                  <a:srgbClr val="1F6FB2"/>
                </a:solidFill>
                <a:latin typeface="Arial"/>
              </a:rPr>
              <a:t>chính sách xác định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mà người dùng sẽ có.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456432"/>
            <a:ext cx="11057839" cy="2468880"/>
          </a:xfrm>
          <a:prstGeom prst="roundRect">
            <a:avLst>
              <a:gd name="adj" fmla="val 35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1247" y="3639312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CƠ CHẾ GIẢI MÃ CỦA ABE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" y="4069080"/>
            <a:ext cx="2284399" cy="960120"/>
          </a:xfrm>
          <a:prstGeom prst="roundRect">
            <a:avLst>
              <a:gd name="adj" fmla="val 9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D4E"/>
                </a:solidFill>
                <a:latin typeface="Arial"/>
              </a:rPr>
              <a:t>Thuộc tính người dùng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64788A"/>
                </a:solidFill>
                <a:latin typeface="Arial"/>
              </a:rPr>
              <a:t>quốc gia, gói thuê bao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326815" y="4475988"/>
            <a:ext cx="237744" cy="146304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628567" y="4069080"/>
            <a:ext cx="2284399" cy="960120"/>
          </a:xfrm>
          <a:prstGeom prst="roundRect">
            <a:avLst>
              <a:gd name="adj" fmla="val 9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D4E"/>
                </a:solidFill>
                <a:latin typeface="Arial"/>
              </a:rPr>
              <a:t>Khóa bí mật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64788A"/>
                </a:solidFill>
                <a:latin typeface="Arial"/>
              </a:rPr>
              <a:t>gắn với thuộc tính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76975" y="4475988"/>
            <a:ext cx="237744" cy="146304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6278727" y="4069080"/>
            <a:ext cx="2284399" cy="960120"/>
          </a:xfrm>
          <a:prstGeom prst="roundRect">
            <a:avLst>
              <a:gd name="adj" fmla="val 9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D4E"/>
                </a:solidFill>
                <a:latin typeface="Arial"/>
              </a:rPr>
              <a:t>Thuộc tính của bản mã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64788A"/>
                </a:solidFill>
                <a:latin typeface="Arial"/>
              </a:rPr>
              <a:t>trên Đám mây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627135" y="4475988"/>
            <a:ext cx="237744" cy="146304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928887" y="4069080"/>
            <a:ext cx="2284399" cy="960120"/>
          </a:xfrm>
          <a:prstGeom prst="roundRect">
            <a:avLst>
              <a:gd name="adj" fmla="val 9000"/>
            </a:avLst>
          </a:prstGeom>
          <a:solidFill>
            <a:srgbClr val="0E2D4E"/>
          </a:solidFill>
          <a:ln w="12700">
            <a:solidFill>
              <a:srgbClr val="0E2D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Giải mã thành công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64788A"/>
                </a:solidFill>
                <a:latin typeface="Arial"/>
              </a:rPr>
              <a:t>chỉ khi KHỚP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5230368"/>
            <a:ext cx="102348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A47"/>
                </a:solidFill>
                <a:latin typeface="Arial"/>
              </a:rPr>
              <a:t>Trong một hệ thống như vậy, việc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giải mã một bản mã chỉ khả thi nếu tập thuộc tính của khóa người dùng khớp với các thuộc tính của bản mã</a:t>
            </a:r>
            <a:r>
              <a:rPr sz="120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Chương 11 · Bảo mật đám mây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77724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11.2.1 ABE THEO CHÍNH SÁCH KHÓA PHI TẬP TRUNG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57784"/>
            <a:ext cx="10783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2D4E"/>
                </a:solidFill>
                <a:latin typeface="Arial"/>
              </a:rPr>
              <a:t>Năm mô-đun con của lược đồ phi tập trung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15568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353312"/>
            <a:ext cx="11057839" cy="777240"/>
          </a:xfrm>
          <a:prstGeom prst="roundRect">
            <a:avLst>
              <a:gd name="adj" fmla="val 5500"/>
            </a:avLst>
          </a:prstGeom>
          <a:solidFill>
            <a:srgbClr val="EAF2F9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517904"/>
            <a:ext cx="10728655" cy="411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A47"/>
                </a:solidFill>
                <a:latin typeface="Arial"/>
              </a:rPr>
              <a:t>Trong lược đồ </a:t>
            </a:r>
            <a:r>
              <a:rPr sz="1250" b="1" i="0">
                <a:solidFill>
                  <a:srgbClr val="1F6FB2"/>
                </a:solidFill>
                <a:latin typeface="Arial"/>
              </a:rPr>
              <a:t>phi tập trung (decentralized)</a:t>
            </a:r>
            <a:r>
              <a:rPr sz="1250" b="0" i="0">
                <a:solidFill>
                  <a:srgbClr val="2B3A47"/>
                </a:solidFill>
                <a:latin typeface="Arial"/>
              </a:rPr>
              <a:t>, </a:t>
            </a:r>
            <a:r>
              <a:rPr sz="1250" b="1" i="0">
                <a:solidFill>
                  <a:srgbClr val="1F6FB2"/>
                </a:solidFill>
                <a:latin typeface="Arial"/>
              </a:rPr>
              <a:t>không cần duy trì một số lượng cố định</a:t>
            </a:r>
            <a:r>
              <a:rPr sz="1250" b="0" i="0">
                <a:solidFill>
                  <a:srgbClr val="2B3A47"/>
                </a:solidFill>
                <a:latin typeface="Arial"/>
              </a:rPr>
              <a:t> các cơ quan thuộc tính (attribute authority). Bất kỳ cơ quan nào cũng có thể </a:t>
            </a:r>
            <a:r>
              <a:rPr sz="1250" b="1" i="0">
                <a:solidFill>
                  <a:srgbClr val="1F6FB2"/>
                </a:solidFill>
                <a:latin typeface="Arial"/>
              </a:rPr>
              <a:t>gia nhập hoặc rời khỏi hệ thống bất kỳ lúc nào mà không cần khởi động lại hệ thống</a:t>
            </a:r>
            <a:r>
              <a:rPr sz="12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7" y="2331720"/>
            <a:ext cx="1838492" cy="713232"/>
          </a:xfrm>
          <a:prstGeom prst="roundRect">
            <a:avLst>
              <a:gd name="adj" fmla="val 9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D4E"/>
                </a:solidFill>
                <a:latin typeface="Arial"/>
              </a:rPr>
              <a:t>Thiết lập
toàn cục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25460" y="2615184"/>
            <a:ext cx="237744" cy="146304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008924" y="2331720"/>
            <a:ext cx="1838492" cy="713232"/>
          </a:xfrm>
          <a:prstGeom prst="roundRect">
            <a:avLst>
              <a:gd name="adj" fmla="val 9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D4E"/>
                </a:solidFill>
                <a:latin typeface="Arial"/>
              </a:rPr>
              <a:t>Thiết lập
cơ quan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93137" y="2615184"/>
            <a:ext cx="237744" cy="146304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176601" y="2331720"/>
            <a:ext cx="1838492" cy="713232"/>
          </a:xfrm>
          <a:prstGeom prst="roundRect">
            <a:avLst>
              <a:gd name="adj" fmla="val 9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D4E"/>
                </a:solidFill>
                <a:latin typeface="Arial"/>
              </a:rPr>
              <a:t>Cấp phát
khóa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60813" y="2615184"/>
            <a:ext cx="237744" cy="146304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7344277" y="2331720"/>
            <a:ext cx="1838492" cy="713232"/>
          </a:xfrm>
          <a:prstGeom prst="roundRect">
            <a:avLst>
              <a:gd name="adj" fmla="val 9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D4E"/>
                </a:solidFill>
                <a:latin typeface="Arial"/>
              </a:rPr>
              <a:t>Mã hóa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228490" y="2615184"/>
            <a:ext cx="237744" cy="146304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9511954" y="2331720"/>
            <a:ext cx="1838492" cy="713232"/>
          </a:xfrm>
          <a:prstGeom prst="roundRect">
            <a:avLst>
              <a:gd name="adj" fmla="val 9000"/>
            </a:avLst>
          </a:prstGeom>
          <a:solidFill>
            <a:srgbClr val="0E2D4E"/>
          </a:solidFill>
          <a:ln w="12700">
            <a:solidFill>
              <a:srgbClr val="0E2D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Giải mã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108960"/>
            <a:ext cx="105091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4788A"/>
                </a:solidFill>
                <a:latin typeface="Arial"/>
              </a:rPr>
              <a:t>Global setup  →  Authority setup  →  Key issuing  →  Encryption  →  Decryption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354330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6FB2"/>
                </a:solidFill>
                <a:latin typeface="Arial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547872"/>
            <a:ext cx="10582351" cy="21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D4E"/>
                </a:solidFill>
                <a:latin typeface="Arial"/>
              </a:rPr>
              <a:t>Thiết lập toàn cục (Global setup):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nhận một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tham số bảo mật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làm đầu vào và xuất ra các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tham số hệ thống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mà mọi cơ quan gia nhập đều dùng.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388366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6FB2"/>
                </a:solidFill>
                <a:latin typeface="Arial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888232"/>
            <a:ext cx="10582351" cy="3901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D4E"/>
                </a:solidFill>
                <a:latin typeface="Arial"/>
              </a:rPr>
              <a:t>Thiết lập cơ quan (Authority setup):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mỗi cơ quan thuộc tính dùng tham số hệ thống để sinh ra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khóa công khai và khóa riêng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cho các thuộc tính mà nó duy trì.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4400804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6FB2"/>
                </a:solidFill>
                <a:latin typeface="Arial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4405376"/>
            <a:ext cx="10582351" cy="3901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D4E"/>
                </a:solidFill>
                <a:latin typeface="Arial"/>
              </a:rPr>
              <a:t>Cấp phát khóa (Key issuing):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người dùng và cơ quan thuộc tính tương tác qua một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giao thức cấp phát khóa ẩn danh</a:t>
            </a:r>
            <a:r>
              <a:rPr sz="1200" b="0" i="0">
                <a:solidFill>
                  <a:srgbClr val="2B3A47"/>
                </a:solidFill>
                <a:latin typeface="Arial"/>
              </a:rPr>
              <a:t>; cơ quan sinh và gửi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chứng thư giải mã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cho người dùng.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4917948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6FB2"/>
                </a:solidFill>
                <a:latin typeface="Arial"/>
              </a:rPr>
              <a:t>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4922520"/>
            <a:ext cx="10582351" cy="21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D4E"/>
                </a:solidFill>
                <a:latin typeface="Arial"/>
              </a:rPr>
              <a:t>Mã hóa (Encryption):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nhận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tập thuộc tính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do cơ quan duy trì cùng với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dữ liệu</a:t>
            </a:r>
            <a:r>
              <a:rPr sz="1200" b="0" i="0">
                <a:solidFill>
                  <a:srgbClr val="2B3A47"/>
                </a:solidFill>
                <a:latin typeface="Arial"/>
              </a:rPr>
              <a:t>, xuất ra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bản mã</a:t>
            </a:r>
            <a:r>
              <a:rPr sz="120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5258307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6FB2"/>
                </a:solidFill>
                <a:latin typeface="Arial"/>
              </a:rPr>
              <a:t>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5262879"/>
            <a:ext cx="10582351" cy="21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D4E"/>
                </a:solidFill>
                <a:latin typeface="Arial"/>
              </a:rPr>
              <a:t>Giải mã (Decryption):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nhận chứng thư giải mã và bản mã;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chỉ thành công khi và chỉ khi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thuộc tính của người dùng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thỏa mãn cấu trúc truy cập</a:t>
            </a:r>
            <a:r>
              <a:rPr sz="120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Chương 11 · Bảo mật đám mây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77724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11.2.2 TRÒ CHƠI BẢO MẬT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57784"/>
            <a:ext cx="10783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2D4E"/>
                </a:solidFill>
                <a:latin typeface="Arial"/>
              </a:rPr>
              <a:t>Mô hình định danh chọn lọc (Selective ID model)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15568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1371600"/>
            <a:ext cx="11057839" cy="411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A47"/>
                </a:solidFill>
                <a:latin typeface="Arial"/>
              </a:rPr>
              <a:t>Để tránh các lỗ hổng, các lược đồ ABE được </a:t>
            </a:r>
            <a:r>
              <a:rPr sz="1250" b="1" i="0">
                <a:solidFill>
                  <a:srgbClr val="0E2D4E"/>
                </a:solidFill>
                <a:latin typeface="Arial"/>
              </a:rPr>
              <a:t>chứng minh là an toàn</a:t>
            </a:r>
            <a:r>
              <a:rPr sz="1250" b="0" i="0">
                <a:solidFill>
                  <a:srgbClr val="2B3A47"/>
                </a:solidFill>
                <a:latin typeface="Arial"/>
              </a:rPr>
              <a:t> trước mô hình </a:t>
            </a:r>
            <a:r>
              <a:rPr sz="1250" b="1" i="0">
                <a:solidFill>
                  <a:srgbClr val="0E2D4E"/>
                </a:solidFill>
                <a:latin typeface="Arial"/>
              </a:rPr>
              <a:t>định danh chọn lọc (selective ID)</a:t>
            </a:r>
            <a:r>
              <a:rPr sz="1250" b="0" i="0">
                <a:solidFill>
                  <a:srgbClr val="2B3A47"/>
                </a:solidFill>
                <a:latin typeface="Arial"/>
              </a:rPr>
              <a:t> — biểu diễn dưới dạng một </a:t>
            </a:r>
            <a:r>
              <a:rPr sz="1250" b="1" i="0">
                <a:solidFill>
                  <a:srgbClr val="0E2D4E"/>
                </a:solidFill>
                <a:latin typeface="Arial"/>
              </a:rPr>
              <a:t>trò chơi giữa đối thủ (adversary) và người thách đấu (challenger)</a:t>
            </a:r>
            <a:r>
              <a:rPr sz="12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103120"/>
            <a:ext cx="237744" cy="23774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084831"/>
            <a:ext cx="65196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D4E"/>
                </a:solidFill>
                <a:latin typeface="Arial"/>
              </a:rPr>
              <a:t>Truy vấn khóa bí mật (Secret key queries):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đối thủ được thực hiện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bao nhiêu truy vấn tùy ý</a:t>
            </a:r>
            <a:r>
              <a:rPr sz="1200" b="0" i="0">
                <a:solidFill>
                  <a:srgbClr val="2B3A47"/>
                </a:solidFill>
                <a:latin typeface="Arial"/>
              </a:rPr>
              <a:t>; yêu cầu duy nhất là với mỗi người dùng phải có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ít nhất một cơ quan thuộc tính không bị xâm phạm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— nhờ đó đối thủ chỉ lấy được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số lượng khóa không đủ (insufficient)</a:t>
            </a:r>
            <a:r>
              <a:rPr sz="120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2809748"/>
            <a:ext cx="237744" cy="23774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791460"/>
            <a:ext cx="6519672" cy="3901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D4E"/>
                </a:solidFill>
                <a:latin typeface="Arial"/>
              </a:rPr>
              <a:t>Thách đấu (Challenge):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đối thủ gửi hai thông điệp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m₀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và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m₁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ở dạng bản rõ; người thách đấu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chọn ngẫu nhiên một trong hai</a:t>
            </a:r>
            <a:r>
              <a:rPr sz="1200" b="0" i="0">
                <a:solidFill>
                  <a:srgbClr val="2B3A47"/>
                </a:solidFill>
                <a:latin typeface="Arial"/>
              </a:rPr>
              <a:t>, mã hóa và gửi bản mã lại cho đối thủ.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3339592"/>
            <a:ext cx="237744" cy="23774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321304"/>
            <a:ext cx="6519672" cy="3901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D4E"/>
                </a:solidFill>
                <a:latin typeface="Arial"/>
              </a:rPr>
              <a:t>Thêm truy vấn khóa bí mật: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đối thủ được truy vấn tiếp,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miễn là vẫn thỏa mãn yêu cầu ở bước 1</a:t>
            </a:r>
            <a:r>
              <a:rPr sz="120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3869435"/>
            <a:ext cx="237744" cy="23774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851147"/>
            <a:ext cx="6519672" cy="21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D4E"/>
                </a:solidFill>
                <a:latin typeface="Arial"/>
              </a:rPr>
              <a:t>Đoán (Guess):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đối thủ đoán xem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thông điệp nào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đã được mã hóa.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36408" y="2084831"/>
            <a:ext cx="3788359" cy="1965960"/>
          </a:xfrm>
          <a:prstGeom prst="roundRect">
            <a:avLst>
              <a:gd name="adj" fmla="val 5500"/>
            </a:avLst>
          </a:prstGeom>
          <a:solidFill>
            <a:srgbClr val="EAF2F9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01000" y="2249424"/>
            <a:ext cx="3459175" cy="2251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2D4E"/>
                </a:solidFill>
                <a:latin typeface="Arial"/>
              </a:rPr>
              <a:t>Điều kiện thành công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556891"/>
            <a:ext cx="3459175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A47"/>
                </a:solidFill>
                <a:latin typeface="Arial"/>
              </a:rPr>
              <a:t>Đối thủ được coi là </a:t>
            </a:r>
            <a:r>
              <a:rPr sz="1200" b="1" i="0">
                <a:solidFill>
                  <a:srgbClr val="1F6FB2"/>
                </a:solidFill>
                <a:latin typeface="Arial"/>
              </a:rPr>
              <a:t>thành công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nếu đoán đúng thông điệp với xác suất: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47888" y="3108960"/>
            <a:ext cx="2965399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E2D4E"/>
                </a:solidFill>
                <a:latin typeface="Arial"/>
              </a:rPr>
              <a:t>½  +  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4160520"/>
            <a:ext cx="3459175" cy="3812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trong đó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ε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là một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hàm không thể bỏ qua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(non-negligible function).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36408" y="4709160"/>
            <a:ext cx="3788359" cy="1298448"/>
          </a:xfrm>
          <a:prstGeom prst="roundRect">
            <a:avLst>
              <a:gd name="adj" fmla="val 5500"/>
            </a:avLst>
          </a:prstGeom>
          <a:solidFill>
            <a:srgbClr val="E9F5F0"/>
          </a:solidFill>
          <a:ln w="12700">
            <a:solidFill>
              <a:srgbClr val="B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01000" y="4873752"/>
            <a:ext cx="3459175" cy="2181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7A57"/>
                </a:solidFill>
                <a:latin typeface="Arial"/>
              </a:rPr>
              <a:t>Kết luận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5174234"/>
            <a:ext cx="3459175" cy="553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Nếu đối thủ </a:t>
            </a:r>
            <a:r>
              <a:rPr sz="1150" b="1" i="0">
                <a:solidFill>
                  <a:srgbClr val="1B7A57"/>
                </a:solidFill>
                <a:latin typeface="Arial"/>
              </a:rPr>
              <a:t>không thể giải mã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thông điệp với </a:t>
            </a:r>
            <a:r>
              <a:rPr sz="1150" b="1" i="0">
                <a:solidFill>
                  <a:srgbClr val="1B7A57"/>
                </a:solidFill>
                <a:latin typeface="Arial"/>
              </a:rPr>
              <a:t>lợi thế không thể bỏ qua</a:t>
            </a:r>
            <a:r>
              <a:rPr sz="1150" b="0" i="0">
                <a:solidFill>
                  <a:srgbClr val="2B3A47"/>
                </a:solidFill>
                <a:latin typeface="Arial"/>
              </a:rPr>
              <a:t>, thì lược đồ được coi là </a:t>
            </a:r>
            <a:r>
              <a:rPr sz="1150" b="1" i="0">
                <a:solidFill>
                  <a:srgbClr val="1B7A57"/>
                </a:solidFill>
                <a:latin typeface="Arial"/>
              </a:rPr>
              <a:t>an toàn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trước mô hình ID chọn lọc.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Chương 11 · Bảo mật đám mây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77724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11.2.3 FHE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57784"/>
            <a:ext cx="10783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2D4E"/>
                </a:solidFill>
                <a:latin typeface="Arial"/>
              </a:rPr>
              <a:t>Mã hóa đồng cấu toàn phần: các bên tham gia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15568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1353312"/>
            <a:ext cx="11057839" cy="231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A47"/>
                </a:solidFill>
                <a:latin typeface="Arial"/>
              </a:rPr>
              <a:t>Trong FHE, hệ thống gồm </a:t>
            </a:r>
            <a:r>
              <a:rPr sz="1300" b="1" i="0">
                <a:solidFill>
                  <a:srgbClr val="0E2D4E"/>
                </a:solidFill>
                <a:latin typeface="Arial"/>
              </a:rPr>
              <a:t>nhiều bên đóng ba vai trò then chốt</a:t>
            </a:r>
            <a:r>
              <a:rPr sz="1300" b="0" i="0">
                <a:solidFill>
                  <a:srgbClr val="2B3A47"/>
                </a:solidFill>
                <a:latin typeface="Arial"/>
              </a:rPr>
              <a:t> trong tính toán an toàn.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11057839" cy="2331720"/>
          </a:xfrm>
          <a:prstGeom prst="roundRect">
            <a:avLst>
              <a:gd name="adj" fmla="val 35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978408" y="2468880"/>
            <a:ext cx="260604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D4E"/>
                </a:solidFill>
                <a:latin typeface="Arial"/>
              </a:rPr>
              <a:t>NGƯỜI DÙNG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64788A"/>
                </a:solidFill>
                <a:latin typeface="Arial"/>
              </a:rPr>
              <a:t>thuê ngoài việc tính toán,
dữ liệu riêng được bảo vệ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1892807"/>
            <a:ext cx="2743200" cy="868680"/>
          </a:xfrm>
          <a:prstGeom prst="roundRect">
            <a:avLst>
              <a:gd name="adj" fmla="val 10000"/>
            </a:avLst>
          </a:prstGeom>
          <a:solidFill>
            <a:srgbClr val="1F6FB2"/>
          </a:solidFill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NÚT TÍNH TOÁN ĐỒNG CẤU (HC)</a:t>
            </a:r>
          </a:p>
          <a:p>
            <a:pPr algn="ctr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D6E8F7"/>
                </a:solidFill>
                <a:latin typeface="Arial"/>
              </a:rPr>
              <a:t>CPU / GPU / FPGA — KHÔNG được bảo vệ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3200400"/>
            <a:ext cx="2743200" cy="868680"/>
          </a:xfrm>
          <a:prstGeom prst="roundRect">
            <a:avLst>
              <a:gd name="adj" fmla="val 10000"/>
            </a:avLst>
          </a:prstGeom>
          <a:solidFill>
            <a:srgbClr val="FBEDEB"/>
          </a:solidFill>
          <a:ln w="12700">
            <a:solidFill>
              <a:srgbClr val="B8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8342A"/>
                </a:solidFill>
                <a:latin typeface="Arial"/>
              </a:rPr>
              <a:t>NÚT KHỞI TẠO (Bootstrapping)</a:t>
            </a:r>
          </a:p>
          <a:p>
            <a:pPr algn="ctr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B8342A"/>
                </a:solidFill>
                <a:latin typeface="Arial"/>
              </a:rPr>
              <a:t>chạy bên trong vùng bao an toàn (secure enclave)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584448" y="2331720"/>
            <a:ext cx="2743200" cy="502919"/>
          </a:xfrm>
          <a:prstGeom prst="line">
            <a:avLst/>
          </a:prstGeom>
          <a:ln w="1905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13048" y="2308860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6FB2"/>
                </a:solidFill>
                <a:latin typeface="Arial"/>
              </a:rPr>
              <a:t>dữ liệu đã mã hóa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84448" y="3136391"/>
            <a:ext cx="2743200" cy="493777"/>
          </a:xfrm>
          <a:prstGeom prst="line">
            <a:avLst/>
          </a:prstGeom>
          <a:ln w="1905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813048" y="3108960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6FB2"/>
                </a:solidFill>
                <a:latin typeface="Arial"/>
              </a:rPr>
              <a:t>khóa qua kênh bí mật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7104888" y="2825496"/>
            <a:ext cx="146304" cy="274320"/>
          </a:xfrm>
          <a:prstGeom prst="downArrow">
            <a:avLst/>
          </a:prstGeom>
          <a:solidFill>
            <a:srgbClr val="B83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Up Arrow 15"/>
          <p:cNvSpPr/>
          <p:nvPr/>
        </p:nvSpPr>
        <p:spPr>
          <a:xfrm>
            <a:off x="8293607" y="2825496"/>
            <a:ext cx="146304" cy="274320"/>
          </a:xfrm>
          <a:prstGeom prst="upArrow">
            <a:avLst/>
          </a:prstGeom>
          <a:solidFill>
            <a:srgbClr val="1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37376" y="2880360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8342A"/>
                </a:solidFill>
                <a:latin typeface="Arial"/>
              </a:rPr>
              <a:t>nhiễu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2880360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B7A57"/>
                </a:solidFill>
                <a:latin typeface="Arial"/>
              </a:rPr>
              <a:t>làm mới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9448" y="2103120"/>
            <a:ext cx="2050999" cy="5311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88A"/>
                </a:solidFill>
                <a:latin typeface="Arial"/>
              </a:rPr>
              <a:t>Luồng dữ liệu giữa các bên trong hệ thống FHE là </a:t>
            </a:r>
            <a:r>
              <a:rPr sz="1100" b="1" i="0">
                <a:solidFill>
                  <a:srgbClr val="0E2D4E"/>
                </a:solidFill>
                <a:latin typeface="Arial"/>
              </a:rPr>
              <a:t>đơn giản</a:t>
            </a:r>
            <a:r>
              <a:rPr sz="1100" b="0" i="0">
                <a:solidFill>
                  <a:srgbClr val="64788A"/>
                </a:solidFill>
                <a:latin typeface="Arial"/>
              </a:rPr>
              <a:t> — ba bước như bên dưới.</a:t>
            </a:r>
          </a:p>
        </p:txBody>
      </p:sp>
      <p:sp>
        <p:nvSpPr>
          <p:cNvPr id="20" name="Oval 19"/>
          <p:cNvSpPr/>
          <p:nvPr/>
        </p:nvSpPr>
        <p:spPr>
          <a:xfrm>
            <a:off x="566928" y="4334255"/>
            <a:ext cx="237744" cy="23774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315968"/>
            <a:ext cx="10673791" cy="3901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A47"/>
                </a:solidFill>
                <a:latin typeface="Arial"/>
              </a:rPr>
              <a:t>Người dùng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xác minh cấu hình của Đám mây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thông qua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chứng thực từ xa (remote attestation)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và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thiết lập khóa bí mật chia sẻ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với các nút khởi tạo.</a:t>
            </a:r>
          </a:p>
        </p:txBody>
      </p:sp>
      <p:sp>
        <p:nvSpPr>
          <p:cNvPr id="22" name="Oval 21"/>
          <p:cNvSpPr/>
          <p:nvPr/>
        </p:nvSpPr>
        <p:spPr>
          <a:xfrm>
            <a:off x="566928" y="4851399"/>
            <a:ext cx="237744" cy="23774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833111"/>
            <a:ext cx="10673791" cy="21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A47"/>
                </a:solidFill>
                <a:latin typeface="Arial"/>
              </a:rPr>
              <a:t>Người dùng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cung ứng các tham số mã hóa cùng khóa bí mật và khóa công khai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cho các nút khởi tạo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qua kênh bí mật đã thiết lập</a:t>
            </a:r>
            <a:r>
              <a:rPr sz="120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24" name="Oval 23"/>
          <p:cNvSpPr/>
          <p:nvPr/>
        </p:nvSpPr>
        <p:spPr>
          <a:xfrm>
            <a:off x="566928" y="5252719"/>
            <a:ext cx="237744" cy="23774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" y="5234432"/>
            <a:ext cx="10673791" cy="21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A47"/>
                </a:solidFill>
                <a:latin typeface="Arial"/>
              </a:rPr>
              <a:t>Dữ liệu của người dùng,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được mã hóa dưới khóa bí mật đồng cấu</a:t>
            </a:r>
            <a:r>
              <a:rPr sz="1200" b="0" i="0">
                <a:solidFill>
                  <a:srgbClr val="2B3A47"/>
                </a:solidFill>
                <a:latin typeface="Arial"/>
              </a:rPr>
              <a:t>, được gửi tới các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nút HC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để thực hiện các tính toán đồng cấu.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Chương 11 · Bảo mật đám mây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77724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11.2.3 FHE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57784"/>
            <a:ext cx="10783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2D4E"/>
                </a:solidFill>
                <a:latin typeface="Arial"/>
              </a:rPr>
              <a:t>Bootstrapping: vì sao cần và dùng để làm gì?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15568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353312"/>
            <a:ext cx="11057839" cy="1536192"/>
          </a:xfrm>
          <a:prstGeom prst="roundRect">
            <a:avLst>
              <a:gd name="adj" fmla="val 5500"/>
            </a:avLst>
          </a:prstGeom>
          <a:solidFill>
            <a:srgbClr val="EAF2F9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517904"/>
            <a:ext cx="10728655" cy="232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2D4E"/>
                </a:solidFill>
                <a:latin typeface="Arial"/>
              </a:rPr>
              <a:t>Bootstrapping loại bỏ nhiễu (noise)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32355"/>
            <a:ext cx="10728655" cy="844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2B3A47"/>
                </a:solidFill>
                <a:latin typeface="Arial"/>
              </a:rPr>
              <a:t>Bản mã trung gian được gửi từ </a:t>
            </a:r>
            <a:r>
              <a:rPr sz="1200" b="1" i="0">
                <a:solidFill>
                  <a:srgbClr val="1F6FB2"/>
                </a:solidFill>
                <a:latin typeface="Arial"/>
              </a:rPr>
              <a:t>nút HC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tới </a:t>
            </a:r>
            <a:r>
              <a:rPr sz="1200" b="1" i="0">
                <a:solidFill>
                  <a:srgbClr val="1F6FB2"/>
                </a:solidFill>
                <a:latin typeface="Arial"/>
              </a:rPr>
              <a:t>nút khởi tạo</a:t>
            </a:r>
            <a:r>
              <a:rPr sz="1200" b="0" i="0">
                <a:solidFill>
                  <a:srgbClr val="2B3A47"/>
                </a:solidFill>
                <a:latin typeface="Arial"/>
              </a:rPr>
              <a:t>. Chạy bên trong </a:t>
            </a:r>
            <a:r>
              <a:rPr sz="1200" b="1" i="0">
                <a:solidFill>
                  <a:srgbClr val="1F6FB2"/>
                </a:solidFill>
                <a:latin typeface="Arial"/>
              </a:rPr>
              <a:t>vùng bao an toàn</a:t>
            </a:r>
            <a:r>
              <a:rPr sz="1200" b="0" i="0">
                <a:solidFill>
                  <a:srgbClr val="2B3A47"/>
                </a:solidFill>
                <a:latin typeface="Arial"/>
              </a:rPr>
              <a:t>, nút khởi tạo </a:t>
            </a:r>
            <a:r>
              <a:rPr sz="1200" b="1" i="0">
                <a:solidFill>
                  <a:srgbClr val="1F6FB2"/>
                </a:solidFill>
                <a:latin typeface="Arial"/>
              </a:rPr>
              <a:t>giải mã bản mã, rồi mã hóa lại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bằng khóa bí mật và </a:t>
            </a:r>
            <a:r>
              <a:rPr sz="1200" b="1" i="0">
                <a:solidFill>
                  <a:srgbClr val="1F6FB2"/>
                </a:solidFill>
                <a:latin typeface="Arial"/>
              </a:rPr>
              <a:t>gửi bản mã đã làm mới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trở lại các nút HC.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A47"/>
                </a:solidFill>
                <a:latin typeface="Arial"/>
              </a:rPr>
              <a:t>Điều này </a:t>
            </a:r>
            <a:r>
              <a:rPr sz="1200" b="1" i="0">
                <a:solidFill>
                  <a:srgbClr val="1F6FB2"/>
                </a:solidFill>
                <a:latin typeface="Arial"/>
              </a:rPr>
              <a:t>loại bỏ nhiễu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trong bản mã, </a:t>
            </a:r>
            <a:r>
              <a:rPr sz="1200" b="1" i="0">
                <a:solidFill>
                  <a:srgbClr val="1F6FB2"/>
                </a:solidFill>
                <a:latin typeface="Arial"/>
              </a:rPr>
              <a:t>cho phép các nút HC tiếp tục tính toán đồng cấu</a:t>
            </a:r>
            <a:r>
              <a:rPr sz="1200" b="0" i="0">
                <a:solidFill>
                  <a:srgbClr val="2B3A47"/>
                </a:solidFill>
                <a:latin typeface="Arial"/>
              </a:rPr>
              <a:t>. Khi toàn bộ quá trình hoàn tất, bản mã trở về người dùng để </a:t>
            </a:r>
            <a:r>
              <a:rPr sz="1200" b="1" i="0">
                <a:solidFill>
                  <a:srgbClr val="1F6FB2"/>
                </a:solidFill>
                <a:latin typeface="Arial"/>
              </a:rPr>
              <a:t>giải mã lấy kết quả</a:t>
            </a:r>
            <a:r>
              <a:rPr sz="120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" y="3054096"/>
            <a:ext cx="1772655" cy="658368"/>
          </a:xfrm>
          <a:prstGeom prst="roundRect">
            <a:avLst>
              <a:gd name="adj" fmla="val 9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D4E"/>
                </a:solidFill>
                <a:latin typeface="Arial"/>
              </a:rPr>
              <a:t>Nút HC tính toán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06511" y="3310127"/>
            <a:ext cx="237744" cy="146304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3162543" y="3054096"/>
            <a:ext cx="1772655" cy="658368"/>
          </a:xfrm>
          <a:prstGeom prst="roundRect">
            <a:avLst>
              <a:gd name="adj" fmla="val 9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D4E"/>
                </a:solidFill>
                <a:latin typeface="Arial"/>
              </a:rPr>
              <a:t>Bản mã nhiễu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53487" y="3310127"/>
            <a:ext cx="237744" cy="146304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5209519" y="3054096"/>
            <a:ext cx="1772655" cy="658368"/>
          </a:xfrm>
          <a:prstGeom prst="roundRect">
            <a:avLst>
              <a:gd name="adj" fmla="val 9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D4E"/>
                </a:solidFill>
                <a:latin typeface="Arial"/>
              </a:rPr>
              <a:t>Nút khởi tạo:
giải mã → mã hóa lại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00463" y="3310127"/>
            <a:ext cx="237744" cy="146304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256495" y="3054096"/>
            <a:ext cx="1772655" cy="658368"/>
          </a:xfrm>
          <a:prstGeom prst="roundRect">
            <a:avLst>
              <a:gd name="adj" fmla="val 9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D4E"/>
                </a:solidFill>
                <a:latin typeface="Arial"/>
              </a:rPr>
              <a:t>Bản mã đã làm mới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047439" y="3310127"/>
            <a:ext cx="237744" cy="146304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9303471" y="3054096"/>
            <a:ext cx="1772655" cy="658368"/>
          </a:xfrm>
          <a:prstGeom prst="roundRect">
            <a:avLst>
              <a:gd name="adj" fmla="val 9000"/>
            </a:avLst>
          </a:prstGeom>
          <a:solidFill>
            <a:srgbClr val="E9F5F0"/>
          </a:solidFill>
          <a:ln w="12700">
            <a:solidFill>
              <a:srgbClr val="1B7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7A57"/>
                </a:solidFill>
                <a:latin typeface="Arial"/>
              </a:rPr>
              <a:t>Tiếp tục tính toán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977639"/>
            <a:ext cx="5323179" cy="2011680"/>
          </a:xfrm>
          <a:prstGeom prst="roundRect">
            <a:avLst>
              <a:gd name="adj" fmla="val 55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4142231"/>
            <a:ext cx="4993995" cy="2251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2D4E"/>
                </a:solidFill>
                <a:latin typeface="Arial"/>
              </a:rPr>
              <a:t>Ứng dụng: lưu trữ &amp; tính toán thuê ngoài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49698"/>
            <a:ext cx="4993995" cy="814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Mã hóa đồng cấu có thể dùng cho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lưu trữ và tính toán thuê ngoài có bảo toàn quyền riêng tư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Dữ liệu được mã hóa và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thuê ngoài tới các môi trường Đám mây thương mại để xử lý</a:t>
            </a:r>
            <a:r>
              <a:rPr sz="1150" b="0" i="0">
                <a:solidFill>
                  <a:srgbClr val="2B3A47"/>
                </a:solidFill>
                <a:latin typeface="Arial"/>
              </a:rPr>
              <a:t>, tất cả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trong khi vẫn ở trạng thái mã hóa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1587" y="3977639"/>
            <a:ext cx="5323179" cy="2011680"/>
          </a:xfrm>
          <a:prstGeom prst="roundRect">
            <a:avLst>
              <a:gd name="adj" fmla="val 55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66179" y="4142231"/>
            <a:ext cx="4993995" cy="2251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2D4E"/>
                </a:solidFill>
                <a:latin typeface="Arial"/>
              </a:rPr>
              <a:t>Ngành được quản lý chặt chẽ: y tế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6179" y="4449698"/>
            <a:ext cx="4993995" cy="814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Phân tích dự báo (predictive analytics)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trong chăm sóc sức khỏe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khó áp dụng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do các mối quan ngại về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quyền riêng tư của dữ liệu y tế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Nếu nhà cung cấp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thao tác trên dữ liệu đã mã hóa thay vì dữ liệu gốc</a:t>
            </a:r>
            <a:r>
              <a:rPr sz="1150" b="0" i="0">
                <a:solidFill>
                  <a:srgbClr val="2B3A47"/>
                </a:solidFill>
                <a:latin typeface="Arial"/>
              </a:rPr>
              <a:t>, thì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những mối quan ngại này sẽ giảm bớt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Chương 11 · Bảo mật đám mây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77724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11.2.4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57784"/>
            <a:ext cx="10783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2D4E"/>
                </a:solidFill>
                <a:latin typeface="Arial"/>
              </a:rPr>
              <a:t>Mã hóa có thể tìm kiếm (Searchable Encryption)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15568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1353312"/>
            <a:ext cx="11057839" cy="411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A47"/>
                </a:solidFill>
                <a:latin typeface="Arial"/>
              </a:rPr>
              <a:t>SE hoạt động bằng cách </a:t>
            </a:r>
            <a:r>
              <a:rPr sz="1250" b="1" i="0">
                <a:solidFill>
                  <a:srgbClr val="0E2D4E"/>
                </a:solidFill>
                <a:latin typeface="Arial"/>
              </a:rPr>
              <a:t>phơi bày một phân đoạn thông tin</a:t>
            </a:r>
            <a:r>
              <a:rPr sz="1250" b="0" i="0">
                <a:solidFill>
                  <a:srgbClr val="2B3A47"/>
                </a:solidFill>
                <a:latin typeface="Arial"/>
              </a:rPr>
              <a:t> của một ngữ cảnh, đủ để </a:t>
            </a:r>
            <a:r>
              <a:rPr sz="1250" b="1" i="0">
                <a:solidFill>
                  <a:srgbClr val="0E2D4E"/>
                </a:solidFill>
                <a:latin typeface="Arial"/>
              </a:rPr>
              <a:t>nhận diện ngữ cảnh đó</a:t>
            </a:r>
            <a:r>
              <a:rPr sz="1250" b="0" i="0">
                <a:solidFill>
                  <a:srgbClr val="2B3A47"/>
                </a:solidFill>
                <a:latin typeface="Arial"/>
              </a:rPr>
              <a:t> — tức là nhận diện nội dung đã mã hóa </a:t>
            </a:r>
            <a:r>
              <a:rPr sz="1250" b="1" i="0">
                <a:solidFill>
                  <a:srgbClr val="0E2D4E"/>
                </a:solidFill>
                <a:latin typeface="Arial"/>
              </a:rPr>
              <a:t>mà không phơi bày chính nội dung</a:t>
            </a:r>
            <a:r>
              <a:rPr sz="12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61388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6FB2"/>
                </a:solidFill>
                <a:latin typeface="Arial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5422392" cy="21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A47"/>
                </a:solidFill>
                <a:latin typeface="Arial"/>
              </a:rPr>
              <a:t>Chủ sở hữu nội dung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mã hóa dữ liệu bằng một khóa riêng</a:t>
            </a:r>
            <a:r>
              <a:rPr sz="120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14448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6FB2"/>
                </a:solidFill>
                <a:latin typeface="Arial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19020"/>
            <a:ext cx="5422392" cy="3901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D4E"/>
                </a:solidFill>
                <a:latin typeface="Arial"/>
              </a:rPr>
              <a:t>Từ khóa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được chia sẻ sau khi mã hóa bằng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khóa công khai của nhà cung cấp dịch vụ tìm kiếm</a:t>
            </a:r>
            <a:r>
              <a:rPr sz="1200" b="0" i="0">
                <a:solidFill>
                  <a:srgbClr val="2B3A47"/>
                </a:solidFill>
                <a:latin typeface="Arial"/>
              </a:rPr>
              <a:t>, hoặc bằng một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khóa bí mật chia sẻ</a:t>
            </a:r>
            <a:r>
              <a:rPr sz="120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844292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6FB2"/>
                </a:solidFill>
                <a:latin typeface="Arial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848864"/>
            <a:ext cx="5422392" cy="3901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A47"/>
                </a:solidFill>
                <a:latin typeface="Arial"/>
              </a:rPr>
              <a:t>Khi có truy vấn, nhà cung cấp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mở phong bì của tập từ khóa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và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đối sánh với truy vấn</a:t>
            </a:r>
            <a:r>
              <a:rPr sz="120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374136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6FB2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378708"/>
            <a:ext cx="54223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A47"/>
                </a:solidFill>
                <a:latin typeface="Arial"/>
              </a:rPr>
              <a:t>Khi khớp, nhà cung cấp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thiết lập kết nối giữa chủ sở hữu và bên yêu cầu</a:t>
            </a:r>
            <a:r>
              <a:rPr sz="1200" b="0" i="0">
                <a:solidFill>
                  <a:srgbClr val="2B3A47"/>
                </a:solidFill>
                <a:latin typeface="Arial"/>
              </a:rPr>
              <a:t>; hai bên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thương lượng điều khoản truy cập mà không có nhà cung cấp dịch vụ tìm kiếm</a:t>
            </a:r>
            <a:r>
              <a:rPr sz="120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343400"/>
            <a:ext cx="5623560" cy="1645920"/>
          </a:xfrm>
          <a:prstGeom prst="roundRect">
            <a:avLst>
              <a:gd name="adj" fmla="val 55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1520" y="4507992"/>
            <a:ext cx="5294376" cy="2181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D4E"/>
                </a:solidFill>
                <a:latin typeface="Arial"/>
              </a:rPr>
              <a:t>Ví dụ 1: tranh luận bầu cử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08474"/>
            <a:ext cx="5294376" cy="553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Nếu có bài đăng về tranh luận bầu cử trên BBC,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bản gỡ băng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có thể được nhận diện qua các từ khóa như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“electoral debate”, “BBC”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cùng với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ngày tháng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— đủ để tìm ra nó giữa hàng nghìn bản thảo khác.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56248" y="1965960"/>
            <a:ext cx="5068519" cy="4023360"/>
          </a:xfrm>
          <a:prstGeom prst="roundRect">
            <a:avLst>
              <a:gd name="adj" fmla="val 5500"/>
            </a:avLst>
          </a:prstGeom>
          <a:solidFill>
            <a:srgbClr val="E9F5F0"/>
          </a:solidFill>
          <a:ln w="12700">
            <a:solidFill>
              <a:srgbClr val="B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720840" y="2130552"/>
            <a:ext cx="4739335" cy="2251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7A57"/>
                </a:solidFill>
                <a:latin typeface="Arial"/>
              </a:rPr>
              <a:t>Ví dụ 2: định tuyến thư khẩn (Urgent)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438019"/>
            <a:ext cx="4739335" cy="2102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1B7A57"/>
                </a:solidFill>
                <a:latin typeface="Arial"/>
              </a:rPr>
              <a:t>Bối cảnh: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Alice muốn chuyển tiếp tất cả thư đánh dấu </a:t>
            </a:r>
            <a:r>
              <a:rPr sz="1150" b="1" i="0">
                <a:solidFill>
                  <a:srgbClr val="1B7A57"/>
                </a:solidFill>
                <a:latin typeface="Arial"/>
              </a:rPr>
              <a:t>“Urgent”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cho John trong khi cô ấy đi nghỉ.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1B7A57"/>
                </a:solidFill>
                <a:latin typeface="Arial"/>
              </a:rPr>
              <a:t>Vấn đề: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Bob gửi email đã </a:t>
            </a:r>
            <a:r>
              <a:rPr sz="1150" b="1" i="0">
                <a:solidFill>
                  <a:srgbClr val="1B7A57"/>
                </a:solidFill>
                <a:latin typeface="Arial"/>
              </a:rPr>
              <a:t>mã hóa bằng khóa công khai của Alice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→ </a:t>
            </a:r>
            <a:r>
              <a:rPr sz="1150" b="1" i="0">
                <a:solidFill>
                  <a:srgbClr val="1B7A57"/>
                </a:solidFill>
                <a:latin typeface="Arial"/>
              </a:rPr>
              <a:t>cổng (gateway) không biết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thư nào được đánh dấu “Urgent” để định tuyến.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1B7A57"/>
                </a:solidFill>
                <a:latin typeface="Arial"/>
              </a:rPr>
              <a:t>Giải pháp: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John </a:t>
            </a:r>
            <a:r>
              <a:rPr sz="1150" b="1" i="0">
                <a:solidFill>
                  <a:srgbClr val="1B7A57"/>
                </a:solidFill>
                <a:latin typeface="Arial"/>
              </a:rPr>
              <a:t>trích xuất từ khóa “urgent”</a:t>
            </a:r>
            <a:r>
              <a:rPr sz="1150" b="0" i="0">
                <a:solidFill>
                  <a:srgbClr val="2B3A47"/>
                </a:solidFill>
                <a:latin typeface="Arial"/>
              </a:rPr>
              <a:t>, thực hiện </a:t>
            </a:r>
            <a:r>
              <a:rPr sz="1150" b="1" i="0">
                <a:solidFill>
                  <a:srgbClr val="1B7A57"/>
                </a:solidFill>
                <a:latin typeface="Arial"/>
              </a:rPr>
              <a:t>mã hóa có thể tìm kiếm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— hay </a:t>
            </a:r>
            <a:r>
              <a:rPr sz="1150" b="1" i="0">
                <a:solidFill>
                  <a:srgbClr val="1B7A57"/>
                </a:solidFill>
                <a:latin typeface="Arial"/>
              </a:rPr>
              <a:t>Mã hóa khóa công khai với tìm kiếm theo từ khóa (PEKS)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— trên từ khóa đã trích xuất và </a:t>
            </a:r>
            <a:r>
              <a:rPr sz="1150" b="1" i="0">
                <a:solidFill>
                  <a:srgbClr val="1B7A57"/>
                </a:solidFill>
                <a:latin typeface="Arial"/>
              </a:rPr>
              <a:t>gửi dữ liệu tới cổng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7A57"/>
                </a:solidFill>
                <a:latin typeface="Arial"/>
              </a:rPr>
              <a:t>Kết quả: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cổng </a:t>
            </a:r>
            <a:r>
              <a:rPr sz="1150" b="1" i="0">
                <a:solidFill>
                  <a:srgbClr val="1B7A57"/>
                </a:solidFill>
                <a:latin typeface="Arial"/>
              </a:rPr>
              <a:t>giải mã được danh sách từ khóa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và </a:t>
            </a:r>
            <a:r>
              <a:rPr sz="1150" b="1" i="0">
                <a:solidFill>
                  <a:srgbClr val="1B7A57"/>
                </a:solidFill>
                <a:latin typeface="Arial"/>
              </a:rPr>
              <a:t>định tuyến thông điệp tới John</a:t>
            </a:r>
            <a:r>
              <a:rPr sz="1150" b="0" i="0">
                <a:solidFill>
                  <a:srgbClr val="2B3A47"/>
                </a:solidFill>
                <a:latin typeface="Arial"/>
              </a:rPr>
              <a:t>, mà </a:t>
            </a:r>
            <a:r>
              <a:rPr sz="1150" b="1" i="0">
                <a:solidFill>
                  <a:srgbClr val="1B7A57"/>
                </a:solidFill>
                <a:latin typeface="Arial"/>
              </a:rPr>
              <a:t>vẫn không đọc được nội dung thư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Chương 11 · Bảo mật đám mây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77724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11.2.5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57784"/>
            <a:ext cx="10783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2D4E"/>
                </a:solidFill>
                <a:latin typeface="Arial"/>
              </a:rPr>
              <a:t>Dịch vụ xử lý web (WPS) trên Đám mây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15568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353312"/>
            <a:ext cx="11057839" cy="804672"/>
          </a:xfrm>
          <a:prstGeom prst="roundRect">
            <a:avLst>
              <a:gd name="adj" fmla="val 5500"/>
            </a:avLst>
          </a:prstGeom>
          <a:solidFill>
            <a:srgbClr val="EAF2F9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517904"/>
            <a:ext cx="10728655" cy="411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6FB2"/>
                </a:solidFill>
                <a:latin typeface="Arial"/>
              </a:rPr>
              <a:t>WPS</a:t>
            </a:r>
            <a:r>
              <a:rPr sz="1250" b="0" i="0">
                <a:solidFill>
                  <a:srgbClr val="2B3A47"/>
                </a:solidFill>
                <a:latin typeface="Arial"/>
              </a:rPr>
              <a:t> của Hiệp hội Không gian Địa lý Mở (</a:t>
            </a:r>
            <a:r>
              <a:rPr sz="1250" b="1" i="0">
                <a:solidFill>
                  <a:srgbClr val="1F6FB2"/>
                </a:solidFill>
                <a:latin typeface="Arial"/>
              </a:rPr>
              <a:t>OGC</a:t>
            </a:r>
            <a:r>
              <a:rPr sz="1250" b="0" i="0">
                <a:solidFill>
                  <a:srgbClr val="2B3A47"/>
                </a:solidFill>
                <a:latin typeface="Arial"/>
              </a:rPr>
              <a:t>) định nghĩa một </a:t>
            </a:r>
            <a:r>
              <a:rPr sz="1250" b="1" i="0">
                <a:solidFill>
                  <a:srgbClr val="1F6FB2"/>
                </a:solidFill>
                <a:latin typeface="Arial"/>
              </a:rPr>
              <a:t>giao diện được chuẩn hóa</a:t>
            </a:r>
            <a:r>
              <a:rPr sz="1250" b="0" i="0">
                <a:solidFill>
                  <a:srgbClr val="2B3A47"/>
                </a:solidFill>
                <a:latin typeface="Arial"/>
              </a:rPr>
              <a:t> nhằm tạo thuận lợi cho việc </a:t>
            </a:r>
            <a:r>
              <a:rPr sz="1250" b="1" i="0">
                <a:solidFill>
                  <a:srgbClr val="1F6FB2"/>
                </a:solidFill>
                <a:latin typeface="Arial"/>
              </a:rPr>
              <a:t>xuất bản các tiến trình không gian địa lý qua Internet</a:t>
            </a:r>
            <a:r>
              <a:rPr sz="1250" b="0" i="0">
                <a:solidFill>
                  <a:srgbClr val="2B3A47"/>
                </a:solidFill>
                <a:latin typeface="Arial"/>
              </a:rPr>
              <a:t> (OGC 2007). Một WPS có thể triển khai trong </a:t>
            </a:r>
            <a:r>
              <a:rPr sz="1250" b="1" i="0">
                <a:solidFill>
                  <a:srgbClr val="1F6FB2"/>
                </a:solidFill>
                <a:latin typeface="Arial"/>
              </a:rPr>
              <a:t>bất kỳ mô hình nào trong ba mô hình dịch vụ</a:t>
            </a:r>
            <a:r>
              <a:rPr sz="12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304288"/>
            <a:ext cx="5323179" cy="1920240"/>
          </a:xfrm>
          <a:prstGeom prst="roundRect">
            <a:avLst>
              <a:gd name="adj" fmla="val 55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4993995" cy="2251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2D4E"/>
                </a:solidFill>
                <a:latin typeface="Arial"/>
              </a:rPr>
              <a:t>Triển khai trên IaaS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76347"/>
            <a:ext cx="4993995" cy="814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Người dùng có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toàn quyền kiểm soát tài nguyên</a:t>
            </a:r>
            <a:r>
              <a:rPr sz="1150" b="0" i="0">
                <a:solidFill>
                  <a:srgbClr val="2B3A47"/>
                </a:solidFill>
                <a:latin typeface="Arial"/>
              </a:rPr>
              <a:t>, nhưng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ảo hóa diễn ra ở mức thấp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→ người dùng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có trách nhiệm giải quyết nhiều rủi ro bảo mật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Hợp lý khi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tổ chức cần triển khai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nhiều loại WPS khác nhau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và có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đủ nguồn nhân lực quản trị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1587" y="2304288"/>
            <a:ext cx="5323179" cy="1920240"/>
          </a:xfrm>
          <a:prstGeom prst="roundRect">
            <a:avLst>
              <a:gd name="adj" fmla="val 55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66179" y="2468880"/>
            <a:ext cx="4993995" cy="2251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2D4E"/>
                </a:solidFill>
                <a:latin typeface="Arial"/>
              </a:rPr>
              <a:t>Triển khai trên PaaS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6179" y="2776347"/>
            <a:ext cx="4993995" cy="9871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Ảo hóa ở mức trừu tượng cao hơn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→ nền tảng xử lý giúp một số thách thức về khả năng mở rộng. Dữ liệu đầu vào có thể được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nhúng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hoặc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tham chiếu như một tài nguyên web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Lưu ý: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mã nguồn WPS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không tạo được tệp tạm</a:t>
            </a:r>
            <a:r>
              <a:rPr sz="1150" b="0" i="0">
                <a:solidFill>
                  <a:srgbClr val="2B3A47"/>
                </a:solidFill>
                <a:latin typeface="Arial"/>
              </a:rPr>
              <a:t>; dữ liệu như vậy phải lưu vào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bảng cơ sở dữ liệu của Đám mây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384548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4389120"/>
            <a:ext cx="10856671" cy="375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WPS có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cường độ tính toán cao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(ví dụ mô hình hóa khí hậu) hưởng lợi từ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khả năng mở rộng tài nguyên</a:t>
            </a:r>
            <a:r>
              <a:rPr sz="1150" b="0" i="0">
                <a:solidFill>
                  <a:srgbClr val="2B3A47"/>
                </a:solidFill>
                <a:latin typeface="Arial"/>
              </a:rPr>
              <a:t>; WPS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đột nhiên trở nên phổ biến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hưởng lợi từ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khả năng mở rộng theo số người dùng</a:t>
            </a:r>
            <a:r>
              <a:rPr sz="1150" b="0" i="0">
                <a:solidFill>
                  <a:srgbClr val="2B3A47"/>
                </a:solidFill>
                <a:latin typeface="Arial"/>
              </a:rPr>
              <a:t>;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WFS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của OGC hưởng lợi từ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khả năng mở rộng về số lượng yêu cầu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88696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891532"/>
            <a:ext cx="10856671" cy="375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Google App Engine (GAE)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cung cấp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xác thực đăng nhập một lần (SSO)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cho lần đăng ký đầu tiên: một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mật khẩu được sinh ra và gửi tới điện thoại của người dùng</a:t>
            </a:r>
            <a:r>
              <a:rPr sz="1150" b="0" i="0">
                <a:solidFill>
                  <a:srgbClr val="2B3A47"/>
                </a:solidFill>
                <a:latin typeface="Arial"/>
              </a:rPr>
              <a:t>, dùng để kích hoạt tài khoản và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sau đó không dùng lại được nữa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389371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5393943"/>
            <a:ext cx="10856671" cy="375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Tất cả các Đám mây đều cho phép SSL.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SSL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mã hóa truyền thông mạng</a:t>
            </a:r>
            <a:r>
              <a:rPr sz="1150" b="0" i="0">
                <a:solidFill>
                  <a:srgbClr val="2B3A47"/>
                </a:solidFill>
                <a:latin typeface="Arial"/>
              </a:rPr>
              <a:t>; còn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mã hóa dữ liệu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được cung cấp bởi các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thư viện lập trình và hệ quản trị cơ sở dữ liệu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Chương 11 · Bảo mật đám mây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Oval 3"/>
          <p:cNvSpPr/>
          <p:nvPr/>
        </p:nvSpPr>
        <p:spPr>
          <a:xfrm>
            <a:off x="8899855" y="-1188720"/>
            <a:ext cx="4206240" cy="4206240"/>
          </a:xfrm>
          <a:prstGeom prst="ellipse">
            <a:avLst/>
          </a:prstGeom>
          <a:solidFill>
            <a:srgbClr val="17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Oval 4"/>
          <p:cNvSpPr/>
          <p:nvPr/>
        </p:nvSpPr>
        <p:spPr>
          <a:xfrm>
            <a:off x="10180015" y="4023360"/>
            <a:ext cx="3291840" cy="3291840"/>
          </a:xfrm>
          <a:prstGeom prst="ellipse">
            <a:avLst/>
          </a:prstGeom>
          <a:solidFill>
            <a:srgbClr val="17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D9BD3"/>
                </a:solidFill>
                <a:latin typeface="Arial"/>
              </a:rPr>
              <a:t>PHẦN II  ·  MỤC 11.3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7863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Bảo mật hạ tầng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3767328"/>
            <a:ext cx="1691640" cy="0"/>
          </a:xfrm>
          <a:prstGeom prst="line">
            <a:avLst/>
          </a:prstGeom>
          <a:ln w="3175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51560" y="406908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DD3E6"/>
                </a:solidFill>
                <a:latin typeface="Arial"/>
              </a:rPr>
              <a:t>— Bảo mật thông tin (InfoSec) và quy trình quản lý rủi 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37997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DD3E6"/>
                </a:solidFill>
                <a:latin typeface="Arial"/>
              </a:rPr>
              <a:t>— Cấp độ mạng: Đám mây riêng ≈ extranet an toàn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690872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DD3E6"/>
                </a:solidFill>
                <a:latin typeface="Arial"/>
              </a:rPr>
              <a:t>— Ba yếu tố rủi ro của Đám mây công cộng · Lược đồ Vùng tin cậy (TZ)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77724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11.3 BẢO MẬT HẠ TẦNG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57784"/>
            <a:ext cx="10783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2D4E"/>
                </a:solidFill>
                <a:latin typeface="Arial"/>
              </a:rPr>
              <a:t>Bảo mật thông tin (InfoSec) và quản lý rủi ro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15568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353312"/>
            <a:ext cx="11057839" cy="960120"/>
          </a:xfrm>
          <a:prstGeom prst="roundRect">
            <a:avLst>
              <a:gd name="adj" fmla="val 5500"/>
            </a:avLst>
          </a:prstGeom>
          <a:solidFill>
            <a:srgbClr val="EAF2F9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0664" y="1527048"/>
            <a:ext cx="10710367" cy="411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6FB2"/>
                </a:solidFill>
                <a:latin typeface="Arial"/>
              </a:rPr>
              <a:t>Bảo mật thông tin (Information security – InfoSec)</a:t>
            </a:r>
            <a:r>
              <a:rPr sz="1250" b="0" i="0">
                <a:solidFill>
                  <a:srgbClr val="2B3A47"/>
                </a:solidFill>
                <a:latin typeface="Arial"/>
              </a:rPr>
              <a:t> là hoạt động thực tiễn nhằm </a:t>
            </a:r>
            <a:r>
              <a:rPr sz="1250" b="1" i="0">
                <a:solidFill>
                  <a:srgbClr val="1F6FB2"/>
                </a:solidFill>
                <a:latin typeface="Arial"/>
              </a:rPr>
              <a:t>ngăn chặn việc truy cập, sử dụng, tiết lộ, gián đoạn, sửa đổi, kiểm tra, ghi lại hoặc phá hủy thông tin một cách trái phép</a:t>
            </a:r>
            <a:r>
              <a:rPr sz="1250" b="0" i="0">
                <a:solidFill>
                  <a:srgbClr val="2B3A47"/>
                </a:solidFill>
                <a:latin typeface="Arial"/>
              </a:rPr>
              <a:t> — với thông tin ở </a:t>
            </a:r>
            <a:r>
              <a:rPr sz="1250" b="1" i="0">
                <a:solidFill>
                  <a:srgbClr val="1F6FB2"/>
                </a:solidFill>
                <a:latin typeface="Arial"/>
              </a:rPr>
              <a:t>bất kỳ dạng nào</a:t>
            </a:r>
            <a:r>
              <a:rPr sz="1250" b="0" i="0">
                <a:solidFill>
                  <a:srgbClr val="2B3A47"/>
                </a:solidFill>
                <a:latin typeface="Arial"/>
              </a:rPr>
              <a:t>, điện tử hay vật lý.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468880"/>
            <a:ext cx="5323179" cy="1691640"/>
          </a:xfrm>
          <a:prstGeom prst="roundRect">
            <a:avLst>
              <a:gd name="adj" fmla="val 55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2633472"/>
            <a:ext cx="4993995" cy="2251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2D4E"/>
                </a:solidFill>
                <a:latin typeface="Arial"/>
              </a:rPr>
              <a:t>Trọng tâm chính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40939"/>
            <a:ext cx="4993995" cy="814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Bảo vệ cân bằng bộ ba CIA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— Tính bí mật, Tính toàn vẹn và Tính sẵn sàng của dữ liệu.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Đồng thời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duy trì việc triển khai chính sách một cách hiệu quả</a:t>
            </a:r>
            <a:r>
              <a:rPr sz="1150" b="0" i="0">
                <a:solidFill>
                  <a:srgbClr val="2B3A47"/>
                </a:solidFill>
                <a:latin typeface="Arial"/>
              </a:rPr>
              <a:t>, mà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không cản trở năng suất của tổ chức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1587" y="2487168"/>
            <a:ext cx="53231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QUY TRÌNH QUẢN LÝ RỦI RO (nhiều bước)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1587" y="2852928"/>
            <a:ext cx="765276" cy="777240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D4E"/>
                </a:solidFill>
                <a:latin typeface="Arial"/>
              </a:rPr>
              <a:t>Nhận diện
tài sản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76008" y="3172968"/>
            <a:ext cx="128016" cy="109728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7213168" y="2852928"/>
            <a:ext cx="765276" cy="777240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D4E"/>
                </a:solidFill>
                <a:latin typeface="Arial"/>
              </a:rPr>
              <a:t>Nguồn
đe dọa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987588" y="3172968"/>
            <a:ext cx="128016" cy="109728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124748" y="2852928"/>
            <a:ext cx="765276" cy="777240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D4E"/>
                </a:solidFill>
                <a:latin typeface="Arial"/>
              </a:rPr>
              <a:t>Lỗ hổng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899169" y="3172968"/>
            <a:ext cx="128016" cy="109728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6329" y="2852928"/>
            <a:ext cx="765276" cy="777240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D4E"/>
                </a:solidFill>
                <a:latin typeface="Arial"/>
              </a:rPr>
              <a:t>Tác động
tiềm tàng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810750" y="3172968"/>
            <a:ext cx="128016" cy="109728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9947910" y="2852928"/>
            <a:ext cx="765276" cy="777240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D4E"/>
                </a:solidFill>
                <a:latin typeface="Arial"/>
              </a:rPr>
              <a:t>Biện pháp
kiểm soát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0722330" y="3172968"/>
            <a:ext cx="128016" cy="109728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10859490" y="2852928"/>
            <a:ext cx="765276" cy="777240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D4E"/>
                </a:solidFill>
                <a:latin typeface="Arial"/>
              </a:rPr>
              <a:t>Đánh giá
kế hoạch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1587" y="3749039"/>
            <a:ext cx="53231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Phần lớn kết quả đạt được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thông qua quy trình quản lý rủi ro nhiều bước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này.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4348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ĐỂ HIỂU ĐÚNG CÁC MỐI ĐE DỌA, CẦN HIỂU BẢO MẬT TRUYỀN THÔNG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796028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6FB2"/>
                </a:solidFill>
                <a:latin typeface="Arial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800600"/>
            <a:ext cx="10856671" cy="3901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D4E"/>
                </a:solidFill>
                <a:latin typeface="Arial"/>
              </a:rPr>
              <a:t>Bảo mật truyền thông và mạng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khi nó liên quan đến truyền tải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thoại, dữ liệu, đa phương tiện và fax</a:t>
            </a:r>
            <a:r>
              <a:rPr sz="1200" b="0" i="0">
                <a:solidFill>
                  <a:srgbClr val="2B3A47"/>
                </a:solidFill>
                <a:latin typeface="Arial"/>
              </a:rPr>
              <a:t>, xét trên phương diện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mạng cục bộ, mạng diện rộng và mạng truy cập từ xa</a:t>
            </a:r>
            <a:r>
              <a:rPr sz="120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313172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6FB2"/>
                </a:solidFill>
                <a:latin typeface="Arial"/>
              </a:rPr>
              <a:t>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5317744"/>
            <a:ext cx="10856671" cy="21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D4E"/>
                </a:solidFill>
                <a:latin typeface="Arial"/>
              </a:rPr>
              <a:t>Internet / intranet / extranet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xét trên phương diện </a:t>
            </a:r>
            <a:r>
              <a:rPr sz="1200" b="1" i="0">
                <a:solidFill>
                  <a:srgbClr val="0E2D4E"/>
                </a:solidFill>
                <a:latin typeface="Arial"/>
              </a:rPr>
              <a:t>tường lửa, bộ định tuyến, cổng nối và các giao thức khác nhau</a:t>
            </a:r>
            <a:r>
              <a:rPr sz="120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Chương 11 · Bảo mật đám mây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77724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11.3.1 CẤP ĐỘ MẠNG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57784"/>
            <a:ext cx="10783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2D4E"/>
                </a:solidFill>
                <a:latin typeface="Arial"/>
              </a:rPr>
              <a:t>Đám mây riêng ≈ Extranet an toàn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15568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353312"/>
            <a:ext cx="4160520" cy="2148840"/>
          </a:xfrm>
          <a:prstGeom prst="roundRect">
            <a:avLst>
              <a:gd name="adj" fmla="val 5500"/>
            </a:avLst>
          </a:prstGeom>
          <a:solidFill>
            <a:srgbClr val="E9F5F0"/>
          </a:solidFill>
          <a:ln w="12700">
            <a:solidFill>
              <a:srgbClr val="B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517904"/>
            <a:ext cx="3831335" cy="232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7A57"/>
                </a:solidFill>
                <a:latin typeface="Arial"/>
              </a:rPr>
              <a:t>Với Đám mây riêng...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32355"/>
            <a:ext cx="3831335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7A57"/>
                </a:solidFill>
                <a:latin typeface="Arial"/>
              </a:rPr>
              <a:t>Không có cuộc tấn công mới, lỗ hổng mới, hay thay đổi nào về rủi ro</a:t>
            </a:r>
            <a:r>
              <a:rPr sz="1200" b="0" i="0">
                <a:solidFill>
                  <a:srgbClr val="2B3A47"/>
                </a:solidFill>
                <a:latin typeface="Arial"/>
              </a:rPr>
              <a:t> đặc thù cho tô-pô này mà nhân sự bảo mật thông tin cần cân nhắc.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3831335" cy="3812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Kiến trúc CNTT của tổ chức </a:t>
            </a:r>
            <a:r>
              <a:rPr sz="1150" b="1" i="0">
                <a:solidFill>
                  <a:srgbClr val="1B7A57"/>
                </a:solidFill>
                <a:latin typeface="Arial"/>
              </a:rPr>
              <a:t>có thể thay đổi</a:t>
            </a:r>
            <a:r>
              <a:rPr sz="1150" b="0" i="0">
                <a:solidFill>
                  <a:srgbClr val="2B3A47"/>
                </a:solidFill>
                <a:latin typeface="Arial"/>
              </a:rPr>
              <a:t>, nhưng </a:t>
            </a:r>
            <a:r>
              <a:rPr sz="1150" b="1" i="0">
                <a:solidFill>
                  <a:srgbClr val="1B7A57"/>
                </a:solidFill>
                <a:latin typeface="Arial"/>
              </a:rPr>
              <a:t>tô-pô mạng hiện tại có lẽ sẽ không thay đổi đáng kể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653028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657600"/>
            <a:ext cx="3959352" cy="375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Nếu đã có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extranet riêng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thì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tô-pô cho Đám mây riêng gần như đã sẵn có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14274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4147312"/>
            <a:ext cx="3959352" cy="375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Các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cân nhắc bảo mật hiện nay cũng áp dụng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cho hạ tầng Đám mây riêng.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632452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4637024"/>
            <a:ext cx="3959352" cy="375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Các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công cụ bảo mật đang có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(hoặc nên có)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vẫn cần thiết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và </a:t>
            </a:r>
            <a:r>
              <a:rPr sz="1150" b="1" i="0">
                <a:solidFill>
                  <a:srgbClr val="0E2D4E"/>
                </a:solidFill>
                <a:latin typeface="Arial"/>
              </a:rPr>
              <a:t>vận hành theo cùng một cách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pic>
        <p:nvPicPr>
          <p:cNvPr id="16" name="Picture 15" descr="fig11_1_extranet_cloud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463040"/>
            <a:ext cx="6485839" cy="3635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138928" y="5208328"/>
            <a:ext cx="64858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4788A"/>
                </a:solidFill>
                <a:latin typeface="Arial"/>
              </a:rPr>
              <a:t>Hình 11.1 — Những điểm tương đồng giữa một extranet an toàn và một Đám mây riêng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5628952"/>
            <a:ext cx="6485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D4E"/>
                </a:solidFill>
                <a:latin typeface="Arial"/>
              </a:rPr>
              <a:t>Internet:</a:t>
            </a:r>
            <a:r>
              <a:rPr sz="1050" b="0" i="0">
                <a:solidFill>
                  <a:srgbClr val="2B3A47"/>
                </a:solidFill>
                <a:latin typeface="Arial"/>
              </a:rPr>
              <a:t> mở cho tất cả mọi người.  ·  </a:t>
            </a:r>
            <a:r>
              <a:rPr sz="1050" b="1" i="0">
                <a:solidFill>
                  <a:srgbClr val="0E2D4E"/>
                </a:solidFill>
                <a:latin typeface="Arial"/>
              </a:rPr>
              <a:t>Intranet:</a:t>
            </a:r>
            <a:r>
              <a:rPr sz="1050" b="0" i="0">
                <a:solidFill>
                  <a:srgbClr val="2B3A47"/>
                </a:solidFill>
                <a:latin typeface="Arial"/>
              </a:rPr>
              <a:t> mạng dành cho nhóm nhỏ, chỉ thành viên truy cập được.  ·  </a:t>
            </a:r>
            <a:r>
              <a:rPr sz="1050" b="1" i="0">
                <a:solidFill>
                  <a:srgbClr val="0E2D4E"/>
                </a:solidFill>
                <a:latin typeface="Arial"/>
              </a:rPr>
              <a:t>Extranet:</a:t>
            </a:r>
            <a:r>
              <a:rPr sz="1050" b="0" i="0">
                <a:solidFill>
                  <a:srgbClr val="2B3A47"/>
                </a:solidFill>
                <a:latin typeface="Arial"/>
              </a:rPr>
              <a:t> dùng bởi người thuộc một mạng cụ thể, có định danh đăng nhập và mật khẩu.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Chương 11 · Bảo mật đám mây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77724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11.3.1 CẤP ĐỘ MẠNG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57784"/>
            <a:ext cx="10783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2D4E"/>
                </a:solidFill>
                <a:latin typeface="Arial"/>
              </a:rPr>
              <a:t>Đám mây công cộng: ba yếu tố rủi ro đáng kể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15568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600200"/>
            <a:ext cx="3478682" cy="2788920"/>
          </a:xfrm>
          <a:prstGeom prst="roundRect">
            <a:avLst>
              <a:gd name="adj" fmla="val 5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Oval 6"/>
          <p:cNvSpPr/>
          <p:nvPr/>
        </p:nvSpPr>
        <p:spPr>
          <a:xfrm>
            <a:off x="768096" y="1371600"/>
            <a:ext cx="475488" cy="475488"/>
          </a:xfrm>
          <a:prstGeom prst="ellipse">
            <a:avLst/>
          </a:prstGeom>
          <a:solidFill>
            <a:srgbClr val="B83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029968"/>
            <a:ext cx="307634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D4E"/>
                </a:solidFill>
                <a:latin typeface="Arial"/>
              </a:rPr>
              <a:t>Tính bí mật &amp; toàn vẹn của dữ liệu đang truyền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743200"/>
            <a:ext cx="3076346" cy="11904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Tài nguyên trước đây </a:t>
            </a:r>
            <a:r>
              <a:rPr sz="1100" b="1" i="0">
                <a:solidFill>
                  <a:srgbClr val="1F6FB2"/>
                </a:solidFill>
                <a:latin typeface="Arial"/>
              </a:rPr>
              <a:t>bị giới hạn trong mạng riêng</a:t>
            </a:r>
            <a:r>
              <a:rPr sz="1100" b="0" i="0">
                <a:solidFill>
                  <a:srgbClr val="2B3A47"/>
                </a:solidFill>
                <a:latin typeface="Arial"/>
              </a:rPr>
              <a:t> nay </a:t>
            </a:r>
            <a:r>
              <a:rPr sz="1100" b="1" i="0">
                <a:solidFill>
                  <a:srgbClr val="1F6FB2"/>
                </a:solidFill>
                <a:latin typeface="Arial"/>
              </a:rPr>
              <a:t>bị phơi bày ra Internet</a:t>
            </a:r>
            <a:r>
              <a:rPr sz="1100" b="0" i="0">
                <a:solidFill>
                  <a:srgbClr val="2B3A47"/>
                </a:solidFill>
                <a:latin typeface="Arial"/>
              </a:rPr>
              <a:t> — một mạng công cộng chia sẻ thuộc về một </a:t>
            </a:r>
            <a:r>
              <a:rPr sz="1100" b="1" i="0">
                <a:solidFill>
                  <a:srgbClr val="1F6FB2"/>
                </a:solidFill>
                <a:latin typeface="Arial"/>
              </a:rPr>
              <a:t>nhà cung cấp Đám mây bên thứ ba</a:t>
            </a:r>
            <a:r>
              <a:rPr sz="1100" b="0" i="0">
                <a:solidFill>
                  <a:srgbClr val="2B3A47"/>
                </a:solidFill>
                <a:latin typeface="Arial"/>
              </a:rPr>
              <a:t>. Dùng </a:t>
            </a:r>
            <a:r>
              <a:rPr sz="1100" b="1" i="0">
                <a:solidFill>
                  <a:srgbClr val="1F6FB2"/>
                </a:solidFill>
                <a:latin typeface="Arial"/>
              </a:rPr>
              <a:t>HTTPS thay vì HTTP</a:t>
            </a:r>
            <a:r>
              <a:rPr sz="1100" b="0" i="0">
                <a:solidFill>
                  <a:srgbClr val="2B3A47"/>
                </a:solidFill>
                <a:latin typeface="Arial"/>
              </a:rPr>
              <a:t> đã giảm thiểu được rủi ro về tính toàn vẹn; người dùng </a:t>
            </a:r>
            <a:r>
              <a:rPr sz="1100" b="1" i="0">
                <a:solidFill>
                  <a:srgbClr val="1F6FB2"/>
                </a:solidFill>
                <a:latin typeface="Arial"/>
              </a:rPr>
              <a:t>HTTP</a:t>
            </a:r>
            <a:r>
              <a:rPr sz="1100" b="0" i="0">
                <a:solidFill>
                  <a:srgbClr val="2B3A47"/>
                </a:solidFill>
                <a:latin typeface="Arial"/>
              </a:rPr>
              <a:t> phải đối mặt với rủi ro </a:t>
            </a:r>
            <a:r>
              <a:rPr sz="1100" b="1" i="0">
                <a:solidFill>
                  <a:srgbClr val="1F6FB2"/>
                </a:solidFill>
                <a:latin typeface="Arial"/>
              </a:rPr>
              <a:t>dữ liệu bị thay đổi mà không hay biết</a:t>
            </a:r>
            <a:r>
              <a:rPr sz="110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6506" y="1600200"/>
            <a:ext cx="3478682" cy="2788920"/>
          </a:xfrm>
          <a:prstGeom prst="roundRect">
            <a:avLst>
              <a:gd name="adj" fmla="val 5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Oval 10"/>
          <p:cNvSpPr/>
          <p:nvPr/>
        </p:nvSpPr>
        <p:spPr>
          <a:xfrm>
            <a:off x="4557674" y="1371600"/>
            <a:ext cx="475488" cy="475488"/>
          </a:xfrm>
          <a:prstGeom prst="ellipse">
            <a:avLst/>
          </a:prstGeom>
          <a:solidFill>
            <a:srgbClr val="B83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7674" y="2029968"/>
            <a:ext cx="307634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D4E"/>
                </a:solidFill>
                <a:latin typeface="Arial"/>
              </a:rPr>
              <a:t>Kiểm soát truy cập phù hợp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7674" y="2743200"/>
            <a:ext cx="3076346" cy="8608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Xác thực, ủy quyền và kiểm toán</a:t>
            </a:r>
            <a:r>
              <a:rPr sz="1100" b="0" i="0">
                <a:solidFill>
                  <a:srgbClr val="2B3A47"/>
                </a:solidFill>
                <a:latin typeface="Arial"/>
              </a:rPr>
              <a:t> đối với </a:t>
            </a:r>
            <a:r>
              <a:rPr sz="1100" b="1" i="0">
                <a:solidFill>
                  <a:srgbClr val="1F6FB2"/>
                </a:solidFill>
                <a:latin typeface="Arial"/>
              </a:rPr>
              <a:t>bất kỳ tài nguyên nào</a:t>
            </a:r>
            <a:r>
              <a:rPr sz="1100" b="0" i="0">
                <a:solidFill>
                  <a:srgbClr val="2B3A47"/>
                </a:solidFill>
                <a:latin typeface="Arial"/>
              </a:rPr>
              <a:t> đang sử dụng ở nhà cung cấp. Khả năng </a:t>
            </a:r>
            <a:r>
              <a:rPr sz="1100" b="1" i="0">
                <a:solidFill>
                  <a:srgbClr val="1F6FB2"/>
                </a:solidFill>
                <a:latin typeface="Arial"/>
              </a:rPr>
              <a:t>kiểm toán mạng của nhà cung cấp</a:t>
            </a:r>
            <a:r>
              <a:rPr sz="1100" b="0" i="0">
                <a:solidFill>
                  <a:srgbClr val="2B3A47"/>
                </a:solidFill>
                <a:latin typeface="Arial"/>
              </a:rPr>
              <a:t>, chưa nói đến </a:t>
            </a:r>
            <a:r>
              <a:rPr sz="1100" b="1" i="0">
                <a:solidFill>
                  <a:srgbClr val="1F6FB2"/>
                </a:solidFill>
                <a:latin typeface="Arial"/>
              </a:rPr>
              <a:t>giám sát thời gian thực</a:t>
            </a:r>
            <a:r>
              <a:rPr sz="1100" b="0" i="0">
                <a:solidFill>
                  <a:srgbClr val="2B3A47"/>
                </a:solidFill>
                <a:latin typeface="Arial"/>
              </a:rPr>
              <a:t>, gần như </a:t>
            </a:r>
            <a:r>
              <a:rPr sz="1100" b="1" i="0">
                <a:solidFill>
                  <a:srgbClr val="1F6FB2"/>
                </a:solidFill>
                <a:latin typeface="Arial"/>
              </a:rPr>
              <a:t>là không tồn tại</a:t>
            </a:r>
            <a:r>
              <a:rPr sz="110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6084" y="1600200"/>
            <a:ext cx="3478682" cy="2788920"/>
          </a:xfrm>
          <a:prstGeom prst="roundRect">
            <a:avLst>
              <a:gd name="adj" fmla="val 5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Oval 14"/>
          <p:cNvSpPr/>
          <p:nvPr/>
        </p:nvSpPr>
        <p:spPr>
          <a:xfrm>
            <a:off x="8347252" y="1371600"/>
            <a:ext cx="475488" cy="475488"/>
          </a:xfrm>
          <a:prstGeom prst="ellipse">
            <a:avLst/>
          </a:prstGeom>
          <a:solidFill>
            <a:srgbClr val="B83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7252" y="2029968"/>
            <a:ext cx="307634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D4E"/>
                </a:solidFill>
                <a:latin typeface="Arial"/>
              </a:rPr>
              <a:t>Tính sẵn sàng của tài nguyên hướng Internet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7252" y="2743200"/>
            <a:ext cx="3076346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Sự phụ thuộc vào bảo mật mạng </a:t>
            </a:r>
            <a:r>
              <a:rPr sz="1100" b="1" i="0">
                <a:solidFill>
                  <a:srgbClr val="1F6FB2"/>
                </a:solidFill>
                <a:latin typeface="Arial"/>
              </a:rPr>
              <a:t>đã tăng lên</a:t>
            </a:r>
            <a:r>
              <a:rPr sz="1100" b="0" i="0">
                <a:solidFill>
                  <a:srgbClr val="2B3A47"/>
                </a:solidFill>
                <a:latin typeface="Arial"/>
              </a:rPr>
              <a:t>, bởi </a:t>
            </a:r>
            <a:r>
              <a:rPr sz="1100" b="1" i="0">
                <a:solidFill>
                  <a:srgbClr val="1F6FB2"/>
                </a:solidFill>
                <a:latin typeface="Arial"/>
              </a:rPr>
              <a:t>lượng dữ liệu và số lượng nhân sự</a:t>
            </a:r>
            <a:r>
              <a:rPr sz="1100" b="0" i="0">
                <a:solidFill>
                  <a:srgbClr val="2B3A47"/>
                </a:solidFill>
                <a:latin typeface="Arial"/>
              </a:rPr>
              <a:t> phụ thuộc vào các </a:t>
            </a:r>
            <a:r>
              <a:rPr sz="1100" b="1" i="0">
                <a:solidFill>
                  <a:srgbClr val="1F6FB2"/>
                </a:solidFill>
                <a:latin typeface="Arial"/>
              </a:rPr>
              <a:t>thiết bị lưu trữ bên ngoài</a:t>
            </a:r>
            <a:r>
              <a:rPr sz="1100" b="0" i="0">
                <a:solidFill>
                  <a:srgbClr val="2B3A47"/>
                </a:solidFill>
                <a:latin typeface="Arial"/>
              </a:rPr>
              <a:t> ngày càng nhiều.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17136"/>
            <a:ext cx="11057839" cy="1536192"/>
          </a:xfrm>
          <a:prstGeom prst="roundRect">
            <a:avLst>
              <a:gd name="adj" fmla="val 5500"/>
            </a:avLst>
          </a:prstGeom>
          <a:solidFill>
            <a:srgbClr val="FBEDEB"/>
          </a:solidFill>
          <a:ln w="12700">
            <a:solidFill>
              <a:srgbClr val="EE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4681728"/>
            <a:ext cx="10728655" cy="2251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B8342A"/>
                </a:solidFill>
                <a:latin typeface="Arial"/>
              </a:rPr>
              <a:t>⚠  Cấu hình sai (misconfiguration) vẫn là rủi ro sống động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89195"/>
            <a:ext cx="10728655" cy="814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Ba yếu tố rủi ro trên </a:t>
            </a:r>
            <a:r>
              <a:rPr sz="1150" b="1" i="0">
                <a:solidFill>
                  <a:srgbClr val="B8342A"/>
                </a:solidFill>
                <a:latin typeface="Arial"/>
              </a:rPr>
              <a:t>phải ở mức chấp nhận được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đối với một tổ chức — nhưng </a:t>
            </a:r>
            <a:r>
              <a:rPr sz="1150" b="1" i="0">
                <a:solidFill>
                  <a:srgbClr val="B8342A"/>
                </a:solidFill>
                <a:latin typeface="Arial"/>
              </a:rPr>
              <a:t>cấu hình sai vẫn có thể ảnh hưởng đến tính sẵn sàng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của các tài nguyên dựa trên Đám mây.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8342A"/>
                </a:solidFill>
                <a:latin typeface="Arial"/>
              </a:rPr>
              <a:t>Nghiên cứu trình bày trước NANOG (tháng 2/2006):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hàng trăm cấu hình sai như vậy mỗi tháng.  ·  </a:t>
            </a:r>
            <a:r>
              <a:rPr sz="1150" b="1" i="0">
                <a:solidFill>
                  <a:srgbClr val="B8342A"/>
                </a:solidFill>
                <a:latin typeface="Arial"/>
              </a:rPr>
              <a:t>Tháng 2/2008: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Pakistan Telecom công bố một </a:t>
            </a:r>
            <a:r>
              <a:rPr sz="1150" b="1" i="0">
                <a:solidFill>
                  <a:srgbClr val="B8342A"/>
                </a:solidFill>
                <a:latin typeface="Arial"/>
              </a:rPr>
              <a:t>tuyến giả (dummy route)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cho YouTube tới đối tác PCCW nhằm chặn YouTube trong nước → </a:t>
            </a:r>
            <a:r>
              <a:rPr sz="1150" b="1" i="0">
                <a:solidFill>
                  <a:srgbClr val="B8342A"/>
                </a:solidFill>
                <a:latin typeface="Arial"/>
              </a:rPr>
              <a:t>YouTube không thể truy cập được trên toàn cầu trong hai giờ.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Chương 11 · Bảo mật đám mây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77724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11.3.2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57784"/>
            <a:ext cx="10783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2D4E"/>
                </a:solidFill>
                <a:latin typeface="Arial"/>
              </a:rPr>
              <a:t>Lược đồ Vùng tin cậy (Trust Zones – TZ)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15568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353312"/>
            <a:ext cx="11057839" cy="960120"/>
          </a:xfrm>
          <a:prstGeom prst="roundRect">
            <a:avLst>
              <a:gd name="adj" fmla="val 5500"/>
            </a:avLst>
          </a:prstGeom>
          <a:solidFill>
            <a:srgbClr val="EAF2F9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0664" y="1527048"/>
            <a:ext cx="10710367" cy="411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6FB2"/>
                </a:solidFill>
                <a:latin typeface="Arial"/>
              </a:rPr>
              <a:t>TZ = Phân đoạn mạng (network segmentation)  +  Quản lý danh tính và truy cập (IAM)</a:t>
            </a:r>
            <a:r>
              <a:rPr sz="1250" b="0" i="0">
                <a:solidFill>
                  <a:srgbClr val="2B3A47"/>
                </a:solidFill>
                <a:latin typeface="Arial"/>
              </a:rPr>
              <a:t>. Chúng định nghĩa các </a:t>
            </a:r>
            <a:r>
              <a:rPr sz="1250" b="1" i="0">
                <a:solidFill>
                  <a:srgbClr val="1F6FB2"/>
                </a:solidFill>
                <a:latin typeface="Arial"/>
              </a:rPr>
              <a:t>ranh giới vật lý, logic hoặc ảo</a:t>
            </a:r>
            <a:r>
              <a:rPr sz="1250" b="0" i="0">
                <a:solidFill>
                  <a:srgbClr val="2B3A47"/>
                </a:solidFill>
                <a:latin typeface="Arial"/>
              </a:rPr>
              <a:t> quanh tài nguyên mạng; được triển khai bằng </a:t>
            </a:r>
            <a:r>
              <a:rPr sz="1250" b="1" i="0">
                <a:solidFill>
                  <a:srgbClr val="1F6FB2"/>
                </a:solidFill>
                <a:latin typeface="Arial"/>
              </a:rPr>
              <a:t>thiết bị vật lý</a:t>
            </a:r>
            <a:r>
              <a:rPr sz="1250" b="0" i="0">
                <a:solidFill>
                  <a:srgbClr val="2B3A47"/>
                </a:solidFill>
                <a:latin typeface="Arial"/>
              </a:rPr>
              <a:t>, bằng </a:t>
            </a:r>
            <a:r>
              <a:rPr sz="1250" b="1" i="0">
                <a:solidFill>
                  <a:srgbClr val="1F6FB2"/>
                </a:solidFill>
                <a:latin typeface="Arial"/>
              </a:rPr>
              <a:t>tường lửa ảo / chuyển mạch ảo</a:t>
            </a:r>
            <a:r>
              <a:rPr sz="1250" b="0" i="0">
                <a:solidFill>
                  <a:srgbClr val="2B3A47"/>
                </a:solidFill>
                <a:latin typeface="Arial"/>
              </a:rPr>
              <a:t>, hoặc </a:t>
            </a:r>
            <a:r>
              <a:rPr sz="1250" b="1" i="0">
                <a:solidFill>
                  <a:srgbClr val="1F6FB2"/>
                </a:solidFill>
                <a:latin typeface="Arial"/>
              </a:rPr>
              <a:t>cả hai</a:t>
            </a:r>
            <a:r>
              <a:rPr sz="12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468880"/>
            <a:ext cx="11057839" cy="1225296"/>
          </a:xfrm>
          <a:prstGeom prst="roundRect">
            <a:avLst>
              <a:gd name="adj" fmla="val 5500"/>
            </a:avLst>
          </a:prstGeom>
          <a:solidFill>
            <a:srgbClr val="FDF4E4"/>
          </a:solidFill>
          <a:ln w="12700">
            <a:solidFill>
              <a:srgbClr val="EBD2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2633472"/>
            <a:ext cx="10728655" cy="2251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86A00"/>
                </a:solidFill>
                <a:latin typeface="Arial"/>
              </a:rPr>
              <a:t>Mô hình đe dọa: kẻ nội gián của CSP (CSP insider)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40939"/>
            <a:ext cx="10728655" cy="553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Nhân sự của CSP có </a:t>
            </a:r>
            <a:r>
              <a:rPr sz="1150" b="1" i="0">
                <a:solidFill>
                  <a:srgbClr val="A86A00"/>
                </a:solidFill>
                <a:latin typeface="Arial"/>
              </a:rPr>
              <a:t>quyền truy cập vật lý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vào trung tâm dữ liệu có thể phá vỡ các biện pháp kiểm soát bảo mật </a:t>
            </a:r>
            <a:r>
              <a:rPr sz="1150" b="1" i="0">
                <a:solidFill>
                  <a:srgbClr val="A86A00"/>
                </a:solidFill>
                <a:latin typeface="Arial"/>
              </a:rPr>
              <a:t>bằng cách truy cập trực tiếp vào máy vật lý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 Tuy nhiên </a:t>
            </a:r>
            <a:r>
              <a:rPr sz="1150" b="1" i="0">
                <a:solidFill>
                  <a:srgbClr val="A86A00"/>
                </a:solidFill>
                <a:latin typeface="Arial"/>
              </a:rPr>
              <a:t>số lượng máy rất lớn làm phức tạp thêm nhiệm vụ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— kẻ tấn công </a:t>
            </a:r>
            <a:r>
              <a:rPr sz="1150" b="1" i="0">
                <a:solidFill>
                  <a:srgbClr val="A86A00"/>
                </a:solidFill>
                <a:latin typeface="Arial"/>
              </a:rPr>
              <a:t>trước tiên phải nhận diện được phần cứng đang lưu trữ dữ liệu mục tiêu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" y="3785615"/>
            <a:ext cx="2316403" cy="841248"/>
          </a:xfrm>
          <a:prstGeom prst="roundRect">
            <a:avLst>
              <a:gd name="adj" fmla="val 9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Liệt kê các VM
đang hoạt động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76523" y="4133087"/>
            <a:ext cx="237744" cy="146304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587419" y="3785615"/>
            <a:ext cx="2316403" cy="841248"/>
          </a:xfrm>
          <a:prstGeom prst="roundRect">
            <a:avLst>
              <a:gd name="adj" fmla="val 9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Thu hẹp danh sách
nhờ dữ liệu cấu hình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76975" y="4133087"/>
            <a:ext cx="237744" cy="146304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287871" y="3785615"/>
            <a:ext cx="2316403" cy="841248"/>
          </a:xfrm>
          <a:prstGeom prst="roundRect">
            <a:avLst>
              <a:gd name="adj" fmla="val 9000"/>
            </a:avLst>
          </a:prstGeom>
          <a:solidFill>
            <a:srgbClr val="EAF2F9"/>
          </a:solidFill>
          <a:ln w="12700">
            <a:solidFill>
              <a:srgbClr val="5D9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D4E"/>
                </a:solidFill>
                <a:latin typeface="Arial"/>
              </a:rPr>
              <a:t>Ánh xạ vào sơ đồ
bố trí trung tâm dữ liệu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677427" y="4133087"/>
            <a:ext cx="237744" cy="146304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988323" y="3785615"/>
            <a:ext cx="2316403" cy="841248"/>
          </a:xfrm>
          <a:prstGeom prst="roundRect">
            <a:avLst>
              <a:gd name="adj" fmla="val 9000"/>
            </a:avLst>
          </a:prstGeom>
          <a:solidFill>
            <a:srgbClr val="FBEDEB"/>
          </a:solidFill>
          <a:ln w="12700">
            <a:solidFill>
              <a:srgbClr val="B8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8342A"/>
                </a:solidFill>
                <a:latin typeface="Arial"/>
              </a:rPr>
              <a:t>Tiêm mã độc,
phát tín hiệu (beaconing)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736592"/>
            <a:ext cx="5323179" cy="1261872"/>
          </a:xfrm>
          <a:prstGeom prst="roundRect">
            <a:avLst>
              <a:gd name="adj" fmla="val 55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4901183"/>
            <a:ext cx="4993995" cy="2181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D4E"/>
                </a:solidFill>
                <a:latin typeface="Arial"/>
              </a:rPr>
              <a:t>Tín hiệu giúp thu hẹp danh sách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01665"/>
            <a:ext cx="4993995" cy="3812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Nhóm bảo mật (security group)</a:t>
            </a:r>
            <a:r>
              <a:rPr sz="1150" b="0" i="0">
                <a:solidFill>
                  <a:srgbClr val="2B3A47"/>
                </a:solidFill>
                <a:latin typeface="Arial"/>
              </a:rPr>
              <a:t>,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các cổng đang mở</a:t>
            </a:r>
            <a:r>
              <a:rPr sz="1150" b="0" i="0">
                <a:solidFill>
                  <a:srgbClr val="2B3A47"/>
                </a:solidFill>
                <a:latin typeface="Arial"/>
              </a:rPr>
              <a:t>,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dữ liệu IAM</a:t>
            </a:r>
            <a:r>
              <a:rPr sz="1150" b="0" i="0">
                <a:solidFill>
                  <a:srgbClr val="2B3A47"/>
                </a:solidFill>
                <a:latin typeface="Arial"/>
              </a:rPr>
              <a:t>,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quy ước đặt tên của bên thuê</a:t>
            </a:r>
            <a:r>
              <a:rPr sz="1150" b="0" i="0">
                <a:solidFill>
                  <a:srgbClr val="2B3A47"/>
                </a:solidFill>
                <a:latin typeface="Arial"/>
              </a:rPr>
              <a:t>,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kích cỡ tương đối về bộ nhớ / đĩa / CPU / I/O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1587" y="4736592"/>
            <a:ext cx="5323179" cy="1261872"/>
          </a:xfrm>
          <a:prstGeom prst="roundRect">
            <a:avLst>
              <a:gd name="adj" fmla="val 5500"/>
            </a:avLst>
          </a:prstGeom>
          <a:solidFill>
            <a:srgbClr val="E9F5F0"/>
          </a:solidFill>
          <a:ln w="12700">
            <a:solidFill>
              <a:srgbClr val="B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66179" y="4901183"/>
            <a:ext cx="4993995" cy="2181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7A57"/>
                </a:solidFill>
                <a:latin typeface="Arial"/>
              </a:rPr>
              <a:t>Phòng thủ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6179" y="5201665"/>
            <a:ext cx="4993995" cy="553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7A57"/>
                </a:solidFill>
                <a:latin typeface="Arial"/>
              </a:rPr>
              <a:t>Phân đoạn / ngăn thành các khoang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trong trung tâm dữ liệu và </a:t>
            </a:r>
            <a:r>
              <a:rPr sz="1150" b="1" i="0">
                <a:solidFill>
                  <a:srgbClr val="1B7A57"/>
                </a:solidFill>
                <a:latin typeface="Arial"/>
              </a:rPr>
              <a:t>giữ riêng biệt bản đồ vật lý với bản đồ logic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→ làm phức tạp thêm nhiệm vụ của kẻ tấn công.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Chương 11 · Bảo mật đám mây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Oval 3"/>
          <p:cNvSpPr/>
          <p:nvPr/>
        </p:nvSpPr>
        <p:spPr>
          <a:xfrm>
            <a:off x="8899855" y="-1188720"/>
            <a:ext cx="4206240" cy="4206240"/>
          </a:xfrm>
          <a:prstGeom prst="ellipse">
            <a:avLst/>
          </a:prstGeom>
          <a:solidFill>
            <a:srgbClr val="17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Oval 4"/>
          <p:cNvSpPr/>
          <p:nvPr/>
        </p:nvSpPr>
        <p:spPr>
          <a:xfrm>
            <a:off x="10180015" y="4023360"/>
            <a:ext cx="3291840" cy="3291840"/>
          </a:xfrm>
          <a:prstGeom prst="ellipse">
            <a:avLst/>
          </a:prstGeom>
          <a:solidFill>
            <a:srgbClr val="17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D9BD3"/>
                </a:solidFill>
                <a:latin typeface="Arial"/>
              </a:rPr>
              <a:t>PHẦN III  ·  MỤC 11.4 – 11.5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7863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Bảo mật ứng dụng
PaaS và SaaS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3767328"/>
            <a:ext cx="1691640" cy="0"/>
          </a:xfrm>
          <a:prstGeom prst="line">
            <a:avLst/>
          </a:prstGeom>
          <a:ln w="3175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51560" y="406908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DD3E6"/>
                </a:solidFill>
                <a:latin typeface="Arial"/>
              </a:rPr>
              <a:t>— Ai bảo mật cái gì trong PaaS · Kiểm soát truy cập · Gia cố OS · SSO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37997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DD3E6"/>
                </a:solidFill>
                <a:latin typeface="Arial"/>
              </a:rPr>
              <a:t>— Bảo mật ứng dụng SaaS và giới hạn của kiểm soát chi tiết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690872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DD3E6"/>
                </a:solidFill>
                <a:latin typeface="Arial"/>
              </a:rPr>
              <a:t>— Lược đồ FHE cho SaaS · Kiểm soát truy cập mạng và người dùng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77724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11.4 BẢO MẬT ỨNG DỤNG PAAS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57784"/>
            <a:ext cx="10783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2D4E"/>
                </a:solidFill>
                <a:latin typeface="Arial"/>
              </a:rPr>
              <a:t>Ai bảo mật cái gì?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15568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353312"/>
            <a:ext cx="5323179" cy="1389888"/>
          </a:xfrm>
          <a:prstGeom prst="roundRect">
            <a:avLst>
              <a:gd name="adj" fmla="val 5500"/>
            </a:avLst>
          </a:prstGeom>
          <a:solidFill>
            <a:srgbClr val="EAF2F9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517904"/>
            <a:ext cx="4993995" cy="232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2D4E"/>
                </a:solidFill>
                <a:latin typeface="Arial"/>
              </a:rPr>
              <a:t>Hai loại nhà cung cấp PaaS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32355"/>
            <a:ext cx="4993995" cy="6424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Nhà cung cấp phần mềm: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Bungee, Etelos, GigaSpaces, Eucalyptus.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CSP: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Google App Engine, Force.com của Salesforce.com, Microsoft Azure, Intuit QuickBase.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1587" y="1353312"/>
            <a:ext cx="5323179" cy="1389888"/>
          </a:xfrm>
          <a:prstGeom prst="roundRect">
            <a:avLst>
              <a:gd name="adj" fmla="val 5500"/>
            </a:avLst>
          </a:prstGeom>
          <a:solidFill>
            <a:srgbClr val="EAF2F9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66179" y="1517904"/>
            <a:ext cx="4993995" cy="232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2D4E"/>
                </a:solidFill>
                <a:latin typeface="Arial"/>
              </a:rPr>
              <a:t>Trách nhiệm bảo mật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6179" y="1832355"/>
            <a:ext cx="4993995" cy="553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CSP của PaaS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chịu trách nhiệm bảo mật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ngăn xếp phần mềm nền tảng</a:t>
            </a:r>
            <a:r>
              <a:rPr sz="1150" b="0" i="0">
                <a:solidFill>
                  <a:srgbClr val="2B3A47"/>
                </a:solidFill>
                <a:latin typeface="Arial"/>
              </a:rPr>
              <a:t>, bao gồm cả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bộ máy thực thi (runtime engine)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chạy các ứng dụng của khách hàng.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07792"/>
            <a:ext cx="5323179" cy="1810512"/>
          </a:xfrm>
          <a:prstGeom prst="roundRect">
            <a:avLst>
              <a:gd name="adj" fmla="val 55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3072384"/>
            <a:ext cx="4993995" cy="2251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2D4E"/>
                </a:solidFill>
                <a:latin typeface="Arial"/>
              </a:rPr>
              <a:t>Phụ thuộc bên thứ ba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79851"/>
            <a:ext cx="4993995" cy="9871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Ứng dụng PaaS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có thể sử dụng ứng dụng, thành phần hoặc dịch vụ web của bên thứ ba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→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nhà cung cấp bên thứ ba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có thể phải chịu trách nhiệm bảo mật các dịch vụ đó.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→ Khách hàng nên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hiểu rõ sự phụ thuộc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của ứng dụng mình vào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tất cả các dịch vụ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và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đánh giá rủi ro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liên quan đến bên thứ ba.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1587" y="2907792"/>
            <a:ext cx="5323179" cy="1810512"/>
          </a:xfrm>
          <a:prstGeom prst="roundRect">
            <a:avLst>
              <a:gd name="adj" fmla="val 55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66179" y="3072384"/>
            <a:ext cx="4993995" cy="2251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2D4E"/>
                </a:solidFill>
                <a:latin typeface="Arial"/>
              </a:rPr>
              <a:t>Khuyến nghị thực tiễn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6179" y="3379851"/>
            <a:ext cx="4993995" cy="1159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PaaS vẫn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đang ở giai đoạn còn non trẻ</a:t>
            </a:r>
            <a:r>
              <a:rPr sz="1150" b="0" i="0">
                <a:solidFill>
                  <a:srgbClr val="2B3A47"/>
                </a:solidFill>
                <a:latin typeface="Arial"/>
              </a:rPr>
              <a:t>: chưa có Đám mây công cộng lớn nào dùng phần mềm PaaS thương mại có sẵn hoặc mã nguồn mở như Eucalyptus.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→ Tổ chức đánh giá phần mềm PaaS nên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thực hiện đánh giá rủi ro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và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áp dụng tiêu chuẩn bảo mật phần mềm như khi mua sắm bất kỳ phần mềm doanh nghiệp nào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28032"/>
            <a:ext cx="11057839" cy="1481328"/>
          </a:xfrm>
          <a:prstGeom prst="roundRect">
            <a:avLst>
              <a:gd name="adj" fmla="val 5500"/>
            </a:avLst>
          </a:prstGeom>
          <a:solidFill>
            <a:srgbClr val="FDF4E4"/>
          </a:solidFill>
          <a:ln w="12700">
            <a:solidFill>
              <a:srgbClr val="EBD2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4992624"/>
            <a:ext cx="10728655" cy="2251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86A00"/>
                </a:solidFill>
                <a:latin typeface="Arial"/>
              </a:rPr>
              <a:t>Vấn đề minh bạch (transparency)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0091"/>
            <a:ext cx="10728655" cy="814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Cho đến nay, các </a:t>
            </a:r>
            <a:r>
              <a:rPr sz="1150" b="1" i="0">
                <a:solidFill>
                  <a:srgbClr val="A86A00"/>
                </a:solidFill>
                <a:latin typeface="Arial"/>
              </a:rPr>
              <a:t>CSP vẫn miễn cưỡng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trong việc chia sẻ thông tin liên quan đến </a:t>
            </a:r>
            <a:r>
              <a:rPr sz="1150" b="1" i="0">
                <a:solidFill>
                  <a:srgbClr val="A86A00"/>
                </a:solidFill>
                <a:latin typeface="Arial"/>
              </a:rPr>
              <a:t>bảo mật nền tảng</a:t>
            </a:r>
            <a:r>
              <a:rPr sz="1150" b="0" i="0">
                <a:solidFill>
                  <a:srgbClr val="2B3A47"/>
                </a:solidFill>
                <a:latin typeface="Arial"/>
              </a:rPr>
              <a:t>, với lập luận rằng thông tin như vậy </a:t>
            </a:r>
            <a:r>
              <a:rPr sz="1150" b="1" i="0">
                <a:solidFill>
                  <a:srgbClr val="A86A00"/>
                </a:solidFill>
                <a:latin typeface="Arial"/>
              </a:rPr>
              <a:t>có thể mang lại lợi thế cho tin tặc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→ Tuy nhiên, </a:t>
            </a:r>
            <a:r>
              <a:rPr sz="1150" b="1" i="0">
                <a:solidFill>
                  <a:srgbClr val="A86A00"/>
                </a:solidFill>
                <a:latin typeface="Arial"/>
              </a:rPr>
              <a:t>khách hàng doanh nghiệp nên đòi hỏi sự minh bạch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từ các CSP và </a:t>
            </a:r>
            <a:r>
              <a:rPr sz="1150" b="1" i="0">
                <a:solidFill>
                  <a:srgbClr val="A86A00"/>
                </a:solidFill>
                <a:latin typeface="Arial"/>
              </a:rPr>
              <a:t>tìm kiếm thông tin cần thiết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để thực hiện đánh giá rủi ro và quản lý bảo mật liên tục.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Chương 11 · Bảo mật đám mây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77724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11.4 BẢO MẬT ỨNG DỤNG PAAS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57784"/>
            <a:ext cx="10783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2D4E"/>
                </a:solidFill>
                <a:latin typeface="Arial"/>
              </a:rPr>
              <a:t>Kiểm soát truy cập · Gia cố hệ điều hành · SSO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15568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353312"/>
            <a:ext cx="3478682" cy="4645152"/>
          </a:xfrm>
          <a:prstGeom prst="roundRect">
            <a:avLst>
              <a:gd name="adj" fmla="val 5500"/>
            </a:avLst>
          </a:prstGeom>
          <a:solidFill>
            <a:srgbClr val="EAF2F9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517904"/>
            <a:ext cx="3149498" cy="2251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2D4E"/>
                </a:solidFill>
                <a:latin typeface="Arial"/>
              </a:rPr>
              <a:t>① Quản lý kiểm soát truy cập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5370"/>
            <a:ext cx="3149498" cy="15079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Bao trùm </a:t>
            </a:r>
            <a:r>
              <a:rPr sz="1100" b="1" i="0">
                <a:solidFill>
                  <a:srgbClr val="1F6FB2"/>
                </a:solidFill>
                <a:latin typeface="Arial"/>
              </a:rPr>
              <a:t>người dùng thường</a:t>
            </a:r>
            <a:r>
              <a:rPr sz="1100" b="0" i="0">
                <a:solidFill>
                  <a:srgbClr val="2B3A47"/>
                </a:solidFill>
                <a:latin typeface="Arial"/>
              </a:rPr>
              <a:t> và cả </a:t>
            </a:r>
            <a:r>
              <a:rPr sz="1100" b="1" i="0">
                <a:solidFill>
                  <a:srgbClr val="1F6FB2"/>
                </a:solidFill>
                <a:latin typeface="Arial"/>
              </a:rPr>
              <a:t>quản trị viên hệ thống có đặc quyền</a:t>
            </a:r>
            <a:r>
              <a:rPr sz="1100" b="0" i="0">
                <a:solidFill>
                  <a:srgbClr val="2B3A47"/>
                </a:solidFill>
                <a:latin typeface="Arial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Cần giải quyết bốn câu hỏi: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  • </a:t>
            </a:r>
            <a:r>
              <a:rPr sz="1100" b="1" i="0">
                <a:solidFill>
                  <a:srgbClr val="1F6FB2"/>
                </a:solidFill>
                <a:latin typeface="Arial"/>
              </a:rPr>
              <a:t>Gán quyền hạn (entitlement)</a:t>
            </a:r>
            <a:r>
              <a:rPr sz="1100" b="0" i="0">
                <a:solidFill>
                  <a:srgbClr val="2B3A47"/>
                </a:solidFill>
                <a:latin typeface="Arial"/>
              </a:rPr>
              <a:t> cho người dùng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  • Gán quyền </a:t>
            </a:r>
            <a:r>
              <a:rPr sz="1100" b="1" i="0">
                <a:solidFill>
                  <a:srgbClr val="1F6FB2"/>
                </a:solidFill>
                <a:latin typeface="Arial"/>
              </a:rPr>
              <a:t>dựa trên chức năng công việc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  • </a:t>
            </a:r>
            <a:r>
              <a:rPr sz="1100" b="1" i="0">
                <a:solidFill>
                  <a:srgbClr val="1F6FB2"/>
                </a:solidFill>
                <a:latin typeface="Arial"/>
              </a:rPr>
              <a:t>Phương thức và mức độ mạnh</a:t>
            </a:r>
            <a:r>
              <a:rPr sz="1100" b="0" i="0">
                <a:solidFill>
                  <a:srgbClr val="2B3A47"/>
                </a:solidFill>
                <a:latin typeface="Arial"/>
              </a:rPr>
              <a:t> của xác thực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  • </a:t>
            </a:r>
            <a:r>
              <a:rPr sz="1100" b="1" i="0">
                <a:solidFill>
                  <a:srgbClr val="1F6FB2"/>
                </a:solidFill>
                <a:latin typeface="Arial"/>
              </a:rPr>
              <a:t>Kiểm toán và báo cáo</a:t>
            </a:r>
            <a:r>
              <a:rPr sz="1100" b="0" i="0">
                <a:solidFill>
                  <a:srgbClr val="2B3A47"/>
                </a:solidFill>
                <a:latin typeface="Arial"/>
              </a:rPr>
              <a:t> để xác minh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6506" y="1353312"/>
            <a:ext cx="3478682" cy="4645152"/>
          </a:xfrm>
          <a:prstGeom prst="roundRect">
            <a:avLst>
              <a:gd name="adj" fmla="val 5500"/>
            </a:avLst>
          </a:prstGeom>
          <a:solidFill>
            <a:srgbClr val="FBEDEB"/>
          </a:solidFill>
          <a:ln w="12700">
            <a:solidFill>
              <a:srgbClr val="EE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21098" y="1517904"/>
            <a:ext cx="3149498" cy="2251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B8342A"/>
                </a:solidFill>
                <a:latin typeface="Arial"/>
              </a:rPr>
              <a:t>② Gia cố hệ điều hành máy chủ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1098" y="1825370"/>
            <a:ext cx="3149498" cy="9370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Lỗ hổng trong </a:t>
            </a:r>
            <a:r>
              <a:rPr sz="1100" b="1" i="0">
                <a:solidFill>
                  <a:srgbClr val="B8342A"/>
                </a:solidFill>
                <a:latin typeface="Arial"/>
              </a:rPr>
              <a:t>hệ điều hành máy chủ (host)</a:t>
            </a:r>
            <a:r>
              <a:rPr sz="1100" b="0" i="0">
                <a:solidFill>
                  <a:srgbClr val="2B3A47"/>
                </a:solidFill>
                <a:latin typeface="Arial"/>
              </a:rPr>
              <a:t> có thể </a:t>
            </a:r>
            <a:r>
              <a:rPr sz="1100" b="1" i="0">
                <a:solidFill>
                  <a:srgbClr val="B8342A"/>
                </a:solidFill>
                <a:latin typeface="Arial"/>
              </a:rPr>
              <a:t>lan ngược lên hệ điều hành của máy ảo</a:t>
            </a:r>
            <a:r>
              <a:rPr sz="1100" b="0" i="0">
                <a:solidFill>
                  <a:srgbClr val="2B3A47"/>
                </a:solidFill>
                <a:latin typeface="Arial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Xâm phạm VM → chỉ hỏng </a:t>
            </a:r>
            <a:r>
              <a:rPr sz="1100" b="1" i="0">
                <a:solidFill>
                  <a:srgbClr val="B8342A"/>
                </a:solidFill>
                <a:latin typeface="Arial"/>
              </a:rPr>
              <a:t>miền khách</a:t>
            </a:r>
            <a:r>
              <a:rPr sz="1100" b="0" i="0">
                <a:solidFill>
                  <a:srgbClr val="2B3A47"/>
                </a:solidFill>
                <a:latin typeface="Arial"/>
              </a:rPr>
              <a:t>. Xâm phạm </a:t>
            </a:r>
            <a:r>
              <a:rPr sz="1100" b="1" i="0">
                <a:solidFill>
                  <a:srgbClr val="B8342A"/>
                </a:solidFill>
                <a:latin typeface="Arial"/>
              </a:rPr>
              <a:t>host</a:t>
            </a:r>
            <a:r>
              <a:rPr sz="1100" b="0" i="0">
                <a:solidFill>
                  <a:srgbClr val="2B3A47"/>
                </a:solidFill>
                <a:latin typeface="Arial"/>
              </a:rPr>
              <a:t> → kẻ xâm nhập </a:t>
            </a:r>
            <a:r>
              <a:rPr sz="1100" b="1" i="0">
                <a:solidFill>
                  <a:srgbClr val="B8342A"/>
                </a:solidFill>
                <a:latin typeface="Arial"/>
              </a:rPr>
              <a:t>truy cập được tất cả dịch vụ trên tất cả máy ảo</a:t>
            </a:r>
            <a:r>
              <a:rPr sz="1100" b="0" i="0">
                <a:solidFill>
                  <a:srgbClr val="2B3A47"/>
                </a:solidFill>
                <a:latin typeface="Arial"/>
              </a:rPr>
              <a:t> do máy đó lưu trữ.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098" y="319582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342A"/>
                </a:solidFill>
                <a:latin typeface="Arial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5690" y="3200400"/>
            <a:ext cx="2984906" cy="345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D4E"/>
                </a:solidFill>
                <a:latin typeface="Arial"/>
              </a:rPr>
              <a:t>Mật khẩu mạnh</a:t>
            </a:r>
            <a:r>
              <a:rPr sz="1050" b="0" i="0">
                <a:solidFill>
                  <a:srgbClr val="2B3A47"/>
                </a:solidFill>
                <a:latin typeface="Arial"/>
              </a:rPr>
              <a:t>, dài, khó đoán, kết hợp chữ – số – ký hiệu, </a:t>
            </a:r>
            <a:r>
              <a:rPr sz="1050" b="1" i="0">
                <a:solidFill>
                  <a:srgbClr val="0E2D4E"/>
                </a:solidFill>
                <a:latin typeface="Arial"/>
              </a:rPr>
              <a:t>thay đổi thường xuyên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098" y="3643376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342A"/>
                </a:solidFill>
                <a:latin typeface="Arial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5690" y="3647948"/>
            <a:ext cx="2984906" cy="345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D4E"/>
                </a:solidFill>
                <a:latin typeface="Arial"/>
              </a:rPr>
              <a:t>Vô hiệu hóa dịch vụ không cần thiết</a:t>
            </a:r>
            <a:r>
              <a:rPr sz="1050" b="0" i="0">
                <a:solidFill>
                  <a:srgbClr val="2B3A47"/>
                </a:solidFill>
                <a:latin typeface="Arial"/>
              </a:rPr>
              <a:t>, đặc biệt là dịch vụ mạng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1098" y="4090924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342A"/>
                </a:solidFill>
                <a:latin typeface="Arial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5690" y="4095496"/>
            <a:ext cx="2984906" cy="345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D4E"/>
                </a:solidFill>
                <a:latin typeface="Arial"/>
              </a:rPr>
              <a:t>Yêu cầu xác thực đầy đủ</a:t>
            </a:r>
            <a:r>
              <a:rPr sz="1050" b="0" i="0">
                <a:solidFill>
                  <a:srgbClr val="2B3A47"/>
                </a:solidFill>
                <a:latin typeface="Arial"/>
              </a:rPr>
              <a:t> cho việc kiểm soát truy cập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098" y="4538472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342A"/>
                </a:solidFill>
                <a:latin typeface="Arial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5690" y="4543044"/>
            <a:ext cx="2984906" cy="191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D4E"/>
                </a:solidFill>
                <a:latin typeface="Arial"/>
              </a:rPr>
              <a:t>Đặt tường lửa riêng lẻ</a:t>
            </a:r>
            <a:r>
              <a:rPr sz="1050" b="0" i="0">
                <a:solidFill>
                  <a:srgbClr val="2B3A47"/>
                </a:solidFill>
                <a:latin typeface="Arial"/>
              </a:rPr>
              <a:t> cho máy chủ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1098" y="4831334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342A"/>
                </a:solidFill>
                <a:latin typeface="Arial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5690" y="4835906"/>
            <a:ext cx="2984906" cy="345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D4E"/>
                </a:solidFill>
                <a:latin typeface="Arial"/>
              </a:rPr>
              <a:t>Vá lỗi và cập nhật thường xuyên</a:t>
            </a:r>
            <a:r>
              <a:rPr sz="1050" b="0" i="0">
                <a:solidFill>
                  <a:srgbClr val="2B3A47"/>
                </a:solidFill>
                <a:latin typeface="Arial"/>
              </a:rPr>
              <a:t>, sau khi kiểm thử ngoài môi trường sản xuất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46084" y="1353312"/>
            <a:ext cx="3478682" cy="4645152"/>
          </a:xfrm>
          <a:prstGeom prst="roundRect">
            <a:avLst>
              <a:gd name="adj" fmla="val 55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10676" y="1517904"/>
            <a:ext cx="3149498" cy="2251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2D4E"/>
                </a:solidFill>
                <a:latin typeface="Arial"/>
              </a:rPr>
              <a:t>③ Đăng nhập một lần (SSO)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0676" y="1825370"/>
            <a:ext cx="3149498" cy="3182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Người dùng cung cấp </a:t>
            </a:r>
            <a:r>
              <a:rPr sz="1100" b="1" i="0">
                <a:solidFill>
                  <a:srgbClr val="1F6FB2"/>
                </a:solidFill>
                <a:latin typeface="Arial"/>
              </a:rPr>
              <a:t>một ID và mật khẩu cho mỗi phiên làm việc</a:t>
            </a:r>
            <a:r>
              <a:rPr sz="1100" b="0" i="0">
                <a:solidFill>
                  <a:srgbClr val="2B3A47"/>
                </a:solidFill>
                <a:latin typeface="Arial"/>
              </a:rPr>
              <a:t>, sau đó </a:t>
            </a:r>
            <a:r>
              <a:rPr sz="1100" b="1" i="0">
                <a:solidFill>
                  <a:srgbClr val="1F6FB2"/>
                </a:solidFill>
                <a:latin typeface="Arial"/>
              </a:rPr>
              <a:t>được tự động đăng nhập vào tất cả các ứng dụng cần thiết</a:t>
            </a:r>
            <a:r>
              <a:rPr sz="1100" b="0" i="0">
                <a:solidFill>
                  <a:srgbClr val="2B3A47"/>
                </a:solidFill>
                <a:latin typeface="Arial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Để bảo mật SSO, </a:t>
            </a:r>
            <a:r>
              <a:rPr sz="1100" b="1" i="0">
                <a:solidFill>
                  <a:srgbClr val="1F6FB2"/>
                </a:solidFill>
                <a:latin typeface="Arial"/>
              </a:rPr>
              <a:t>mật khẩu không được lưu trữ hoặc truyền đi ở dạng rõ</a:t>
            </a:r>
            <a:r>
              <a:rPr sz="1100" b="0" i="0">
                <a:solidFill>
                  <a:srgbClr val="2B3A47"/>
                </a:solidFill>
                <a:latin typeface="Arial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Ưu điểm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  • Sử dụng </a:t>
            </a:r>
            <a:r>
              <a:rPr sz="1100" b="1" i="0">
                <a:solidFill>
                  <a:srgbClr val="1F6FB2"/>
                </a:solidFill>
                <a:latin typeface="Arial"/>
              </a:rPr>
              <a:t>mật khẩu mạnh hơn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  • </a:t>
            </a:r>
            <a:r>
              <a:rPr sz="1100" b="1" i="0">
                <a:solidFill>
                  <a:srgbClr val="1F6FB2"/>
                </a:solidFill>
                <a:latin typeface="Arial"/>
              </a:rPr>
              <a:t>Quản trị dễ dàng hơn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  • </a:t>
            </a:r>
            <a:r>
              <a:rPr sz="1100" b="1" i="0">
                <a:solidFill>
                  <a:srgbClr val="1F6FB2"/>
                </a:solidFill>
                <a:latin typeface="Arial"/>
              </a:rPr>
              <a:t>Ít thời gian hơn</a:t>
            </a:r>
            <a:r>
              <a:rPr sz="1100" b="0" i="0">
                <a:solidFill>
                  <a:srgbClr val="2B3A47"/>
                </a:solidFill>
                <a:latin typeface="Arial"/>
              </a:rPr>
              <a:t> để truy cập tài nguyên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Nhược điểm lớn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  • Một khi đã qua </a:t>
            </a:r>
            <a:r>
              <a:rPr sz="1100" b="1" i="0">
                <a:solidFill>
                  <a:srgbClr val="1F6FB2"/>
                </a:solidFill>
                <a:latin typeface="Arial"/>
              </a:rPr>
              <a:t>lần đăng nhập ban đầu</a:t>
            </a:r>
            <a:r>
              <a:rPr sz="1100" b="0" i="0">
                <a:solidFill>
                  <a:srgbClr val="2B3A47"/>
                </a:solidFill>
                <a:latin typeface="Arial"/>
              </a:rPr>
              <a:t>, người dùng có thể </a:t>
            </a:r>
            <a:r>
              <a:rPr sz="1100" b="1" i="0">
                <a:solidFill>
                  <a:srgbClr val="1F6FB2"/>
                </a:solidFill>
                <a:latin typeface="Arial"/>
              </a:rPr>
              <a:t>tự do đi lại trong các tài nguyên mạng mà không có bất kỳ hạn chế nào</a:t>
            </a:r>
            <a:r>
              <a:rPr sz="1100" b="0" i="0">
                <a:solidFill>
                  <a:srgbClr val="2B3A47"/>
                </a:solidFill>
                <a:latin typeface="Arial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Ví dụ:</a:t>
            </a:r>
            <a:r>
              <a:rPr sz="1100" b="0" i="0">
                <a:solidFill>
                  <a:srgbClr val="2B3A47"/>
                </a:solidFill>
                <a:latin typeface="Arial"/>
              </a:rPr>
              <a:t> đăng nhập Gmail → tự động có quyền truy cập </a:t>
            </a:r>
            <a:r>
              <a:rPr sz="1100" b="1" i="0">
                <a:solidFill>
                  <a:srgbClr val="1F6FB2"/>
                </a:solidFill>
                <a:latin typeface="Arial"/>
              </a:rPr>
              <a:t>YouTube, Google Drive, Google Photos</a:t>
            </a:r>
            <a:r>
              <a:rPr sz="1100" b="0" i="0">
                <a:solidFill>
                  <a:srgbClr val="2B3A47"/>
                </a:solidFill>
                <a:latin typeface="Arial"/>
              </a:rPr>
              <a:t> và các sản phẩm khác của Google.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Chương 11 · Bảo mật đám mây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77724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11.5 BẢO MẬT ỨNG DỤNG SAAS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57784"/>
            <a:ext cx="10783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2D4E"/>
                </a:solidFill>
                <a:latin typeface="Arial"/>
              </a:rPr>
              <a:t>Nhà cung cấp quản lý toàn bộ — khách hàng còn lại gì?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15568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353312"/>
            <a:ext cx="5323179" cy="1883664"/>
          </a:xfrm>
          <a:prstGeom prst="roundRect">
            <a:avLst>
              <a:gd name="adj" fmla="val 5500"/>
            </a:avLst>
          </a:prstGeom>
          <a:solidFill>
            <a:srgbClr val="EAF2F9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517904"/>
            <a:ext cx="4993995" cy="232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2D4E"/>
                </a:solidFill>
                <a:latin typeface="Arial"/>
              </a:rPr>
              <a:t>Phân chia trách nhiệm trong SaaS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32355"/>
            <a:ext cx="4993995" cy="1159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Mô hình SaaS quy định nhà cung cấp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quản lý toàn bộ bộ ứng dụng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được chuyển giao tới người dùng →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nhà cung cấp chịu trách nhiệm chính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về bảo mật các ứng dụng và thành phần mà họ cung cấp.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Khách hàng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thường chịu trách nhiệm về các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chức năng bảo mật vận hành</a:t>
            </a:r>
            <a:r>
              <a:rPr sz="1150" b="0" i="0">
                <a:solidFill>
                  <a:srgbClr val="2B3A47"/>
                </a:solidFill>
                <a:latin typeface="Arial"/>
              </a:rPr>
              <a:t>: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quản lý người dùng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và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quản lý truy cập</a:t>
            </a:r>
            <a:r>
              <a:rPr sz="1150" b="0" i="0">
                <a:solidFill>
                  <a:srgbClr val="2B3A47"/>
                </a:solidFill>
                <a:latin typeface="Arial"/>
              </a:rPr>
              <a:t>, ở mức độ được nhà cung cấp hỗ trợ.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1587" y="1353312"/>
            <a:ext cx="5323179" cy="1883664"/>
          </a:xfrm>
          <a:prstGeom prst="roundRect">
            <a:avLst>
              <a:gd name="adj" fmla="val 55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66179" y="1517904"/>
            <a:ext cx="4993995" cy="232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2D4E"/>
                </a:solidFill>
                <a:latin typeface="Arial"/>
              </a:rPr>
              <a:t>Cần yêu cầu thông tin gì từ nhà cung cấp?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6179" y="1832355"/>
            <a:ext cx="4993995" cy="814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Đây là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thông lệ phổ biến</a:t>
            </a:r>
            <a:r>
              <a:rPr sz="1150" b="0" i="0">
                <a:solidFill>
                  <a:srgbClr val="2B3A47"/>
                </a:solidFill>
                <a:latin typeface="Arial"/>
              </a:rPr>
              <a:t>: khách hàng yêu cầu thông tin liên quan đến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thực hành bảo mật của nhà cung cấp</a:t>
            </a:r>
            <a:r>
              <a:rPr sz="1150" b="0" i="0">
                <a:solidFill>
                  <a:srgbClr val="2B3A47"/>
                </a:solidFill>
                <a:latin typeface="Arial"/>
              </a:rPr>
              <a:t>, bao trùm: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Thiết kế · Kiến trúc · Phát triển · Kiểm thử bảo mật ứng dụng hộp đen và hộp trắng · Quản lý phát hành.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383280"/>
            <a:ext cx="11057839" cy="1417320"/>
          </a:xfrm>
          <a:prstGeom prst="roundRect">
            <a:avLst>
              <a:gd name="adj" fmla="val 55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3547872"/>
            <a:ext cx="10728655" cy="2251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2D4E"/>
                </a:solidFill>
                <a:latin typeface="Arial"/>
              </a:rPr>
              <a:t>Khi kiểm soát chi tiết (fine-grained) không đủ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55339"/>
            <a:ext cx="10728655" cy="6424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Một số ứng dụng SaaS như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Google Apps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có tính năng tích hợp sẵn để người dùng cuối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gán quyền đọc và ghi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cho người dùng khác.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Tuy nhiên các tính năng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quản lý đặc quyền này không có khả năng cấp phát chi tiết ở mức mịn (fine-grained)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→ có thể tạo ra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điểm yếu không phù hợp với tiêu chuẩn kiểm soát truy cập của tổ chức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919472"/>
            <a:ext cx="11057839" cy="1170432"/>
          </a:xfrm>
          <a:prstGeom prst="roundRect">
            <a:avLst>
              <a:gd name="adj" fmla="val 5500"/>
            </a:avLst>
          </a:prstGeom>
          <a:solidFill>
            <a:srgbClr val="FBEDEB"/>
          </a:solidFill>
          <a:ln w="12700">
            <a:solidFill>
              <a:srgbClr val="EE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1520" y="5084064"/>
            <a:ext cx="10728655" cy="2251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B8342A"/>
                </a:solidFill>
                <a:latin typeface="Arial"/>
              </a:rPr>
              <a:t>Ví dụ: hình ảnh nhúng trong Google Docs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91530"/>
            <a:ext cx="10728655" cy="3812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Các </a:t>
            </a:r>
            <a:r>
              <a:rPr sz="1150" b="1" i="0">
                <a:solidFill>
                  <a:srgbClr val="B8342A"/>
                </a:solidFill>
                <a:latin typeface="Arial"/>
              </a:rPr>
              <a:t>hình ảnh được nhúng và lưu trữ trong Google Docs không được bảo vệ theo cùng cách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mà tài liệu được bảo vệ bằng các biện pháp kiểm soát chia sẻ. → Nếu bạn từng chia sẻ một tài liệu chứa hình ảnh nhúng, </a:t>
            </a:r>
            <a:r>
              <a:rPr sz="1150" b="1" i="0">
                <a:solidFill>
                  <a:srgbClr val="B8342A"/>
                </a:solidFill>
                <a:latin typeface="Arial"/>
              </a:rPr>
              <a:t>người kia vẫn xem được những hình ảnh đó ngay cả sau khi bạn đã ngừng chia sẻ tài liệu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Chương 11 · Bảo mật đám mây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77724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11.5.1 LƯỢC ĐỒ FHE CHO BẢO MẬT SAAS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57784"/>
            <a:ext cx="10783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2D4E"/>
                </a:solidFill>
                <a:latin typeface="Arial"/>
              </a:rPr>
              <a:t>Ví dụ minh họa bằng số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15568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353312"/>
            <a:ext cx="11057839" cy="932688"/>
          </a:xfrm>
          <a:prstGeom prst="roundRect">
            <a:avLst>
              <a:gd name="adj" fmla="val 5500"/>
            </a:avLst>
          </a:prstGeom>
          <a:solidFill>
            <a:srgbClr val="EAF2F9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517904"/>
            <a:ext cx="10728655" cy="598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A47"/>
                </a:solidFill>
                <a:latin typeface="Arial"/>
              </a:rPr>
              <a:t>Không giống </a:t>
            </a:r>
            <a:r>
              <a:rPr sz="1250" b="1" i="0">
                <a:solidFill>
                  <a:srgbClr val="1F6FB2"/>
                </a:solidFill>
                <a:latin typeface="Arial"/>
              </a:rPr>
              <a:t>mã hóa đồng cấu bộ phận (partially homomorphic)</a:t>
            </a:r>
            <a:r>
              <a:rPr sz="1250" b="0" i="0">
                <a:solidFill>
                  <a:srgbClr val="2B3A47"/>
                </a:solidFill>
                <a:latin typeface="Arial"/>
              </a:rPr>
              <a:t> vốn chỉ cho phép </a:t>
            </a:r>
            <a:r>
              <a:rPr sz="1250" b="1" i="0">
                <a:solidFill>
                  <a:srgbClr val="1F6FB2"/>
                </a:solidFill>
                <a:latin typeface="Arial"/>
              </a:rPr>
              <a:t>một số phép toán</a:t>
            </a:r>
            <a:r>
              <a:rPr sz="1250" b="0" i="0">
                <a:solidFill>
                  <a:srgbClr val="2B3A47"/>
                </a:solidFill>
                <a:latin typeface="Arial"/>
              </a:rPr>
              <a:t> trên bản mã (phép cộng, phép nhân, hàm bậc hai...), </a:t>
            </a:r>
            <a:r>
              <a:rPr sz="1250" b="1" i="0">
                <a:solidFill>
                  <a:srgbClr val="1F6FB2"/>
                </a:solidFill>
                <a:latin typeface="Arial"/>
              </a:rPr>
              <a:t>FHE hỗ trợ việc tính toán tùy ý trên bản mã</a:t>
            </a:r>
            <a:r>
              <a:rPr sz="1250" b="0" i="0">
                <a:solidFill>
                  <a:srgbClr val="2B3A47"/>
                </a:solidFill>
                <a:latin typeface="Arial"/>
              </a:rPr>
              <a:t>. Chương trình </a:t>
            </a:r>
            <a:r>
              <a:rPr sz="1250" b="1" i="0">
                <a:solidFill>
                  <a:srgbClr val="1F6FB2"/>
                </a:solidFill>
                <a:latin typeface="Arial"/>
              </a:rPr>
              <a:t>không bao giờ cần giải mã đầu vào</a:t>
            </a:r>
            <a:r>
              <a:rPr sz="1250" b="0" i="0">
                <a:solidFill>
                  <a:srgbClr val="2B3A47"/>
                </a:solidFill>
                <a:latin typeface="Arial"/>
              </a:rPr>
              <a:t> → có thể </a:t>
            </a:r>
            <a:r>
              <a:rPr sz="1250" b="1" i="0">
                <a:solidFill>
                  <a:srgbClr val="1F6FB2"/>
                </a:solidFill>
                <a:latin typeface="Arial"/>
              </a:rPr>
              <a:t>chạy bởi một bên không đáng tin cậy mà không tiết lộ đầu vào và trạng thái nội bộ</a:t>
            </a:r>
            <a:r>
              <a:rPr sz="12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45059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7A57"/>
                </a:solidFill>
                <a:latin typeface="Arial"/>
              </a:rPr>
              <a:t>VÍ DỤ: DOANH NGHIỆP B VÀ TẬP DỮ LIỆU RẤT QUAN TRỌNG (VIDS)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035808"/>
            <a:ext cx="2558719" cy="2880360"/>
          </a:xfrm>
          <a:prstGeom prst="roundRect">
            <a:avLst>
              <a:gd name="adj" fmla="val 5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Oval 9"/>
          <p:cNvSpPr/>
          <p:nvPr/>
        </p:nvSpPr>
        <p:spPr>
          <a:xfrm>
            <a:off x="749808" y="3218688"/>
            <a:ext cx="402336" cy="402336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3273552"/>
            <a:ext cx="16808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2D4E"/>
                </a:solidFill>
                <a:latin typeface="Arial"/>
              </a:rPr>
              <a:t>Mã hóa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767328"/>
            <a:ext cx="2192959" cy="5029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2D4E"/>
                </a:solidFill>
                <a:latin typeface="Arial"/>
              </a:rPr>
              <a:t>5, 10  →  10,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434840"/>
            <a:ext cx="2192959" cy="79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VIDS gồm các số </a:t>
            </a:r>
            <a:r>
              <a:rPr sz="1100" b="1" i="0">
                <a:solidFill>
                  <a:srgbClr val="0E2D4E"/>
                </a:solidFill>
                <a:latin typeface="Arial"/>
              </a:rPr>
              <a:t>5</a:t>
            </a:r>
            <a:r>
              <a:rPr sz="1100" b="0" i="0">
                <a:solidFill>
                  <a:srgbClr val="2B3A47"/>
                </a:solidFill>
                <a:latin typeface="Arial"/>
              </a:rPr>
              <a:t> và </a:t>
            </a:r>
            <a:r>
              <a:rPr sz="1100" b="1" i="0">
                <a:solidFill>
                  <a:srgbClr val="0E2D4E"/>
                </a:solidFill>
                <a:latin typeface="Arial"/>
              </a:rPr>
              <a:t>10</a:t>
            </a:r>
            <a:r>
              <a:rPr sz="1100" b="0" i="0">
                <a:solidFill>
                  <a:srgbClr val="2B3A47"/>
                </a:solidFill>
                <a:latin typeface="Arial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Doanh nghiệp B </a:t>
            </a:r>
            <a:r>
              <a:rPr sz="1100" b="1" i="0">
                <a:solidFill>
                  <a:srgbClr val="0E2D4E"/>
                </a:solidFill>
                <a:latin typeface="Arial"/>
              </a:rPr>
              <a:t>nhân mỗi phần tử với 2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→ tập mới: </a:t>
            </a:r>
            <a:r>
              <a:rPr sz="1100" b="1" i="0">
                <a:solidFill>
                  <a:srgbClr val="0E2D4E"/>
                </a:solidFill>
                <a:latin typeface="Arial"/>
              </a:rPr>
              <a:t>10</a:t>
            </a:r>
            <a:r>
              <a:rPr sz="1100" b="0" i="0">
                <a:solidFill>
                  <a:srgbClr val="2B3A47"/>
                </a:solidFill>
                <a:latin typeface="Arial"/>
              </a:rPr>
              <a:t> và </a:t>
            </a:r>
            <a:r>
              <a:rPr sz="1100" b="1" i="0">
                <a:solidFill>
                  <a:srgbClr val="0E2D4E"/>
                </a:solidFill>
                <a:latin typeface="Arial"/>
              </a:rPr>
              <a:t>20</a:t>
            </a:r>
            <a:r>
              <a:rPr sz="110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43935" y="3950208"/>
            <a:ext cx="219456" cy="146304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3399967" y="3035808"/>
            <a:ext cx="2558719" cy="2880360"/>
          </a:xfrm>
          <a:prstGeom prst="roundRect">
            <a:avLst>
              <a:gd name="adj" fmla="val 5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Oval 15"/>
          <p:cNvSpPr/>
          <p:nvPr/>
        </p:nvSpPr>
        <p:spPr>
          <a:xfrm>
            <a:off x="3582847" y="3218688"/>
            <a:ext cx="402336" cy="402336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4911" y="3273552"/>
            <a:ext cx="16808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2D4E"/>
                </a:solidFill>
                <a:latin typeface="Arial"/>
              </a:rPr>
              <a:t>Lưu trữ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82847" y="3767328"/>
            <a:ext cx="2192959" cy="5029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2D4E"/>
                </a:solidFill>
                <a:latin typeface="Arial"/>
              </a:rPr>
              <a:t>☁  10, 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2847" y="4434840"/>
            <a:ext cx="2192959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Gửi tập </a:t>
            </a:r>
            <a:r>
              <a:rPr sz="1100" b="1" i="0">
                <a:solidFill>
                  <a:srgbClr val="0E2D4E"/>
                </a:solidFill>
                <a:latin typeface="Arial"/>
              </a:rPr>
              <a:t>đã mã hóa</a:t>
            </a:r>
            <a:r>
              <a:rPr sz="1100" b="0" i="0">
                <a:solidFill>
                  <a:srgbClr val="2B3A47"/>
                </a:solidFill>
                <a:latin typeface="Arial"/>
              </a:rPr>
              <a:t> lên Đám mây để </a:t>
            </a:r>
            <a:r>
              <a:rPr sz="1100" b="1" i="0">
                <a:solidFill>
                  <a:srgbClr val="0E2D4E"/>
                </a:solidFill>
                <a:latin typeface="Arial"/>
              </a:rPr>
              <a:t>lưu trữ an toàn</a:t>
            </a:r>
            <a:r>
              <a:rPr sz="1100" b="0" i="0">
                <a:solidFill>
                  <a:srgbClr val="2B3A47"/>
                </a:solidFill>
                <a:latin typeface="Arial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Vài tháng sau, </a:t>
            </a:r>
            <a:r>
              <a:rPr sz="1100" b="1" i="0">
                <a:solidFill>
                  <a:srgbClr val="0E2D4E"/>
                </a:solidFill>
                <a:latin typeface="Arial"/>
              </a:rPr>
              <a:t>chính phủ yêu cầu tổng</a:t>
            </a:r>
            <a:r>
              <a:rPr sz="1100" b="0" i="0">
                <a:solidFill>
                  <a:srgbClr val="2B3A47"/>
                </a:solidFill>
                <a:latin typeface="Arial"/>
              </a:rPr>
              <a:t> các phần tử VIDS.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76975" y="3950208"/>
            <a:ext cx="219456" cy="146304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233007" y="3035808"/>
            <a:ext cx="2558719" cy="2880360"/>
          </a:xfrm>
          <a:prstGeom prst="roundRect">
            <a:avLst>
              <a:gd name="adj" fmla="val 5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Oval 21"/>
          <p:cNvSpPr/>
          <p:nvPr/>
        </p:nvSpPr>
        <p:spPr>
          <a:xfrm>
            <a:off x="6415887" y="3218688"/>
            <a:ext cx="402336" cy="402336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7951" y="3273552"/>
            <a:ext cx="16808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2D4E"/>
                </a:solidFill>
                <a:latin typeface="Arial"/>
              </a:rPr>
              <a:t>Tính toán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15887" y="3767328"/>
            <a:ext cx="2192959" cy="5029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2D4E"/>
                </a:solidFill>
                <a:latin typeface="Arial"/>
              </a:rPr>
              <a:t>10 + 20 = 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5887" y="4434840"/>
            <a:ext cx="2192959" cy="9116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Doanh nghiệp B </a:t>
            </a:r>
            <a:r>
              <a:rPr sz="1100" b="1" i="0">
                <a:solidFill>
                  <a:srgbClr val="0E2D4E"/>
                </a:solidFill>
                <a:latin typeface="Arial"/>
              </a:rPr>
              <a:t>rất bận</a:t>
            </a:r>
            <a:r>
              <a:rPr sz="1100" b="0" i="0">
                <a:solidFill>
                  <a:srgbClr val="2B3A47"/>
                </a:solidFill>
                <a:latin typeface="Arial"/>
              </a:rPr>
              <a:t> → yêu cầu </a:t>
            </a:r>
            <a:r>
              <a:rPr sz="1100" b="1" i="0">
                <a:solidFill>
                  <a:srgbClr val="0E2D4E"/>
                </a:solidFill>
                <a:latin typeface="Arial"/>
              </a:rPr>
              <a:t>nhà cung cấp Đám mây</a:t>
            </a:r>
            <a:r>
              <a:rPr sz="1100" b="0" i="0">
                <a:solidFill>
                  <a:srgbClr val="2B3A47"/>
                </a:solidFill>
                <a:latin typeface="Arial"/>
              </a:rPr>
              <a:t> thực hiện phép toán.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Nhà cung cấp </a:t>
            </a:r>
            <a:r>
              <a:rPr sz="1100" b="1" i="0">
                <a:solidFill>
                  <a:srgbClr val="0E2D4E"/>
                </a:solidFill>
                <a:latin typeface="Arial"/>
              </a:rPr>
              <a:t>chỉ có quyền truy cập vào dữ liệu đã mã hóa</a:t>
            </a:r>
            <a:r>
              <a:rPr sz="110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10015" y="3950208"/>
            <a:ext cx="219456" cy="146304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9066047" y="3035808"/>
            <a:ext cx="2558719" cy="2880360"/>
          </a:xfrm>
          <a:prstGeom prst="roundRect">
            <a:avLst>
              <a:gd name="adj" fmla="val 5000"/>
            </a:avLst>
          </a:prstGeom>
          <a:solidFill>
            <a:srgbClr val="E9F5F0"/>
          </a:solidFill>
          <a:ln w="12700">
            <a:solidFill>
              <a:srgbClr val="B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Oval 27"/>
          <p:cNvSpPr/>
          <p:nvPr/>
        </p:nvSpPr>
        <p:spPr>
          <a:xfrm>
            <a:off x="9248927" y="3218688"/>
            <a:ext cx="402336" cy="402336"/>
          </a:xfrm>
          <a:prstGeom prst="ellipse">
            <a:avLst/>
          </a:prstGeom>
          <a:solidFill>
            <a:srgbClr val="1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0991" y="3273552"/>
            <a:ext cx="16808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2D4E"/>
                </a:solidFill>
                <a:latin typeface="Arial"/>
              </a:rPr>
              <a:t>Giải mã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48927" y="3767328"/>
            <a:ext cx="2192959" cy="5029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B7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7A57"/>
                </a:solidFill>
                <a:latin typeface="Arial"/>
              </a:rPr>
              <a:t>30  →  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8927" y="4434840"/>
            <a:ext cx="2192959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Doanh nghiệp B </a:t>
            </a:r>
            <a:r>
              <a:rPr sz="1100" b="1" i="0">
                <a:solidFill>
                  <a:srgbClr val="0E2D4E"/>
                </a:solidFill>
                <a:latin typeface="Arial"/>
              </a:rPr>
              <a:t>giải mã câu trả lời</a:t>
            </a:r>
            <a:r>
              <a:rPr sz="1100" b="0" i="0">
                <a:solidFill>
                  <a:srgbClr val="2B3A47"/>
                </a:solidFill>
                <a:latin typeface="Arial"/>
              </a:rPr>
              <a:t> (chia 2) và </a:t>
            </a:r>
            <a:r>
              <a:rPr sz="1100" b="1" i="0">
                <a:solidFill>
                  <a:srgbClr val="0E2D4E"/>
                </a:solidFill>
                <a:latin typeface="Arial"/>
              </a:rPr>
              <a:t>cung cấp cho chính phủ</a:t>
            </a:r>
            <a:r>
              <a:rPr sz="1100" b="0" i="0">
                <a:solidFill>
                  <a:srgbClr val="2B3A47"/>
                </a:solidFill>
                <a:latin typeface="Arial"/>
              </a:rPr>
              <a:t> câu trả lời đã giải mã.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Chương 11 · Bảo mật đám mây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77724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11.5.1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57784"/>
            <a:ext cx="10783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2D4E"/>
                </a:solidFill>
                <a:latin typeface="Arial"/>
              </a:rPr>
              <a:t>Kiểm soát truy cập trong SaaS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15568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353312"/>
            <a:ext cx="5323179" cy="2926080"/>
          </a:xfrm>
          <a:prstGeom prst="roundRect">
            <a:avLst>
              <a:gd name="adj" fmla="val 55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517904"/>
            <a:ext cx="4993995" cy="2251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2D4E"/>
                </a:solidFill>
                <a:latin typeface="Arial"/>
              </a:rPr>
              <a:t>Kiểm soát truy cập MẠNG  →  vai trò suy giảm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5370"/>
            <a:ext cx="4993995" cy="1937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Người dùng truy cập dịch vụ Đám mây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từ bất kỳ máy chủ nào có kết nối Internet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→ kiểm soát truy cập dựa trên mạng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đóng vai trò ngày càng suy giảm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Lý do: kiểm soát truyền thống dựa trên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thuộc tính của máy chủ (host-based)</a:t>
            </a:r>
            <a:r>
              <a:rPr sz="1150" b="0" i="0">
                <a:solidFill>
                  <a:srgbClr val="2B3A47"/>
                </a:solidFill>
                <a:latin typeface="Arial"/>
              </a:rPr>
              <a:t>, mà điều này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hầu hết trường hợp là không thỏa đáng</a:t>
            </a:r>
            <a:r>
              <a:rPr sz="1150" b="0" i="0">
                <a:solidFill>
                  <a:srgbClr val="2B3A47"/>
                </a:solidFill>
                <a:latin typeface="Arial"/>
              </a:rPr>
              <a:t>,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không duy nhất giữa các người dùng</a:t>
            </a:r>
            <a:r>
              <a:rPr sz="1150" b="0" i="0">
                <a:solidFill>
                  <a:srgbClr val="2B3A47"/>
                </a:solidFill>
                <a:latin typeface="Arial"/>
              </a:rPr>
              <a:t>, và có thể gây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hạch toán không chính xác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Trong Đám mây, nó thể hiện dưới dạng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chính sách tường lửa Đám mây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tại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điểm vào và điểm ra</a:t>
            </a:r>
            <a:r>
              <a:rPr sz="1150" b="0" i="0">
                <a:solidFill>
                  <a:srgbClr val="2B3A47"/>
                </a:solidFill>
                <a:latin typeface="Arial"/>
              </a:rPr>
              <a:t>, dùng tham số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TCP/IP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tiêu chuẩn: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IP nguồn, cổng nguồn, IP đích, cổng đích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1587" y="1353312"/>
            <a:ext cx="5323179" cy="2926080"/>
          </a:xfrm>
          <a:prstGeom prst="roundRect">
            <a:avLst>
              <a:gd name="adj" fmla="val 5500"/>
            </a:avLst>
          </a:prstGeom>
          <a:solidFill>
            <a:srgbClr val="EAF2F9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66179" y="1517904"/>
            <a:ext cx="4993995" cy="2251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2D4E"/>
                </a:solidFill>
                <a:latin typeface="Arial"/>
              </a:rPr>
              <a:t>Kiểm soát truy cập NGƯỜI DÙNG  →  cần nhấn mạnh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6179" y="1825370"/>
            <a:ext cx="4993995" cy="1593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Ràng buộc chặt chẽ danh tính người dùng với tài nguyên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trong Đám mây → hỗ trợ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kiểm soát truy cập ở mức chi tiết mịn</a:t>
            </a:r>
            <a:r>
              <a:rPr sz="1150" b="0" i="0">
                <a:solidFill>
                  <a:srgbClr val="2B3A47"/>
                </a:solidFill>
                <a:latin typeface="Arial"/>
              </a:rPr>
              <a:t>,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hạch toán người dùng</a:t>
            </a:r>
            <a:r>
              <a:rPr sz="1150" b="0" i="0">
                <a:solidFill>
                  <a:srgbClr val="2B3A47"/>
                </a:solidFill>
                <a:latin typeface="Arial"/>
              </a:rPr>
              <a:t>,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tuân thủ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và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bảo vệ dữ liệu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Các biện pháp chủ chốt: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xác thực mạnh</a:t>
            </a:r>
            <a:r>
              <a:rPr sz="1150" b="0" i="0">
                <a:solidFill>
                  <a:srgbClr val="2B3A47"/>
                </a:solidFill>
                <a:latin typeface="Arial"/>
              </a:rPr>
              <a:t>,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đăng nhập một lần (SSO)</a:t>
            </a:r>
            <a:r>
              <a:rPr sz="1150" b="0" i="0">
                <a:solidFill>
                  <a:srgbClr val="2B3A47"/>
                </a:solidFill>
                <a:latin typeface="Arial"/>
              </a:rPr>
              <a:t>,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quản lý đặc quyền</a:t>
            </a:r>
            <a:r>
              <a:rPr sz="1150" b="0" i="0">
                <a:solidFill>
                  <a:srgbClr val="2B3A47"/>
                </a:solidFill>
                <a:latin typeface="Arial"/>
              </a:rPr>
              <a:t>,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ghi nhật ký và giám sát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Arial"/>
              </a:rPr>
              <a:t>ISO/IEC 27002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đã định nghĩa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sáu mục tiêu kiểm soát truy cập</a:t>
            </a:r>
            <a:r>
              <a:rPr sz="1150" b="0" i="0">
                <a:solidFill>
                  <a:srgbClr val="2B3A47"/>
                </a:solidFill>
                <a:latin typeface="Arial"/>
              </a:rPr>
              <a:t>, bao trùm kiểm soát truy cập của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người dùng cuối, người dùng đặc quyền, mạng, ứng dụng và thông tin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462272"/>
            <a:ext cx="11057839" cy="1051560"/>
          </a:xfrm>
          <a:prstGeom prst="roundRect">
            <a:avLst>
              <a:gd name="adj" fmla="val 55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4626864"/>
            <a:ext cx="10728655" cy="2251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2D4E"/>
                </a:solidFill>
                <a:latin typeface="Arial"/>
              </a:rPr>
              <a:t>Giám sát trên IaaS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34330"/>
            <a:ext cx="10728655" cy="3812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Tương tự việc giám sát dịch vụ SaaS, khách hàng đang lưu trữ ứng dụng trên nền tảng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IaaS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nên thực hiện các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bước bổ sung để giám sát tình trạng của ứng dụng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được lưu trữ. Ví dụ: lưu trữ ứng dụng thương mại điện tử trên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Amazon EC2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thì phải giám sát </a:t>
            </a:r>
            <a:r>
              <a:rPr sz="1150" b="1" i="0">
                <a:solidFill>
                  <a:srgbClr val="1F6FB2"/>
                </a:solidFill>
                <a:latin typeface="Arial"/>
              </a:rPr>
              <a:t>cả ứng dụng lẫn các thực thể máy chủ ảo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6692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E2D4E"/>
                </a:solidFill>
                <a:latin typeface="Arial"/>
              </a:rPr>
              <a:t>Kết luận: trong Đám mây, trọng tâm dịch chuyển từ </a:t>
            </a:r>
            <a:r>
              <a:rPr sz="1250" b="1" i="0">
                <a:solidFill>
                  <a:srgbClr val="1F6FB2"/>
                </a:solidFill>
                <a:latin typeface="Arial"/>
              </a:rPr>
              <a:t>“bạn đang ở đâu trong mạng”</a:t>
            </a:r>
            <a:r>
              <a:rPr sz="1250" b="0" i="0">
                <a:solidFill>
                  <a:srgbClr val="0E2D4E"/>
                </a:solidFill>
                <a:latin typeface="Arial"/>
              </a:rPr>
              <a:t> sang </a:t>
            </a:r>
            <a:r>
              <a:rPr sz="1250" b="1" i="0">
                <a:solidFill>
                  <a:srgbClr val="1F6FB2"/>
                </a:solidFill>
                <a:latin typeface="Arial"/>
              </a:rPr>
              <a:t>“bạn là ai”</a:t>
            </a:r>
            <a:r>
              <a:rPr sz="1250" b="0" i="0">
                <a:solidFill>
                  <a:srgbClr val="0E2D4E"/>
                </a:solidFill>
                <a:latin typeface="Arial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Chương 11 · Bảo mật đám mây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Oval 3"/>
          <p:cNvSpPr/>
          <p:nvPr/>
        </p:nvSpPr>
        <p:spPr>
          <a:xfrm>
            <a:off x="8899855" y="-1188720"/>
            <a:ext cx="4206240" cy="4206240"/>
          </a:xfrm>
          <a:prstGeom prst="ellipse">
            <a:avLst/>
          </a:prstGeom>
          <a:solidFill>
            <a:srgbClr val="17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Oval 4"/>
          <p:cNvSpPr/>
          <p:nvPr/>
        </p:nvSpPr>
        <p:spPr>
          <a:xfrm>
            <a:off x="10180015" y="4023360"/>
            <a:ext cx="3291840" cy="3291840"/>
          </a:xfrm>
          <a:prstGeom prst="ellipse">
            <a:avLst/>
          </a:prstGeom>
          <a:solidFill>
            <a:srgbClr val="17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D9BD3"/>
                </a:solidFill>
                <a:latin typeface="Arial"/>
              </a:rPr>
              <a:t>PHẦN IV  ·  MỤC 11.6 – 11.7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7863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Máy chủ ảo và
kiểm soát bảo mật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3767328"/>
            <a:ext cx="1691640" cy="0"/>
          </a:xfrm>
          <a:prstGeom prst="line">
            <a:avLst/>
          </a:prstGeom>
          <a:ln w="3175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51560" y="406908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DD3E6"/>
                </a:solidFill>
                <a:latin typeface="Arial"/>
              </a:rPr>
              <a:t>— Sáu khuyến nghị bảo mật máy chủ ảo trên nền tảng IaaS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37997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DD3E6"/>
                </a:solidFill>
                <a:latin typeface="Arial"/>
              </a:rPr>
              <a:t>— Bốn loại biện pháp kiểm soát bảo mật đám mây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690872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DD3E6"/>
                </a:solidFill>
                <a:latin typeface="Arial"/>
              </a:rPr>
              <a:t>— Tóm tắt chương và các ý cần nhớ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77724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11.6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57784"/>
            <a:ext cx="10783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2D4E"/>
                </a:solidFill>
                <a:latin typeface="Arial"/>
              </a:rPr>
              <a:t>Bảo mật máy chủ ảo (Securing Virtual Servers)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15568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353312"/>
            <a:ext cx="11057839" cy="868680"/>
          </a:xfrm>
          <a:prstGeom prst="roundRect">
            <a:avLst>
              <a:gd name="adj" fmla="val 5500"/>
            </a:avLst>
          </a:prstGeom>
          <a:solidFill>
            <a:srgbClr val="FBEDEB"/>
          </a:solidFill>
          <a:ln w="12700">
            <a:solidFill>
              <a:srgbClr val="EE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517904"/>
            <a:ext cx="10728655" cy="411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A47"/>
                </a:solidFill>
                <a:latin typeface="Arial"/>
              </a:rPr>
              <a:t>Sự đơn giản của việc </a:t>
            </a:r>
            <a:r>
              <a:rPr sz="1250" b="1" i="0">
                <a:solidFill>
                  <a:srgbClr val="B8342A"/>
                </a:solidFill>
                <a:latin typeface="Arial"/>
              </a:rPr>
              <a:t>tự cấp phát (self-provisioning)</a:t>
            </a:r>
            <a:r>
              <a:rPr sz="1250" b="0" i="0">
                <a:solidFill>
                  <a:srgbClr val="2B3A47"/>
                </a:solidFill>
                <a:latin typeface="Arial"/>
              </a:rPr>
              <a:t> máy chủ ảo mới trên nền tảng IaaS tạo ra rủi ro rằng </a:t>
            </a:r>
            <a:r>
              <a:rPr sz="1250" b="1" i="0">
                <a:solidFill>
                  <a:srgbClr val="B8342A"/>
                </a:solidFill>
                <a:latin typeface="Arial"/>
              </a:rPr>
              <a:t>những máy chủ ảo không an toàn sẽ được tạo ra</a:t>
            </a:r>
            <a:r>
              <a:rPr sz="1250" b="0" i="0">
                <a:solidFill>
                  <a:srgbClr val="2B3A47"/>
                </a:solidFill>
                <a:latin typeface="Arial"/>
              </a:rPr>
              <a:t>. → </a:t>
            </a:r>
            <a:r>
              <a:rPr sz="1250" b="1" i="0">
                <a:solidFill>
                  <a:srgbClr val="B8342A"/>
                </a:solidFill>
                <a:latin typeface="Arial"/>
              </a:rPr>
              <a:t>Cấu hình an toàn theo mặc định (secure-by-default)</a:t>
            </a:r>
            <a:r>
              <a:rPr sz="1250" b="0" i="0">
                <a:solidFill>
                  <a:srgbClr val="2B3A47"/>
                </a:solidFill>
                <a:latin typeface="Arial"/>
              </a:rPr>
              <a:t> cần </a:t>
            </a:r>
            <a:r>
              <a:rPr sz="1250" b="1" i="0">
                <a:solidFill>
                  <a:srgbClr val="B8342A"/>
                </a:solidFill>
                <a:latin typeface="Arial"/>
              </a:rPr>
              <a:t>bằng hoặc vượt qua các đường cơ sở (baseline) sẵn có của ngành</a:t>
            </a:r>
            <a:r>
              <a:rPr sz="12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395728"/>
            <a:ext cx="3503066" cy="169164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6928" y="2395728"/>
            <a:ext cx="64008" cy="16916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8096" y="2542032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6FB2"/>
                </a:solidFill>
                <a:latin typeface="Arial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23744"/>
            <a:ext cx="277154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D4E"/>
                </a:solidFill>
                <a:latin typeface="Arial"/>
              </a:rPr>
              <a:t>Dùng cấu hình an toàn theo mặc định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145536"/>
            <a:ext cx="3100730" cy="6659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A47"/>
                </a:solidFill>
                <a:latin typeface="Arial"/>
              </a:rPr>
              <a:t>Xây dựng </a:t>
            </a:r>
            <a:r>
              <a:rPr sz="1050" b="1" i="0">
                <a:solidFill>
                  <a:srgbClr val="1F6FB2"/>
                </a:solidFill>
                <a:latin typeface="Arial"/>
              </a:rPr>
              <a:t>ảnh VM tùy chỉnh</a:t>
            </a:r>
            <a:r>
              <a:rPr sz="1050" b="0" i="0">
                <a:solidFill>
                  <a:srgbClr val="2B3A47"/>
                </a:solidFill>
                <a:latin typeface="Arial"/>
              </a:rPr>
              <a:t> chỉ có </a:t>
            </a:r>
            <a:r>
              <a:rPr sz="1050" b="1" i="0">
                <a:solidFill>
                  <a:srgbClr val="1F6FB2"/>
                </a:solidFill>
                <a:latin typeface="Arial"/>
              </a:rPr>
              <a:t>những khả năng và dịch vụ cần thiết</a:t>
            </a:r>
            <a:r>
              <a:rPr sz="1050" b="0" i="0">
                <a:solidFill>
                  <a:srgbClr val="2B3A47"/>
                </a:solidFill>
                <a:latin typeface="Arial"/>
              </a:rPr>
              <a:t> để hỗ trợ ngăn xếp ứng dụng → </a:t>
            </a:r>
            <a:r>
              <a:rPr sz="1050" b="1" i="0">
                <a:solidFill>
                  <a:srgbClr val="1F6FB2"/>
                </a:solidFill>
                <a:latin typeface="Arial"/>
              </a:rPr>
              <a:t>giới hạn bề mặt tấn công</a:t>
            </a:r>
            <a:r>
              <a:rPr sz="1050" b="0" i="0">
                <a:solidFill>
                  <a:srgbClr val="2B3A47"/>
                </a:solidFill>
                <a:latin typeface="Arial"/>
              </a:rPr>
              <a:t> và </a:t>
            </a:r>
            <a:r>
              <a:rPr sz="1050" b="1" i="0">
                <a:solidFill>
                  <a:srgbClr val="1F6FB2"/>
                </a:solidFill>
                <a:latin typeface="Arial"/>
              </a:rPr>
              <a:t>giảm đáng kể số lượng bản vá</a:t>
            </a:r>
            <a:r>
              <a:rPr sz="1050" b="0" i="0">
                <a:solidFill>
                  <a:srgbClr val="2B3A47"/>
                </a:solidFill>
                <a:latin typeface="Arial"/>
              </a:rPr>
              <a:t> cần thiết.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4314" y="2395728"/>
            <a:ext cx="3503066" cy="169164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44314" y="2395728"/>
            <a:ext cx="64008" cy="16916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45482" y="2542032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6FB2"/>
                </a:solidFill>
                <a:latin typeface="Arial"/>
              </a:rPr>
              <a:t>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4666" y="2523744"/>
            <a:ext cx="277154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D4E"/>
                </a:solidFill>
                <a:latin typeface="Arial"/>
              </a:rPr>
              <a:t>Theo dõi kiểm kê ảnh VM và phiên bản 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5482" y="3145536"/>
            <a:ext cx="3100730" cy="823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A47"/>
                </a:solidFill>
                <a:latin typeface="Arial"/>
              </a:rPr>
              <a:t>Ảnh của nhà cung cấp phải trải qua </a:t>
            </a:r>
            <a:r>
              <a:rPr sz="1050" b="1" i="0">
                <a:solidFill>
                  <a:srgbClr val="1F6FB2"/>
                </a:solidFill>
                <a:latin typeface="Arial"/>
              </a:rPr>
              <a:t>cùng quy trình xác minh và gia cố</a:t>
            </a:r>
            <a:r>
              <a:rPr sz="1050" b="0" i="0">
                <a:solidFill>
                  <a:srgbClr val="2B3A47"/>
                </a:solidFill>
                <a:latin typeface="Arial"/>
              </a:rPr>
              <a:t> như máy chủ nội bộ. </a:t>
            </a:r>
            <a:r>
              <a:rPr sz="1050" b="1" i="0">
                <a:solidFill>
                  <a:srgbClr val="1F6FB2"/>
                </a:solidFill>
                <a:latin typeface="Arial"/>
              </a:rPr>
              <a:t>Phương án tốt nhất: cung cấp ảnh của chính bạn</a:t>
            </a:r>
            <a:r>
              <a:rPr sz="1050" b="0" i="0">
                <a:solidFill>
                  <a:srgbClr val="2B3A47"/>
                </a:solidFill>
                <a:latin typeface="Arial"/>
              </a:rPr>
              <a:t> tuân thủ cùng tiêu chuẩn. Bảo vệ </a:t>
            </a:r>
            <a:r>
              <a:rPr sz="1050" b="1" i="0">
                <a:solidFill>
                  <a:srgbClr val="1F6FB2"/>
                </a:solidFill>
                <a:latin typeface="Arial"/>
              </a:rPr>
              <a:t>tính toàn vẹn</a:t>
            </a:r>
            <a:r>
              <a:rPr sz="1050" b="0" i="0">
                <a:solidFill>
                  <a:srgbClr val="2B3A47"/>
                </a:solidFill>
                <a:latin typeface="Arial"/>
              </a:rPr>
              <a:t> của ảnh đã gia cố.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1700" y="2395728"/>
            <a:ext cx="3503066" cy="169164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21700" y="2395728"/>
            <a:ext cx="64008" cy="16916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22868" y="2542032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6FB2"/>
                </a:solidFill>
                <a:latin typeface="Arial"/>
              </a:rP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2052" y="2523744"/>
            <a:ext cx="277154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D4E"/>
                </a:solidFill>
                <a:latin typeface="Arial"/>
              </a:rPr>
              <a:t>Bảo vệ các khóa riêng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2868" y="3145536"/>
            <a:ext cx="3100730" cy="6659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6FB2"/>
                </a:solidFill>
                <a:latin typeface="Arial"/>
              </a:rPr>
              <a:t>Cô lập khóa giải mã khỏi Đám mây</a:t>
            </a:r>
            <a:r>
              <a:rPr sz="1050" b="0" i="0">
                <a:solidFill>
                  <a:srgbClr val="2B3A47"/>
                </a:solidFill>
                <a:latin typeface="Arial"/>
              </a:rPr>
              <a:t> nơi dữ liệu được lưu trữ, </a:t>
            </a:r>
            <a:r>
              <a:rPr sz="1050" b="1" i="0">
                <a:solidFill>
                  <a:srgbClr val="1F6FB2"/>
                </a:solidFill>
                <a:latin typeface="Arial"/>
              </a:rPr>
              <a:t>trừ khi chúng cần thiết cho việc xử lý liên tục</a:t>
            </a:r>
            <a:r>
              <a:rPr sz="1050" b="0" i="0">
                <a:solidFill>
                  <a:srgbClr val="2B3A47"/>
                </a:solidFill>
                <a:latin typeface="Arial"/>
              </a:rPr>
              <a:t>. Nếu khóa nằm cùng chỗ với ứng dụng thì </a:t>
            </a:r>
            <a:r>
              <a:rPr sz="1050" b="1" i="0">
                <a:solidFill>
                  <a:srgbClr val="1F6FB2"/>
                </a:solidFill>
                <a:latin typeface="Arial"/>
              </a:rPr>
              <a:t>không thể bảo vệ được</a:t>
            </a:r>
            <a:r>
              <a:rPr sz="10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224528"/>
            <a:ext cx="3503066" cy="169164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66928" y="4224528"/>
            <a:ext cx="64008" cy="16916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8096" y="4370832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6FB2"/>
                </a:solidFill>
                <a:latin typeface="Arial"/>
              </a:rPr>
              <a:t>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352544"/>
            <a:ext cx="277154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D4E"/>
                </a:solidFill>
                <a:latin typeface="Arial"/>
              </a:rPr>
              <a:t>Không để chứng thư xác thực trong ảnh ảo hóa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974336"/>
            <a:ext cx="3100730" cy="823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6FB2"/>
                </a:solidFill>
                <a:latin typeface="Arial"/>
              </a:rPr>
              <a:t>Ngoại trừ một khóa để giải mã khóa hệ thống tệp.</a:t>
            </a:r>
            <a:r>
              <a:rPr sz="1050" b="0" i="0">
                <a:solidFill>
                  <a:srgbClr val="2B3A47"/>
                </a:solidFill>
                <a:latin typeface="Arial"/>
              </a:rPr>
              <a:t> </a:t>
            </a:r>
            <a:r>
              <a:rPr sz="1050" b="1" i="0">
                <a:solidFill>
                  <a:srgbClr val="1F6FB2"/>
                </a:solidFill>
                <a:latin typeface="Arial"/>
              </a:rPr>
              <a:t>Không cho phép truy cập shell dựa trên mật khẩu</a:t>
            </a:r>
            <a:r>
              <a:rPr sz="1050" b="0" i="0">
                <a:solidFill>
                  <a:srgbClr val="2B3A47"/>
                </a:solidFill>
                <a:latin typeface="Arial"/>
              </a:rPr>
              <a:t>; với đặc quyền quản trị (</a:t>
            </a:r>
            <a:r>
              <a:rPr sz="1050" b="1" i="0">
                <a:solidFill>
                  <a:srgbClr val="1F6FB2"/>
                </a:solidFill>
                <a:latin typeface="Arial"/>
              </a:rPr>
              <a:t>sudo</a:t>
            </a:r>
            <a:r>
              <a:rPr sz="1050" b="0" i="0">
                <a:solidFill>
                  <a:srgbClr val="2B3A47"/>
                </a:solidFill>
                <a:latin typeface="Arial"/>
              </a:rPr>
              <a:t>) hoặc truy cập dựa trên vai trò (Solaris, SELinux) thì </a:t>
            </a:r>
            <a:r>
              <a:rPr sz="1050" b="1" i="0">
                <a:solidFill>
                  <a:srgbClr val="1F6FB2"/>
                </a:solidFill>
                <a:latin typeface="Arial"/>
              </a:rPr>
              <a:t>mật khẩu là bắt buộc</a:t>
            </a:r>
            <a:r>
              <a:rPr sz="10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4314" y="4224528"/>
            <a:ext cx="3503066" cy="169164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4344314" y="4224528"/>
            <a:ext cx="64008" cy="16916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45482" y="4370832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6FB2"/>
                </a:solidFill>
                <a:latin typeface="Arial"/>
              </a:rPr>
              <a:t>5.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74666" y="4352544"/>
            <a:ext cx="277154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D4E"/>
                </a:solidFill>
                <a:latin typeface="Arial"/>
              </a:rPr>
              <a:t>Chạy tường lửa máy chủ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5482" y="4974336"/>
            <a:ext cx="3100730" cy="6659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6FB2"/>
                </a:solidFill>
                <a:latin typeface="Arial"/>
              </a:rPr>
              <a:t>Chỉ mở tối thiểu các cổng</a:t>
            </a:r>
            <a:r>
              <a:rPr sz="1050" b="0" i="0">
                <a:solidFill>
                  <a:srgbClr val="2B3A47"/>
                </a:solidFill>
                <a:latin typeface="Arial"/>
              </a:rPr>
              <a:t> cần thiết để hỗ trợ dịch vụ trên một thực thể. </a:t>
            </a:r>
            <a:r>
              <a:rPr sz="1050" b="1" i="0">
                <a:solidFill>
                  <a:srgbClr val="1F6FB2"/>
                </a:solidFill>
                <a:latin typeface="Arial"/>
              </a:rPr>
              <a:t>Tắt tất cả dịch vụ không sử dụng</a:t>
            </a:r>
            <a:r>
              <a:rPr sz="1050" b="0" i="0">
                <a:solidFill>
                  <a:srgbClr val="2B3A47"/>
                </a:solidFill>
                <a:latin typeface="Arial"/>
              </a:rPr>
              <a:t>: FTP, dịch vụ in, dịch vụ tệp mạng, dịch vụ cơ sở dữ liệu nếu không cần.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21700" y="4224528"/>
            <a:ext cx="3503066" cy="169164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8121700" y="4224528"/>
            <a:ext cx="64008" cy="16916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322868" y="4370832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6FB2"/>
                </a:solidFill>
                <a:latin typeface="Arial"/>
              </a:rPr>
              <a:t>6.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2052" y="4352544"/>
            <a:ext cx="277154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D4E"/>
                </a:solidFill>
                <a:latin typeface="Arial"/>
              </a:rPr>
              <a:t>Bật kiểm toán hệ thống và ghi nhật ký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2868" y="4974336"/>
            <a:ext cx="3100730" cy="6659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A47"/>
                </a:solidFill>
                <a:latin typeface="Arial"/>
              </a:rPr>
              <a:t>Ghi các </a:t>
            </a:r>
            <a:r>
              <a:rPr sz="1050" b="1" i="0">
                <a:solidFill>
                  <a:srgbClr val="1F6FB2"/>
                </a:solidFill>
                <a:latin typeface="Arial"/>
              </a:rPr>
              <a:t>sự kiện bảo mật</a:t>
            </a:r>
            <a:r>
              <a:rPr sz="1050" b="0" i="0">
                <a:solidFill>
                  <a:srgbClr val="2B3A47"/>
                </a:solidFill>
                <a:latin typeface="Arial"/>
              </a:rPr>
              <a:t> vào một </a:t>
            </a:r>
            <a:r>
              <a:rPr sz="1050" b="1" i="0">
                <a:solidFill>
                  <a:srgbClr val="1F6FB2"/>
                </a:solidFill>
                <a:latin typeface="Arial"/>
              </a:rPr>
              <a:t>máy chủ nhật ký chuyên dụng</a:t>
            </a:r>
            <a:r>
              <a:rPr sz="1050" b="0" i="0">
                <a:solidFill>
                  <a:srgbClr val="2B3A47"/>
                </a:solidFill>
                <a:latin typeface="Arial"/>
              </a:rPr>
              <a:t>. Máy chủ nhật ký phải có </a:t>
            </a:r>
            <a:r>
              <a:rPr sz="1050" b="1" i="0">
                <a:solidFill>
                  <a:srgbClr val="1F6FB2"/>
                </a:solidFill>
                <a:latin typeface="Arial"/>
              </a:rPr>
              <a:t>mức bảo vệ bảo mật cao hơn</a:t>
            </a:r>
            <a:r>
              <a:rPr sz="1050" b="0" i="0">
                <a:solidFill>
                  <a:srgbClr val="2B3A47"/>
                </a:solidFill>
                <a:latin typeface="Arial"/>
              </a:rPr>
              <a:t> và </a:t>
            </a:r>
            <a:r>
              <a:rPr sz="1050" b="1" i="0">
                <a:solidFill>
                  <a:srgbClr val="1F6FB2"/>
                </a:solidFill>
                <a:latin typeface="Arial"/>
              </a:rPr>
              <a:t>được cô lập</a:t>
            </a:r>
            <a:r>
              <a:rPr sz="1050" b="0" i="0">
                <a:solidFill>
                  <a:srgbClr val="2B3A47"/>
                </a:solidFill>
                <a:latin typeface="Arial"/>
              </a:rPr>
              <a:t>, bao gồm cả kiểm soát truy cập.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Chương 11 · Bảo mật đám mây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77724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11.7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57784"/>
            <a:ext cx="10783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2D4E"/>
                </a:solidFill>
                <a:latin typeface="Arial"/>
              </a:rPr>
              <a:t>Các biện pháp kiểm soát bảo mật đám mây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15568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353312"/>
            <a:ext cx="11057839" cy="822960"/>
          </a:xfrm>
          <a:prstGeom prst="roundRect">
            <a:avLst>
              <a:gd name="adj" fmla="val 5500"/>
            </a:avLst>
          </a:prstGeom>
          <a:solidFill>
            <a:srgbClr val="EAF2F9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517904"/>
            <a:ext cx="10728655" cy="411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A47"/>
                </a:solidFill>
                <a:latin typeface="Arial"/>
              </a:rPr>
              <a:t>Kiến trúc bảo mật Đám mây </a:t>
            </a:r>
            <a:r>
              <a:rPr sz="1250" b="1" i="0">
                <a:solidFill>
                  <a:srgbClr val="1F6FB2"/>
                </a:solidFill>
                <a:latin typeface="Arial"/>
              </a:rPr>
              <a:t>chỉ hiệu quả nếu các triển khai phòng thủ đúng đắn được đặt đúng chỗ</a:t>
            </a:r>
            <a:r>
              <a:rPr sz="1250" b="0" i="0">
                <a:solidFill>
                  <a:srgbClr val="2B3A47"/>
                </a:solidFill>
                <a:latin typeface="Arial"/>
              </a:rPr>
              <a:t>. Các biện pháp kiểm soát bảo mật được đặt ra để </a:t>
            </a:r>
            <a:r>
              <a:rPr sz="1250" b="1" i="0">
                <a:solidFill>
                  <a:srgbClr val="1F6FB2"/>
                </a:solidFill>
                <a:latin typeface="Arial"/>
              </a:rPr>
              <a:t>bảo vệ bất kỳ điểm yếu nào trong hệ thống</a:t>
            </a:r>
            <a:r>
              <a:rPr sz="1250" b="0" i="0">
                <a:solidFill>
                  <a:srgbClr val="2B3A47"/>
                </a:solidFill>
                <a:latin typeface="Arial"/>
              </a:rPr>
              <a:t> và </a:t>
            </a:r>
            <a:r>
              <a:rPr sz="1250" b="1" i="0">
                <a:solidFill>
                  <a:srgbClr val="1F6FB2"/>
                </a:solidFill>
                <a:latin typeface="Arial"/>
              </a:rPr>
              <a:t>giảm bớt tác động của một cuộc tấn công</a:t>
            </a:r>
            <a:r>
              <a:rPr sz="12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49808" y="2651760"/>
            <a:ext cx="10692079" cy="0"/>
          </a:xfrm>
          <a:prstGeom prst="line">
            <a:avLst/>
          </a:prstGeom>
          <a:ln w="254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9808" y="23591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6FB2"/>
                </a:solidFill>
                <a:latin typeface="Arial"/>
              </a:rPr>
              <a:t>TRƯỚC SỰ CỐ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9887" y="23591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342A"/>
                </a:solidFill>
                <a:latin typeface="Arial"/>
              </a:rPr>
              <a:t>TRONG / SAU SỰ CỐ</a:t>
            </a:r>
          </a:p>
        </p:txBody>
      </p:sp>
      <p:sp>
        <p:nvSpPr>
          <p:cNvPr id="11" name="Oval 10"/>
          <p:cNvSpPr/>
          <p:nvPr/>
        </p:nvSpPr>
        <p:spPr>
          <a:xfrm>
            <a:off x="1752561" y="2551176"/>
            <a:ext cx="201168" cy="201168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66928" y="2944368"/>
            <a:ext cx="2572435" cy="2971800"/>
          </a:xfrm>
          <a:prstGeom prst="roundRect">
            <a:avLst>
              <a:gd name="adj" fmla="val 5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566928" y="2944368"/>
            <a:ext cx="2572435" cy="566928"/>
          </a:xfrm>
          <a:prstGeom prst="roundRect">
            <a:avLst>
              <a:gd name="adj" fmla="val 14000"/>
            </a:avLst>
          </a:prstGeom>
          <a:solidFill>
            <a:srgbClr val="1F6FB2"/>
          </a:solidFill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246120"/>
            <a:ext cx="2572435" cy="265176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3232" y="3054096"/>
            <a:ext cx="22798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1. RĂN ĐE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611880"/>
            <a:ext cx="227982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1F6FB2"/>
                </a:solidFill>
                <a:latin typeface="Arial"/>
              </a:rPr>
              <a:t>Deterrent controls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913632"/>
            <a:ext cx="2279827" cy="11380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A47"/>
                </a:solidFill>
                <a:latin typeface="Arial"/>
              </a:rPr>
              <a:t>Nhằm </a:t>
            </a:r>
            <a:r>
              <a:rPr sz="1050" b="1" i="0">
                <a:solidFill>
                  <a:srgbClr val="0E2D4E"/>
                </a:solidFill>
                <a:latin typeface="Arial"/>
              </a:rPr>
              <a:t>làm giảm các cuộc tấn công</a:t>
            </a:r>
            <a:r>
              <a:rPr sz="1050" b="0" i="0">
                <a:solidFill>
                  <a:srgbClr val="2B3A47"/>
                </a:solidFill>
                <a:latin typeface="Arial"/>
              </a:rPr>
              <a:t> vào hệ thống Đám mây. Giống như </a:t>
            </a:r>
            <a:r>
              <a:rPr sz="1050" b="1" i="0">
                <a:solidFill>
                  <a:srgbClr val="0E2D4E"/>
                </a:solidFill>
                <a:latin typeface="Arial"/>
              </a:rPr>
              <a:t>biển cảnh báo trên hàng rào</a:t>
            </a:r>
            <a:r>
              <a:rPr sz="1050" b="0" i="0">
                <a:solidFill>
                  <a:srgbClr val="2B3A47"/>
                </a:solidFill>
                <a:latin typeface="Arial"/>
              </a:rPr>
              <a:t>, chúng </a:t>
            </a:r>
            <a:r>
              <a:rPr sz="1050" b="1" i="0">
                <a:solidFill>
                  <a:srgbClr val="0E2D4E"/>
                </a:solidFill>
                <a:latin typeface="Arial"/>
              </a:rPr>
              <a:t>giảm mức độ đe dọa bằng cách thông báo cho kẻ tấn công tiềm năng</a:t>
            </a:r>
            <a:r>
              <a:rPr sz="1050" b="0" i="0">
                <a:solidFill>
                  <a:srgbClr val="2B3A47"/>
                </a:solidFill>
                <a:latin typeface="Arial"/>
              </a:rPr>
              <a:t> rằng sẽ có </a:t>
            </a:r>
            <a:r>
              <a:rPr sz="1050" b="1" i="0">
                <a:solidFill>
                  <a:srgbClr val="0E2D4E"/>
                </a:solidFill>
                <a:latin typeface="Arial"/>
              </a:rPr>
              <a:t>hậu quả bất lợi</a:t>
            </a:r>
            <a:r>
              <a:rPr sz="1050" b="0" i="0">
                <a:solidFill>
                  <a:srgbClr val="2B3A47"/>
                </a:solidFill>
                <a:latin typeface="Arial"/>
              </a:rPr>
              <a:t> nếu chúng tiếp tục.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157651" y="2578608"/>
            <a:ext cx="201168" cy="146304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Oval 18"/>
          <p:cNvSpPr/>
          <p:nvPr/>
        </p:nvSpPr>
        <p:spPr>
          <a:xfrm>
            <a:off x="4581029" y="2551176"/>
            <a:ext cx="201168" cy="201168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3395395" y="2944368"/>
            <a:ext cx="2572435" cy="2971800"/>
          </a:xfrm>
          <a:prstGeom prst="roundRect">
            <a:avLst>
              <a:gd name="adj" fmla="val 5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3395395" y="2944368"/>
            <a:ext cx="2572435" cy="566928"/>
          </a:xfrm>
          <a:prstGeom prst="roundRect">
            <a:avLst>
              <a:gd name="adj" fmla="val 14000"/>
            </a:avLst>
          </a:prstGeom>
          <a:solidFill>
            <a:srgbClr val="1F6FB2"/>
          </a:solidFill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395395" y="3246120"/>
            <a:ext cx="2572435" cy="265176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541699" y="3054096"/>
            <a:ext cx="22798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2. PHÒNG NGỪA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1699" y="3611880"/>
            <a:ext cx="227982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1F6FB2"/>
                </a:solidFill>
                <a:latin typeface="Arial"/>
              </a:rPr>
              <a:t>Preventive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1699" y="3913632"/>
            <a:ext cx="2279827" cy="11380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D4E"/>
                </a:solidFill>
                <a:latin typeface="Arial"/>
              </a:rPr>
              <a:t>Tăng cường hệ thống</a:t>
            </a:r>
            <a:r>
              <a:rPr sz="1050" b="0" i="0">
                <a:solidFill>
                  <a:srgbClr val="2B3A47"/>
                </a:solidFill>
                <a:latin typeface="Arial"/>
              </a:rPr>
              <a:t> chống lại các sự cố, bằng cách </a:t>
            </a:r>
            <a:r>
              <a:rPr sz="1050" b="1" i="0">
                <a:solidFill>
                  <a:srgbClr val="0E2D4E"/>
                </a:solidFill>
                <a:latin typeface="Arial"/>
              </a:rPr>
              <a:t>giảm thiểu — nếu không muốn nói là loại bỏ hẳn — các lỗ hổng</a:t>
            </a:r>
            <a:r>
              <a:rPr sz="1050" b="0" i="0">
                <a:solidFill>
                  <a:srgbClr val="2B3A47"/>
                </a:solidFill>
                <a:latin typeface="Arial"/>
              </a:rPr>
              <a:t>. Ví dụ: </a:t>
            </a:r>
            <a:r>
              <a:rPr sz="1050" b="1" i="0">
                <a:solidFill>
                  <a:srgbClr val="0E2D4E"/>
                </a:solidFill>
                <a:latin typeface="Arial"/>
              </a:rPr>
              <a:t>xác thực mạnh</a:t>
            </a:r>
            <a:r>
              <a:rPr sz="1050" b="0" i="0">
                <a:solidFill>
                  <a:srgbClr val="2B3A47"/>
                </a:solidFill>
                <a:latin typeface="Arial"/>
              </a:rPr>
              <a:t> khiến người dùng trái phép khó truy cập hơn và </a:t>
            </a:r>
            <a:r>
              <a:rPr sz="1050" b="1" i="0">
                <a:solidFill>
                  <a:srgbClr val="0E2D4E"/>
                </a:solidFill>
                <a:latin typeface="Arial"/>
              </a:rPr>
              <a:t>khả năng nhận diện người dùng hợp lệ cao hơn</a:t>
            </a:r>
            <a:r>
              <a:rPr sz="10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986119" y="2578608"/>
            <a:ext cx="201168" cy="146304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Oval 26"/>
          <p:cNvSpPr/>
          <p:nvPr/>
        </p:nvSpPr>
        <p:spPr>
          <a:xfrm>
            <a:off x="7409497" y="2551176"/>
            <a:ext cx="201168" cy="201168"/>
          </a:xfrm>
          <a:prstGeom prst="ellipse">
            <a:avLst/>
          </a:prstGeom>
          <a:solidFill>
            <a:srgbClr val="0E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6223863" y="2944368"/>
            <a:ext cx="2572435" cy="2971800"/>
          </a:xfrm>
          <a:prstGeom prst="roundRect">
            <a:avLst>
              <a:gd name="adj" fmla="val 5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223863" y="2944368"/>
            <a:ext cx="2572435" cy="566928"/>
          </a:xfrm>
          <a:prstGeom prst="roundRect">
            <a:avLst>
              <a:gd name="adj" fmla="val 14000"/>
            </a:avLst>
          </a:prstGeom>
          <a:solidFill>
            <a:srgbClr val="0E2D4E"/>
          </a:solidFill>
          <a:ln w="12700">
            <a:solidFill>
              <a:srgbClr val="0E2D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223863" y="3246120"/>
            <a:ext cx="2572435" cy="265176"/>
          </a:xfrm>
          <a:prstGeom prst="rect">
            <a:avLst/>
          </a:prstGeom>
          <a:solidFill>
            <a:srgbClr val="0E2D4E"/>
          </a:solidFill>
          <a:ln w="12700">
            <a:solidFill>
              <a:srgbClr val="0E2D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370167" y="3054096"/>
            <a:ext cx="22798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3. PHÁT HIỆN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0167" y="3611880"/>
            <a:ext cx="227982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0E2D4E"/>
                </a:solidFill>
                <a:latin typeface="Arial"/>
              </a:rPr>
              <a:t>Detective controls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0167" y="3913632"/>
            <a:ext cx="2279827" cy="11380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A47"/>
                </a:solidFill>
                <a:latin typeface="Arial"/>
              </a:rPr>
              <a:t>Nhằm </a:t>
            </a:r>
            <a:r>
              <a:rPr sz="1050" b="1" i="0">
                <a:solidFill>
                  <a:srgbClr val="0E2D4E"/>
                </a:solidFill>
                <a:latin typeface="Arial"/>
              </a:rPr>
              <a:t>phát hiện và phản ứng phù hợp</a:t>
            </a:r>
            <a:r>
              <a:rPr sz="1050" b="0" i="0">
                <a:solidFill>
                  <a:srgbClr val="2B3A47"/>
                </a:solidFill>
                <a:latin typeface="Arial"/>
              </a:rPr>
              <a:t> với bất kỳ sự cố nào xảy ra. Khi có tấn công, biện pháp phát hiện </a:t>
            </a:r>
            <a:r>
              <a:rPr sz="1050" b="1" i="0">
                <a:solidFill>
                  <a:srgbClr val="0E2D4E"/>
                </a:solidFill>
                <a:latin typeface="Arial"/>
              </a:rPr>
              <a:t>báo hiệu cho biện pháp phòng ngừa hoặc khắc phục</a:t>
            </a:r>
            <a:r>
              <a:rPr sz="1050" b="0" i="0">
                <a:solidFill>
                  <a:srgbClr val="2B3A47"/>
                </a:solidFill>
                <a:latin typeface="Arial"/>
              </a:rPr>
              <a:t>. </a:t>
            </a:r>
            <a:r>
              <a:rPr sz="1050" b="1" i="0">
                <a:solidFill>
                  <a:srgbClr val="0E2D4E"/>
                </a:solidFill>
                <a:latin typeface="Arial"/>
              </a:rPr>
              <a:t>Giám sát hệ thống và mạng</a:t>
            </a:r>
            <a:r>
              <a:rPr sz="1050" b="0" i="0">
                <a:solidFill>
                  <a:srgbClr val="2B3A47"/>
                </a:solidFill>
                <a:latin typeface="Arial"/>
              </a:rPr>
              <a:t>, bao gồm cơ chế </a:t>
            </a:r>
            <a:r>
              <a:rPr sz="1050" b="1" i="0">
                <a:solidFill>
                  <a:srgbClr val="0E2D4E"/>
                </a:solidFill>
                <a:latin typeface="Arial"/>
              </a:rPr>
              <a:t>phát hiện và ngăn chặn xâm nhập</a:t>
            </a:r>
            <a:r>
              <a:rPr sz="10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814587" y="2578608"/>
            <a:ext cx="201168" cy="146304"/>
          </a:xfrm>
          <a:prstGeom prst="rightArrow">
            <a:avLst/>
          </a:prstGeom>
          <a:solidFill>
            <a:srgbClr val="5D9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5" name="Oval 34"/>
          <p:cNvSpPr/>
          <p:nvPr/>
        </p:nvSpPr>
        <p:spPr>
          <a:xfrm>
            <a:off x="10237965" y="2551176"/>
            <a:ext cx="201168" cy="201168"/>
          </a:xfrm>
          <a:prstGeom prst="ellipse">
            <a:avLst/>
          </a:prstGeom>
          <a:solidFill>
            <a:srgbClr val="B83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9052331" y="2944368"/>
            <a:ext cx="2572435" cy="2971800"/>
          </a:xfrm>
          <a:prstGeom prst="roundRect">
            <a:avLst>
              <a:gd name="adj" fmla="val 5000"/>
            </a:avLst>
          </a:prstGeom>
          <a:solidFill>
            <a:srgbClr val="FBEDEB"/>
          </a:solidFill>
          <a:ln w="12700">
            <a:solidFill>
              <a:srgbClr val="EE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9052331" y="2944368"/>
            <a:ext cx="2572435" cy="566928"/>
          </a:xfrm>
          <a:prstGeom prst="roundRect">
            <a:avLst>
              <a:gd name="adj" fmla="val 14000"/>
            </a:avLst>
          </a:prstGeom>
          <a:solidFill>
            <a:srgbClr val="B8342A"/>
          </a:solidFill>
          <a:ln w="12700">
            <a:solidFill>
              <a:srgbClr val="B8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9052331" y="3246120"/>
            <a:ext cx="2572435" cy="265176"/>
          </a:xfrm>
          <a:prstGeom prst="rect">
            <a:avLst/>
          </a:prstGeom>
          <a:solidFill>
            <a:srgbClr val="B8342A"/>
          </a:solidFill>
          <a:ln w="12700">
            <a:solidFill>
              <a:srgbClr val="B8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198635" y="3054096"/>
            <a:ext cx="22798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4. KHẮC PHỤC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98635" y="3611880"/>
            <a:ext cx="227982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B8342A"/>
                </a:solidFill>
                <a:latin typeface="Arial"/>
              </a:rPr>
              <a:t>Corrective controls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8635" y="3913632"/>
            <a:ext cx="2279827" cy="11380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D4E"/>
                </a:solidFill>
                <a:latin typeface="Arial"/>
              </a:rPr>
              <a:t>Làm giảm hậu quả của một sự cố</a:t>
            </a:r>
            <a:r>
              <a:rPr sz="1050" b="0" i="0">
                <a:solidFill>
                  <a:srgbClr val="2B3A47"/>
                </a:solidFill>
                <a:latin typeface="Arial"/>
              </a:rPr>
              <a:t>, thường bằng cách </a:t>
            </a:r>
            <a:r>
              <a:rPr sz="1050" b="1" i="0">
                <a:solidFill>
                  <a:srgbClr val="0E2D4E"/>
                </a:solidFill>
                <a:latin typeface="Arial"/>
              </a:rPr>
              <a:t>giới hạn thiệt hại</a:t>
            </a:r>
            <a:r>
              <a:rPr sz="1050" b="0" i="0">
                <a:solidFill>
                  <a:srgbClr val="2B3A47"/>
                </a:solidFill>
                <a:latin typeface="Arial"/>
              </a:rPr>
              <a:t>. Chúng có hiệu lực </a:t>
            </a:r>
            <a:r>
              <a:rPr sz="1050" b="1" i="0">
                <a:solidFill>
                  <a:srgbClr val="0E2D4E"/>
                </a:solidFill>
                <a:latin typeface="Arial"/>
              </a:rPr>
              <a:t>trong hoặc sau một sự cố</a:t>
            </a:r>
            <a:r>
              <a:rPr sz="1050" b="0" i="0">
                <a:solidFill>
                  <a:srgbClr val="2B3A47"/>
                </a:solidFill>
                <a:latin typeface="Arial"/>
              </a:rPr>
              <a:t>. Ví dụ: </a:t>
            </a:r>
            <a:r>
              <a:rPr sz="1050" b="1" i="0">
                <a:solidFill>
                  <a:srgbClr val="0E2D4E"/>
                </a:solidFill>
                <a:latin typeface="Arial"/>
              </a:rPr>
              <a:t>khôi phục các bản sao lưu hệ thống</a:t>
            </a:r>
            <a:r>
              <a:rPr sz="1050" b="0" i="0">
                <a:solidFill>
                  <a:srgbClr val="2B3A47"/>
                </a:solidFill>
                <a:latin typeface="Arial"/>
              </a:rPr>
              <a:t> nhằm tái dựng lại một hệ thống đã bị xâm phạm.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Chương 11 · Bảo mật đám mây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77724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783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rial"/>
              </a:rPr>
              <a:t>TÓM TẮT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57784"/>
            <a:ext cx="10783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2D4E"/>
                </a:solidFill>
                <a:latin typeface="Arial"/>
              </a:rPr>
              <a:t>Những ý cần nhớ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15568"/>
            <a:ext cx="11057839" cy="0"/>
          </a:xfrm>
          <a:prstGeom prst="line">
            <a:avLst/>
          </a:prstGeom>
          <a:ln w="12700">
            <a:solidFill>
              <a:srgbClr val="C3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389888"/>
            <a:ext cx="3503066" cy="1280160"/>
          </a:xfrm>
          <a:prstGeom prst="roundRect">
            <a:avLst>
              <a:gd name="adj" fmla="val 7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Oval 6"/>
          <p:cNvSpPr/>
          <p:nvPr/>
        </p:nvSpPr>
        <p:spPr>
          <a:xfrm>
            <a:off x="731520" y="1554480"/>
            <a:ext cx="310896" cy="310896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1572768"/>
            <a:ext cx="27532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D4E"/>
                </a:solidFill>
                <a:latin typeface="Arial"/>
              </a:rPr>
              <a:t>Trách nhiệm chia sẻ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56816"/>
            <a:ext cx="3173882" cy="3662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Nhà cung cấp bảo đảm dịch vụ an toàn; khách hàng thực hiện các biện pháp hỗ trợ.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4314" y="1389888"/>
            <a:ext cx="3503066" cy="1280160"/>
          </a:xfrm>
          <a:prstGeom prst="roundRect">
            <a:avLst>
              <a:gd name="adj" fmla="val 7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Oval 10"/>
          <p:cNvSpPr/>
          <p:nvPr/>
        </p:nvSpPr>
        <p:spPr>
          <a:xfrm>
            <a:off x="4508906" y="1554480"/>
            <a:ext cx="310896" cy="310896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1242" y="1572768"/>
            <a:ext cx="27532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D4E"/>
                </a:solidFill>
                <a:latin typeface="Arial"/>
              </a:rPr>
              <a:t>Bộ ba 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8906" y="1956816"/>
            <a:ext cx="3173882" cy="3662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Vẫn là khung của bài toán, nhưng phần lớn ngăn xếp nay nằm dưới kiểm soát bên thứ ba.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1700" y="1389888"/>
            <a:ext cx="3503066" cy="1280160"/>
          </a:xfrm>
          <a:prstGeom prst="roundRect">
            <a:avLst>
              <a:gd name="adj" fmla="val 7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Oval 14"/>
          <p:cNvSpPr/>
          <p:nvPr/>
        </p:nvSpPr>
        <p:spPr>
          <a:xfrm>
            <a:off x="8286292" y="1554480"/>
            <a:ext cx="310896" cy="310896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8628" y="1572768"/>
            <a:ext cx="27532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D4E"/>
                </a:solidFill>
                <a:latin typeface="Arial"/>
              </a:rPr>
              <a:t>Dữ liệu đang truyền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6292" y="1956816"/>
            <a:ext cx="3173882" cy="3662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Rủi ro chính là </a:t>
            </a:r>
            <a:r>
              <a:rPr sz="1100" b="1" i="0">
                <a:solidFill>
                  <a:srgbClr val="1F6FB2"/>
                </a:solidFill>
                <a:latin typeface="Arial"/>
              </a:rPr>
              <a:t>không dùng thuật toán mã hóa đã được kiểm chứng</a:t>
            </a:r>
            <a:r>
              <a:rPr sz="1100" b="0" i="0">
                <a:solidFill>
                  <a:srgbClr val="2B3A47"/>
                </a:solidFill>
                <a:latin typeface="Arial"/>
              </a:rPr>
              <a:t> — ở mọi mô hình dịch vụ.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807208"/>
            <a:ext cx="3503066" cy="1280160"/>
          </a:xfrm>
          <a:prstGeom prst="roundRect">
            <a:avLst>
              <a:gd name="adj" fmla="val 7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Oval 18"/>
          <p:cNvSpPr/>
          <p:nvPr/>
        </p:nvSpPr>
        <p:spPr>
          <a:xfrm>
            <a:off x="731520" y="2971800"/>
            <a:ext cx="310896" cy="310896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2990088"/>
            <a:ext cx="27532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D4E"/>
                </a:solidFill>
                <a:latin typeface="Arial"/>
              </a:rPr>
              <a:t>ABE · FHE · 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374136"/>
            <a:ext cx="3173882" cy="5311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Ba nhu cầu khác nhau: truy cập theo thuộc tính, tính toán trên bản mã, tìm kiếm an toàn.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4314" y="2807208"/>
            <a:ext cx="3503066" cy="1280160"/>
          </a:xfrm>
          <a:prstGeom prst="roundRect">
            <a:avLst>
              <a:gd name="adj" fmla="val 7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Oval 22"/>
          <p:cNvSpPr/>
          <p:nvPr/>
        </p:nvSpPr>
        <p:spPr>
          <a:xfrm>
            <a:off x="4508906" y="2971800"/>
            <a:ext cx="310896" cy="310896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1242" y="2990088"/>
            <a:ext cx="27532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D4E"/>
                </a:solidFill>
                <a:latin typeface="Arial"/>
              </a:rPr>
              <a:t>Hạ tầng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8906" y="3374136"/>
            <a:ext cx="3173882" cy="5311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Đám mây riêng ≈ extranet an toàn; Đám mây công cộng thêm phơi bày, khó kiểm toán, rủi ro sẵn sàng.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1700" y="2807208"/>
            <a:ext cx="3503066" cy="1280160"/>
          </a:xfrm>
          <a:prstGeom prst="roundRect">
            <a:avLst>
              <a:gd name="adj" fmla="val 7000"/>
            </a:avLst>
          </a:prstGeom>
          <a:solidFill>
            <a:srgbClr val="F5F9FC"/>
          </a:solidFill>
          <a:ln w="12700">
            <a:solidFill>
              <a:srgbClr val="C3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Oval 26"/>
          <p:cNvSpPr/>
          <p:nvPr/>
        </p:nvSpPr>
        <p:spPr>
          <a:xfrm>
            <a:off x="8286292" y="2971800"/>
            <a:ext cx="310896" cy="310896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8628" y="2990088"/>
            <a:ext cx="27532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D4E"/>
                </a:solidFill>
                <a:latin typeface="Arial"/>
              </a:rPr>
              <a:t>Bốn biện pháp kiểm soát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6292" y="3374136"/>
            <a:ext cx="3173882" cy="2014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7"/>
                </a:solidFill>
                <a:latin typeface="Arial"/>
              </a:rPr>
              <a:t>Răn đe → Phòng ngừa → Phát hiện → Khắc phục.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315968"/>
            <a:ext cx="11057839" cy="1847088"/>
          </a:xfrm>
          <a:prstGeom prst="roundRect">
            <a:avLst>
              <a:gd name="adj" fmla="val 5500"/>
            </a:avLst>
          </a:prstGeom>
          <a:solidFill>
            <a:srgbClr val="FDF4E4"/>
          </a:solidFill>
          <a:ln w="12700">
            <a:solidFill>
              <a:srgbClr val="EBD2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31520" y="4480559"/>
            <a:ext cx="10728655" cy="2251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86A00"/>
                </a:solidFill>
                <a:latin typeface="Arial"/>
              </a:rPr>
              <a:t>Từ phần Tóm tắt của chương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788026"/>
            <a:ext cx="10728655" cy="1223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Các tổ chức </a:t>
            </a:r>
            <a:r>
              <a:rPr sz="1150" b="1" i="0">
                <a:solidFill>
                  <a:srgbClr val="A86A00"/>
                </a:solidFill>
                <a:latin typeface="Arial"/>
              </a:rPr>
              <a:t>chỉ dựa hoàn toàn vào bảo mật tích hợp sẵn của nhà cung cấp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Đám mây có khả năng </a:t>
            </a:r>
            <a:r>
              <a:rPr sz="1150" b="1" i="0">
                <a:solidFill>
                  <a:srgbClr val="A86A00"/>
                </a:solidFill>
                <a:latin typeface="Arial"/>
              </a:rPr>
              <a:t>phơi bày tổ chức của mình trước những rủi ro không cần thiết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Điều này đặc biệt đúng với các </a:t>
            </a:r>
            <a:r>
              <a:rPr sz="1150" b="1" i="0">
                <a:solidFill>
                  <a:srgbClr val="A86A00"/>
                </a:solidFill>
                <a:latin typeface="Arial"/>
              </a:rPr>
              <a:t>chứng thư (credential)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và </a:t>
            </a:r>
            <a:r>
              <a:rPr sz="1150" b="1" i="0">
                <a:solidFill>
                  <a:srgbClr val="A86A00"/>
                </a:solidFill>
                <a:latin typeface="Arial"/>
              </a:rPr>
              <a:t>bí mật (secret)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vốn sinh sôi nảy nở trong môi trường Đám mây và các quy trình tự động hóa — chúng được tạo ra hàng trăm nghìn máy và vi dịch vụ, nhưng </a:t>
            </a:r>
            <a:r>
              <a:rPr sz="1150" b="1" i="0">
                <a:solidFill>
                  <a:srgbClr val="A86A00"/>
                </a:solidFill>
                <a:latin typeface="Arial"/>
              </a:rPr>
              <a:t>nhiều trong số chúng không bao giờ được bảo mật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7"/>
                </a:solidFill>
                <a:latin typeface="Arial"/>
              </a:rPr>
              <a:t>Nếu bị xâm phạm, chúng trao cho kẻ tấn công một </a:t>
            </a:r>
            <a:r>
              <a:rPr sz="1150" b="1" i="0">
                <a:solidFill>
                  <a:srgbClr val="A86A00"/>
                </a:solidFill>
                <a:latin typeface="Arial"/>
              </a:rPr>
              <a:t>điểm xuất phát then chốt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để đạt </a:t>
            </a:r>
            <a:r>
              <a:rPr sz="1150" b="1" i="0">
                <a:solidFill>
                  <a:srgbClr val="A86A00"/>
                </a:solidFill>
                <a:latin typeface="Arial"/>
              </a:rPr>
              <a:t>quyền truy cập theo chiều ngang (lateral access)</a:t>
            </a:r>
            <a:r>
              <a:rPr sz="1150" b="0" i="0">
                <a:solidFill>
                  <a:srgbClr val="2B3A47"/>
                </a:solidFill>
                <a:latin typeface="Arial"/>
              </a:rPr>
              <a:t> xuyên các mạng, dữ liệu và ứng dụng — và cuối cùng là </a:t>
            </a:r>
            <a:r>
              <a:rPr sz="1150" b="1" i="0">
                <a:solidFill>
                  <a:srgbClr val="A86A00"/>
                </a:solidFill>
                <a:latin typeface="Arial"/>
              </a:rPr>
              <a:t>những tài sản quan trọng nhất của tổ chức</a:t>
            </a:r>
            <a:r>
              <a:rPr sz="1150" b="0" i="0">
                <a:solidFill>
                  <a:srgbClr val="2B3A47"/>
                </a:solidFill>
                <a:latin typeface="Arial"/>
              </a:rPr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Chương 11 · Bảo mật đám mây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8A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Oval 2"/>
          <p:cNvSpPr/>
          <p:nvPr/>
        </p:nvSpPr>
        <p:spPr>
          <a:xfrm>
            <a:off x="8534095" y="-1463040"/>
            <a:ext cx="4937760" cy="4937760"/>
          </a:xfrm>
          <a:prstGeom prst="ellipse">
            <a:avLst/>
          </a:prstGeom>
          <a:solidFill>
            <a:srgbClr val="17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Oval 3"/>
          <p:cNvSpPr/>
          <p:nvPr/>
        </p:nvSpPr>
        <p:spPr>
          <a:xfrm>
            <a:off x="-1371600" y="4206240"/>
            <a:ext cx="4023360" cy="4023360"/>
          </a:xfrm>
          <a:prstGeom prst="ellipse">
            <a:avLst/>
          </a:prstGeom>
          <a:solidFill>
            <a:srgbClr val="17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0" y="2487168"/>
            <a:ext cx="121916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Cảm ơn thầy cô và các bạn đã lắng nghe!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90007" y="3520440"/>
            <a:ext cx="2011680" cy="0"/>
          </a:xfrm>
          <a:prstGeom prst="line">
            <a:avLst/>
          </a:prstGeom>
          <a:ln w="3810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3730752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D9BD3"/>
                </a:solidFill>
                <a:latin typeface="Arial"/>
              </a:rPr>
              <a:t>Câu hỏi &amp; Thảo luận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80060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DD3E6"/>
                </a:solidFill>
                <a:latin typeface="Arial"/>
              </a:rPr>
              <a:t>Chương 11 · Bảo mật đám mây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 i="0">
                <a:solidFill>
                  <a:srgbClr val="8FB2CE"/>
                </a:solidFill>
                <a:latin typeface="Arial"/>
              </a:rPr>
              <a:t>Manvi &amp; Shyam, “Cloud Computing: Concepts and Technologies”, CRC Press, 2021, tr. 205–227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