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thầy/cô và các bạn. Hôm nay em xin trình bày một bài báo có tiêu đề "A Proactive Fault Tolerance Approach for Cloud Computing Based on Takagi-Sugeno Fuzzy System and Simulated Annealing Algorithm."</a:t>
            </a:r>
          </a:p>
          <a:p/>
          <a:p>
            <a:r>
              <a:t>Bài báo tập trung vào bài toán fault tolerance trong môi trường Cloud Computing, cụ thể là làm thế nào để phát hiện nguy cơ xảy ra lỗi trước khi lỗi thực sự xảy ra, rồi thực hiện các hành động phòng ngừa.</a:t>
            </a:r>
          </a:p>
          <a:p/>
          <a:p>
            <a:r>
              <a:t>Phương pháp kết hợp ba ý tưởng. Thứ nhất là Takagi-Sugeno Fuzzy System để dự đoán lỗi của Physical Machine. Thứ hai là Game Theory, dùng Nash Equilibrium để mô hình hóa bài toán VM migration. Thứ ba là Simulated Annealing, dùng để tìm chiến lược migration phù hợp.</a:t>
            </a:r>
          </a:p>
          <a:p/>
          <a:p>
            <a:r>
              <a:t>Tác giả gọi phương pháp này là PFTSA. (~40 giây)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hết là vấn đề mà bài báo muốn giải quyết.</a:t>
            </a:r>
          </a:p>
          <a:p/>
          <a:p>
            <a:r>
              <a:t>Trong Cloud Computing, đặc biệt là mô hình IaaS, hệ thống gồm rất nhiều Physical Machine (PM), và trên mỗi PM chạy nhiều Virtual Machine (VM). Ứng dụng cloud cần độ sẵn sàng và độ tin cậy cao. Nhưng PM có thể lỗi, và khi đó các VM trên nó bị ảnh hưởng, kéo theo ứng dụng và chất lượng dịch vụ.</a:t>
            </a:r>
          </a:p>
          <a:p/>
          <a:p>
            <a:r>
              <a:t>Với passive fault tolerance, quy trình là: fault xảy ra, hệ thống phát hiện, rồi recovery. Tức là hệ thống phản ứng với một vấn đề đã xảy ra, và lúc đó dịch vụ có thể đã bị ảnh hưởng.</a:t>
            </a:r>
          </a:p>
          <a:p/>
          <a:p>
            <a:r>
              <a:t>Với proactive fault tolerance, hệ thống bắt đầu từ monitoring, dự đoán xem một PM có khả năng lỗi hay không, và nếu có nguy cơ thì thực hiện hành động phòng ngừa, ví dụ di chuyển các VM ra khỏi PM đó.</a:t>
            </a:r>
          </a:p>
          <a:p/>
          <a:p>
            <a:r>
              <a:t>Ý tưởng chính: thay vì "fault rồi mới recovery", ta muốn "predict rồi prevent". Bài báo đặt vấn đề trong bối cảnh IaaS và dùng preemptive VM migration làm biện pháp phòng ngừa. (~2 phút)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ý tưởng tổng thể của phương pháp, gồm hai phần.</a:t>
            </a:r>
          </a:p>
          <a:p/>
          <a:p>
            <a:r>
              <a:t>Phần một là fault prediction. Hệ thống theo dõi thông tin của Physical Machine, rồi dùng Takagi-Sugeno Fuzzy System để dự đoán khả năng xảy ra fault.</a:t>
            </a:r>
          </a:p>
          <a:p/>
          <a:p>
            <a:r>
              <a:t>Nếu một PM được dự đoán có nguy cơ, bài toán tiếp theo là quyết định VM nào cần migration và migration như thế nào. Đó là phần hai, fault prevention.</a:t>
            </a:r>
          </a:p>
          <a:p/>
          <a:p>
            <a:r>
              <a:t>Tác giả mô hình hóa VM migration bằng Game Theory, trong đó các application là các player và mỗi player có những migration strategy khác nhau. Nash Equilibrium được dùng trong mô hình migration, và Simulated Annealing được dùng để tìm một chiến lược tốt.</a:t>
            </a:r>
          </a:p>
          <a:p/>
          <a:p>
            <a:r>
              <a:t>Toàn bộ quá trình này tạo thành phương pháp PFTSA. (~1 phút)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triển khai ý tưởng này, bài báo dùng kiến trúc MAPE-K loop, như Hình 1 của bài báo. MAPE-K gồm bốn bước Monitor, Analyze, Plan, Execute, cùng với Knowledge.</a:t>
            </a:r>
          </a:p>
          <a:p/>
          <a:p>
            <a:r>
              <a:t>Monitor thu thập thông tin từ các PM và VM, chẳng hạn CPU và memory. Analyze phân tích thông tin đó để xác định trạng thái hệ thống và dự đoán fault. Nếu có PM nguy cơ lỗi, hệ thống chuyển sang Plan để lập kế hoạch migration cho các VM. Execute là bước thực hiện migration.</a:t>
            </a:r>
          </a:p>
          <a:p/>
          <a:p>
            <a:r>
              <a:t>Đây là một vòng lặp liên tục: monitor, phân tích, lập kế hoạch, hành động. Các thành phần hỗ trợ gồm Broker, Local Agents, các PM và VM, thông tin giám sát và knowledge base. Vòng lặp này là cơ sở để hệ thống chịu lỗi theo hướng chủ động. (~1 phút)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là thành phần đầu tiên của phương pháp, fault prediction. Tác giả dùng Takagi-Sugeno Fuzzy System.</a:t>
            </a:r>
          </a:p>
          <a:p/>
          <a:p>
            <a:r>
              <a:t>Lý do là trạng thái của một Physical Machine không phải lúc nào cũng chỉ có hai trạng thái rõ ràng là bình thường hoặc lỗi. CPU load có thể thấp, trung bình hoặc cao. Temperature cũng vậy. Hình 3 cho thấy các hàm thành viên của tải và nhiệt độ.</a:t>
            </a:r>
          </a:p>
          <a:p/>
          <a:p>
            <a:r>
              <a:t>Fuzzy system biểu diễn các trạng thái này bằng các mức Low, Medium, High, rồi dùng fuzzy rule để kết luận. Quy trình gồm fuzzification, dùng các rule trong knowledge base, approximate reasoning, và cuối cùng là defuzzification để đưa ra kết quả.</a:t>
            </a:r>
          </a:p>
          <a:p/>
          <a:p>
            <a:r>
              <a:t>Hai đầu vào cho fault prediction trong bài báo là load và temperature. (~1 phút)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các fuzzy rule của bài báo. Có hai input là Load và Temperature, mỗi input có ba mức Low, Medium, High, nên có tổng cộng chín trường hợp.</a:t>
            </a:r>
          </a:p>
          <a:p/>
          <a:p>
            <a:r>
              <a:t>Ví dụ, Load Low và Temperature Low cho kết quả 0, tức là không dự đoán fault. Load Low mà Temperature High cho kết quả 1, tức là dự đoán có fault. Load Medium với Temperature High cũng là fault. Load High với Temperature Low bài báo cũng đánh dấu là fault. Và cả hai cùng High thì được dự đoán là fault.</a:t>
            </a:r>
          </a:p>
          <a:p/>
          <a:p>
            <a:r>
              <a:t>Như vậy hệ thống kết hợp mức tải và nhiệt độ để đánh giá trạng thái PM. Kết quả của bước này là danh sách các PM có nguy cơ lỗi, để chuyển sang bước phòng ngừa. (~1 phút)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dự đoán một PM có khả năng lỗi, vẫn còn một vấn đề quan trọng: phải migration VM nào, và migration như thế nào.</a:t>
            </a:r>
          </a:p>
          <a:p/>
          <a:p>
            <a:r>
              <a:t>Đây không phải bài toán đơn giản. Hệ thống có nhiều PM, nhiều VM và nhiều application, và mỗi PM có giới hạn về CPU, RAM, Disk. Nếu migration một cách đơn giản, ta có thể tránh được một PM lỗi nhưng làm một PM khác quá tải. Hoặc ngược lại, tạo ra nhiều tài nguyên bị lãng phí.</a:t>
            </a:r>
          </a:p>
          <a:p/>
          <a:p>
            <a:r>
              <a:t>Vì vậy tác giả chuyển bài toán VM migration thành một bài toán tối ưu, và dùng Game Theory để mô hình hóa sự tương tác giữa các application. (~50 giây)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mô hình Game Theory của bài báo, các multi-tier application là các player. Mỗi player chọn một migration strategy cho các VM của mình. Các VM dùng tài nguyên CPU, RAM, Disk trên các Physical Machine.</a:t>
            </a:r>
          </a:p>
          <a:p/>
          <a:p>
            <a:r>
              <a:t>Mục tiêu không chỉ là chuyển VM ra khỏi PM có nguy cơ lỗi, mà còn phải phân bổ tài nguyên hợp lý. Hai vấn đề được quan tâm là load balancing và resource waste. Nếu chuyển quá nhiều VM sang một PM, PM đó có thể quá tải. Nếu phân bổ không hợp lý, một lượng tài nguyên lớn có thể không được dùng hiệu quả.</a:t>
            </a:r>
          </a:p>
          <a:p/>
          <a:p>
            <a:r>
              <a:t>Strategy của một application ảnh hưởng đến các application khác. Chính sự tương tác này khiến Game Theory phù hợp để mô hình hóa bài toán. (~1 phút)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có mô hình Game Theory, bài báo dùng khái niệm Nash Equilibrium.</a:t>
            </a:r>
          </a:p>
          <a:p/>
          <a:p>
            <a:r>
              <a:t>Mỗi application chọn strategy dựa trên payoff của mình. Nhưng payoff đó không chỉ phụ thuộc vào chính nó, mà còn phụ thuộc vào strategy của các application khác. Một trạng thái là Nash Equilibrium khi không có player nào có thể tự đổi strategy để cải thiện payoff, trong khi các player khác giữ nguyên.</a:t>
            </a:r>
          </a:p>
          <a:p/>
          <a:p>
            <a:r>
              <a:t>Vì vậy Nash Equilibrium cho ta cách mô tả một trạng thái mà các strategy tương đối ổn định với nhau. Tuy nhiên, không gian strategy của VM migration có thể rất lớn, nên bài báo tiếp tục dùng một phương pháp metaheuristic là Simulated Annealing để tìm solution. (~1 phút)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Annealing, gọi tắt là SA, là một thuật toán tìm kiếm heuristic dựa trên xác suất.</a:t>
            </a:r>
          </a:p>
          <a:p/>
          <a:p>
            <a:r>
              <a:t>Ý tưởng là bắt đầu từ một solution ban đầu, tạo ra một solution lân cận (neighbor solution), đánh giá nó và quyết định có chấp nhận hay không. Điểm đặc biệt là trong một số trường hợp SA chấp nhận một solution kém hơn solution hiện tại. Nhìn từng bước thì có vẻ không hợp lý, nhưng nhờ vậy thuật toán thoát được local optimum và tiếp tục khám phá những vùng khác của search space.</a:t>
            </a:r>
          </a:p>
          <a:p/>
          <a:p>
            <a:r>
              <a:t>Trong quá trình chạy, temperature giảm dần. Khi temperature giảm, khả năng chấp nhận solution kém hơn cũng giảm theo. Vì vậy thuật toán ban đầu có khả năng exploration cao, sau đó dần tập trung vào những solution tốt. Trong bài báo, state space là tập các chiến lược của các player. (~1 phút)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các thành phần trên, tác giả xây dựng thuật toán PFTSA.</a:t>
            </a:r>
          </a:p>
          <a:p/>
          <a:p>
            <a:r>
              <a:t>Đầu tiên, hệ thống dự đoán lỗi và xác định PM có nguy cơ. Sau đó một migration strategy ban đầu được tạo ra và được đánh giá bằng objective, hay payoff, của bài toán. Tiếp theo thuật toán tạo một neighbor solution, đánh giá nó, và Simulated Annealing quyết định có chấp nhận hay không. Quá trình này lặp lại trong suốt quá trình tìm kiếm.</a:t>
            </a:r>
          </a:p>
          <a:p/>
          <a:p>
            <a:r>
              <a:t>Mục tiêu cuối là một migration strategy tốt để các VM rời khỏi PM có nguy cơ lỗi, trong khi vẫn dùng tài nguyên ở mức hợp lý.</a:t>
            </a:r>
          </a:p>
          <a:p/>
          <a:p>
            <a:r>
              <a:t>Bài báo có hai algorithm. Algorithm 1 là PFTSA, điều khiển quá trình tối ưu migration. Algorithm 2 là CreateNeighborSolution, tạo solution lân cận cho quá trình tìm kiếm. PFTSA là nơi fault prediction, game theory và simulated annealing được kết hợp.</a:t>
            </a:r>
          </a:p>
          <a:p/>
          <a:p>
            <a:r>
              <a:t>Chuỗi cần nhấn từ slide 8 đến 11: Game Theory trả lời migration strategy tương tác với nhau như thế nào. Nash Equilibrium trả lời trạng thái ổn định của các strategy là gì. Simulated Annealing trả lời cách tìm solution tốt trong search space lớn. PFTSA kết hợp cả ba. (~1 phút 20 giây)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phần phương pháp, ta xem tác giả đánh giá nó như thế nào.</a:t>
            </a:r>
          </a:p>
          <a:p/>
          <a:p>
            <a:r>
              <a:t>Trong simulation, tác giả dùng 50 Physical Machine không đồng nhất và 30 ứng dụng ba tầng, với thời gian t bằng 1000. Các PM có cấu hình CPU, RAM, Disk khác nhau để mô phỏng môi trường cloud không đồng nhất. Thí nghiệm chạy trên một máy 8 GB RAM, Intel Core i5.</a:t>
            </a:r>
          </a:p>
          <a:p/>
          <a:p>
            <a:r>
              <a:t>Hình 4 cho thấy tần suất lỗi của 50 PM: trường hợp 4 PM cùng lỗi tại một thời điểm phổ biến nhất, hơn 200 lần, còn 10 PM cùng lỗi ít nhất, khoảng 15 lần.</a:t>
            </a:r>
          </a:p>
          <a:p/>
          <a:p>
            <a:r>
              <a:t>Phần evaluation gồm khảo sát tham số của thuật toán, đánh giá load balancing và wasted resources, rồi benchmark PFTSA với PSOVM theo execution time và objective function. (~1 phút)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khảo sát tham số. Tác giả thay đổi hai tham số để xem chúng ảnh hưởng thế nào đến hành vi của thuật toán.</a:t>
            </a:r>
          </a:p>
          <a:p/>
          <a:p>
            <a:r>
              <a:t>Tham số thứ nhất, epsilon, đi từ 0.01 đến 0.09 để đánh giá execution time. Hình 5 cho thấy giá trị 0.03 là ổn định. Tham số thứ hai, cooling rate, đi từ 0.1 đến 0.9 để đánh giá load balancing V (Hình 6) và wasted resources W (Hình 7). Trên các hình đó, đường đen là đầu vào, đường màu là kết quả của PFTSA.</a:t>
            </a:r>
          </a:p>
          <a:p/>
          <a:p>
            <a:r>
              <a:t>Điểm cần chú ý không chỉ là một giá trị tham số cụ thể, mà là tác giả đã làm một sensitivity study để xem lựa chọn tham số ảnh hưởng thế nào đến thuật toán. Số liệu chi tiết nằm trong các figure của bài báo. (~1 phút 15 giây)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quan trọng nhất của kết quả. Tác giả benchmark PFTSA với PSOVM.</a:t>
            </a:r>
          </a:p>
          <a:p/>
          <a:p>
            <a:r>
              <a:t>Về load balancing (Hình 8), PFTSA gần tương đương PSOVM. Về wasted resources (Hình 9), hai phương pháp tương tự nhau. Về execution time (Hình 10), PFTSA thấp hơn PSOVM. Về objective function (Hình 11), tác giả báo cáo giá trị của các migration strategy tốt nhất theo PSOVM cao hơn PFTSA.</a:t>
            </a:r>
          </a:p>
          <a:p/>
          <a:p>
            <a:r>
              <a:t>Tác giả giải thích một điểm mạnh của PFTSA là randomization trong migration strategies, giúp tăng khả năng exploration. Còn PSOVM dựa trên particle position, velocity và swarm optimum.</a:t>
            </a:r>
          </a:p>
          <a:p/>
          <a:p>
            <a:r>
              <a:t>Theo kết quả của bài báo, PFTSA đạt chất lượng gần tương đương về load balancing và wasted resources, và có lợi thế về execution time trong thí nghiệm được thực hiện. (~1 phút 30 giây)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tóm tắt bài báo thành bốn đóng góp. Một, dùng Takagi-Sugeno Fuzzy System để dự đoán fault của Physical Machine. Hai, xây dựng mô hình Game Theory cho bài toán VM migration, trong đó các multi-tier application là player. Ba, dùng Simulated Annealing để tìm migration strategy trong search space lớn. Bốn, kết hợp ba thành phần thành PFTSA, rồi đánh giá bằng parameter study và benchmark với PSOVM.</a:t>
            </a:r>
          </a:p>
          <a:p/>
          <a:p>
            <a:r>
              <a:t>Có thể nhìn chúng như một pipeline: dự đoán lỗi, mô hình hóa migration, tối ưu migration, và ngăn tác động của lỗi.</a:t>
            </a:r>
          </a:p>
          <a:p/>
          <a:p>
            <a:r>
              <a:t>Kết quả được báo cáo: load balancing gần tương đương, wasted resources tương tự, execution time thấp hơn trong các thí nghiệm của bài báo. Về future work, tác giả đề xuất nghiên cứu các thuật toán metaheuristic khác cho bài toán này.</a:t>
            </a:r>
          </a:p>
          <a:p/>
          <a:p>
            <a:r>
              <a:t>Ý cốt lõi: không chờ cloud system lỗi rồi mới xử lý, mà dự đoán lỗi và chủ động di chuyển VM để giảm tác động của lỗi. (~2 phút)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đây là phần trình bày của em về phương pháp proactive fault tolerance dựa trên Takagi-Sugeno Fuzzy System và Simulated Annealing. Em xin cảm ơn thầy/cô và các bạn đã lắng nghe. Em sẵn sàng nhận câu hỏi ạ. (~20 giây)</a:t>
            </a:r>
          </a:p>
          <a:p/>
          <a:p>
            <a:r>
              <a:t>Gợi ý khi trả lời: nếu bị hỏi, đoạn dễ bị hỏi nhất là mối quan hệ Game Theory, Nash Equilibrium, Simulated Annealing và PFTSA ở slide 8 đến 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259775" y="-1554480"/>
            <a:ext cx="5120640" cy="5120640"/>
          </a:xfrm>
          <a:prstGeom prst="ellipse">
            <a:avLst/>
          </a:prstGeom>
          <a:solidFill>
            <a:srgbClr val="173F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814255" y="4206240"/>
            <a:ext cx="4023360" cy="4023360"/>
          </a:xfrm>
          <a:prstGeom prst="ellipse">
            <a:avLst/>
          </a:prstGeom>
          <a:solidFill>
            <a:srgbClr val="173F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0"/>
            <a:ext cx="146304"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51560" y="1188720"/>
            <a:ext cx="9692640" cy="365760"/>
          </a:xfrm>
          <a:prstGeom prst="rect">
            <a:avLst/>
          </a:prstGeom>
          <a:noFill/>
        </p:spPr>
        <p:txBody>
          <a:bodyPr wrap="square" lIns="0" rIns="0" tIns="0" bIns="0" anchor="t">
            <a:spAutoFit/>
          </a:bodyPr>
          <a:lstStyle/>
          <a:p>
            <a:pPr algn="l">
              <a:lnSpc>
                <a:spcPct val="100000"/>
              </a:lnSpc>
              <a:spcBef>
                <a:spcPts val="0"/>
              </a:spcBef>
              <a:spcAft>
                <a:spcPts val="0"/>
              </a:spcAft>
            </a:pPr>
            <a:r>
              <a:rPr sz="1500" b="1" i="0">
                <a:solidFill>
                  <a:srgbClr val="5D9BD3"/>
                </a:solidFill>
                <a:latin typeface="Arial"/>
              </a:rPr>
              <a:t>BÁO CÁO BÀI BÁO KHOA HỌC</a:t>
            </a:r>
          </a:p>
        </p:txBody>
      </p:sp>
      <p:sp>
        <p:nvSpPr>
          <p:cNvPr id="7" name="TextBox 6"/>
          <p:cNvSpPr txBox="1"/>
          <p:nvPr/>
        </p:nvSpPr>
        <p:spPr>
          <a:xfrm>
            <a:off x="1051560" y="1645920"/>
            <a:ext cx="10058400" cy="1371600"/>
          </a:xfrm>
          <a:prstGeom prst="rect">
            <a:avLst/>
          </a:prstGeom>
          <a:noFill/>
        </p:spPr>
        <p:txBody>
          <a:bodyPr wrap="square" lIns="0" rIns="0" tIns="0" bIns="0" anchor="t">
            <a:spAutoFit/>
          </a:bodyPr>
          <a:lstStyle/>
          <a:p>
            <a:pPr algn="l">
              <a:lnSpc>
                <a:spcPct val="104000"/>
              </a:lnSpc>
              <a:spcBef>
                <a:spcPts val="0"/>
              </a:spcBef>
              <a:spcAft>
                <a:spcPts val="0"/>
              </a:spcAft>
            </a:pPr>
            <a:r>
              <a:rPr sz="3100" b="1" i="0">
                <a:solidFill>
                  <a:srgbClr val="FFFFFF"/>
                </a:solidFill>
                <a:latin typeface="Arial"/>
              </a:rPr>
              <a:t>A Proactive Fault Tolerance Approach for Cloud Computing</a:t>
            </a:r>
          </a:p>
          <a:p>
            <a:pPr algn="l">
              <a:lnSpc>
                <a:spcPct val="108000"/>
              </a:lnSpc>
              <a:spcBef>
                <a:spcPts val="400"/>
              </a:spcBef>
              <a:spcAft>
                <a:spcPts val="0"/>
              </a:spcAft>
            </a:pPr>
            <a:r>
              <a:rPr sz="2000" b="0" i="0">
                <a:solidFill>
                  <a:srgbClr val="5D9BD3"/>
                </a:solidFill>
                <a:latin typeface="Arial"/>
              </a:rPr>
              <a:t>based on Takagi-Sugeno Fuzzy System &amp; Simulated Annealing</a:t>
            </a:r>
          </a:p>
        </p:txBody>
      </p:sp>
      <p:cxnSp>
        <p:nvCxnSpPr>
          <p:cNvPr id="8" name="Connector 7"/>
          <p:cNvCxnSpPr/>
          <p:nvPr/>
        </p:nvCxnSpPr>
        <p:spPr>
          <a:xfrm>
            <a:off x="1051560" y="3429000"/>
            <a:ext cx="2057400" cy="0"/>
          </a:xfrm>
          <a:prstGeom prst="line">
            <a:avLst/>
          </a:prstGeom>
          <a:ln w="38100">
            <a:solidFill>
              <a:srgbClr val="1F6FB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 y="3584448"/>
            <a:ext cx="9692640" cy="640080"/>
          </a:xfrm>
          <a:prstGeom prst="rect">
            <a:avLst/>
          </a:prstGeom>
          <a:noFill/>
        </p:spPr>
        <p:txBody>
          <a:bodyPr wrap="square" lIns="0" rIns="0" tIns="0" bIns="0" anchor="t">
            <a:spAutoFit/>
          </a:bodyPr>
          <a:lstStyle/>
          <a:p>
            <a:pPr algn="l">
              <a:lnSpc>
                <a:spcPct val="120000"/>
              </a:lnSpc>
              <a:spcBef>
                <a:spcPts val="0"/>
              </a:spcBef>
              <a:spcAft>
                <a:spcPts val="0"/>
              </a:spcAft>
            </a:pPr>
            <a:r>
              <a:rPr sz="1400" b="0" i="1">
                <a:solidFill>
                  <a:srgbClr val="BDD3E6"/>
                </a:solidFill>
                <a:latin typeface="Arial"/>
              </a:rPr>
              <a:t>Cách tiếp cận chịu lỗi chủ động cho điện toán đám mây dựa trên hệ mờ Takagi-Sugeno và thuật toán Simulated Annealing</a:t>
            </a:r>
          </a:p>
        </p:txBody>
      </p:sp>
      <p:sp>
        <p:nvSpPr>
          <p:cNvPr id="10" name="TextBox 9"/>
          <p:cNvSpPr txBox="1"/>
          <p:nvPr/>
        </p:nvSpPr>
        <p:spPr>
          <a:xfrm>
            <a:off x="1051560" y="4443984"/>
            <a:ext cx="9875520" cy="45720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5D9BD3"/>
                </a:solidFill>
                <a:latin typeface="Arial"/>
              </a:rPr>
              <a:t>Nhóm tác giả</a:t>
            </a:r>
          </a:p>
          <a:p>
            <a:pPr algn="l">
              <a:lnSpc>
                <a:spcPct val="110000"/>
              </a:lnSpc>
              <a:spcBef>
                <a:spcPts val="200"/>
              </a:spcBef>
              <a:spcAft>
                <a:spcPts val="0"/>
              </a:spcAft>
            </a:pPr>
            <a:r>
              <a:rPr sz="1250" b="0" i="0">
                <a:solidFill>
                  <a:srgbClr val="FFFFFF"/>
                </a:solidFill>
                <a:latin typeface="Arial"/>
              </a:rPr>
              <a:t>Khiet Bui Thanh · Linh Phung Dieu · Sam Dang Thi Hong · Tran Vu Pham · Hung Tran Cong</a:t>
            </a:r>
          </a:p>
        </p:txBody>
      </p:sp>
      <p:sp>
        <p:nvSpPr>
          <p:cNvPr id="11" name="TextBox 10"/>
          <p:cNvSpPr txBox="1"/>
          <p:nvPr/>
        </p:nvSpPr>
        <p:spPr>
          <a:xfrm>
            <a:off x="1051560" y="5440680"/>
            <a:ext cx="9875520" cy="457200"/>
          </a:xfrm>
          <a:prstGeom prst="rect">
            <a:avLst/>
          </a:prstGeom>
          <a:noFill/>
        </p:spPr>
        <p:txBody>
          <a:bodyPr wrap="square" lIns="0" rIns="0" tIns="0" bIns="0" anchor="t">
            <a:spAutoFit/>
          </a:bodyPr>
          <a:lstStyle/>
          <a:p>
            <a:pPr algn="l">
              <a:lnSpc>
                <a:spcPct val="116000"/>
              </a:lnSpc>
              <a:spcBef>
                <a:spcPts val="0"/>
              </a:spcBef>
              <a:spcAft>
                <a:spcPts val="0"/>
              </a:spcAft>
            </a:pPr>
            <a:r>
              <a:rPr sz="1250" b="0" i="0">
                <a:solidFill>
                  <a:srgbClr val="BDD3E6"/>
                </a:solidFill>
                <a:latin typeface="Arial"/>
              </a:rPr>
              <a:t>Người trình bày:  </a:t>
            </a:r>
            <a:r>
              <a:rPr sz="1250" b="1" i="0">
                <a:solidFill>
                  <a:srgbClr val="FFFFFF"/>
                </a:solidFill>
                <a:latin typeface="Arial"/>
              </a:rPr>
              <a:t>Nông Văn Tình</a:t>
            </a:r>
          </a:p>
        </p:txBody>
      </p:sp>
      <p:sp>
        <p:nvSpPr>
          <p:cNvPr id="12" name="Rounded Rectangle 11"/>
          <p:cNvSpPr/>
          <p:nvPr/>
        </p:nvSpPr>
        <p:spPr>
          <a:xfrm>
            <a:off x="1051560" y="5989320"/>
            <a:ext cx="2834640" cy="384048"/>
          </a:xfrm>
          <a:prstGeom prst="roundRect">
            <a:avLst>
              <a:gd name="adj" fmla="val 30000"/>
            </a:avLst>
          </a:prstGeom>
          <a:solidFill>
            <a:srgbClr val="173F68"/>
          </a:solidFill>
          <a:ln w="127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lnSpc>
                <a:spcPct val="100000"/>
              </a:lnSpc>
              <a:spcBef>
                <a:spcPts val="0"/>
              </a:spcBef>
              <a:spcAft>
                <a:spcPts val="0"/>
              </a:spcAft>
            </a:pPr>
            <a:r>
              <a:rPr sz="1100" b="0" i="0">
                <a:solidFill>
                  <a:srgbClr val="BDD3E6"/>
                </a:solidFill>
                <a:latin typeface="Arial"/>
              </a:rPr>
              <a:t>IJLTET · Vol.13 (3), 2019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BỐI CẢNH</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Vì sao cần chịu lỗi chủ động trong Cloud?</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2/16</a:t>
            </a:r>
          </a:p>
        </p:txBody>
      </p:sp>
      <p:sp>
        <p:nvSpPr>
          <p:cNvPr id="8" name="Rounded Rectangle 7"/>
          <p:cNvSpPr/>
          <p:nvPr/>
        </p:nvSpPr>
        <p:spPr>
          <a:xfrm>
            <a:off x="566928" y="1298448"/>
            <a:ext cx="11057839" cy="436016"/>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298448"/>
            <a:ext cx="64008" cy="436016"/>
          </a:xfrm>
          <a:prstGeom prst="rect">
            <a:avLst/>
          </a:prstGeom>
          <a:solidFill>
            <a:srgbClr val="B83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1417319"/>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B8342A"/>
                </a:solidFill>
                <a:latin typeface="Arial"/>
              </a:rPr>
              <a:t>Cloud gồm nhiều </a:t>
            </a:r>
            <a:r>
              <a:rPr sz="1140" b="1" i="0">
                <a:solidFill>
                  <a:srgbClr val="B8342A"/>
                </a:solidFill>
                <a:latin typeface="Arial"/>
              </a:rPr>
              <a:t>PM</a:t>
            </a:r>
            <a:r>
              <a:rPr sz="1140" b="0" i="0">
                <a:solidFill>
                  <a:srgbClr val="B8342A"/>
                </a:solidFill>
                <a:latin typeface="Arial"/>
              </a:rPr>
              <a:t>, mỗi PM chạy nhiều </a:t>
            </a:r>
            <a:r>
              <a:rPr sz="1140" b="1" i="0">
                <a:solidFill>
                  <a:srgbClr val="B8342A"/>
                </a:solidFill>
                <a:latin typeface="Arial"/>
              </a:rPr>
              <a:t>VM</a:t>
            </a:r>
            <a:r>
              <a:rPr sz="1140" b="0" i="0">
                <a:solidFill>
                  <a:srgbClr val="B8342A"/>
                </a:solidFill>
                <a:latin typeface="Arial"/>
              </a:rPr>
              <a:t>. Ứng dụng cần </a:t>
            </a:r>
            <a:r>
              <a:rPr sz="1140" b="1" i="0">
                <a:solidFill>
                  <a:srgbClr val="B8342A"/>
                </a:solidFill>
                <a:latin typeface="Arial"/>
              </a:rPr>
              <a:t>availability</a:t>
            </a:r>
            <a:r>
              <a:rPr sz="1140" b="0" i="0">
                <a:solidFill>
                  <a:srgbClr val="B8342A"/>
                </a:solidFill>
                <a:latin typeface="Arial"/>
              </a:rPr>
              <a:t>, </a:t>
            </a:r>
            <a:r>
              <a:rPr sz="1140" b="1" i="0">
                <a:solidFill>
                  <a:srgbClr val="B8342A"/>
                </a:solidFill>
                <a:latin typeface="Arial"/>
              </a:rPr>
              <a:t>reliability</a:t>
            </a:r>
            <a:r>
              <a:rPr sz="1140" b="0" i="0">
                <a:solidFill>
                  <a:srgbClr val="B8342A"/>
                </a:solidFill>
                <a:latin typeface="Arial"/>
              </a:rPr>
              <a:t> và </a:t>
            </a:r>
            <a:r>
              <a:rPr sz="1140" b="1" i="0">
                <a:solidFill>
                  <a:srgbClr val="B8342A"/>
                </a:solidFill>
                <a:latin typeface="Arial"/>
              </a:rPr>
              <a:t>QoS</a:t>
            </a:r>
            <a:r>
              <a:rPr sz="1140" b="0" i="0">
                <a:solidFill>
                  <a:srgbClr val="B8342A"/>
                </a:solidFill>
                <a:latin typeface="Arial"/>
              </a:rPr>
              <a:t>. Khi một PM lỗi, VM và ứng dụng trên nó bị ảnh hưởng.</a:t>
            </a:r>
          </a:p>
        </p:txBody>
      </p:sp>
      <p:sp>
        <p:nvSpPr>
          <p:cNvPr id="11" name="Rectangle 10"/>
          <p:cNvSpPr/>
          <p:nvPr/>
        </p:nvSpPr>
        <p:spPr>
          <a:xfrm>
            <a:off x="566928" y="199049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197220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Passive: phản ứng sau lỗi</a:t>
            </a:r>
          </a:p>
        </p:txBody>
      </p:sp>
      <p:sp>
        <p:nvSpPr>
          <p:cNvPr id="13" name="Rounded Rectangle 12"/>
          <p:cNvSpPr/>
          <p:nvPr/>
        </p:nvSpPr>
        <p:spPr>
          <a:xfrm>
            <a:off x="566928" y="2374544"/>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Fault occurs</a:t>
            </a:r>
          </a:p>
        </p:txBody>
      </p:sp>
      <p:sp>
        <p:nvSpPr>
          <p:cNvPr id="14" name="Down Arrow 13"/>
          <p:cNvSpPr/>
          <p:nvPr/>
        </p:nvSpPr>
        <p:spPr>
          <a:xfrm>
            <a:off x="3171367" y="2808884"/>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66928" y="2923184"/>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Fault detection</a:t>
            </a:r>
          </a:p>
        </p:txBody>
      </p:sp>
      <p:sp>
        <p:nvSpPr>
          <p:cNvPr id="16" name="Down Arrow 15"/>
          <p:cNvSpPr/>
          <p:nvPr/>
        </p:nvSpPr>
        <p:spPr>
          <a:xfrm>
            <a:off x="3171367" y="3357524"/>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66928" y="3471824"/>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Recovery</a:t>
            </a:r>
          </a:p>
        </p:txBody>
      </p:sp>
      <p:sp>
        <p:nvSpPr>
          <p:cNvPr id="18" name="Down Arrow 17"/>
          <p:cNvSpPr/>
          <p:nvPr/>
        </p:nvSpPr>
        <p:spPr>
          <a:xfrm>
            <a:off x="3171367" y="3906164"/>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66928" y="4020464"/>
            <a:ext cx="5346039" cy="420624"/>
          </a:xfrm>
          <a:prstGeom prst="roundRect">
            <a:avLst>
              <a:gd name="adj" fmla="val 14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B8342A"/>
                </a:solidFill>
                <a:latin typeface="Arial"/>
              </a:rPr>
              <a:t>Dịch vụ có thể đã gián đoạn</a:t>
            </a:r>
          </a:p>
        </p:txBody>
      </p:sp>
      <p:sp>
        <p:nvSpPr>
          <p:cNvPr id="20" name="Rectangle 19"/>
          <p:cNvSpPr/>
          <p:nvPr/>
        </p:nvSpPr>
        <p:spPr>
          <a:xfrm>
            <a:off x="6278727" y="199049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97599" y="197220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Proactive: phòng ngừa trước lỗi</a:t>
            </a:r>
          </a:p>
        </p:txBody>
      </p:sp>
      <p:sp>
        <p:nvSpPr>
          <p:cNvPr id="22" name="Rounded Rectangle 21"/>
          <p:cNvSpPr/>
          <p:nvPr/>
        </p:nvSpPr>
        <p:spPr>
          <a:xfrm>
            <a:off x="6278727" y="2374544"/>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Monitor</a:t>
            </a:r>
          </a:p>
        </p:txBody>
      </p:sp>
      <p:sp>
        <p:nvSpPr>
          <p:cNvPr id="23" name="Down Arrow 22"/>
          <p:cNvSpPr/>
          <p:nvPr/>
        </p:nvSpPr>
        <p:spPr>
          <a:xfrm>
            <a:off x="8883167" y="2808884"/>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278727" y="2923184"/>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Predict fault</a:t>
            </a:r>
          </a:p>
        </p:txBody>
      </p:sp>
      <p:sp>
        <p:nvSpPr>
          <p:cNvPr id="25" name="Down Arrow 24"/>
          <p:cNvSpPr/>
          <p:nvPr/>
        </p:nvSpPr>
        <p:spPr>
          <a:xfrm>
            <a:off x="8883167" y="3357524"/>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278727" y="3471824"/>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Preventive action: VM Migration</a:t>
            </a:r>
          </a:p>
        </p:txBody>
      </p:sp>
      <p:sp>
        <p:nvSpPr>
          <p:cNvPr id="27" name="Down Arrow 26"/>
          <p:cNvSpPr/>
          <p:nvPr/>
        </p:nvSpPr>
        <p:spPr>
          <a:xfrm>
            <a:off x="8883167" y="3906164"/>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278727" y="4020464"/>
            <a:ext cx="5346039" cy="420624"/>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1B7A57"/>
                </a:solidFill>
                <a:latin typeface="Arial"/>
              </a:rPr>
              <a:t>Tránh được lỗi tiềm ẩn</a:t>
            </a:r>
          </a:p>
        </p:txBody>
      </p:sp>
      <p:sp>
        <p:nvSpPr>
          <p:cNvPr id="29" name="Rounded Rectangle 28"/>
          <p:cNvSpPr/>
          <p:nvPr/>
        </p:nvSpPr>
        <p:spPr>
          <a:xfrm>
            <a:off x="566928" y="4715408"/>
            <a:ext cx="11057839" cy="436016"/>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66928" y="4715408"/>
            <a:ext cx="64008" cy="436016"/>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9808" y="4834280"/>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1B7A57"/>
                </a:solidFill>
                <a:latin typeface="Arial"/>
              </a:rPr>
              <a:t>Bài báo đi theo hướng chủ động: </a:t>
            </a:r>
            <a:r>
              <a:rPr sz="1140" b="1" i="0">
                <a:solidFill>
                  <a:srgbClr val="1B7A57"/>
                </a:solidFill>
                <a:latin typeface="Arial"/>
              </a:rPr>
              <a:t>dự đoán lỗi, rồi di chuyển VM</a:t>
            </a:r>
            <a:r>
              <a:rPr sz="1140" b="0" i="0">
                <a:solidFill>
                  <a:srgbClr val="1B7A57"/>
                </a:solidFill>
                <a:latin typeface="Arial"/>
              </a:rPr>
              <a:t> để dịch vụ không bị gián đoạn. Bối cảnh là </a:t>
            </a:r>
            <a:r>
              <a:rPr sz="1140" b="1" i="0">
                <a:solidFill>
                  <a:srgbClr val="1B7A57"/>
                </a:solidFill>
                <a:latin typeface="Arial"/>
              </a:rPr>
              <a:t>IaaS</a:t>
            </a:r>
            <a:r>
              <a:rPr sz="1140" b="0" i="0">
                <a:solidFill>
                  <a:srgbClr val="1B7A57"/>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Ý TƯỞNG TỔNG THỂ</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Kiến trúc đề xuất của bài báo</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3/16</a:t>
            </a:r>
          </a:p>
        </p:txBody>
      </p:sp>
      <p:sp>
        <p:nvSpPr>
          <p:cNvPr id="8" name="Rounded Rectangle 7"/>
          <p:cNvSpPr/>
          <p:nvPr/>
        </p:nvSpPr>
        <p:spPr>
          <a:xfrm>
            <a:off x="566928" y="1298448"/>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Giám sát PM / VM</a:t>
            </a:r>
          </a:p>
        </p:txBody>
      </p:sp>
      <p:sp>
        <p:nvSpPr>
          <p:cNvPr id="9" name="Down Arrow 8"/>
          <p:cNvSpPr/>
          <p:nvPr/>
        </p:nvSpPr>
        <p:spPr>
          <a:xfrm>
            <a:off x="3171367" y="1769363"/>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66928" y="1883664"/>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Dự đoán lỗi: Takagi-Sugeno Fuzzy</a:t>
            </a:r>
          </a:p>
        </p:txBody>
      </p:sp>
      <p:sp>
        <p:nvSpPr>
          <p:cNvPr id="11" name="Down Arrow 10"/>
          <p:cNvSpPr/>
          <p:nvPr/>
        </p:nvSpPr>
        <p:spPr>
          <a:xfrm>
            <a:off x="3171367" y="2354580"/>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66928" y="2468880"/>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Mô hình di chuyển VM (Game Theory)</a:t>
            </a:r>
          </a:p>
        </p:txBody>
      </p:sp>
      <p:sp>
        <p:nvSpPr>
          <p:cNvPr id="13" name="Down Arrow 12"/>
          <p:cNvSpPr/>
          <p:nvPr/>
        </p:nvSpPr>
        <p:spPr>
          <a:xfrm>
            <a:off x="3171367" y="2939796"/>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3054096"/>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Cân bằng Nash</a:t>
            </a:r>
          </a:p>
        </p:txBody>
      </p:sp>
      <p:sp>
        <p:nvSpPr>
          <p:cNvPr id="15" name="Down Arrow 14"/>
          <p:cNvSpPr/>
          <p:nvPr/>
        </p:nvSpPr>
        <p:spPr>
          <a:xfrm>
            <a:off x="3171367" y="3525012"/>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3639312"/>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Simulated Annealing</a:t>
            </a:r>
          </a:p>
        </p:txBody>
      </p:sp>
      <p:sp>
        <p:nvSpPr>
          <p:cNvPr id="17" name="Down Arrow 16"/>
          <p:cNvSpPr/>
          <p:nvPr/>
        </p:nvSpPr>
        <p:spPr>
          <a:xfrm>
            <a:off x="3171367" y="4110228"/>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4224528"/>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PFTSA → Chiến lược di chuyển</a:t>
            </a:r>
          </a:p>
        </p:txBody>
      </p:sp>
      <p:sp>
        <p:nvSpPr>
          <p:cNvPr id="19" name="Down Arrow 18"/>
          <p:cNvSpPr/>
          <p:nvPr/>
        </p:nvSpPr>
        <p:spPr>
          <a:xfrm>
            <a:off x="3171367" y="4695444"/>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66928" y="4809744"/>
            <a:ext cx="5346039" cy="457200"/>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1B7A57"/>
                </a:solidFill>
                <a:latin typeface="Arial"/>
              </a:rPr>
              <a:t>Ngăn lỗi (Prevent failure)</a:t>
            </a:r>
          </a:p>
        </p:txBody>
      </p:sp>
      <p:sp>
        <p:nvSpPr>
          <p:cNvPr id="21" name="Rectangle 20"/>
          <p:cNvSpPr/>
          <p:nvPr/>
        </p:nvSpPr>
        <p:spPr>
          <a:xfrm>
            <a:off x="6278727"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97599" y="129844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Hai thành phần chính</a:t>
            </a:r>
          </a:p>
        </p:txBody>
      </p:sp>
      <p:sp>
        <p:nvSpPr>
          <p:cNvPr id="23" name="Rounded Rectangle 22"/>
          <p:cNvSpPr/>
          <p:nvPr/>
        </p:nvSpPr>
        <p:spPr>
          <a:xfrm>
            <a:off x="6278727" y="1700784"/>
            <a:ext cx="5346039" cy="128016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78727" y="1700784"/>
            <a:ext cx="59436" cy="12801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79895" y="1837943"/>
            <a:ext cx="5007711"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1 · Fault Prediction</a:t>
            </a:r>
          </a:p>
        </p:txBody>
      </p:sp>
      <p:sp>
        <p:nvSpPr>
          <p:cNvPr id="26" name="TextBox 25"/>
          <p:cNvSpPr txBox="1"/>
          <p:nvPr/>
        </p:nvSpPr>
        <p:spPr>
          <a:xfrm>
            <a:off x="6479895" y="2100351"/>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7" name="TextBox 26"/>
          <p:cNvSpPr txBox="1"/>
          <p:nvPr/>
        </p:nvSpPr>
        <p:spPr>
          <a:xfrm>
            <a:off x="6617055" y="2104009"/>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Takagi-Sugeno Fuzzy System</a:t>
            </a:r>
          </a:p>
        </p:txBody>
      </p:sp>
      <p:sp>
        <p:nvSpPr>
          <p:cNvPr id="28" name="TextBox 27"/>
          <p:cNvSpPr txBox="1"/>
          <p:nvPr/>
        </p:nvSpPr>
        <p:spPr>
          <a:xfrm>
            <a:off x="6479895" y="235038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9" name="TextBox 28"/>
          <p:cNvSpPr txBox="1"/>
          <p:nvPr/>
        </p:nvSpPr>
        <p:spPr>
          <a:xfrm>
            <a:off x="6617055" y="2354046"/>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Dự đoán PM nào sắp lỗi</a:t>
            </a:r>
          </a:p>
        </p:txBody>
      </p:sp>
      <p:sp>
        <p:nvSpPr>
          <p:cNvPr id="30" name="Rounded Rectangle 29"/>
          <p:cNvSpPr/>
          <p:nvPr/>
        </p:nvSpPr>
        <p:spPr>
          <a:xfrm>
            <a:off x="6278727" y="3218688"/>
            <a:ext cx="5346039" cy="164592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278727" y="3218688"/>
            <a:ext cx="59436" cy="1645920"/>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79895" y="3355848"/>
            <a:ext cx="5007711"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2 · Fault Prevention</a:t>
            </a:r>
          </a:p>
        </p:txBody>
      </p:sp>
      <p:sp>
        <p:nvSpPr>
          <p:cNvPr id="33" name="TextBox 32"/>
          <p:cNvSpPr txBox="1"/>
          <p:nvPr/>
        </p:nvSpPr>
        <p:spPr>
          <a:xfrm>
            <a:off x="6479895" y="361825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34" name="TextBox 33"/>
          <p:cNvSpPr txBox="1"/>
          <p:nvPr/>
        </p:nvSpPr>
        <p:spPr>
          <a:xfrm>
            <a:off x="6617055" y="3621913"/>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VM migration</a:t>
            </a:r>
            <a:r>
              <a:rPr sz="1080" b="0" i="0">
                <a:solidFill>
                  <a:srgbClr val="2B3A47"/>
                </a:solidFill>
                <a:latin typeface="Arial"/>
              </a:rPr>
              <a:t> (di chuyển VM)</a:t>
            </a:r>
          </a:p>
        </p:txBody>
      </p:sp>
      <p:sp>
        <p:nvSpPr>
          <p:cNvPr id="35" name="TextBox 34"/>
          <p:cNvSpPr txBox="1"/>
          <p:nvPr/>
        </p:nvSpPr>
        <p:spPr>
          <a:xfrm>
            <a:off x="6479895" y="386829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36" name="TextBox 35"/>
          <p:cNvSpPr txBox="1"/>
          <p:nvPr/>
        </p:nvSpPr>
        <p:spPr>
          <a:xfrm>
            <a:off x="6617055" y="3871950"/>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Game Theory</a:t>
            </a:r>
            <a:r>
              <a:rPr sz="1080" b="0" i="0">
                <a:solidFill>
                  <a:srgbClr val="2B3A47"/>
                </a:solidFill>
                <a:latin typeface="Arial"/>
              </a:rPr>
              <a:t> + cân bằng Nash</a:t>
            </a:r>
          </a:p>
        </p:txBody>
      </p:sp>
      <p:sp>
        <p:nvSpPr>
          <p:cNvPr id="37" name="TextBox 36"/>
          <p:cNvSpPr txBox="1"/>
          <p:nvPr/>
        </p:nvSpPr>
        <p:spPr>
          <a:xfrm>
            <a:off x="6479895" y="4118330"/>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38" name="TextBox 37"/>
          <p:cNvSpPr txBox="1"/>
          <p:nvPr/>
        </p:nvSpPr>
        <p:spPr>
          <a:xfrm>
            <a:off x="6617055" y="4121988"/>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Simulated Annealing</a:t>
            </a:r>
          </a:p>
        </p:txBody>
      </p:sp>
      <p:sp>
        <p:nvSpPr>
          <p:cNvPr id="39" name="Rounded Rectangle 38"/>
          <p:cNvSpPr/>
          <p:nvPr/>
        </p:nvSpPr>
        <p:spPr>
          <a:xfrm>
            <a:off x="6278727" y="5047488"/>
            <a:ext cx="5346039" cy="436016"/>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278727" y="5047488"/>
            <a:ext cx="64008" cy="436016"/>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61607" y="5166359"/>
            <a:ext cx="50168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FFFFFF"/>
                </a:solidFill>
                <a:latin typeface="Arial"/>
              </a:rPr>
              <a:t>PFTSA = Fault Prediction + Game Theory + Simulated Annealing.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KIẾN TRÚC HỆ THỐNG</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Vòng lặp quản lý MAPE-K</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4/16</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Kiến trúc hệ thống (Figure 1 của bài báo)</a:t>
            </a:r>
          </a:p>
        </p:txBody>
      </p:sp>
      <p:sp>
        <p:nvSpPr>
          <p:cNvPr id="10" name="Rectangle 9"/>
          <p:cNvSpPr/>
          <p:nvPr/>
        </p:nvSpPr>
        <p:spPr>
          <a:xfrm>
            <a:off x="576072" y="1682495"/>
            <a:ext cx="5327751" cy="2554490"/>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f1.png"/>
          <p:cNvPicPr>
            <a:picLocks noChangeAspect="1"/>
          </p:cNvPicPr>
          <p:nvPr/>
        </p:nvPicPr>
        <p:blipFill>
          <a:blip r:embed="rId3"/>
          <a:stretch>
            <a:fillRect/>
          </a:stretch>
        </p:blipFill>
        <p:spPr>
          <a:xfrm>
            <a:off x="612648" y="1719072"/>
            <a:ext cx="5254599" cy="2481338"/>
          </a:xfrm>
          <a:prstGeom prst="rect">
            <a:avLst/>
          </a:prstGeom>
        </p:spPr>
      </p:pic>
      <p:sp>
        <p:nvSpPr>
          <p:cNvPr id="12" name="Rounded Rectangle 11"/>
          <p:cNvSpPr/>
          <p:nvPr/>
        </p:nvSpPr>
        <p:spPr>
          <a:xfrm>
            <a:off x="566928" y="4401578"/>
            <a:ext cx="5346039" cy="436016"/>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4401578"/>
            <a:ext cx="64008" cy="43601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9808" y="4520450"/>
            <a:ext cx="50168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0E2D4E"/>
                </a:solidFill>
                <a:latin typeface="Arial"/>
              </a:rPr>
              <a:t>Cloud là các cụm </a:t>
            </a:r>
            <a:r>
              <a:rPr sz="1140" b="1" i="0">
                <a:solidFill>
                  <a:srgbClr val="0E2D4E"/>
                </a:solidFill>
                <a:latin typeface="Arial"/>
              </a:rPr>
              <a:t>VM</a:t>
            </a:r>
            <a:r>
              <a:rPr sz="1140" b="0" i="0">
                <a:solidFill>
                  <a:srgbClr val="0E2D4E"/>
                </a:solidFill>
                <a:latin typeface="Arial"/>
              </a:rPr>
              <a:t> chạy trên các </a:t>
            </a:r>
            <a:r>
              <a:rPr sz="1140" b="1" i="0">
                <a:solidFill>
                  <a:srgbClr val="0E2D4E"/>
                </a:solidFill>
                <a:latin typeface="Arial"/>
              </a:rPr>
              <a:t>PM không đồng nhất</a:t>
            </a:r>
            <a:r>
              <a:rPr sz="1140" b="0" i="0">
                <a:solidFill>
                  <a:srgbClr val="0E2D4E"/>
                </a:solidFill>
                <a:latin typeface="Arial"/>
              </a:rPr>
              <a:t>.</a:t>
            </a:r>
          </a:p>
        </p:txBody>
      </p:sp>
      <p:sp>
        <p:nvSpPr>
          <p:cNvPr id="15" name="Rectangle 14"/>
          <p:cNvSpPr/>
          <p:nvPr/>
        </p:nvSpPr>
        <p:spPr>
          <a:xfrm>
            <a:off x="6278727"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97599" y="129844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Vòng lặp MAPE-K</a:t>
            </a:r>
          </a:p>
        </p:txBody>
      </p:sp>
      <p:sp>
        <p:nvSpPr>
          <p:cNvPr id="17" name="Rounded Rectangle 16"/>
          <p:cNvSpPr/>
          <p:nvPr/>
        </p:nvSpPr>
        <p:spPr>
          <a:xfrm>
            <a:off x="6278727" y="1719072"/>
            <a:ext cx="5346039" cy="47548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MONITOR: CPU, Memory, Temperature</a:t>
            </a:r>
          </a:p>
        </p:txBody>
      </p:sp>
      <p:sp>
        <p:nvSpPr>
          <p:cNvPr id="18" name="Down Arrow 17"/>
          <p:cNvSpPr/>
          <p:nvPr/>
        </p:nvSpPr>
        <p:spPr>
          <a:xfrm>
            <a:off x="8883167" y="2208276"/>
            <a:ext cx="137160" cy="118872"/>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278727" y="2340864"/>
            <a:ext cx="5346039" cy="47548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ANALYZE: Fault Prediction</a:t>
            </a:r>
          </a:p>
        </p:txBody>
      </p:sp>
      <p:sp>
        <p:nvSpPr>
          <p:cNvPr id="20" name="Down Arrow 19"/>
          <p:cNvSpPr/>
          <p:nvPr/>
        </p:nvSpPr>
        <p:spPr>
          <a:xfrm>
            <a:off x="8883167" y="2830068"/>
            <a:ext cx="137160" cy="118872"/>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278727" y="2962656"/>
            <a:ext cx="5346039" cy="47548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PLAN: VM Migration</a:t>
            </a:r>
          </a:p>
        </p:txBody>
      </p:sp>
      <p:sp>
        <p:nvSpPr>
          <p:cNvPr id="22" name="Down Arrow 21"/>
          <p:cNvSpPr/>
          <p:nvPr/>
        </p:nvSpPr>
        <p:spPr>
          <a:xfrm>
            <a:off x="8883167" y="3451860"/>
            <a:ext cx="137160" cy="118872"/>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278727" y="3584448"/>
            <a:ext cx="5346039" cy="47548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EXECUTE: Migration</a:t>
            </a:r>
          </a:p>
        </p:txBody>
      </p:sp>
      <p:sp>
        <p:nvSpPr>
          <p:cNvPr id="24" name="Rectangle 23"/>
          <p:cNvSpPr/>
          <p:nvPr/>
        </p:nvSpPr>
        <p:spPr>
          <a:xfrm>
            <a:off x="6278727" y="4261104"/>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97599" y="4242816"/>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Thành phần hỗ trợ</a:t>
            </a:r>
          </a:p>
        </p:txBody>
      </p:sp>
      <p:sp>
        <p:nvSpPr>
          <p:cNvPr id="26" name="Rounded Rectangle 25"/>
          <p:cNvSpPr/>
          <p:nvPr/>
        </p:nvSpPr>
        <p:spPr>
          <a:xfrm>
            <a:off x="6278727" y="4626864"/>
            <a:ext cx="1684477" cy="365760"/>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Broker</a:t>
            </a:r>
          </a:p>
        </p:txBody>
      </p:sp>
      <p:sp>
        <p:nvSpPr>
          <p:cNvPr id="27" name="Rounded Rectangle 26"/>
          <p:cNvSpPr/>
          <p:nvPr/>
        </p:nvSpPr>
        <p:spPr>
          <a:xfrm>
            <a:off x="8109508" y="4626864"/>
            <a:ext cx="1684477" cy="365760"/>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Local Agents</a:t>
            </a:r>
          </a:p>
        </p:txBody>
      </p:sp>
      <p:sp>
        <p:nvSpPr>
          <p:cNvPr id="28" name="Rounded Rectangle 27"/>
          <p:cNvSpPr/>
          <p:nvPr/>
        </p:nvSpPr>
        <p:spPr>
          <a:xfrm>
            <a:off x="9940290" y="4626864"/>
            <a:ext cx="1684477" cy="365760"/>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Physical Machines</a:t>
            </a:r>
          </a:p>
        </p:txBody>
      </p:sp>
      <p:sp>
        <p:nvSpPr>
          <p:cNvPr id="29" name="Rounded Rectangle 28"/>
          <p:cNvSpPr/>
          <p:nvPr/>
        </p:nvSpPr>
        <p:spPr>
          <a:xfrm>
            <a:off x="6278727" y="5084064"/>
            <a:ext cx="1684477" cy="365760"/>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Virtual Machines</a:t>
            </a:r>
          </a:p>
        </p:txBody>
      </p:sp>
      <p:sp>
        <p:nvSpPr>
          <p:cNvPr id="30" name="Rounded Rectangle 29"/>
          <p:cNvSpPr/>
          <p:nvPr/>
        </p:nvSpPr>
        <p:spPr>
          <a:xfrm>
            <a:off x="8109508" y="5084064"/>
            <a:ext cx="1684477" cy="365760"/>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Monitoring info</a:t>
            </a:r>
          </a:p>
        </p:txBody>
      </p:sp>
      <p:sp>
        <p:nvSpPr>
          <p:cNvPr id="31" name="Rounded Rectangle 30"/>
          <p:cNvSpPr/>
          <p:nvPr/>
        </p:nvSpPr>
        <p:spPr>
          <a:xfrm>
            <a:off x="9940290" y="5084064"/>
            <a:ext cx="1684477" cy="365760"/>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Knowledge 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DỰ ĐOÁN LỖI</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Dự đoán lỗi bằng hệ mờ Takagi-Sugeno</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5/16</a:t>
            </a:r>
          </a:p>
        </p:txBody>
      </p:sp>
      <p:sp>
        <p:nvSpPr>
          <p:cNvPr id="8" name="Rounded Rectangle 7"/>
          <p:cNvSpPr/>
          <p:nvPr/>
        </p:nvSpPr>
        <p:spPr>
          <a:xfrm>
            <a:off x="566928" y="1298448"/>
            <a:ext cx="11057839" cy="436016"/>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298448"/>
            <a:ext cx="64008" cy="436016"/>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1417319"/>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A86A00"/>
                </a:solidFill>
                <a:latin typeface="Arial"/>
              </a:rPr>
              <a:t>Lỗi không có ranh giới rõ ràng, nên trạng thái PM được mô tả bằng </a:t>
            </a:r>
            <a:r>
              <a:rPr sz="1140" b="1" i="0">
                <a:solidFill>
                  <a:srgbClr val="A86A00"/>
                </a:solidFill>
                <a:latin typeface="Arial"/>
              </a:rPr>
              <a:t>logic mờ</a:t>
            </a:r>
            <a:r>
              <a:rPr sz="1140" b="0" i="0">
                <a:solidFill>
                  <a:srgbClr val="A86A00"/>
                </a:solidFill>
                <a:latin typeface="Arial"/>
              </a:rPr>
              <a:t> theo tải CPU và nhiệt độ.</a:t>
            </a:r>
          </a:p>
        </p:txBody>
      </p:sp>
      <p:sp>
        <p:nvSpPr>
          <p:cNvPr id="11" name="Rectangle 10"/>
          <p:cNvSpPr/>
          <p:nvPr/>
        </p:nvSpPr>
        <p:spPr>
          <a:xfrm>
            <a:off x="566928" y="1953920"/>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1935632"/>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Hàm thành viên của tải và nhiệt độ PM (Figure 3 của bài báo)</a:t>
            </a:r>
          </a:p>
        </p:txBody>
      </p:sp>
      <p:sp>
        <p:nvSpPr>
          <p:cNvPr id="13" name="Rectangle 12"/>
          <p:cNvSpPr/>
          <p:nvPr/>
        </p:nvSpPr>
        <p:spPr>
          <a:xfrm>
            <a:off x="1901952" y="2283104"/>
            <a:ext cx="8387791" cy="1790730"/>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f3.png"/>
          <p:cNvPicPr>
            <a:picLocks noChangeAspect="1"/>
          </p:cNvPicPr>
          <p:nvPr/>
        </p:nvPicPr>
        <p:blipFill>
          <a:blip r:embed="rId3"/>
          <a:stretch>
            <a:fillRect/>
          </a:stretch>
        </p:blipFill>
        <p:spPr>
          <a:xfrm>
            <a:off x="1938528" y="2319680"/>
            <a:ext cx="8314639" cy="1717578"/>
          </a:xfrm>
          <a:prstGeom prst="rect">
            <a:avLst/>
          </a:prstGeom>
        </p:spPr>
      </p:pic>
      <p:sp>
        <p:nvSpPr>
          <p:cNvPr id="15" name="Rectangle 14"/>
          <p:cNvSpPr/>
          <p:nvPr/>
        </p:nvSpPr>
        <p:spPr>
          <a:xfrm>
            <a:off x="566928" y="4311578"/>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85800" y="4293290"/>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Quy trình suy diễn mờ</a:t>
            </a:r>
          </a:p>
        </p:txBody>
      </p:sp>
      <p:sp>
        <p:nvSpPr>
          <p:cNvPr id="17" name="Rounded Rectangle 16"/>
          <p:cNvSpPr/>
          <p:nvPr/>
        </p:nvSpPr>
        <p:spPr>
          <a:xfrm>
            <a:off x="566928" y="4695626"/>
            <a:ext cx="1977481" cy="67665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CPU Load + Temperature</a:t>
            </a:r>
          </a:p>
          <a:p>
            <a:pPr algn="ctr">
              <a:lnSpc>
                <a:spcPct val="106000"/>
              </a:lnSpc>
              <a:spcBef>
                <a:spcPts val="200"/>
              </a:spcBef>
              <a:spcAft>
                <a:spcPts val="0"/>
              </a:spcAft>
            </a:pPr>
            <a:r>
              <a:rPr sz="920" b="0" i="0">
                <a:solidFill>
                  <a:srgbClr val="64788A"/>
                </a:solidFill>
                <a:latin typeface="Arial"/>
              </a:rPr>
              <a:t>đầu vào</a:t>
            </a:r>
          </a:p>
        </p:txBody>
      </p:sp>
      <p:sp>
        <p:nvSpPr>
          <p:cNvPr id="18" name="Right Arrow 17"/>
          <p:cNvSpPr/>
          <p:nvPr/>
        </p:nvSpPr>
        <p:spPr>
          <a:xfrm>
            <a:off x="2580985" y="4965374"/>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2837017" y="4695626"/>
            <a:ext cx="1977481" cy="67665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Fuzzification</a:t>
            </a:r>
          </a:p>
          <a:p>
            <a:pPr algn="ctr">
              <a:lnSpc>
                <a:spcPct val="106000"/>
              </a:lnSpc>
              <a:spcBef>
                <a:spcPts val="200"/>
              </a:spcBef>
              <a:spcAft>
                <a:spcPts val="0"/>
              </a:spcAft>
            </a:pPr>
            <a:r>
              <a:rPr sz="920" b="0" i="0">
                <a:solidFill>
                  <a:srgbClr val="64788A"/>
                </a:solidFill>
                <a:latin typeface="Arial"/>
              </a:rPr>
              <a:t>mờ hóa</a:t>
            </a:r>
          </a:p>
        </p:txBody>
      </p:sp>
      <p:sp>
        <p:nvSpPr>
          <p:cNvPr id="20" name="Right Arrow 19"/>
          <p:cNvSpPr/>
          <p:nvPr/>
        </p:nvSpPr>
        <p:spPr>
          <a:xfrm>
            <a:off x="4851074" y="4965374"/>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107106" y="4695626"/>
            <a:ext cx="1977481" cy="67665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Fuzzy Rules</a:t>
            </a:r>
          </a:p>
          <a:p>
            <a:pPr algn="ctr">
              <a:lnSpc>
                <a:spcPct val="106000"/>
              </a:lnSpc>
              <a:spcBef>
                <a:spcPts val="200"/>
              </a:spcBef>
              <a:spcAft>
                <a:spcPts val="0"/>
              </a:spcAft>
            </a:pPr>
            <a:r>
              <a:rPr sz="920" b="0" i="0">
                <a:solidFill>
                  <a:srgbClr val="64788A"/>
                </a:solidFill>
                <a:latin typeface="Arial"/>
              </a:rPr>
              <a:t>luật mờ</a:t>
            </a:r>
          </a:p>
        </p:txBody>
      </p:sp>
      <p:sp>
        <p:nvSpPr>
          <p:cNvPr id="22" name="Right Arrow 21"/>
          <p:cNvSpPr/>
          <p:nvPr/>
        </p:nvSpPr>
        <p:spPr>
          <a:xfrm>
            <a:off x="7121164" y="4965374"/>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7377196" y="4695626"/>
            <a:ext cx="1977481" cy="67665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Approximate Reasoning</a:t>
            </a:r>
          </a:p>
          <a:p>
            <a:pPr algn="ctr">
              <a:lnSpc>
                <a:spcPct val="106000"/>
              </a:lnSpc>
              <a:spcBef>
                <a:spcPts val="200"/>
              </a:spcBef>
              <a:spcAft>
                <a:spcPts val="0"/>
              </a:spcAft>
            </a:pPr>
            <a:r>
              <a:rPr sz="920" b="0" i="0">
                <a:solidFill>
                  <a:srgbClr val="64788A"/>
                </a:solidFill>
                <a:latin typeface="Arial"/>
              </a:rPr>
              <a:t>suy luận</a:t>
            </a:r>
          </a:p>
        </p:txBody>
      </p:sp>
      <p:sp>
        <p:nvSpPr>
          <p:cNvPr id="24" name="Right Arrow 23"/>
          <p:cNvSpPr/>
          <p:nvPr/>
        </p:nvSpPr>
        <p:spPr>
          <a:xfrm>
            <a:off x="9391253" y="4965374"/>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647285" y="4695626"/>
            <a:ext cx="1977481" cy="676656"/>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1B7A57"/>
                </a:solidFill>
                <a:latin typeface="Arial"/>
              </a:rPr>
              <a:t>Defuzzification</a:t>
            </a:r>
          </a:p>
          <a:p>
            <a:pPr algn="ctr">
              <a:lnSpc>
                <a:spcPct val="106000"/>
              </a:lnSpc>
              <a:spcBef>
                <a:spcPts val="200"/>
              </a:spcBef>
              <a:spcAft>
                <a:spcPts val="0"/>
              </a:spcAft>
            </a:pPr>
            <a:r>
              <a:rPr sz="920" b="0" i="0">
                <a:solidFill>
                  <a:srgbClr val="64788A"/>
                </a:solidFill>
                <a:latin typeface="Arial"/>
              </a:rPr>
              <a:t>giải mờ, ra dự đoán lỗi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LUẬT MỜ</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Chín luật dự đoán lỗi PM</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6/16</a:t>
            </a:r>
          </a:p>
        </p:txBody>
      </p:sp>
      <p:sp>
        <p:nvSpPr>
          <p:cNvPr id="8" name="Rectangle 7"/>
          <p:cNvSpPr/>
          <p:nvPr/>
        </p:nvSpPr>
        <p:spPr>
          <a:xfrm>
            <a:off x="566928" y="1298448"/>
            <a:ext cx="6583680"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298448"/>
            <a:ext cx="935103"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Luật</a:t>
            </a:r>
          </a:p>
        </p:txBody>
      </p:sp>
      <p:sp>
        <p:nvSpPr>
          <p:cNvPr id="10" name="TextBox 9"/>
          <p:cNvSpPr txBox="1"/>
          <p:nvPr/>
        </p:nvSpPr>
        <p:spPr>
          <a:xfrm>
            <a:off x="1776351" y="1298448"/>
            <a:ext cx="1556205"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Load</a:t>
            </a:r>
          </a:p>
        </p:txBody>
      </p:sp>
      <p:sp>
        <p:nvSpPr>
          <p:cNvPr id="11" name="TextBox 10"/>
          <p:cNvSpPr txBox="1"/>
          <p:nvPr/>
        </p:nvSpPr>
        <p:spPr>
          <a:xfrm>
            <a:off x="3515436" y="1298448"/>
            <a:ext cx="2053086"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Temperature</a:t>
            </a:r>
          </a:p>
        </p:txBody>
      </p:sp>
      <p:sp>
        <p:nvSpPr>
          <p:cNvPr id="12" name="TextBox 11"/>
          <p:cNvSpPr txBox="1"/>
          <p:nvPr/>
        </p:nvSpPr>
        <p:spPr>
          <a:xfrm>
            <a:off x="5751403" y="1298448"/>
            <a:ext cx="1307764"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Fault</a:t>
            </a:r>
          </a:p>
        </p:txBody>
      </p:sp>
      <p:sp>
        <p:nvSpPr>
          <p:cNvPr id="13" name="Rectangle 12"/>
          <p:cNvSpPr/>
          <p:nvPr/>
        </p:nvSpPr>
        <p:spPr>
          <a:xfrm>
            <a:off x="566928" y="1592834"/>
            <a:ext cx="6583680" cy="290626"/>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1592834"/>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1</a:t>
            </a:r>
          </a:p>
        </p:txBody>
      </p:sp>
      <p:sp>
        <p:nvSpPr>
          <p:cNvPr id="15" name="TextBox 14"/>
          <p:cNvSpPr txBox="1"/>
          <p:nvPr/>
        </p:nvSpPr>
        <p:spPr>
          <a:xfrm>
            <a:off x="1776351" y="1592834"/>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Low</a:t>
            </a:r>
          </a:p>
        </p:txBody>
      </p:sp>
      <p:sp>
        <p:nvSpPr>
          <p:cNvPr id="16" name="TextBox 15"/>
          <p:cNvSpPr txBox="1"/>
          <p:nvPr/>
        </p:nvSpPr>
        <p:spPr>
          <a:xfrm>
            <a:off x="3515436" y="1592834"/>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Low</a:t>
            </a:r>
          </a:p>
        </p:txBody>
      </p:sp>
      <p:sp>
        <p:nvSpPr>
          <p:cNvPr id="17" name="TextBox 16"/>
          <p:cNvSpPr txBox="1"/>
          <p:nvPr/>
        </p:nvSpPr>
        <p:spPr>
          <a:xfrm>
            <a:off x="5751403" y="1592834"/>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0</a:t>
            </a:r>
          </a:p>
        </p:txBody>
      </p:sp>
      <p:sp>
        <p:nvSpPr>
          <p:cNvPr id="18" name="Rectangle 17"/>
          <p:cNvSpPr/>
          <p:nvPr/>
        </p:nvSpPr>
        <p:spPr>
          <a:xfrm>
            <a:off x="566928" y="1883460"/>
            <a:ext cx="6583680" cy="290626"/>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1883460"/>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2</a:t>
            </a:r>
          </a:p>
        </p:txBody>
      </p:sp>
      <p:sp>
        <p:nvSpPr>
          <p:cNvPr id="20" name="TextBox 19"/>
          <p:cNvSpPr txBox="1"/>
          <p:nvPr/>
        </p:nvSpPr>
        <p:spPr>
          <a:xfrm>
            <a:off x="1776351" y="1883460"/>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Low</a:t>
            </a:r>
          </a:p>
        </p:txBody>
      </p:sp>
      <p:sp>
        <p:nvSpPr>
          <p:cNvPr id="21" name="TextBox 20"/>
          <p:cNvSpPr txBox="1"/>
          <p:nvPr/>
        </p:nvSpPr>
        <p:spPr>
          <a:xfrm>
            <a:off x="3515436" y="1883460"/>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Medium</a:t>
            </a:r>
          </a:p>
        </p:txBody>
      </p:sp>
      <p:sp>
        <p:nvSpPr>
          <p:cNvPr id="22" name="TextBox 21"/>
          <p:cNvSpPr txBox="1"/>
          <p:nvPr/>
        </p:nvSpPr>
        <p:spPr>
          <a:xfrm>
            <a:off x="5751403" y="1883460"/>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0</a:t>
            </a:r>
          </a:p>
        </p:txBody>
      </p:sp>
      <p:sp>
        <p:nvSpPr>
          <p:cNvPr id="23" name="Rectangle 22"/>
          <p:cNvSpPr/>
          <p:nvPr/>
        </p:nvSpPr>
        <p:spPr>
          <a:xfrm>
            <a:off x="566928" y="2174087"/>
            <a:ext cx="6583680" cy="290626"/>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2174087"/>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3</a:t>
            </a:r>
          </a:p>
        </p:txBody>
      </p:sp>
      <p:sp>
        <p:nvSpPr>
          <p:cNvPr id="25" name="TextBox 24"/>
          <p:cNvSpPr txBox="1"/>
          <p:nvPr/>
        </p:nvSpPr>
        <p:spPr>
          <a:xfrm>
            <a:off x="1776351" y="2174087"/>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Low</a:t>
            </a:r>
          </a:p>
        </p:txBody>
      </p:sp>
      <p:sp>
        <p:nvSpPr>
          <p:cNvPr id="26" name="TextBox 25"/>
          <p:cNvSpPr txBox="1"/>
          <p:nvPr/>
        </p:nvSpPr>
        <p:spPr>
          <a:xfrm>
            <a:off x="3515436" y="2174087"/>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High</a:t>
            </a:r>
          </a:p>
        </p:txBody>
      </p:sp>
      <p:sp>
        <p:nvSpPr>
          <p:cNvPr id="27" name="TextBox 26"/>
          <p:cNvSpPr txBox="1"/>
          <p:nvPr/>
        </p:nvSpPr>
        <p:spPr>
          <a:xfrm>
            <a:off x="5751403" y="2174087"/>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1 ⚠</a:t>
            </a:r>
          </a:p>
        </p:txBody>
      </p:sp>
      <p:sp>
        <p:nvSpPr>
          <p:cNvPr id="28" name="Rectangle 27"/>
          <p:cNvSpPr/>
          <p:nvPr/>
        </p:nvSpPr>
        <p:spPr>
          <a:xfrm>
            <a:off x="566928" y="2464714"/>
            <a:ext cx="6583680" cy="290626"/>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2464714"/>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4</a:t>
            </a:r>
          </a:p>
        </p:txBody>
      </p:sp>
      <p:sp>
        <p:nvSpPr>
          <p:cNvPr id="30" name="TextBox 29"/>
          <p:cNvSpPr txBox="1"/>
          <p:nvPr/>
        </p:nvSpPr>
        <p:spPr>
          <a:xfrm>
            <a:off x="1776351" y="2464714"/>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Medium</a:t>
            </a:r>
          </a:p>
        </p:txBody>
      </p:sp>
      <p:sp>
        <p:nvSpPr>
          <p:cNvPr id="31" name="TextBox 30"/>
          <p:cNvSpPr txBox="1"/>
          <p:nvPr/>
        </p:nvSpPr>
        <p:spPr>
          <a:xfrm>
            <a:off x="3515436" y="2464714"/>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Low</a:t>
            </a:r>
          </a:p>
        </p:txBody>
      </p:sp>
      <p:sp>
        <p:nvSpPr>
          <p:cNvPr id="32" name="TextBox 31"/>
          <p:cNvSpPr txBox="1"/>
          <p:nvPr/>
        </p:nvSpPr>
        <p:spPr>
          <a:xfrm>
            <a:off x="5751403" y="2464714"/>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0</a:t>
            </a:r>
          </a:p>
        </p:txBody>
      </p:sp>
      <p:sp>
        <p:nvSpPr>
          <p:cNvPr id="33" name="Rectangle 32"/>
          <p:cNvSpPr/>
          <p:nvPr/>
        </p:nvSpPr>
        <p:spPr>
          <a:xfrm>
            <a:off x="566928" y="2755341"/>
            <a:ext cx="6583680" cy="290626"/>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8368" y="2755341"/>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5</a:t>
            </a:r>
          </a:p>
        </p:txBody>
      </p:sp>
      <p:sp>
        <p:nvSpPr>
          <p:cNvPr id="35" name="TextBox 34"/>
          <p:cNvSpPr txBox="1"/>
          <p:nvPr/>
        </p:nvSpPr>
        <p:spPr>
          <a:xfrm>
            <a:off x="1776351" y="2755341"/>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Medium</a:t>
            </a:r>
          </a:p>
        </p:txBody>
      </p:sp>
      <p:sp>
        <p:nvSpPr>
          <p:cNvPr id="36" name="TextBox 35"/>
          <p:cNvSpPr txBox="1"/>
          <p:nvPr/>
        </p:nvSpPr>
        <p:spPr>
          <a:xfrm>
            <a:off x="3515436" y="2755341"/>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Medium</a:t>
            </a:r>
          </a:p>
        </p:txBody>
      </p:sp>
      <p:sp>
        <p:nvSpPr>
          <p:cNvPr id="37" name="TextBox 36"/>
          <p:cNvSpPr txBox="1"/>
          <p:nvPr/>
        </p:nvSpPr>
        <p:spPr>
          <a:xfrm>
            <a:off x="5751403" y="2755341"/>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0</a:t>
            </a:r>
          </a:p>
        </p:txBody>
      </p:sp>
      <p:sp>
        <p:nvSpPr>
          <p:cNvPr id="38" name="Rectangle 37"/>
          <p:cNvSpPr/>
          <p:nvPr/>
        </p:nvSpPr>
        <p:spPr>
          <a:xfrm>
            <a:off x="566928" y="3045967"/>
            <a:ext cx="6583680" cy="290626"/>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8368" y="3045967"/>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6</a:t>
            </a:r>
          </a:p>
        </p:txBody>
      </p:sp>
      <p:sp>
        <p:nvSpPr>
          <p:cNvPr id="40" name="TextBox 39"/>
          <p:cNvSpPr txBox="1"/>
          <p:nvPr/>
        </p:nvSpPr>
        <p:spPr>
          <a:xfrm>
            <a:off x="1776351" y="3045967"/>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Medium</a:t>
            </a:r>
          </a:p>
        </p:txBody>
      </p:sp>
      <p:sp>
        <p:nvSpPr>
          <p:cNvPr id="41" name="TextBox 40"/>
          <p:cNvSpPr txBox="1"/>
          <p:nvPr/>
        </p:nvSpPr>
        <p:spPr>
          <a:xfrm>
            <a:off x="3515436" y="3045967"/>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High</a:t>
            </a:r>
          </a:p>
        </p:txBody>
      </p:sp>
      <p:sp>
        <p:nvSpPr>
          <p:cNvPr id="42" name="TextBox 41"/>
          <p:cNvSpPr txBox="1"/>
          <p:nvPr/>
        </p:nvSpPr>
        <p:spPr>
          <a:xfrm>
            <a:off x="5751403" y="3045967"/>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1 ⚠</a:t>
            </a:r>
          </a:p>
        </p:txBody>
      </p:sp>
      <p:sp>
        <p:nvSpPr>
          <p:cNvPr id="43" name="Rectangle 42"/>
          <p:cNvSpPr/>
          <p:nvPr/>
        </p:nvSpPr>
        <p:spPr>
          <a:xfrm>
            <a:off x="566928" y="3336594"/>
            <a:ext cx="6583680" cy="290626"/>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58368" y="3336594"/>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7</a:t>
            </a:r>
          </a:p>
        </p:txBody>
      </p:sp>
      <p:sp>
        <p:nvSpPr>
          <p:cNvPr id="45" name="TextBox 44"/>
          <p:cNvSpPr txBox="1"/>
          <p:nvPr/>
        </p:nvSpPr>
        <p:spPr>
          <a:xfrm>
            <a:off x="1776351" y="3336594"/>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High</a:t>
            </a:r>
          </a:p>
        </p:txBody>
      </p:sp>
      <p:sp>
        <p:nvSpPr>
          <p:cNvPr id="46" name="TextBox 45"/>
          <p:cNvSpPr txBox="1"/>
          <p:nvPr/>
        </p:nvSpPr>
        <p:spPr>
          <a:xfrm>
            <a:off x="3515436" y="3336594"/>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Low</a:t>
            </a:r>
          </a:p>
        </p:txBody>
      </p:sp>
      <p:sp>
        <p:nvSpPr>
          <p:cNvPr id="47" name="TextBox 46"/>
          <p:cNvSpPr txBox="1"/>
          <p:nvPr/>
        </p:nvSpPr>
        <p:spPr>
          <a:xfrm>
            <a:off x="5751403" y="3336594"/>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1 ⚠</a:t>
            </a:r>
          </a:p>
        </p:txBody>
      </p:sp>
      <p:sp>
        <p:nvSpPr>
          <p:cNvPr id="48" name="Rectangle 47"/>
          <p:cNvSpPr/>
          <p:nvPr/>
        </p:nvSpPr>
        <p:spPr>
          <a:xfrm>
            <a:off x="566928" y="3627221"/>
            <a:ext cx="6583680" cy="290626"/>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58368" y="3627221"/>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8</a:t>
            </a:r>
          </a:p>
        </p:txBody>
      </p:sp>
      <p:sp>
        <p:nvSpPr>
          <p:cNvPr id="50" name="TextBox 49"/>
          <p:cNvSpPr txBox="1"/>
          <p:nvPr/>
        </p:nvSpPr>
        <p:spPr>
          <a:xfrm>
            <a:off x="1776351" y="3627221"/>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High</a:t>
            </a:r>
          </a:p>
        </p:txBody>
      </p:sp>
      <p:sp>
        <p:nvSpPr>
          <p:cNvPr id="51" name="TextBox 50"/>
          <p:cNvSpPr txBox="1"/>
          <p:nvPr/>
        </p:nvSpPr>
        <p:spPr>
          <a:xfrm>
            <a:off x="3515436" y="3627221"/>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Medium</a:t>
            </a:r>
          </a:p>
        </p:txBody>
      </p:sp>
      <p:sp>
        <p:nvSpPr>
          <p:cNvPr id="52" name="TextBox 51"/>
          <p:cNvSpPr txBox="1"/>
          <p:nvPr/>
        </p:nvSpPr>
        <p:spPr>
          <a:xfrm>
            <a:off x="5751403" y="3627221"/>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0</a:t>
            </a:r>
          </a:p>
        </p:txBody>
      </p:sp>
      <p:sp>
        <p:nvSpPr>
          <p:cNvPr id="53" name="Rectangle 52"/>
          <p:cNvSpPr/>
          <p:nvPr/>
        </p:nvSpPr>
        <p:spPr>
          <a:xfrm>
            <a:off x="566928" y="3917848"/>
            <a:ext cx="6583680" cy="290626"/>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58368" y="3917848"/>
            <a:ext cx="935103"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1" i="0">
                <a:solidFill>
                  <a:srgbClr val="0E2D4E"/>
                </a:solidFill>
                <a:latin typeface="Arial"/>
              </a:rPr>
              <a:t>9</a:t>
            </a:r>
          </a:p>
        </p:txBody>
      </p:sp>
      <p:sp>
        <p:nvSpPr>
          <p:cNvPr id="55" name="TextBox 54"/>
          <p:cNvSpPr txBox="1"/>
          <p:nvPr/>
        </p:nvSpPr>
        <p:spPr>
          <a:xfrm>
            <a:off x="1776351" y="3917848"/>
            <a:ext cx="1556205"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High</a:t>
            </a:r>
          </a:p>
        </p:txBody>
      </p:sp>
      <p:sp>
        <p:nvSpPr>
          <p:cNvPr id="56" name="TextBox 55"/>
          <p:cNvSpPr txBox="1"/>
          <p:nvPr/>
        </p:nvSpPr>
        <p:spPr>
          <a:xfrm>
            <a:off x="3515436" y="3917848"/>
            <a:ext cx="2053086"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High</a:t>
            </a:r>
          </a:p>
        </p:txBody>
      </p:sp>
      <p:sp>
        <p:nvSpPr>
          <p:cNvPr id="57" name="TextBox 56"/>
          <p:cNvSpPr txBox="1"/>
          <p:nvPr/>
        </p:nvSpPr>
        <p:spPr>
          <a:xfrm>
            <a:off x="5751403" y="3917848"/>
            <a:ext cx="1307764" cy="290626"/>
          </a:xfrm>
          <a:prstGeom prst="rect">
            <a:avLst/>
          </a:prstGeom>
          <a:noFill/>
        </p:spPr>
        <p:txBody>
          <a:bodyPr wrap="square" lIns="0" rIns="0" tIns="0" bIns="0" anchor="ctr">
            <a:spAutoFit/>
          </a:bodyPr>
          <a:lstStyle/>
          <a:p>
            <a:pPr algn="l">
              <a:lnSpc>
                <a:spcPct val="114000"/>
              </a:lnSpc>
              <a:spcBef>
                <a:spcPts val="0"/>
              </a:spcBef>
              <a:spcAft>
                <a:spcPts val="0"/>
              </a:spcAft>
            </a:pPr>
            <a:r>
              <a:rPr sz="1060" b="0" i="0">
                <a:solidFill>
                  <a:srgbClr val="2B3A47"/>
                </a:solidFill>
                <a:latin typeface="Arial"/>
              </a:rPr>
              <a:t>1 ⚠</a:t>
            </a:r>
          </a:p>
        </p:txBody>
      </p:sp>
      <p:sp>
        <p:nvSpPr>
          <p:cNvPr id="58" name="Rounded Rectangle 57"/>
          <p:cNvSpPr/>
          <p:nvPr/>
        </p:nvSpPr>
        <p:spPr>
          <a:xfrm>
            <a:off x="7193127" y="1298448"/>
            <a:ext cx="4431639" cy="201168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7193127" y="1298448"/>
            <a:ext cx="59436" cy="2011680"/>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394295" y="1435607"/>
            <a:ext cx="4093311"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Cách hiểu nhanh</a:t>
            </a:r>
          </a:p>
        </p:txBody>
      </p:sp>
      <p:sp>
        <p:nvSpPr>
          <p:cNvPr id="61" name="TextBox 60"/>
          <p:cNvSpPr txBox="1"/>
          <p:nvPr/>
        </p:nvSpPr>
        <p:spPr>
          <a:xfrm>
            <a:off x="7394295" y="169801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62" name="TextBox 61"/>
          <p:cNvSpPr txBox="1"/>
          <p:nvPr/>
        </p:nvSpPr>
        <p:spPr>
          <a:xfrm>
            <a:off x="7531455" y="1701672"/>
            <a:ext cx="39561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PM được đánh giá theo </a:t>
            </a:r>
            <a:r>
              <a:rPr sz="1080" b="1" i="0">
                <a:solidFill>
                  <a:srgbClr val="1F6FB2"/>
                </a:solidFill>
                <a:latin typeface="Arial"/>
              </a:rPr>
              <a:t>mức tải + nhiệt độ</a:t>
            </a:r>
            <a:r>
              <a:rPr sz="1080" b="0" i="0">
                <a:solidFill>
                  <a:srgbClr val="2B3A47"/>
                </a:solidFill>
                <a:latin typeface="Arial"/>
              </a:rPr>
              <a:t>.</a:t>
            </a:r>
          </a:p>
        </p:txBody>
      </p:sp>
      <p:sp>
        <p:nvSpPr>
          <p:cNvPr id="63" name="TextBox 62"/>
          <p:cNvSpPr txBox="1"/>
          <p:nvPr/>
        </p:nvSpPr>
        <p:spPr>
          <a:xfrm>
            <a:off x="7394295" y="194805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64" name="TextBox 63"/>
          <p:cNvSpPr txBox="1"/>
          <p:nvPr/>
        </p:nvSpPr>
        <p:spPr>
          <a:xfrm>
            <a:off x="7531455" y="1951710"/>
            <a:ext cx="39561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Fault = 1</a:t>
            </a:r>
            <a:r>
              <a:rPr sz="1080" b="0" i="0">
                <a:solidFill>
                  <a:srgbClr val="2B3A47"/>
                </a:solidFill>
                <a:latin typeface="Arial"/>
              </a:rPr>
              <a:t>: PM được dự đoán </a:t>
            </a:r>
            <a:r>
              <a:rPr sz="1080" b="1" i="0">
                <a:solidFill>
                  <a:srgbClr val="1F6FB2"/>
                </a:solidFill>
                <a:latin typeface="Arial"/>
              </a:rPr>
              <a:t>có lỗi</a:t>
            </a:r>
            <a:r>
              <a:rPr sz="1080" b="0" i="0">
                <a:solidFill>
                  <a:srgbClr val="2B3A47"/>
                </a:solidFill>
                <a:latin typeface="Arial"/>
              </a:rPr>
              <a:t>.</a:t>
            </a:r>
          </a:p>
        </p:txBody>
      </p:sp>
      <p:sp>
        <p:nvSpPr>
          <p:cNvPr id="65" name="TextBox 64"/>
          <p:cNvSpPr txBox="1"/>
          <p:nvPr/>
        </p:nvSpPr>
        <p:spPr>
          <a:xfrm>
            <a:off x="7394295" y="2198090"/>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66" name="TextBox 65"/>
          <p:cNvSpPr txBox="1"/>
          <p:nvPr/>
        </p:nvSpPr>
        <p:spPr>
          <a:xfrm>
            <a:off x="7531455" y="2201748"/>
            <a:ext cx="39561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Fault = 0</a:t>
            </a:r>
            <a:r>
              <a:rPr sz="1080" b="0" i="0">
                <a:solidFill>
                  <a:srgbClr val="2B3A47"/>
                </a:solidFill>
                <a:latin typeface="Arial"/>
              </a:rPr>
              <a:t>: PM </a:t>
            </a:r>
            <a:r>
              <a:rPr sz="1080" b="1" i="0">
                <a:solidFill>
                  <a:srgbClr val="1F6FB2"/>
                </a:solidFill>
                <a:latin typeface="Arial"/>
              </a:rPr>
              <a:t>bình thường</a:t>
            </a:r>
            <a:r>
              <a:rPr sz="1080" b="0" i="0">
                <a:solidFill>
                  <a:srgbClr val="2B3A47"/>
                </a:solidFill>
                <a:latin typeface="Arial"/>
              </a:rPr>
              <a:t>.</a:t>
            </a:r>
          </a:p>
        </p:txBody>
      </p:sp>
      <p:sp>
        <p:nvSpPr>
          <p:cNvPr id="67" name="Rounded Rectangle 66"/>
          <p:cNvSpPr/>
          <p:nvPr/>
        </p:nvSpPr>
        <p:spPr>
          <a:xfrm>
            <a:off x="7193127" y="3584448"/>
            <a:ext cx="4431639" cy="436016"/>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7193127" y="3584448"/>
            <a:ext cx="64008" cy="43601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7376007" y="3703320"/>
            <a:ext cx="41024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0E2D4E"/>
                </a:solidFill>
                <a:latin typeface="Arial"/>
              </a:rPr>
              <a:t>Nguồn: Bảng 2 của bài báo.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SAU DỰ ĐOÁN</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Khi một PM được dự đoán sẽ lỗi?</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7/16</a:t>
            </a:r>
          </a:p>
        </p:txBody>
      </p:sp>
      <p:sp>
        <p:nvSpPr>
          <p:cNvPr id="8" name="Rounded Rectangle 7"/>
          <p:cNvSpPr/>
          <p:nvPr/>
        </p:nvSpPr>
        <p:spPr>
          <a:xfrm>
            <a:off x="566928" y="1298448"/>
            <a:ext cx="11057839" cy="436016"/>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298448"/>
            <a:ext cx="64008" cy="436016"/>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1417319"/>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1B7A57"/>
                </a:solidFill>
                <a:latin typeface="Arial"/>
              </a:rPr>
              <a:t>Sau dự đoán, câu hỏi đặt ra là </a:t>
            </a:r>
            <a:r>
              <a:rPr sz="1140" b="1" i="0">
                <a:solidFill>
                  <a:srgbClr val="1B7A57"/>
                </a:solidFill>
                <a:latin typeface="Arial"/>
              </a:rPr>
              <a:t>VM nào cần di chuyển, và di chuyển như thế nào?</a:t>
            </a:r>
            <a:r>
              <a:rPr sz="1140" b="0" i="0">
                <a:solidFill>
                  <a:srgbClr val="1B7A57"/>
                </a:solidFill>
                <a:latin typeface="Arial"/>
              </a:rPr>
              <a:t> Tắt PM đó chưa đủ để trả lời.</a:t>
            </a:r>
          </a:p>
        </p:txBody>
      </p:sp>
      <p:sp>
        <p:nvSpPr>
          <p:cNvPr id="11" name="Rectangle 10"/>
          <p:cNvSpPr/>
          <p:nvPr/>
        </p:nvSpPr>
        <p:spPr>
          <a:xfrm>
            <a:off x="566928" y="2027072"/>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2008784"/>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Bài toán có nhiều ràng buộc</a:t>
            </a:r>
          </a:p>
        </p:txBody>
      </p:sp>
      <p:sp>
        <p:nvSpPr>
          <p:cNvPr id="13" name="TextBox 12"/>
          <p:cNvSpPr txBox="1"/>
          <p:nvPr/>
        </p:nvSpPr>
        <p:spPr>
          <a:xfrm>
            <a:off x="566928" y="2352598"/>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50" b="1" i="0">
                <a:solidFill>
                  <a:srgbClr val="1F6FB2"/>
                </a:solidFill>
                <a:latin typeface="Arial"/>
              </a:rPr>
              <a:t>▪</a:t>
            </a:r>
          </a:p>
        </p:txBody>
      </p:sp>
      <p:sp>
        <p:nvSpPr>
          <p:cNvPr id="14" name="TextBox 13"/>
          <p:cNvSpPr txBox="1"/>
          <p:nvPr/>
        </p:nvSpPr>
        <p:spPr>
          <a:xfrm>
            <a:off x="740664" y="2356256"/>
            <a:ext cx="10884103" cy="211581"/>
          </a:xfrm>
          <a:prstGeom prst="rect">
            <a:avLst/>
          </a:prstGeom>
          <a:noFill/>
        </p:spPr>
        <p:txBody>
          <a:bodyPr wrap="square" lIns="0" rIns="0" tIns="0" bIns="0" anchor="t">
            <a:spAutoFit/>
          </a:bodyPr>
          <a:lstStyle/>
          <a:p>
            <a:pPr algn="l">
              <a:lnSpc>
                <a:spcPct val="116000"/>
              </a:lnSpc>
              <a:spcBef>
                <a:spcPts val="0"/>
              </a:spcBef>
              <a:spcAft>
                <a:spcPts val="0"/>
              </a:spcAft>
            </a:pPr>
            <a:r>
              <a:rPr sz="1250" b="0" i="0">
                <a:solidFill>
                  <a:srgbClr val="2B3A47"/>
                </a:solidFill>
                <a:latin typeface="Arial"/>
              </a:rPr>
              <a:t>Có nhiều </a:t>
            </a:r>
            <a:r>
              <a:rPr sz="1250" b="1" i="0">
                <a:solidFill>
                  <a:srgbClr val="0E2D4E"/>
                </a:solidFill>
                <a:latin typeface="Arial"/>
              </a:rPr>
              <a:t>PM</a:t>
            </a:r>
            <a:r>
              <a:rPr sz="1250" b="0" i="0">
                <a:solidFill>
                  <a:srgbClr val="2B3A47"/>
                </a:solidFill>
                <a:latin typeface="Arial"/>
              </a:rPr>
              <a:t> và nhiều </a:t>
            </a:r>
            <a:r>
              <a:rPr sz="1250" b="1" i="0">
                <a:solidFill>
                  <a:srgbClr val="0E2D4E"/>
                </a:solidFill>
                <a:latin typeface="Arial"/>
              </a:rPr>
              <a:t>VM</a:t>
            </a:r>
          </a:p>
        </p:txBody>
      </p:sp>
      <p:sp>
        <p:nvSpPr>
          <p:cNvPr id="15" name="TextBox 14"/>
          <p:cNvSpPr txBox="1"/>
          <p:nvPr/>
        </p:nvSpPr>
        <p:spPr>
          <a:xfrm>
            <a:off x="566928" y="2665780"/>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50" b="1" i="0">
                <a:solidFill>
                  <a:srgbClr val="1F6FB2"/>
                </a:solidFill>
                <a:latin typeface="Arial"/>
              </a:rPr>
              <a:t>▪</a:t>
            </a:r>
          </a:p>
        </p:txBody>
      </p:sp>
      <p:sp>
        <p:nvSpPr>
          <p:cNvPr id="16" name="TextBox 15"/>
          <p:cNvSpPr txBox="1"/>
          <p:nvPr/>
        </p:nvSpPr>
        <p:spPr>
          <a:xfrm>
            <a:off x="740664" y="2669438"/>
            <a:ext cx="10884103" cy="211581"/>
          </a:xfrm>
          <a:prstGeom prst="rect">
            <a:avLst/>
          </a:prstGeom>
          <a:noFill/>
        </p:spPr>
        <p:txBody>
          <a:bodyPr wrap="square" lIns="0" rIns="0" tIns="0" bIns="0" anchor="t">
            <a:spAutoFit/>
          </a:bodyPr>
          <a:lstStyle/>
          <a:p>
            <a:pPr algn="l">
              <a:lnSpc>
                <a:spcPct val="116000"/>
              </a:lnSpc>
              <a:spcBef>
                <a:spcPts val="0"/>
              </a:spcBef>
              <a:spcAft>
                <a:spcPts val="0"/>
              </a:spcAft>
            </a:pPr>
            <a:r>
              <a:rPr sz="1250" b="0" i="0">
                <a:solidFill>
                  <a:srgbClr val="2B3A47"/>
                </a:solidFill>
                <a:latin typeface="Arial"/>
              </a:rPr>
              <a:t>VM thuộc các </a:t>
            </a:r>
            <a:r>
              <a:rPr sz="1250" b="1" i="0">
                <a:solidFill>
                  <a:srgbClr val="0E2D4E"/>
                </a:solidFill>
                <a:latin typeface="Arial"/>
              </a:rPr>
              <a:t>application</a:t>
            </a:r>
            <a:r>
              <a:rPr sz="1250" b="0" i="0">
                <a:solidFill>
                  <a:srgbClr val="2B3A47"/>
                </a:solidFill>
                <a:latin typeface="Arial"/>
              </a:rPr>
              <a:t> khác nhau</a:t>
            </a:r>
          </a:p>
        </p:txBody>
      </p:sp>
      <p:sp>
        <p:nvSpPr>
          <p:cNvPr id="17" name="TextBox 16"/>
          <p:cNvSpPr txBox="1"/>
          <p:nvPr/>
        </p:nvSpPr>
        <p:spPr>
          <a:xfrm>
            <a:off x="566928" y="2978962"/>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50" b="1" i="0">
                <a:solidFill>
                  <a:srgbClr val="1F6FB2"/>
                </a:solidFill>
                <a:latin typeface="Arial"/>
              </a:rPr>
              <a:t>▪</a:t>
            </a:r>
          </a:p>
        </p:txBody>
      </p:sp>
      <p:sp>
        <p:nvSpPr>
          <p:cNvPr id="18" name="TextBox 17"/>
          <p:cNvSpPr txBox="1"/>
          <p:nvPr/>
        </p:nvSpPr>
        <p:spPr>
          <a:xfrm>
            <a:off x="740664" y="2982620"/>
            <a:ext cx="10884103" cy="211581"/>
          </a:xfrm>
          <a:prstGeom prst="rect">
            <a:avLst/>
          </a:prstGeom>
          <a:noFill/>
        </p:spPr>
        <p:txBody>
          <a:bodyPr wrap="square" lIns="0" rIns="0" tIns="0" bIns="0" anchor="t">
            <a:spAutoFit/>
          </a:bodyPr>
          <a:lstStyle/>
          <a:p>
            <a:pPr algn="l">
              <a:lnSpc>
                <a:spcPct val="116000"/>
              </a:lnSpc>
              <a:spcBef>
                <a:spcPts val="0"/>
              </a:spcBef>
              <a:spcAft>
                <a:spcPts val="0"/>
              </a:spcAft>
            </a:pPr>
            <a:r>
              <a:rPr sz="1250" b="0" i="0">
                <a:solidFill>
                  <a:srgbClr val="2B3A47"/>
                </a:solidFill>
                <a:latin typeface="Arial"/>
              </a:rPr>
              <a:t>Tài nguyên của PM </a:t>
            </a:r>
            <a:r>
              <a:rPr sz="1250" b="1" i="0">
                <a:solidFill>
                  <a:srgbClr val="0E2D4E"/>
                </a:solidFill>
                <a:latin typeface="Arial"/>
              </a:rPr>
              <a:t>có giới hạn</a:t>
            </a:r>
          </a:p>
        </p:txBody>
      </p:sp>
      <p:sp>
        <p:nvSpPr>
          <p:cNvPr id="19" name="TextBox 18"/>
          <p:cNvSpPr txBox="1"/>
          <p:nvPr/>
        </p:nvSpPr>
        <p:spPr>
          <a:xfrm>
            <a:off x="566928" y="3292144"/>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50" b="1" i="0">
                <a:solidFill>
                  <a:srgbClr val="1F6FB2"/>
                </a:solidFill>
                <a:latin typeface="Arial"/>
              </a:rPr>
              <a:t>▪</a:t>
            </a:r>
          </a:p>
        </p:txBody>
      </p:sp>
      <p:sp>
        <p:nvSpPr>
          <p:cNvPr id="20" name="TextBox 19"/>
          <p:cNvSpPr txBox="1"/>
          <p:nvPr/>
        </p:nvSpPr>
        <p:spPr>
          <a:xfrm>
            <a:off x="740664" y="3295802"/>
            <a:ext cx="10884103" cy="211581"/>
          </a:xfrm>
          <a:prstGeom prst="rect">
            <a:avLst/>
          </a:prstGeom>
          <a:noFill/>
        </p:spPr>
        <p:txBody>
          <a:bodyPr wrap="square" lIns="0" rIns="0" tIns="0" bIns="0" anchor="t">
            <a:spAutoFit/>
          </a:bodyPr>
          <a:lstStyle/>
          <a:p>
            <a:pPr algn="l">
              <a:lnSpc>
                <a:spcPct val="116000"/>
              </a:lnSpc>
              <a:spcBef>
                <a:spcPts val="0"/>
              </a:spcBef>
              <a:spcAft>
                <a:spcPts val="0"/>
              </a:spcAft>
            </a:pPr>
            <a:r>
              <a:rPr sz="1250" b="0" i="0">
                <a:solidFill>
                  <a:srgbClr val="2B3A47"/>
                </a:solidFill>
                <a:latin typeface="Arial"/>
              </a:rPr>
              <a:t>Di chuyển ảnh hưởng đến </a:t>
            </a:r>
            <a:r>
              <a:rPr sz="1250" b="1" i="0">
                <a:solidFill>
                  <a:srgbClr val="0E2D4E"/>
                </a:solidFill>
                <a:latin typeface="Arial"/>
              </a:rPr>
              <a:t>cân bằng tải (load balancing)</a:t>
            </a:r>
          </a:p>
        </p:txBody>
      </p:sp>
      <p:sp>
        <p:nvSpPr>
          <p:cNvPr id="21" name="TextBox 20"/>
          <p:cNvSpPr txBox="1"/>
          <p:nvPr/>
        </p:nvSpPr>
        <p:spPr>
          <a:xfrm>
            <a:off x="566928" y="3605326"/>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50" b="1" i="0">
                <a:solidFill>
                  <a:srgbClr val="1F6FB2"/>
                </a:solidFill>
                <a:latin typeface="Arial"/>
              </a:rPr>
              <a:t>▪</a:t>
            </a:r>
          </a:p>
        </p:txBody>
      </p:sp>
      <p:sp>
        <p:nvSpPr>
          <p:cNvPr id="22" name="TextBox 21"/>
          <p:cNvSpPr txBox="1"/>
          <p:nvPr/>
        </p:nvSpPr>
        <p:spPr>
          <a:xfrm>
            <a:off x="740664" y="3608984"/>
            <a:ext cx="10884103" cy="211581"/>
          </a:xfrm>
          <a:prstGeom prst="rect">
            <a:avLst/>
          </a:prstGeom>
          <a:noFill/>
        </p:spPr>
        <p:txBody>
          <a:bodyPr wrap="square" lIns="0" rIns="0" tIns="0" bIns="0" anchor="t">
            <a:spAutoFit/>
          </a:bodyPr>
          <a:lstStyle/>
          <a:p>
            <a:pPr algn="l">
              <a:lnSpc>
                <a:spcPct val="116000"/>
              </a:lnSpc>
              <a:spcBef>
                <a:spcPts val="0"/>
              </a:spcBef>
              <a:spcAft>
                <a:spcPts val="0"/>
              </a:spcAft>
            </a:pPr>
            <a:r>
              <a:rPr sz="1250" b="0" i="0">
                <a:solidFill>
                  <a:srgbClr val="2B3A47"/>
                </a:solidFill>
                <a:latin typeface="Arial"/>
              </a:rPr>
              <a:t>Di chuyển có thể gây </a:t>
            </a:r>
            <a:r>
              <a:rPr sz="1250" b="1" i="0">
                <a:solidFill>
                  <a:srgbClr val="0E2D4E"/>
                </a:solidFill>
                <a:latin typeface="Arial"/>
              </a:rPr>
              <a:t>lãng phí tài nguyên (resource waste)</a:t>
            </a:r>
          </a:p>
        </p:txBody>
      </p:sp>
      <p:sp>
        <p:nvSpPr>
          <p:cNvPr id="23" name="Rounded Rectangle 22"/>
          <p:cNvSpPr/>
          <p:nvPr/>
        </p:nvSpPr>
        <p:spPr>
          <a:xfrm>
            <a:off x="566928" y="4094886"/>
            <a:ext cx="11057839" cy="436016"/>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4094886"/>
            <a:ext cx="64008" cy="436016"/>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8" y="4213758"/>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FFFFFF"/>
                </a:solidFill>
                <a:latin typeface="Arial"/>
              </a:rPr>
              <a:t>Tác giả mô hình hóa bài toán di chuyển VM bằng </a:t>
            </a:r>
            <a:r>
              <a:rPr sz="1140" b="1" i="0">
                <a:solidFill>
                  <a:srgbClr val="FFFFFF"/>
                </a:solidFill>
                <a:latin typeface="Arial"/>
              </a:rPr>
              <a:t>Game Theory (lý thuyết trò chơi)</a:t>
            </a:r>
            <a:r>
              <a:rPr sz="1140" b="0" i="0">
                <a:solidFill>
                  <a:srgbClr val="FFFFFF"/>
                </a:solidFill>
                <a:latin typeface="Arial"/>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MÔ HÌNH TRÒ CHƠI</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Di chuyển VM như một trò chơi</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8/16</a:t>
            </a:r>
          </a:p>
        </p:txBody>
      </p:sp>
      <p:sp>
        <p:nvSpPr>
          <p:cNvPr id="8" name="Rounded Rectangle 7"/>
          <p:cNvSpPr/>
          <p:nvPr/>
        </p:nvSpPr>
        <p:spPr>
          <a:xfrm>
            <a:off x="566928" y="1298448"/>
            <a:ext cx="3551834" cy="118872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298448"/>
            <a:ext cx="59436" cy="1188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435607"/>
            <a:ext cx="3213506"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Players</a:t>
            </a:r>
          </a:p>
        </p:txBody>
      </p:sp>
      <p:sp>
        <p:nvSpPr>
          <p:cNvPr id="11" name="TextBox 10"/>
          <p:cNvSpPr txBox="1"/>
          <p:nvPr/>
        </p:nvSpPr>
        <p:spPr>
          <a:xfrm>
            <a:off x="768096" y="169801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12" name="TextBox 11"/>
          <p:cNvSpPr txBox="1"/>
          <p:nvPr/>
        </p:nvSpPr>
        <p:spPr>
          <a:xfrm>
            <a:off x="905256" y="1701672"/>
            <a:ext cx="3076346"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Các </a:t>
            </a:r>
            <a:r>
              <a:rPr sz="1080" b="1" i="0">
                <a:solidFill>
                  <a:srgbClr val="1F6FB2"/>
                </a:solidFill>
                <a:latin typeface="Arial"/>
              </a:rPr>
              <a:t>multi-tier application</a:t>
            </a:r>
          </a:p>
        </p:txBody>
      </p:sp>
      <p:sp>
        <p:nvSpPr>
          <p:cNvPr id="13" name="Rounded Rectangle 12"/>
          <p:cNvSpPr/>
          <p:nvPr/>
        </p:nvSpPr>
        <p:spPr>
          <a:xfrm>
            <a:off x="4319930" y="1298448"/>
            <a:ext cx="3551834" cy="118872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19930" y="1298448"/>
            <a:ext cx="59436" cy="1188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21098" y="1435607"/>
            <a:ext cx="3213506"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Strategies</a:t>
            </a:r>
          </a:p>
        </p:txBody>
      </p:sp>
      <p:sp>
        <p:nvSpPr>
          <p:cNvPr id="16" name="TextBox 15"/>
          <p:cNvSpPr txBox="1"/>
          <p:nvPr/>
        </p:nvSpPr>
        <p:spPr>
          <a:xfrm>
            <a:off x="4521098" y="169801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17" name="TextBox 16"/>
          <p:cNvSpPr txBox="1"/>
          <p:nvPr/>
        </p:nvSpPr>
        <p:spPr>
          <a:xfrm>
            <a:off x="4658258" y="1701672"/>
            <a:ext cx="3076346"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Các chiến lược </a:t>
            </a:r>
            <a:r>
              <a:rPr sz="1080" b="1" i="0">
                <a:solidFill>
                  <a:srgbClr val="1F6FB2"/>
                </a:solidFill>
                <a:latin typeface="Arial"/>
              </a:rPr>
              <a:t>phân bổ / di chuyển VM</a:t>
            </a:r>
          </a:p>
        </p:txBody>
      </p:sp>
      <p:sp>
        <p:nvSpPr>
          <p:cNvPr id="18" name="Rounded Rectangle 17"/>
          <p:cNvSpPr/>
          <p:nvPr/>
        </p:nvSpPr>
        <p:spPr>
          <a:xfrm>
            <a:off x="8072932" y="1298448"/>
            <a:ext cx="3551834" cy="118872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72932" y="1298448"/>
            <a:ext cx="59436" cy="1188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74100" y="1435607"/>
            <a:ext cx="3213506"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Resources</a:t>
            </a:r>
          </a:p>
        </p:txBody>
      </p:sp>
      <p:sp>
        <p:nvSpPr>
          <p:cNvPr id="21" name="TextBox 20"/>
          <p:cNvSpPr txBox="1"/>
          <p:nvPr/>
        </p:nvSpPr>
        <p:spPr>
          <a:xfrm>
            <a:off x="8274100" y="169801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2" name="TextBox 21"/>
          <p:cNvSpPr txBox="1"/>
          <p:nvPr/>
        </p:nvSpPr>
        <p:spPr>
          <a:xfrm>
            <a:off x="8411260" y="1701672"/>
            <a:ext cx="3076346"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CPU · RAM · Disk</a:t>
            </a:r>
          </a:p>
        </p:txBody>
      </p:sp>
      <p:sp>
        <p:nvSpPr>
          <p:cNvPr id="23" name="Rectangle 22"/>
          <p:cNvSpPr/>
          <p:nvPr/>
        </p:nvSpPr>
        <p:spPr>
          <a:xfrm>
            <a:off x="566928" y="273405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5800" y="271576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Mục tiêu</a:t>
            </a:r>
          </a:p>
        </p:txBody>
      </p:sp>
      <p:sp>
        <p:nvSpPr>
          <p:cNvPr id="25" name="TextBox 24"/>
          <p:cNvSpPr txBox="1"/>
          <p:nvPr/>
        </p:nvSpPr>
        <p:spPr>
          <a:xfrm>
            <a:off x="566928" y="3077870"/>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26" name="TextBox 25"/>
          <p:cNvSpPr txBox="1"/>
          <p:nvPr/>
        </p:nvSpPr>
        <p:spPr>
          <a:xfrm>
            <a:off x="740664" y="3081528"/>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2B3A47"/>
                </a:solidFill>
                <a:latin typeface="Arial"/>
              </a:rPr>
              <a:t>Cân bằng tải</a:t>
            </a:r>
          </a:p>
        </p:txBody>
      </p:sp>
      <p:sp>
        <p:nvSpPr>
          <p:cNvPr id="27" name="TextBox 26"/>
          <p:cNvSpPr txBox="1"/>
          <p:nvPr/>
        </p:nvSpPr>
        <p:spPr>
          <a:xfrm>
            <a:off x="566928" y="3370986"/>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28" name="TextBox 27"/>
          <p:cNvSpPr txBox="1"/>
          <p:nvPr/>
        </p:nvSpPr>
        <p:spPr>
          <a:xfrm>
            <a:off x="740664" y="3374644"/>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2B3A47"/>
                </a:solidFill>
                <a:latin typeface="Arial"/>
              </a:rPr>
              <a:t>Sử dụng tài nguyên hiệu quả</a:t>
            </a:r>
          </a:p>
        </p:txBody>
      </p:sp>
      <p:sp>
        <p:nvSpPr>
          <p:cNvPr id="29" name="TextBox 28"/>
          <p:cNvSpPr txBox="1"/>
          <p:nvPr/>
        </p:nvSpPr>
        <p:spPr>
          <a:xfrm>
            <a:off x="566928" y="3664102"/>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30" name="TextBox 29"/>
          <p:cNvSpPr txBox="1"/>
          <p:nvPr/>
        </p:nvSpPr>
        <p:spPr>
          <a:xfrm>
            <a:off x="740664" y="3667760"/>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2B3A47"/>
                </a:solidFill>
                <a:latin typeface="Arial"/>
              </a:rPr>
              <a:t>Giảm resource waste</a:t>
            </a:r>
          </a:p>
        </p:txBody>
      </p:sp>
      <p:sp>
        <p:nvSpPr>
          <p:cNvPr id="31" name="TextBox 30"/>
          <p:cNvSpPr txBox="1"/>
          <p:nvPr/>
        </p:nvSpPr>
        <p:spPr>
          <a:xfrm>
            <a:off x="566928" y="3957218"/>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32" name="TextBox 31"/>
          <p:cNvSpPr txBox="1"/>
          <p:nvPr/>
        </p:nvSpPr>
        <p:spPr>
          <a:xfrm>
            <a:off x="740664" y="3960876"/>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2B3A47"/>
                </a:solidFill>
                <a:latin typeface="Arial"/>
              </a:rPr>
              <a:t>Tránh PM có nguy cơ fault</a:t>
            </a:r>
          </a:p>
        </p:txBody>
      </p:sp>
      <p:sp>
        <p:nvSpPr>
          <p:cNvPr id="33" name="Rectangle 32"/>
          <p:cNvSpPr/>
          <p:nvPr/>
        </p:nvSpPr>
        <p:spPr>
          <a:xfrm>
            <a:off x="6278727" y="273405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97599" y="271576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Từ chiến lược đến payoff</a:t>
            </a:r>
          </a:p>
        </p:txBody>
      </p:sp>
      <p:sp>
        <p:nvSpPr>
          <p:cNvPr id="35" name="Rounded Rectangle 34"/>
          <p:cNvSpPr/>
          <p:nvPr/>
        </p:nvSpPr>
        <p:spPr>
          <a:xfrm>
            <a:off x="6278727" y="3081528"/>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App 1 / App 2 / App 3 → Strategy</a:t>
            </a:r>
          </a:p>
        </p:txBody>
      </p:sp>
      <p:sp>
        <p:nvSpPr>
          <p:cNvPr id="36" name="Down Arrow 35"/>
          <p:cNvSpPr/>
          <p:nvPr/>
        </p:nvSpPr>
        <p:spPr>
          <a:xfrm>
            <a:off x="8883167" y="3552444"/>
            <a:ext cx="137160" cy="155448"/>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6278727" y="3721608"/>
            <a:ext cx="5346039" cy="45720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Combined Strategy</a:t>
            </a:r>
          </a:p>
        </p:txBody>
      </p:sp>
      <p:sp>
        <p:nvSpPr>
          <p:cNvPr id="38" name="Down Arrow 37"/>
          <p:cNvSpPr/>
          <p:nvPr/>
        </p:nvSpPr>
        <p:spPr>
          <a:xfrm>
            <a:off x="8883167" y="4192524"/>
            <a:ext cx="137160" cy="155448"/>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6278727" y="4361688"/>
            <a:ext cx="5346039" cy="457200"/>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1B7A57"/>
                </a:solidFill>
                <a:latin typeface="Arial"/>
              </a:rPr>
              <a:t>Payoff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CÂN BẰNG NASH</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Vì sao cần Nash Equilibrium?</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9/16</a:t>
            </a:r>
          </a:p>
        </p:txBody>
      </p:sp>
      <p:sp>
        <p:nvSpPr>
          <p:cNvPr id="8" name="Rounded Rectangle 7"/>
          <p:cNvSpPr/>
          <p:nvPr/>
        </p:nvSpPr>
        <p:spPr>
          <a:xfrm>
            <a:off x="566928" y="1298448"/>
            <a:ext cx="11057839" cy="436016"/>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298448"/>
            <a:ext cx="64008" cy="436016"/>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1417319"/>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A86A00"/>
                </a:solidFill>
                <a:latin typeface="Arial"/>
              </a:rPr>
              <a:t>Các ứng dụng </a:t>
            </a:r>
            <a:r>
              <a:rPr sz="1140" b="1" i="0">
                <a:solidFill>
                  <a:srgbClr val="A86A00"/>
                </a:solidFill>
                <a:latin typeface="Arial"/>
              </a:rPr>
              <a:t>không độc lập</a:t>
            </a:r>
            <a:r>
              <a:rPr sz="1140" b="0" i="0">
                <a:solidFill>
                  <a:srgbClr val="A86A00"/>
                </a:solidFill>
                <a:latin typeface="Arial"/>
              </a:rPr>
              <a:t>: một ứng dụng đổi chiến lược sẽ ảnh hưởng tới tài nguyên còn trống, tải của PM và các ứng dụng khác.</a:t>
            </a:r>
          </a:p>
        </p:txBody>
      </p:sp>
      <p:sp>
        <p:nvSpPr>
          <p:cNvPr id="11" name="Rounded Rectangle 10"/>
          <p:cNvSpPr/>
          <p:nvPr/>
        </p:nvSpPr>
        <p:spPr>
          <a:xfrm>
            <a:off x="566928" y="1990496"/>
            <a:ext cx="11057839" cy="100584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66928" y="1990496"/>
            <a:ext cx="59436" cy="1005840"/>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8096" y="2127656"/>
            <a:ext cx="10719511"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Nash Equilibrium</a:t>
            </a:r>
          </a:p>
        </p:txBody>
      </p:sp>
      <p:sp>
        <p:nvSpPr>
          <p:cNvPr id="14" name="TextBox 13"/>
          <p:cNvSpPr txBox="1"/>
          <p:nvPr/>
        </p:nvSpPr>
        <p:spPr>
          <a:xfrm>
            <a:off x="768096" y="2393721"/>
            <a:ext cx="1071951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Trạng thái mà </a:t>
            </a:r>
            <a:r>
              <a:rPr sz="1080" b="1" i="0">
                <a:solidFill>
                  <a:srgbClr val="1F6FB2"/>
                </a:solidFill>
                <a:latin typeface="Arial"/>
              </a:rPr>
              <a:t>không người chơi nào</a:t>
            </a:r>
            <a:r>
              <a:rPr sz="1080" b="0" i="0">
                <a:solidFill>
                  <a:srgbClr val="2B3A47"/>
                </a:solidFill>
                <a:latin typeface="Arial"/>
              </a:rPr>
              <a:t> có thể tự đổi chiến lược để cải thiện payoff, khi các player khác </a:t>
            </a:r>
            <a:r>
              <a:rPr sz="1080" b="1" i="0">
                <a:solidFill>
                  <a:srgbClr val="1F6FB2"/>
                </a:solidFill>
                <a:latin typeface="Arial"/>
              </a:rPr>
              <a:t>giữ nguyên</a:t>
            </a:r>
            <a:r>
              <a:rPr sz="1080" b="0" i="0">
                <a:solidFill>
                  <a:srgbClr val="2B3A47"/>
                </a:solidFill>
                <a:latin typeface="Arial"/>
              </a:rPr>
              <a:t> chiến lược.</a:t>
            </a:r>
          </a:p>
        </p:txBody>
      </p:sp>
      <p:sp>
        <p:nvSpPr>
          <p:cNvPr id="15" name="Rectangle 14"/>
          <p:cNvSpPr/>
          <p:nvPr/>
        </p:nvSpPr>
        <p:spPr>
          <a:xfrm>
            <a:off x="566928" y="3307232"/>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85800" y="3288944"/>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Ý tưởng</a:t>
            </a:r>
          </a:p>
        </p:txBody>
      </p:sp>
      <p:sp>
        <p:nvSpPr>
          <p:cNvPr id="17" name="Rounded Rectangle 16"/>
          <p:cNvSpPr/>
          <p:nvPr/>
        </p:nvSpPr>
        <p:spPr>
          <a:xfrm>
            <a:off x="566928" y="3636416"/>
            <a:ext cx="2545003" cy="640080"/>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Player strategies</a:t>
            </a:r>
          </a:p>
        </p:txBody>
      </p:sp>
      <p:sp>
        <p:nvSpPr>
          <p:cNvPr id="18" name="Right Arrow 17"/>
          <p:cNvSpPr/>
          <p:nvPr/>
        </p:nvSpPr>
        <p:spPr>
          <a:xfrm>
            <a:off x="3148507" y="388787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3404539" y="3636416"/>
            <a:ext cx="2545003" cy="640080"/>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Payoff</a:t>
            </a:r>
          </a:p>
        </p:txBody>
      </p:sp>
      <p:sp>
        <p:nvSpPr>
          <p:cNvPr id="20" name="Right Arrow 19"/>
          <p:cNvSpPr/>
          <p:nvPr/>
        </p:nvSpPr>
        <p:spPr>
          <a:xfrm>
            <a:off x="5986119" y="388787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242151" y="3636416"/>
            <a:ext cx="2545003" cy="640080"/>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Player có thể cải thiện?</a:t>
            </a:r>
          </a:p>
        </p:txBody>
      </p:sp>
      <p:sp>
        <p:nvSpPr>
          <p:cNvPr id="22" name="Right Arrow 21"/>
          <p:cNvSpPr/>
          <p:nvPr/>
        </p:nvSpPr>
        <p:spPr>
          <a:xfrm>
            <a:off x="8823731" y="388787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9079763" y="3636416"/>
            <a:ext cx="2545003" cy="640080"/>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1B7A57"/>
                </a:solidFill>
                <a:latin typeface="Arial"/>
              </a:rPr>
              <a:t>Nash Equilibrium</a:t>
            </a:r>
          </a:p>
          <a:p>
            <a:pPr algn="ctr">
              <a:lnSpc>
                <a:spcPct val="106000"/>
              </a:lnSpc>
              <a:spcBef>
                <a:spcPts val="200"/>
              </a:spcBef>
              <a:spcAft>
                <a:spcPts val="0"/>
              </a:spcAft>
            </a:pPr>
            <a:r>
              <a:rPr sz="920" b="0" i="0">
                <a:solidFill>
                  <a:srgbClr val="64788A"/>
                </a:solidFill>
                <a:latin typeface="Arial"/>
              </a:rPr>
              <a:t>khi câu trả lời là KHÔNG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TỐI ƯU HÓA</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Simulated Annealing</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10/16</a:t>
            </a:r>
          </a:p>
        </p:txBody>
      </p:sp>
      <p:sp>
        <p:nvSpPr>
          <p:cNvPr id="8" name="Rounded Rectangle 7"/>
          <p:cNvSpPr/>
          <p:nvPr/>
        </p:nvSpPr>
        <p:spPr>
          <a:xfrm>
            <a:off x="566928" y="1298448"/>
            <a:ext cx="11057839" cy="436016"/>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298448"/>
            <a:ext cx="64008" cy="436016"/>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1417319"/>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A86A00"/>
                </a:solidFill>
                <a:latin typeface="Arial"/>
              </a:rPr>
              <a:t>Không gian chiến lược di chuyển </a:t>
            </a:r>
            <a:r>
              <a:rPr sz="1140" b="1" i="0">
                <a:solidFill>
                  <a:srgbClr val="A86A00"/>
                </a:solidFill>
                <a:latin typeface="Arial"/>
              </a:rPr>
              <a:t>rất lớn</a:t>
            </a:r>
            <a:r>
              <a:rPr sz="1140" b="0" i="0">
                <a:solidFill>
                  <a:srgbClr val="A86A00"/>
                </a:solidFill>
                <a:latin typeface="Arial"/>
              </a:rPr>
              <a:t>; duyệt toàn bộ (exhaustive search) tốn nhiều thời gian  →  dùng tìm kiếm heuristic.</a:t>
            </a:r>
          </a:p>
        </p:txBody>
      </p:sp>
      <p:sp>
        <p:nvSpPr>
          <p:cNvPr id="11" name="Rounded Rectangle 10"/>
          <p:cNvSpPr/>
          <p:nvPr/>
        </p:nvSpPr>
        <p:spPr>
          <a:xfrm>
            <a:off x="566928" y="1972208"/>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Initial Solution</a:t>
            </a:r>
          </a:p>
        </p:txBody>
      </p:sp>
      <p:sp>
        <p:nvSpPr>
          <p:cNvPr id="12" name="Down Arrow 11"/>
          <p:cNvSpPr/>
          <p:nvPr/>
        </p:nvSpPr>
        <p:spPr>
          <a:xfrm>
            <a:off x="3171367" y="2406548"/>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66928" y="2520848"/>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Generate Neighbor</a:t>
            </a:r>
          </a:p>
        </p:txBody>
      </p:sp>
      <p:sp>
        <p:nvSpPr>
          <p:cNvPr id="14" name="Down Arrow 13"/>
          <p:cNvSpPr/>
          <p:nvPr/>
        </p:nvSpPr>
        <p:spPr>
          <a:xfrm>
            <a:off x="3171367" y="2955188"/>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66928" y="3069488"/>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Evaluate Solution</a:t>
            </a:r>
          </a:p>
        </p:txBody>
      </p:sp>
      <p:sp>
        <p:nvSpPr>
          <p:cNvPr id="16" name="Down Arrow 15"/>
          <p:cNvSpPr/>
          <p:nvPr/>
        </p:nvSpPr>
        <p:spPr>
          <a:xfrm>
            <a:off x="3171367" y="3503828"/>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66928" y="3618128"/>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Accept / Reject</a:t>
            </a:r>
          </a:p>
        </p:txBody>
      </p:sp>
      <p:sp>
        <p:nvSpPr>
          <p:cNvPr id="18" name="Down Arrow 17"/>
          <p:cNvSpPr/>
          <p:nvPr/>
        </p:nvSpPr>
        <p:spPr>
          <a:xfrm>
            <a:off x="3171367" y="4052468"/>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66928" y="4166768"/>
            <a:ext cx="5346039" cy="420624"/>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Reduce Temperature → Repeat</a:t>
            </a:r>
          </a:p>
        </p:txBody>
      </p:sp>
      <p:sp>
        <p:nvSpPr>
          <p:cNvPr id="20" name="Down Arrow 19"/>
          <p:cNvSpPr/>
          <p:nvPr/>
        </p:nvSpPr>
        <p:spPr>
          <a:xfrm>
            <a:off x="3171367" y="4601108"/>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66928" y="4715408"/>
            <a:ext cx="5346039" cy="420624"/>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1B7A57"/>
                </a:solidFill>
                <a:latin typeface="Arial"/>
              </a:rPr>
              <a:t>Final Solution</a:t>
            </a:r>
          </a:p>
        </p:txBody>
      </p:sp>
      <p:sp>
        <p:nvSpPr>
          <p:cNvPr id="22" name="Rounded Rectangle 21"/>
          <p:cNvSpPr/>
          <p:nvPr/>
        </p:nvSpPr>
        <p:spPr>
          <a:xfrm>
            <a:off x="6278727" y="1972208"/>
            <a:ext cx="5346039" cy="146304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78727" y="1972208"/>
            <a:ext cx="59436" cy="1463040"/>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79895" y="2109368"/>
            <a:ext cx="5007711"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Điểm then chốt</a:t>
            </a:r>
          </a:p>
        </p:txBody>
      </p:sp>
      <p:sp>
        <p:nvSpPr>
          <p:cNvPr id="25" name="TextBox 24"/>
          <p:cNvSpPr txBox="1"/>
          <p:nvPr/>
        </p:nvSpPr>
        <p:spPr>
          <a:xfrm>
            <a:off x="6479895" y="237177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6" name="TextBox 25"/>
          <p:cNvSpPr txBox="1"/>
          <p:nvPr/>
        </p:nvSpPr>
        <p:spPr>
          <a:xfrm>
            <a:off x="6617055" y="2375433"/>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SA có thể </a:t>
            </a:r>
            <a:r>
              <a:rPr sz="1080" b="1" i="0">
                <a:solidFill>
                  <a:srgbClr val="1F6FB2"/>
                </a:solidFill>
                <a:latin typeface="Arial"/>
              </a:rPr>
              <a:t>chấp nhận một lời giải kém hơn</a:t>
            </a:r>
            <a:r>
              <a:rPr sz="1080" b="0" i="0">
                <a:solidFill>
                  <a:srgbClr val="2B3A47"/>
                </a:solidFill>
                <a:latin typeface="Arial"/>
              </a:rPr>
              <a:t> trong một số bước.</a:t>
            </a:r>
          </a:p>
        </p:txBody>
      </p:sp>
      <p:sp>
        <p:nvSpPr>
          <p:cNvPr id="27" name="TextBox 26"/>
          <p:cNvSpPr txBox="1"/>
          <p:nvPr/>
        </p:nvSpPr>
        <p:spPr>
          <a:xfrm>
            <a:off x="6479895" y="262181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8" name="TextBox 27"/>
          <p:cNvSpPr txBox="1"/>
          <p:nvPr/>
        </p:nvSpPr>
        <p:spPr>
          <a:xfrm>
            <a:off x="6617055" y="2625471"/>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Nhờ đó </a:t>
            </a:r>
            <a:r>
              <a:rPr sz="1080" b="1" i="0">
                <a:solidFill>
                  <a:srgbClr val="1F6FB2"/>
                </a:solidFill>
                <a:latin typeface="Arial"/>
              </a:rPr>
              <a:t>thoát khỏi local optimum</a:t>
            </a:r>
            <a:r>
              <a:rPr sz="1080" b="0" i="0">
                <a:solidFill>
                  <a:srgbClr val="2B3A47"/>
                </a:solidFill>
                <a:latin typeface="Arial"/>
              </a:rPr>
              <a:t> (cực trị địa phương).</a:t>
            </a:r>
          </a:p>
        </p:txBody>
      </p:sp>
      <p:sp>
        <p:nvSpPr>
          <p:cNvPr id="29" name="Rounded Rectangle 28"/>
          <p:cNvSpPr/>
          <p:nvPr/>
        </p:nvSpPr>
        <p:spPr>
          <a:xfrm>
            <a:off x="6278727" y="3929024"/>
            <a:ext cx="5346039" cy="606856"/>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78727" y="3929024"/>
            <a:ext cx="64008" cy="60685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61607" y="4047896"/>
            <a:ext cx="5016855" cy="36911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0E2D4E"/>
                </a:solidFill>
                <a:latin typeface="Arial"/>
              </a:rPr>
              <a:t>Trong bài báo: không gian trạng thái là tập </a:t>
            </a:r>
            <a:r>
              <a:rPr sz="1140" b="1" i="0">
                <a:solidFill>
                  <a:srgbClr val="0E2D4E"/>
                </a:solidFill>
                <a:latin typeface="Arial"/>
              </a:rPr>
              <a:t>chiến lược của các player</a:t>
            </a:r>
            <a:r>
              <a:rPr sz="1140" b="0" i="0">
                <a:solidFill>
                  <a:srgbClr val="0E2D4E"/>
                </a:solidFill>
                <a:latin typeface="Arial"/>
              </a:rPr>
              <a:t>; lời giải lân cận được </a:t>
            </a:r>
            <a:r>
              <a:rPr sz="1140" b="1" i="0">
                <a:solidFill>
                  <a:srgbClr val="0E2D4E"/>
                </a:solidFill>
                <a:latin typeface="Arial"/>
              </a:rPr>
              <a:t>sinh ngẫu nhiên</a:t>
            </a:r>
            <a:r>
              <a:rPr sz="1140" b="0" i="0">
                <a:solidFill>
                  <a:srgbClr val="0E2D4E"/>
                </a:solidFill>
                <a:latin typeface="Arial"/>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THUẬT TOÁN PFTSA</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100" b="1" i="0">
                <a:solidFill>
                  <a:srgbClr val="0E2D4E"/>
                </a:solidFill>
                <a:latin typeface="Arial"/>
              </a:rPr>
              <a:t>Proactive Fault Tolerance based on Simulated Annealing</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11/16</a:t>
            </a:r>
          </a:p>
        </p:txBody>
      </p:sp>
      <p:sp>
        <p:nvSpPr>
          <p:cNvPr id="8" name="Rounded Rectangle 7"/>
          <p:cNvSpPr/>
          <p:nvPr/>
        </p:nvSpPr>
        <p:spPr>
          <a:xfrm>
            <a:off x="566928" y="1298448"/>
            <a:ext cx="5346039" cy="438912"/>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Fault Prediction</a:t>
            </a:r>
          </a:p>
        </p:txBody>
      </p:sp>
      <p:sp>
        <p:nvSpPr>
          <p:cNvPr id="9" name="Down Arrow 8"/>
          <p:cNvSpPr/>
          <p:nvPr/>
        </p:nvSpPr>
        <p:spPr>
          <a:xfrm>
            <a:off x="3171367" y="1741931"/>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66928" y="1847088"/>
            <a:ext cx="5346039" cy="438912"/>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Xác định PM bị ảnh hưởng</a:t>
            </a:r>
          </a:p>
        </p:txBody>
      </p:sp>
      <p:sp>
        <p:nvSpPr>
          <p:cNvPr id="11" name="Down Arrow 10"/>
          <p:cNvSpPr/>
          <p:nvPr/>
        </p:nvSpPr>
        <p:spPr>
          <a:xfrm>
            <a:off x="3171367" y="2290572"/>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66928" y="2395728"/>
            <a:ext cx="5346039" cy="438912"/>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Khởi tạo chiến lược di chuyển</a:t>
            </a:r>
          </a:p>
        </p:txBody>
      </p:sp>
      <p:sp>
        <p:nvSpPr>
          <p:cNvPr id="13" name="Down Arrow 12"/>
          <p:cNvSpPr/>
          <p:nvPr/>
        </p:nvSpPr>
        <p:spPr>
          <a:xfrm>
            <a:off x="3171367" y="2839212"/>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944368"/>
            <a:ext cx="5346039" cy="438912"/>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Đánh giá objective / payoff</a:t>
            </a:r>
          </a:p>
        </p:txBody>
      </p:sp>
      <p:sp>
        <p:nvSpPr>
          <p:cNvPr id="15" name="Down Arrow 14"/>
          <p:cNvSpPr/>
          <p:nvPr/>
        </p:nvSpPr>
        <p:spPr>
          <a:xfrm>
            <a:off x="3171367" y="3387852"/>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3493008"/>
            <a:ext cx="5346039" cy="438912"/>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Create Neighbor Solution</a:t>
            </a:r>
          </a:p>
        </p:txBody>
      </p:sp>
      <p:sp>
        <p:nvSpPr>
          <p:cNvPr id="17" name="Down Arrow 16"/>
          <p:cNvSpPr/>
          <p:nvPr/>
        </p:nvSpPr>
        <p:spPr>
          <a:xfrm>
            <a:off x="3171367" y="3936492"/>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66928" y="4041648"/>
            <a:ext cx="5346039" cy="438912"/>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0E2D4E"/>
                </a:solidFill>
                <a:latin typeface="Arial"/>
              </a:rPr>
              <a:t>Simulated Annealing</a:t>
            </a:r>
          </a:p>
        </p:txBody>
      </p:sp>
      <p:sp>
        <p:nvSpPr>
          <p:cNvPr id="19" name="Down Arrow 18"/>
          <p:cNvSpPr/>
          <p:nvPr/>
        </p:nvSpPr>
        <p:spPr>
          <a:xfrm>
            <a:off x="3171367" y="4485132"/>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66928" y="4590288"/>
            <a:ext cx="5346039" cy="438912"/>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60" b="0" i="0">
                <a:solidFill>
                  <a:srgbClr val="1B7A57"/>
                </a:solidFill>
                <a:latin typeface="Arial"/>
              </a:rPr>
              <a:t>Kế hoạch di chuyển VM</a:t>
            </a:r>
          </a:p>
        </p:txBody>
      </p:sp>
      <p:sp>
        <p:nvSpPr>
          <p:cNvPr id="21" name="Rectangle 20"/>
          <p:cNvSpPr/>
          <p:nvPr/>
        </p:nvSpPr>
        <p:spPr>
          <a:xfrm>
            <a:off x="6278727"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97599" y="129844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Hai thuật toán chính</a:t>
            </a:r>
          </a:p>
        </p:txBody>
      </p:sp>
      <p:sp>
        <p:nvSpPr>
          <p:cNvPr id="23" name="Rounded Rectangle 22"/>
          <p:cNvSpPr/>
          <p:nvPr/>
        </p:nvSpPr>
        <p:spPr>
          <a:xfrm>
            <a:off x="6278727" y="1700784"/>
            <a:ext cx="5346039" cy="118872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78727" y="1700784"/>
            <a:ext cx="59436" cy="1188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79895" y="1837943"/>
            <a:ext cx="5007711"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Algorithm 1: PFTSA</a:t>
            </a:r>
          </a:p>
        </p:txBody>
      </p:sp>
      <p:sp>
        <p:nvSpPr>
          <p:cNvPr id="26" name="TextBox 25"/>
          <p:cNvSpPr txBox="1"/>
          <p:nvPr/>
        </p:nvSpPr>
        <p:spPr>
          <a:xfrm>
            <a:off x="6479895" y="2100351"/>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7" name="TextBox 26"/>
          <p:cNvSpPr txBox="1"/>
          <p:nvPr/>
        </p:nvSpPr>
        <p:spPr>
          <a:xfrm>
            <a:off x="6617055" y="2104009"/>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Điều khiển quá trình </a:t>
            </a:r>
            <a:r>
              <a:rPr sz="1080" b="1" i="0">
                <a:solidFill>
                  <a:srgbClr val="1F6FB2"/>
                </a:solidFill>
                <a:latin typeface="Arial"/>
              </a:rPr>
              <a:t>tìm kiếm chiến lược di chuyển</a:t>
            </a:r>
            <a:r>
              <a:rPr sz="1080" b="0" i="0">
                <a:solidFill>
                  <a:srgbClr val="2B3A47"/>
                </a:solidFill>
                <a:latin typeface="Arial"/>
              </a:rPr>
              <a:t>.</a:t>
            </a:r>
          </a:p>
        </p:txBody>
      </p:sp>
      <p:sp>
        <p:nvSpPr>
          <p:cNvPr id="28" name="Rounded Rectangle 27"/>
          <p:cNvSpPr/>
          <p:nvPr/>
        </p:nvSpPr>
        <p:spPr>
          <a:xfrm>
            <a:off x="6278727" y="3127248"/>
            <a:ext cx="5346039" cy="118872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78727" y="3127248"/>
            <a:ext cx="59436" cy="1188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79895" y="3264408"/>
            <a:ext cx="5007711"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Algorithm 2: CreateNeighborSolution</a:t>
            </a:r>
          </a:p>
        </p:txBody>
      </p:sp>
      <p:sp>
        <p:nvSpPr>
          <p:cNvPr id="31" name="TextBox 30"/>
          <p:cNvSpPr txBox="1"/>
          <p:nvPr/>
        </p:nvSpPr>
        <p:spPr>
          <a:xfrm>
            <a:off x="6479895" y="352681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32" name="TextBox 31"/>
          <p:cNvSpPr txBox="1"/>
          <p:nvPr/>
        </p:nvSpPr>
        <p:spPr>
          <a:xfrm>
            <a:off x="6617055" y="3530473"/>
            <a:ext cx="487055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Sinh </a:t>
            </a:r>
            <a:r>
              <a:rPr sz="1080" b="1" i="0">
                <a:solidFill>
                  <a:srgbClr val="1F6FB2"/>
                </a:solidFill>
                <a:latin typeface="Arial"/>
              </a:rPr>
              <a:t>lời giải lân cận</a:t>
            </a:r>
            <a:r>
              <a:rPr sz="1080" b="0" i="0">
                <a:solidFill>
                  <a:srgbClr val="2B3A47"/>
                </a:solidFill>
                <a:latin typeface="Arial"/>
              </a:rPr>
              <a:t> để SA tiếp tục </a:t>
            </a:r>
            <a:r>
              <a:rPr sz="1080" b="1" i="0">
                <a:solidFill>
                  <a:srgbClr val="1F6FB2"/>
                </a:solidFill>
                <a:latin typeface="Arial"/>
              </a:rPr>
              <a:t>exploration</a:t>
            </a:r>
            <a:r>
              <a:rPr sz="1080" b="0" i="0">
                <a:solidFill>
                  <a:srgbClr val="2B3A47"/>
                </a:solidFill>
                <a:latin typeface="Arial"/>
              </a:rPr>
              <a:t>.</a:t>
            </a:r>
          </a:p>
        </p:txBody>
      </p:sp>
      <p:sp>
        <p:nvSpPr>
          <p:cNvPr id="33" name="Rounded Rectangle 32"/>
          <p:cNvSpPr/>
          <p:nvPr/>
        </p:nvSpPr>
        <p:spPr>
          <a:xfrm>
            <a:off x="6278727" y="4681728"/>
            <a:ext cx="5346039" cy="436016"/>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78727" y="4681728"/>
            <a:ext cx="64008" cy="436016"/>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61607" y="4800600"/>
            <a:ext cx="50168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FFFFFF"/>
                </a:solidFill>
                <a:latin typeface="Arial"/>
              </a:rPr>
              <a:t>PFTSA kết hợp:  </a:t>
            </a:r>
            <a:r>
              <a:rPr sz="1140" b="1" i="0">
                <a:solidFill>
                  <a:srgbClr val="FFFFFF"/>
                </a:solidFill>
                <a:latin typeface="Arial"/>
              </a:rPr>
              <a:t>Fault Prediction + Game Theory + Simulated Annealing</a:t>
            </a:r>
            <a:r>
              <a:rPr sz="1140" b="0" i="0">
                <a:solidFill>
                  <a:srgbClr val="FFFFFF"/>
                </a:solidFill>
                <a:latin typeface="Arial"/>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THỰC NGHIỆM</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Thiết lập thực nghiệm</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12/16</a:t>
            </a:r>
          </a:p>
        </p:txBody>
      </p:sp>
      <p:sp>
        <p:nvSpPr>
          <p:cNvPr id="8" name="Rounded Rectangle 7"/>
          <p:cNvSpPr/>
          <p:nvPr/>
        </p:nvSpPr>
        <p:spPr>
          <a:xfrm>
            <a:off x="566928" y="1298448"/>
            <a:ext cx="2779776" cy="16002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298448"/>
            <a:ext cx="59436" cy="16002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435607"/>
            <a:ext cx="2441448"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Môi trường Cloud</a:t>
            </a:r>
          </a:p>
        </p:txBody>
      </p:sp>
      <p:sp>
        <p:nvSpPr>
          <p:cNvPr id="11" name="TextBox 10"/>
          <p:cNvSpPr txBox="1"/>
          <p:nvPr/>
        </p:nvSpPr>
        <p:spPr>
          <a:xfrm>
            <a:off x="768096" y="169801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12" name="TextBox 11"/>
          <p:cNvSpPr txBox="1"/>
          <p:nvPr/>
        </p:nvSpPr>
        <p:spPr>
          <a:xfrm>
            <a:off x="905256" y="1701672"/>
            <a:ext cx="2304288"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50</a:t>
            </a:r>
            <a:r>
              <a:rPr sz="1080" b="0" i="0">
                <a:solidFill>
                  <a:srgbClr val="2B3A47"/>
                </a:solidFill>
                <a:latin typeface="Arial"/>
              </a:rPr>
              <a:t> PM không đồng nhất</a:t>
            </a:r>
          </a:p>
        </p:txBody>
      </p:sp>
      <p:sp>
        <p:nvSpPr>
          <p:cNvPr id="13" name="TextBox 12"/>
          <p:cNvSpPr txBox="1"/>
          <p:nvPr/>
        </p:nvSpPr>
        <p:spPr>
          <a:xfrm>
            <a:off x="768096" y="194805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14" name="TextBox 13"/>
          <p:cNvSpPr txBox="1"/>
          <p:nvPr/>
        </p:nvSpPr>
        <p:spPr>
          <a:xfrm>
            <a:off x="905256" y="1951710"/>
            <a:ext cx="2304288"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30</a:t>
            </a:r>
            <a:r>
              <a:rPr sz="1080" b="0" i="0">
                <a:solidFill>
                  <a:srgbClr val="2B3A47"/>
                </a:solidFill>
                <a:latin typeface="Arial"/>
              </a:rPr>
              <a:t> ứng dụng ba tầng</a:t>
            </a:r>
          </a:p>
        </p:txBody>
      </p:sp>
      <p:sp>
        <p:nvSpPr>
          <p:cNvPr id="15" name="TextBox 14"/>
          <p:cNvSpPr txBox="1"/>
          <p:nvPr/>
        </p:nvSpPr>
        <p:spPr>
          <a:xfrm>
            <a:off x="768096" y="2198090"/>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16" name="TextBox 15"/>
          <p:cNvSpPr txBox="1"/>
          <p:nvPr/>
        </p:nvSpPr>
        <p:spPr>
          <a:xfrm>
            <a:off x="905256" y="2201748"/>
            <a:ext cx="2304288"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Thời gian mô phỏng </a:t>
            </a:r>
            <a:r>
              <a:rPr sz="1080" b="1" i="0">
                <a:solidFill>
                  <a:srgbClr val="1F6FB2"/>
                </a:solidFill>
                <a:latin typeface="Arial"/>
              </a:rPr>
              <a:t>t = 1000</a:t>
            </a:r>
          </a:p>
        </p:txBody>
      </p:sp>
      <p:sp>
        <p:nvSpPr>
          <p:cNvPr id="17" name="Rounded Rectangle 16"/>
          <p:cNvSpPr/>
          <p:nvPr/>
        </p:nvSpPr>
        <p:spPr>
          <a:xfrm>
            <a:off x="3547872" y="1298448"/>
            <a:ext cx="2779776" cy="16002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547872" y="1298448"/>
            <a:ext cx="59436" cy="16002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49040" y="1435607"/>
            <a:ext cx="2441448"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Cấu hình</a:t>
            </a:r>
          </a:p>
        </p:txBody>
      </p:sp>
      <p:sp>
        <p:nvSpPr>
          <p:cNvPr id="20" name="TextBox 19"/>
          <p:cNvSpPr txBox="1"/>
          <p:nvPr/>
        </p:nvSpPr>
        <p:spPr>
          <a:xfrm>
            <a:off x="3749040" y="169801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1" name="TextBox 20"/>
          <p:cNvSpPr txBox="1"/>
          <p:nvPr/>
        </p:nvSpPr>
        <p:spPr>
          <a:xfrm>
            <a:off x="3886200" y="1701672"/>
            <a:ext cx="2304288" cy="345643"/>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CPU, RAM, Disk sinh ngẫu nhiên trong khoảng </a:t>
            </a:r>
            <a:r>
              <a:rPr sz="1080" b="1" i="0">
                <a:solidFill>
                  <a:srgbClr val="1F6FB2"/>
                </a:solidFill>
                <a:latin typeface="Arial"/>
              </a:rPr>
              <a:t>max / min</a:t>
            </a:r>
          </a:p>
        </p:txBody>
      </p:sp>
      <p:sp>
        <p:nvSpPr>
          <p:cNvPr id="22" name="TextBox 21"/>
          <p:cNvSpPr txBox="1"/>
          <p:nvPr/>
        </p:nvSpPr>
        <p:spPr>
          <a:xfrm>
            <a:off x="3749040" y="2107158"/>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23" name="TextBox 22"/>
          <p:cNvSpPr txBox="1"/>
          <p:nvPr/>
        </p:nvSpPr>
        <p:spPr>
          <a:xfrm>
            <a:off x="3886200" y="2110816"/>
            <a:ext cx="2304288" cy="186537"/>
          </a:xfrm>
          <a:prstGeom prst="rect">
            <a:avLst/>
          </a:prstGeom>
          <a:noFill/>
        </p:spPr>
        <p:txBody>
          <a:bodyPr wrap="square" lIns="0" rIns="0" tIns="0" bIns="0" anchor="t">
            <a:spAutoFit/>
          </a:bodyPr>
          <a:lstStyle/>
          <a:p>
            <a:pPr algn="l">
              <a:lnSpc>
                <a:spcPct val="116000"/>
              </a:lnSpc>
              <a:spcBef>
                <a:spcPts val="0"/>
              </a:spcBef>
              <a:spcAft>
                <a:spcPts val="0"/>
              </a:spcAft>
            </a:pPr>
            <a:r>
              <a:rPr sz="1080" b="0" i="0">
                <a:solidFill>
                  <a:srgbClr val="2B3A47"/>
                </a:solidFill>
                <a:latin typeface="Arial"/>
              </a:rPr>
              <a:t>Máy chạy: </a:t>
            </a:r>
            <a:r>
              <a:rPr sz="1080" b="1" i="0">
                <a:solidFill>
                  <a:srgbClr val="1F6FB2"/>
                </a:solidFill>
                <a:latin typeface="Arial"/>
              </a:rPr>
              <a:t>8 GB RAM</a:t>
            </a:r>
            <a:r>
              <a:rPr sz="1080" b="0" i="0">
                <a:solidFill>
                  <a:srgbClr val="2B3A47"/>
                </a:solidFill>
                <a:latin typeface="Arial"/>
              </a:rPr>
              <a:t>, </a:t>
            </a:r>
            <a:r>
              <a:rPr sz="1080" b="1" i="0">
                <a:solidFill>
                  <a:srgbClr val="1F6FB2"/>
                </a:solidFill>
                <a:latin typeface="Arial"/>
              </a:rPr>
              <a:t>Core i5</a:t>
            </a:r>
          </a:p>
        </p:txBody>
      </p:sp>
      <p:sp>
        <p:nvSpPr>
          <p:cNvPr id="24" name="Rectangle 23"/>
          <p:cNvSpPr/>
          <p:nvPr/>
        </p:nvSpPr>
        <p:spPr>
          <a:xfrm>
            <a:off x="566928" y="319125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5800" y="3172968"/>
            <a:ext cx="5641848"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Mục tiêu đánh giá</a:t>
            </a:r>
          </a:p>
        </p:txBody>
      </p:sp>
      <p:sp>
        <p:nvSpPr>
          <p:cNvPr id="26" name="Rounded Rectangle 25"/>
          <p:cNvSpPr/>
          <p:nvPr/>
        </p:nvSpPr>
        <p:spPr>
          <a:xfrm>
            <a:off x="566928" y="3538728"/>
            <a:ext cx="2807208" cy="40233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Fault prediction</a:t>
            </a:r>
          </a:p>
        </p:txBody>
      </p:sp>
      <p:sp>
        <p:nvSpPr>
          <p:cNvPr id="27" name="Rounded Rectangle 26"/>
          <p:cNvSpPr/>
          <p:nvPr/>
        </p:nvSpPr>
        <p:spPr>
          <a:xfrm>
            <a:off x="3520440" y="3538728"/>
            <a:ext cx="2807208" cy="40233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Parameter sensitivity</a:t>
            </a:r>
          </a:p>
        </p:txBody>
      </p:sp>
      <p:sp>
        <p:nvSpPr>
          <p:cNvPr id="28" name="Rounded Rectangle 27"/>
          <p:cNvSpPr/>
          <p:nvPr/>
        </p:nvSpPr>
        <p:spPr>
          <a:xfrm>
            <a:off x="566928" y="4032504"/>
            <a:ext cx="2807208" cy="40233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Load balancing</a:t>
            </a:r>
          </a:p>
        </p:txBody>
      </p:sp>
      <p:sp>
        <p:nvSpPr>
          <p:cNvPr id="29" name="Rounded Rectangle 28"/>
          <p:cNvSpPr/>
          <p:nvPr/>
        </p:nvSpPr>
        <p:spPr>
          <a:xfrm>
            <a:off x="3520440" y="4032504"/>
            <a:ext cx="2807208" cy="40233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Wasted resources</a:t>
            </a:r>
          </a:p>
        </p:txBody>
      </p:sp>
      <p:sp>
        <p:nvSpPr>
          <p:cNvPr id="30" name="Rounded Rectangle 29"/>
          <p:cNvSpPr/>
          <p:nvPr/>
        </p:nvSpPr>
        <p:spPr>
          <a:xfrm>
            <a:off x="566928" y="4526280"/>
            <a:ext cx="2807208" cy="40233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Execution time</a:t>
            </a:r>
          </a:p>
        </p:txBody>
      </p:sp>
      <p:sp>
        <p:nvSpPr>
          <p:cNvPr id="31" name="Rounded Rectangle 30"/>
          <p:cNvSpPr/>
          <p:nvPr/>
        </p:nvSpPr>
        <p:spPr>
          <a:xfrm>
            <a:off x="3520440" y="4526280"/>
            <a:ext cx="2807208" cy="40233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Objective function</a:t>
            </a:r>
          </a:p>
        </p:txBody>
      </p:sp>
      <p:sp>
        <p:nvSpPr>
          <p:cNvPr id="32" name="Rectangle 31"/>
          <p:cNvSpPr/>
          <p:nvPr/>
        </p:nvSpPr>
        <p:spPr>
          <a:xfrm>
            <a:off x="67391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58000" y="1298448"/>
            <a:ext cx="47667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Tần suất lỗi của 50 PM tại t = 1000 (Figure 4)</a:t>
            </a:r>
          </a:p>
        </p:txBody>
      </p:sp>
      <p:sp>
        <p:nvSpPr>
          <p:cNvPr id="34" name="Rectangle 33"/>
          <p:cNvSpPr/>
          <p:nvPr/>
        </p:nvSpPr>
        <p:spPr>
          <a:xfrm>
            <a:off x="6748272" y="1682495"/>
            <a:ext cx="4867351" cy="2310444"/>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f4.png"/>
          <p:cNvPicPr>
            <a:picLocks noChangeAspect="1"/>
          </p:cNvPicPr>
          <p:nvPr/>
        </p:nvPicPr>
        <p:blipFill>
          <a:blip r:embed="rId3"/>
          <a:stretch>
            <a:fillRect/>
          </a:stretch>
        </p:blipFill>
        <p:spPr>
          <a:xfrm>
            <a:off x="6784848" y="1719072"/>
            <a:ext cx="4794199" cy="2237292"/>
          </a:xfrm>
          <a:prstGeom prst="rect">
            <a:avLst/>
          </a:prstGeom>
        </p:spPr>
      </p:pic>
      <p:sp>
        <p:nvSpPr>
          <p:cNvPr id="36" name="Rounded Rectangle 35"/>
          <p:cNvSpPr/>
          <p:nvPr/>
        </p:nvSpPr>
        <p:spPr>
          <a:xfrm>
            <a:off x="6739128" y="4120956"/>
            <a:ext cx="4885639" cy="606856"/>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739128" y="4120956"/>
            <a:ext cx="64008" cy="60685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922008" y="4239828"/>
            <a:ext cx="4556455" cy="36911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0E2D4E"/>
                </a:solidFill>
                <a:latin typeface="Arial"/>
              </a:rPr>
              <a:t>Có </a:t>
            </a:r>
            <a:r>
              <a:rPr sz="1140" b="1" i="0">
                <a:solidFill>
                  <a:srgbClr val="0E2D4E"/>
                </a:solidFill>
                <a:latin typeface="Arial"/>
              </a:rPr>
              <a:t>4 PM</a:t>
            </a:r>
            <a:r>
              <a:rPr sz="1140" b="0" i="0">
                <a:solidFill>
                  <a:srgbClr val="0E2D4E"/>
                </a:solidFill>
                <a:latin typeface="Arial"/>
              </a:rPr>
              <a:t> cùng lỗi tại một thời điểm là phổ biến nhất (hơn 200 lần); </a:t>
            </a:r>
            <a:r>
              <a:rPr sz="1140" b="1" i="0">
                <a:solidFill>
                  <a:srgbClr val="0E2D4E"/>
                </a:solidFill>
                <a:latin typeface="Arial"/>
              </a:rPr>
              <a:t>10 PM</a:t>
            </a:r>
            <a:r>
              <a:rPr sz="1140" b="0" i="0">
                <a:solidFill>
                  <a:srgbClr val="0E2D4E"/>
                </a:solidFill>
                <a:latin typeface="Arial"/>
              </a:rPr>
              <a:t> cùng lỗi ít nhất (khoảng 15 lần).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KẾT QUẢ</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Khảo sát tham số ε và cooling rate</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13/16</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3995928"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Thời gian thực thi theo ε (Figure 5)</a:t>
            </a:r>
          </a:p>
        </p:txBody>
      </p:sp>
      <p:sp>
        <p:nvSpPr>
          <p:cNvPr id="10" name="Rectangle 9"/>
          <p:cNvSpPr/>
          <p:nvPr/>
        </p:nvSpPr>
        <p:spPr>
          <a:xfrm>
            <a:off x="576072" y="1682495"/>
            <a:ext cx="4096512" cy="2177678"/>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f5.png"/>
          <p:cNvPicPr>
            <a:picLocks noChangeAspect="1"/>
          </p:cNvPicPr>
          <p:nvPr/>
        </p:nvPicPr>
        <p:blipFill>
          <a:blip r:embed="rId3"/>
          <a:stretch>
            <a:fillRect/>
          </a:stretch>
        </p:blipFill>
        <p:spPr>
          <a:xfrm>
            <a:off x="612648" y="1719072"/>
            <a:ext cx="4023360" cy="2104526"/>
          </a:xfrm>
          <a:prstGeom prst="rect">
            <a:avLst/>
          </a:prstGeom>
        </p:spPr>
      </p:pic>
      <p:sp>
        <p:nvSpPr>
          <p:cNvPr id="12" name="Rounded Rectangle 11"/>
          <p:cNvSpPr/>
          <p:nvPr/>
        </p:nvSpPr>
        <p:spPr>
          <a:xfrm>
            <a:off x="566928" y="4006478"/>
            <a:ext cx="4114800" cy="13716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4006478"/>
            <a:ext cx="59436" cy="1371600"/>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68096" y="4143638"/>
            <a:ext cx="3776472"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Hai tham số</a:t>
            </a:r>
          </a:p>
        </p:txBody>
      </p:sp>
      <p:sp>
        <p:nvSpPr>
          <p:cNvPr id="15" name="TextBox 14"/>
          <p:cNvSpPr txBox="1"/>
          <p:nvPr/>
        </p:nvSpPr>
        <p:spPr>
          <a:xfrm>
            <a:off x="768096" y="4406046"/>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16" name="TextBox 15"/>
          <p:cNvSpPr txBox="1"/>
          <p:nvPr/>
        </p:nvSpPr>
        <p:spPr>
          <a:xfrm>
            <a:off x="905256" y="4409703"/>
            <a:ext cx="3639312"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ε</a:t>
            </a:r>
            <a:r>
              <a:rPr sz="1080" b="0" i="0">
                <a:solidFill>
                  <a:srgbClr val="2B3A47"/>
                </a:solidFill>
                <a:latin typeface="Arial"/>
              </a:rPr>
              <a:t>: 0.01 → 0.09, ổn định tại </a:t>
            </a:r>
            <a:r>
              <a:rPr sz="1080" b="1" i="0">
                <a:solidFill>
                  <a:srgbClr val="1F6FB2"/>
                </a:solidFill>
                <a:latin typeface="Arial"/>
              </a:rPr>
              <a:t>0.03</a:t>
            </a:r>
          </a:p>
        </p:txBody>
      </p:sp>
      <p:sp>
        <p:nvSpPr>
          <p:cNvPr id="17" name="TextBox 16"/>
          <p:cNvSpPr txBox="1"/>
          <p:nvPr/>
        </p:nvSpPr>
        <p:spPr>
          <a:xfrm>
            <a:off x="768096" y="465608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a:t>
            </a:r>
          </a:p>
        </p:txBody>
      </p:sp>
      <p:sp>
        <p:nvSpPr>
          <p:cNvPr id="18" name="TextBox 17"/>
          <p:cNvSpPr txBox="1"/>
          <p:nvPr/>
        </p:nvSpPr>
        <p:spPr>
          <a:xfrm>
            <a:off x="905256" y="4659741"/>
            <a:ext cx="3639312"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F6FB2"/>
                </a:solidFill>
                <a:latin typeface="Arial"/>
              </a:rPr>
              <a:t>cooling rate</a:t>
            </a:r>
            <a:r>
              <a:rPr sz="1080" b="0" i="0">
                <a:solidFill>
                  <a:srgbClr val="2B3A47"/>
                </a:solidFill>
                <a:latin typeface="Arial"/>
              </a:rPr>
              <a:t>: 0.1 → 0.9, xem tác động lên </a:t>
            </a:r>
            <a:r>
              <a:rPr sz="1080" b="1" i="0">
                <a:solidFill>
                  <a:srgbClr val="1F6FB2"/>
                </a:solidFill>
                <a:latin typeface="Arial"/>
              </a:rPr>
              <a:t>V</a:t>
            </a:r>
            <a:r>
              <a:rPr sz="1080" b="0" i="0">
                <a:solidFill>
                  <a:srgbClr val="2B3A47"/>
                </a:solidFill>
                <a:latin typeface="Arial"/>
              </a:rPr>
              <a:t> và </a:t>
            </a:r>
            <a:r>
              <a:rPr sz="1080" b="1" i="0">
                <a:solidFill>
                  <a:srgbClr val="1F6FB2"/>
                </a:solidFill>
                <a:latin typeface="Arial"/>
              </a:rPr>
              <a:t>W</a:t>
            </a:r>
          </a:p>
        </p:txBody>
      </p:sp>
      <p:sp>
        <p:nvSpPr>
          <p:cNvPr id="19" name="Rectangle 18"/>
          <p:cNvSpPr/>
          <p:nvPr/>
        </p:nvSpPr>
        <p:spPr>
          <a:xfrm>
            <a:off x="504748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66360" y="1298448"/>
            <a:ext cx="645840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Cân bằng tải V, cooling rate 0.1 và 0.9 (Figure 6)</a:t>
            </a:r>
          </a:p>
        </p:txBody>
      </p:sp>
      <p:sp>
        <p:nvSpPr>
          <p:cNvPr id="21" name="Rectangle 20"/>
          <p:cNvSpPr/>
          <p:nvPr/>
        </p:nvSpPr>
        <p:spPr>
          <a:xfrm>
            <a:off x="5056632" y="1682495"/>
            <a:ext cx="6193231" cy="1821746"/>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f6.png"/>
          <p:cNvPicPr>
            <a:picLocks noChangeAspect="1"/>
          </p:cNvPicPr>
          <p:nvPr/>
        </p:nvPicPr>
        <p:blipFill>
          <a:blip r:embed="rId4"/>
          <a:stretch>
            <a:fillRect/>
          </a:stretch>
        </p:blipFill>
        <p:spPr>
          <a:xfrm>
            <a:off x="5093208" y="1719072"/>
            <a:ext cx="6120079" cy="1748594"/>
          </a:xfrm>
          <a:prstGeom prst="rect">
            <a:avLst/>
          </a:prstGeom>
        </p:spPr>
      </p:pic>
      <p:sp>
        <p:nvSpPr>
          <p:cNvPr id="23" name="Rectangle 22"/>
          <p:cNvSpPr/>
          <p:nvPr/>
        </p:nvSpPr>
        <p:spPr>
          <a:xfrm>
            <a:off x="5047488" y="3595682"/>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66360" y="3577394"/>
            <a:ext cx="645840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Tài nguyên lãng phí W, cooling rate 0.1 và 0.9 (Figure 7)</a:t>
            </a:r>
          </a:p>
        </p:txBody>
      </p:sp>
      <p:sp>
        <p:nvSpPr>
          <p:cNvPr id="25" name="Rectangle 24"/>
          <p:cNvSpPr/>
          <p:nvPr/>
        </p:nvSpPr>
        <p:spPr>
          <a:xfrm>
            <a:off x="5056632" y="3961442"/>
            <a:ext cx="6193231" cy="1855372"/>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f7.png"/>
          <p:cNvPicPr>
            <a:picLocks noChangeAspect="1"/>
          </p:cNvPicPr>
          <p:nvPr/>
        </p:nvPicPr>
        <p:blipFill>
          <a:blip r:embed="rId5"/>
          <a:stretch>
            <a:fillRect/>
          </a:stretch>
        </p:blipFill>
        <p:spPr>
          <a:xfrm>
            <a:off x="5093208" y="3998018"/>
            <a:ext cx="6120079" cy="17822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SO SÁNH</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Benchmark: PFTSA và PSOVM</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14/16</a:t>
            </a:r>
          </a:p>
        </p:txBody>
      </p:sp>
      <p:sp>
        <p:nvSpPr>
          <p:cNvPr id="8" name="Rectangle 7"/>
          <p:cNvSpPr/>
          <p:nvPr/>
        </p:nvSpPr>
        <p:spPr>
          <a:xfrm>
            <a:off x="566928" y="1298448"/>
            <a:ext cx="4160520"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298448"/>
            <a:ext cx="1666240"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Tiêu chí</a:t>
            </a:r>
          </a:p>
        </p:txBody>
      </p:sp>
      <p:sp>
        <p:nvSpPr>
          <p:cNvPr id="10" name="TextBox 9"/>
          <p:cNvSpPr txBox="1"/>
          <p:nvPr/>
        </p:nvSpPr>
        <p:spPr>
          <a:xfrm>
            <a:off x="2507488" y="1298448"/>
            <a:ext cx="2128519"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Kết quả</a:t>
            </a:r>
          </a:p>
        </p:txBody>
      </p:sp>
      <p:sp>
        <p:nvSpPr>
          <p:cNvPr id="11" name="Rectangle 10"/>
          <p:cNvSpPr/>
          <p:nvPr/>
        </p:nvSpPr>
        <p:spPr>
          <a:xfrm>
            <a:off x="566928" y="1592834"/>
            <a:ext cx="4160520" cy="289179"/>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1592834"/>
            <a:ext cx="1666240"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1" i="0">
                <a:solidFill>
                  <a:srgbClr val="0E2D4E"/>
                </a:solidFill>
                <a:latin typeface="Arial"/>
              </a:rPr>
              <a:t>Cân bằng tải</a:t>
            </a:r>
          </a:p>
        </p:txBody>
      </p:sp>
      <p:sp>
        <p:nvSpPr>
          <p:cNvPr id="13" name="TextBox 12"/>
          <p:cNvSpPr txBox="1"/>
          <p:nvPr/>
        </p:nvSpPr>
        <p:spPr>
          <a:xfrm>
            <a:off x="2507488" y="1592834"/>
            <a:ext cx="2128519"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0" i="0">
                <a:solidFill>
                  <a:srgbClr val="2B3A47"/>
                </a:solidFill>
                <a:latin typeface="Arial"/>
              </a:rPr>
              <a:t>PFTSA gần bằng PSOVM</a:t>
            </a:r>
          </a:p>
        </p:txBody>
      </p:sp>
      <p:sp>
        <p:nvSpPr>
          <p:cNvPr id="14" name="Rectangle 13"/>
          <p:cNvSpPr/>
          <p:nvPr/>
        </p:nvSpPr>
        <p:spPr>
          <a:xfrm>
            <a:off x="566928" y="1882013"/>
            <a:ext cx="4160520" cy="289179"/>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82013"/>
            <a:ext cx="1666240"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1" i="0">
                <a:solidFill>
                  <a:srgbClr val="0E2D4E"/>
                </a:solidFill>
                <a:latin typeface="Arial"/>
              </a:rPr>
              <a:t>Tài nguyên lãng phí</a:t>
            </a:r>
          </a:p>
        </p:txBody>
      </p:sp>
      <p:sp>
        <p:nvSpPr>
          <p:cNvPr id="16" name="TextBox 15"/>
          <p:cNvSpPr txBox="1"/>
          <p:nvPr/>
        </p:nvSpPr>
        <p:spPr>
          <a:xfrm>
            <a:off x="2507488" y="1882013"/>
            <a:ext cx="2128519"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0" i="0">
                <a:solidFill>
                  <a:srgbClr val="2B3A47"/>
                </a:solidFill>
                <a:latin typeface="Arial"/>
              </a:rPr>
              <a:t>Tương tự nhau</a:t>
            </a:r>
          </a:p>
        </p:txBody>
      </p:sp>
      <p:sp>
        <p:nvSpPr>
          <p:cNvPr id="17" name="Rectangle 16"/>
          <p:cNvSpPr/>
          <p:nvPr/>
        </p:nvSpPr>
        <p:spPr>
          <a:xfrm>
            <a:off x="566928" y="2171192"/>
            <a:ext cx="4160520" cy="289179"/>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2171192"/>
            <a:ext cx="1666240"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1" i="0">
                <a:solidFill>
                  <a:srgbClr val="0E2D4E"/>
                </a:solidFill>
                <a:latin typeface="Arial"/>
              </a:rPr>
              <a:t>Thời gian thực thi</a:t>
            </a:r>
          </a:p>
        </p:txBody>
      </p:sp>
      <p:sp>
        <p:nvSpPr>
          <p:cNvPr id="19" name="TextBox 18"/>
          <p:cNvSpPr txBox="1"/>
          <p:nvPr/>
        </p:nvSpPr>
        <p:spPr>
          <a:xfrm>
            <a:off x="2507488" y="2171192"/>
            <a:ext cx="2128519"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0" i="0">
                <a:solidFill>
                  <a:srgbClr val="2B3A47"/>
                </a:solidFill>
                <a:latin typeface="Arial"/>
              </a:rPr>
              <a:t>PFTSA thấp hơn</a:t>
            </a:r>
          </a:p>
        </p:txBody>
      </p:sp>
      <p:sp>
        <p:nvSpPr>
          <p:cNvPr id="20" name="Rectangle 19"/>
          <p:cNvSpPr/>
          <p:nvPr/>
        </p:nvSpPr>
        <p:spPr>
          <a:xfrm>
            <a:off x="566928" y="2460371"/>
            <a:ext cx="4160520" cy="289179"/>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2460371"/>
            <a:ext cx="1666240"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1" i="0">
                <a:solidFill>
                  <a:srgbClr val="0E2D4E"/>
                </a:solidFill>
                <a:latin typeface="Arial"/>
              </a:rPr>
              <a:t>Hàm mục tiêu</a:t>
            </a:r>
          </a:p>
        </p:txBody>
      </p:sp>
      <p:sp>
        <p:nvSpPr>
          <p:cNvPr id="22" name="TextBox 21"/>
          <p:cNvSpPr txBox="1"/>
          <p:nvPr/>
        </p:nvSpPr>
        <p:spPr>
          <a:xfrm>
            <a:off x="2507488" y="2460371"/>
            <a:ext cx="2128519" cy="289179"/>
          </a:xfrm>
          <a:prstGeom prst="rect">
            <a:avLst/>
          </a:prstGeom>
          <a:noFill/>
        </p:spPr>
        <p:txBody>
          <a:bodyPr wrap="square" lIns="0" rIns="0" tIns="0" bIns="0" anchor="ctr">
            <a:spAutoFit/>
          </a:bodyPr>
          <a:lstStyle/>
          <a:p>
            <a:pPr algn="l">
              <a:lnSpc>
                <a:spcPct val="114000"/>
              </a:lnSpc>
              <a:spcBef>
                <a:spcPts val="0"/>
              </a:spcBef>
              <a:spcAft>
                <a:spcPts val="0"/>
              </a:spcAft>
            </a:pPr>
            <a:r>
              <a:rPr sz="1050" b="0" i="0">
                <a:solidFill>
                  <a:srgbClr val="2B3A47"/>
                </a:solidFill>
                <a:latin typeface="Arial"/>
              </a:rPr>
              <a:t>PSOVM lớn hơn PFTSA</a:t>
            </a:r>
          </a:p>
        </p:txBody>
      </p:sp>
      <p:sp>
        <p:nvSpPr>
          <p:cNvPr id="23" name="Rounded Rectangle 22"/>
          <p:cNvSpPr/>
          <p:nvPr/>
        </p:nvSpPr>
        <p:spPr>
          <a:xfrm>
            <a:off x="566928" y="3023870"/>
            <a:ext cx="4160520" cy="606856"/>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023870"/>
            <a:ext cx="64008" cy="606856"/>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8" y="3142742"/>
            <a:ext cx="3831336" cy="369112"/>
          </a:xfrm>
          <a:prstGeom prst="rect">
            <a:avLst/>
          </a:prstGeom>
          <a:noFill/>
        </p:spPr>
        <p:txBody>
          <a:bodyPr wrap="square" lIns="0" rIns="0" tIns="0" bIns="0" anchor="t">
            <a:spAutoFit/>
          </a:bodyPr>
          <a:lstStyle/>
          <a:p>
            <a:pPr algn="l">
              <a:lnSpc>
                <a:spcPct val="118000"/>
              </a:lnSpc>
              <a:spcBef>
                <a:spcPts val="0"/>
              </a:spcBef>
              <a:spcAft>
                <a:spcPts val="0"/>
              </a:spcAft>
            </a:pPr>
            <a:r>
              <a:rPr sz="1140" b="1" i="0">
                <a:solidFill>
                  <a:srgbClr val="1B7A57"/>
                </a:solidFill>
                <a:latin typeface="Arial"/>
              </a:rPr>
              <a:t>PFTSA</a:t>
            </a:r>
            <a:r>
              <a:rPr sz="1140" b="0" i="0">
                <a:solidFill>
                  <a:srgbClr val="1B7A57"/>
                </a:solidFill>
                <a:latin typeface="Arial"/>
              </a:rPr>
              <a:t> ngẫu nhiên hóa chiến lược di chuyển, nên tăng khả năng khám phá lời giải.</a:t>
            </a:r>
          </a:p>
        </p:txBody>
      </p:sp>
      <p:sp>
        <p:nvSpPr>
          <p:cNvPr id="26" name="Rounded Rectangle 25"/>
          <p:cNvSpPr/>
          <p:nvPr/>
        </p:nvSpPr>
        <p:spPr>
          <a:xfrm>
            <a:off x="566928" y="3813606"/>
            <a:ext cx="4160520" cy="606856"/>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66928" y="3813606"/>
            <a:ext cx="64008" cy="60685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9808" y="3932478"/>
            <a:ext cx="3831336" cy="369112"/>
          </a:xfrm>
          <a:prstGeom prst="rect">
            <a:avLst/>
          </a:prstGeom>
          <a:noFill/>
        </p:spPr>
        <p:txBody>
          <a:bodyPr wrap="square" lIns="0" rIns="0" tIns="0" bIns="0" anchor="t">
            <a:spAutoFit/>
          </a:bodyPr>
          <a:lstStyle/>
          <a:p>
            <a:pPr algn="l">
              <a:lnSpc>
                <a:spcPct val="118000"/>
              </a:lnSpc>
              <a:spcBef>
                <a:spcPts val="0"/>
              </a:spcBef>
              <a:spcAft>
                <a:spcPts val="0"/>
              </a:spcAft>
            </a:pPr>
            <a:r>
              <a:rPr sz="1140" b="1" i="0">
                <a:solidFill>
                  <a:srgbClr val="0E2D4E"/>
                </a:solidFill>
                <a:latin typeface="Arial"/>
              </a:rPr>
              <a:t>PSOVM</a:t>
            </a:r>
            <a:r>
              <a:rPr sz="1140" b="0" i="0">
                <a:solidFill>
                  <a:srgbClr val="0E2D4E"/>
                </a:solidFill>
                <a:latin typeface="Arial"/>
              </a:rPr>
              <a:t> dựa vào vị trí, vận tốc của các phần tử và giá trị tối ưu của bầy đàn.</a:t>
            </a:r>
          </a:p>
        </p:txBody>
      </p:sp>
      <p:sp>
        <p:nvSpPr>
          <p:cNvPr id="29" name="Rectangle 28"/>
          <p:cNvSpPr/>
          <p:nvPr/>
        </p:nvSpPr>
        <p:spPr>
          <a:xfrm>
            <a:off x="5047488" y="1298448"/>
            <a:ext cx="3174339" cy="1669351"/>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f8.png"/>
          <p:cNvPicPr>
            <a:picLocks noChangeAspect="1"/>
          </p:cNvPicPr>
          <p:nvPr/>
        </p:nvPicPr>
        <p:blipFill>
          <a:blip r:embed="rId3"/>
          <a:stretch>
            <a:fillRect/>
          </a:stretch>
        </p:blipFill>
        <p:spPr>
          <a:xfrm>
            <a:off x="5084064" y="1335024"/>
            <a:ext cx="3101187" cy="1596199"/>
          </a:xfrm>
          <a:prstGeom prst="rect">
            <a:avLst/>
          </a:prstGeom>
        </p:spPr>
      </p:pic>
      <p:sp>
        <p:nvSpPr>
          <p:cNvPr id="31" name="TextBox 30"/>
          <p:cNvSpPr txBox="1"/>
          <p:nvPr/>
        </p:nvSpPr>
        <p:spPr>
          <a:xfrm>
            <a:off x="5084064" y="2986087"/>
            <a:ext cx="3101187"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Figure 8. Cân bằng tải V</a:t>
            </a:r>
          </a:p>
        </p:txBody>
      </p:sp>
      <p:sp>
        <p:nvSpPr>
          <p:cNvPr id="32" name="Rectangle 31"/>
          <p:cNvSpPr/>
          <p:nvPr/>
        </p:nvSpPr>
        <p:spPr>
          <a:xfrm>
            <a:off x="8450427" y="1298448"/>
            <a:ext cx="3174339" cy="1623745"/>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f9.png"/>
          <p:cNvPicPr>
            <a:picLocks noChangeAspect="1"/>
          </p:cNvPicPr>
          <p:nvPr/>
        </p:nvPicPr>
        <p:blipFill>
          <a:blip r:embed="rId4"/>
          <a:stretch>
            <a:fillRect/>
          </a:stretch>
        </p:blipFill>
        <p:spPr>
          <a:xfrm>
            <a:off x="8487003" y="1335024"/>
            <a:ext cx="3101187" cy="1550593"/>
          </a:xfrm>
          <a:prstGeom prst="rect">
            <a:avLst/>
          </a:prstGeom>
        </p:spPr>
      </p:pic>
      <p:sp>
        <p:nvSpPr>
          <p:cNvPr id="34" name="TextBox 33"/>
          <p:cNvSpPr txBox="1"/>
          <p:nvPr/>
        </p:nvSpPr>
        <p:spPr>
          <a:xfrm>
            <a:off x="8487003" y="2940481"/>
            <a:ext cx="3101187"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Figure 9. Tài nguyên lãng phí W</a:t>
            </a:r>
          </a:p>
        </p:txBody>
      </p:sp>
      <p:sp>
        <p:nvSpPr>
          <p:cNvPr id="35" name="Rectangle 34"/>
          <p:cNvSpPr/>
          <p:nvPr/>
        </p:nvSpPr>
        <p:spPr>
          <a:xfrm>
            <a:off x="5047488" y="3904487"/>
            <a:ext cx="3174339" cy="1692154"/>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f10.png"/>
          <p:cNvPicPr>
            <a:picLocks noChangeAspect="1"/>
          </p:cNvPicPr>
          <p:nvPr/>
        </p:nvPicPr>
        <p:blipFill>
          <a:blip r:embed="rId5"/>
          <a:stretch>
            <a:fillRect/>
          </a:stretch>
        </p:blipFill>
        <p:spPr>
          <a:xfrm>
            <a:off x="5084064" y="3941063"/>
            <a:ext cx="3101187" cy="1619002"/>
          </a:xfrm>
          <a:prstGeom prst="rect">
            <a:avLst/>
          </a:prstGeom>
        </p:spPr>
      </p:pic>
      <p:sp>
        <p:nvSpPr>
          <p:cNvPr id="37" name="TextBox 36"/>
          <p:cNvSpPr txBox="1"/>
          <p:nvPr/>
        </p:nvSpPr>
        <p:spPr>
          <a:xfrm>
            <a:off x="5084064" y="5614930"/>
            <a:ext cx="3101187"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Figure 10. Thời gian thực thi (ms)</a:t>
            </a:r>
          </a:p>
        </p:txBody>
      </p:sp>
      <p:sp>
        <p:nvSpPr>
          <p:cNvPr id="38" name="Rectangle 37"/>
          <p:cNvSpPr/>
          <p:nvPr/>
        </p:nvSpPr>
        <p:spPr>
          <a:xfrm>
            <a:off x="8450427" y="3904487"/>
            <a:ext cx="3174339" cy="1806168"/>
          </a:xfrm>
          <a:prstGeom prst="rect">
            <a:avLst/>
          </a:prstGeom>
          <a:solidFill>
            <a:srgbClr val="FFFFFF"/>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9" name="Picture 38" descr="f11.png"/>
          <p:cNvPicPr>
            <a:picLocks noChangeAspect="1"/>
          </p:cNvPicPr>
          <p:nvPr/>
        </p:nvPicPr>
        <p:blipFill>
          <a:blip r:embed="rId6"/>
          <a:stretch>
            <a:fillRect/>
          </a:stretch>
        </p:blipFill>
        <p:spPr>
          <a:xfrm>
            <a:off x="8487003" y="3941063"/>
            <a:ext cx="3101187" cy="1733016"/>
          </a:xfrm>
          <a:prstGeom prst="rect">
            <a:avLst/>
          </a:prstGeom>
        </p:spPr>
      </p:pic>
      <p:sp>
        <p:nvSpPr>
          <p:cNvPr id="40" name="TextBox 39"/>
          <p:cNvSpPr txBox="1"/>
          <p:nvPr/>
        </p:nvSpPr>
        <p:spPr>
          <a:xfrm>
            <a:off x="8487003" y="5728944"/>
            <a:ext cx="3101187"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Figure 11. Giá trị hàm mục tiêu 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ĐÓNG GÓP &amp; KẾT LUẬN</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Bài báo đã làm được gì?</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15/16</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Bốn đóng góp</a:t>
            </a:r>
          </a:p>
        </p:txBody>
      </p:sp>
      <p:sp>
        <p:nvSpPr>
          <p:cNvPr id="10" name="TextBox 9"/>
          <p:cNvSpPr txBox="1"/>
          <p:nvPr/>
        </p:nvSpPr>
        <p:spPr>
          <a:xfrm>
            <a:off x="566928" y="1715414"/>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11" name="TextBox 10"/>
          <p:cNvSpPr txBox="1"/>
          <p:nvPr/>
        </p:nvSpPr>
        <p:spPr>
          <a:xfrm>
            <a:off x="740664" y="1719072"/>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0E2D4E"/>
                </a:solidFill>
                <a:latin typeface="Arial"/>
              </a:rPr>
              <a:t>Dự đoán lỗi:</a:t>
            </a:r>
            <a:r>
              <a:rPr sz="1200" b="0" i="0">
                <a:solidFill>
                  <a:srgbClr val="2B3A47"/>
                </a:solidFill>
                <a:latin typeface="Arial"/>
              </a:rPr>
              <a:t> hệ mờ Takagi-Sugeno cho PM, từ tải và nhiệt độ</a:t>
            </a:r>
          </a:p>
        </p:txBody>
      </p:sp>
      <p:sp>
        <p:nvSpPr>
          <p:cNvPr id="12" name="TextBox 11"/>
          <p:cNvSpPr txBox="1"/>
          <p:nvPr/>
        </p:nvSpPr>
        <p:spPr>
          <a:xfrm>
            <a:off x="566928" y="2046630"/>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13" name="TextBox 12"/>
          <p:cNvSpPr txBox="1"/>
          <p:nvPr/>
        </p:nvSpPr>
        <p:spPr>
          <a:xfrm>
            <a:off x="740664" y="2050287"/>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0E2D4E"/>
                </a:solidFill>
                <a:latin typeface="Arial"/>
              </a:rPr>
              <a:t>Mô hình di chuyển VM:</a:t>
            </a:r>
            <a:r>
              <a:rPr sz="1200" b="0" i="0">
                <a:solidFill>
                  <a:srgbClr val="2B3A47"/>
                </a:solidFill>
                <a:latin typeface="Arial"/>
              </a:rPr>
              <a:t> Game Theory và cân bằng Nash</a:t>
            </a:r>
          </a:p>
        </p:txBody>
      </p:sp>
      <p:sp>
        <p:nvSpPr>
          <p:cNvPr id="14" name="TextBox 13"/>
          <p:cNvSpPr txBox="1"/>
          <p:nvPr/>
        </p:nvSpPr>
        <p:spPr>
          <a:xfrm>
            <a:off x="566928" y="2377846"/>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15" name="TextBox 14"/>
          <p:cNvSpPr txBox="1"/>
          <p:nvPr/>
        </p:nvSpPr>
        <p:spPr>
          <a:xfrm>
            <a:off x="740664" y="2381503"/>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0E2D4E"/>
                </a:solidFill>
                <a:latin typeface="Arial"/>
              </a:rPr>
              <a:t>Tối ưu:</a:t>
            </a:r>
            <a:r>
              <a:rPr sz="1200" b="0" i="0">
                <a:solidFill>
                  <a:srgbClr val="2B3A47"/>
                </a:solidFill>
                <a:latin typeface="Arial"/>
              </a:rPr>
              <a:t> Simulated Annealing tìm chiến lược gần tối ưu</a:t>
            </a:r>
          </a:p>
        </p:txBody>
      </p:sp>
      <p:sp>
        <p:nvSpPr>
          <p:cNvPr id="16" name="TextBox 15"/>
          <p:cNvSpPr txBox="1"/>
          <p:nvPr/>
        </p:nvSpPr>
        <p:spPr>
          <a:xfrm>
            <a:off x="566928" y="2709062"/>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17" name="TextBox 16"/>
          <p:cNvSpPr txBox="1"/>
          <p:nvPr/>
        </p:nvSpPr>
        <p:spPr>
          <a:xfrm>
            <a:off x="740664" y="2712719"/>
            <a:ext cx="5172303" cy="380999"/>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0E2D4E"/>
                </a:solidFill>
                <a:latin typeface="Arial"/>
              </a:rPr>
              <a:t>PFTSA:</a:t>
            </a:r>
            <a:r>
              <a:rPr sz="1200" b="0" i="0">
                <a:solidFill>
                  <a:srgbClr val="2B3A47"/>
                </a:solidFill>
                <a:latin typeface="Arial"/>
              </a:rPr>
              <a:t> gộp ba thành phần trên, đánh giá tham số và so sánh với PSOVM</a:t>
            </a:r>
          </a:p>
        </p:txBody>
      </p:sp>
      <p:sp>
        <p:nvSpPr>
          <p:cNvPr id="18" name="Rectangle 17"/>
          <p:cNvSpPr/>
          <p:nvPr/>
        </p:nvSpPr>
        <p:spPr>
          <a:xfrm>
            <a:off x="6278727"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97599" y="1298448"/>
            <a:ext cx="52271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Kết quả</a:t>
            </a:r>
          </a:p>
        </p:txBody>
      </p:sp>
      <p:sp>
        <p:nvSpPr>
          <p:cNvPr id="20" name="TextBox 19"/>
          <p:cNvSpPr txBox="1"/>
          <p:nvPr/>
        </p:nvSpPr>
        <p:spPr>
          <a:xfrm>
            <a:off x="6278727" y="1715414"/>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21" name="TextBox 20"/>
          <p:cNvSpPr txBox="1"/>
          <p:nvPr/>
        </p:nvSpPr>
        <p:spPr>
          <a:xfrm>
            <a:off x="6452463" y="1719072"/>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2B3A47"/>
                </a:solidFill>
                <a:latin typeface="Arial"/>
              </a:rPr>
              <a:t>Dự đoán được lỗi </a:t>
            </a:r>
            <a:r>
              <a:rPr sz="1200" b="1" i="0">
                <a:solidFill>
                  <a:srgbClr val="0E2D4E"/>
                </a:solidFill>
                <a:latin typeface="Arial"/>
              </a:rPr>
              <a:t>trước khi</a:t>
            </a:r>
            <a:r>
              <a:rPr sz="1200" b="0" i="0">
                <a:solidFill>
                  <a:srgbClr val="2B3A47"/>
                </a:solidFill>
                <a:latin typeface="Arial"/>
              </a:rPr>
              <a:t> xảy ra</a:t>
            </a:r>
          </a:p>
        </p:txBody>
      </p:sp>
      <p:sp>
        <p:nvSpPr>
          <p:cNvPr id="22" name="TextBox 21"/>
          <p:cNvSpPr txBox="1"/>
          <p:nvPr/>
        </p:nvSpPr>
        <p:spPr>
          <a:xfrm>
            <a:off x="6278727" y="2046630"/>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23" name="TextBox 22"/>
          <p:cNvSpPr txBox="1"/>
          <p:nvPr/>
        </p:nvSpPr>
        <p:spPr>
          <a:xfrm>
            <a:off x="6452463" y="2050287"/>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2B3A47"/>
                </a:solidFill>
                <a:latin typeface="Arial"/>
              </a:rPr>
              <a:t>Cân bằng tải gần bằng PSOVM, tài nguyên lãng phí tương tự</a:t>
            </a:r>
          </a:p>
        </p:txBody>
      </p:sp>
      <p:sp>
        <p:nvSpPr>
          <p:cNvPr id="24" name="TextBox 23"/>
          <p:cNvSpPr txBox="1"/>
          <p:nvPr/>
        </p:nvSpPr>
        <p:spPr>
          <a:xfrm>
            <a:off x="6278727" y="2377846"/>
            <a:ext cx="1737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i="0">
                <a:solidFill>
                  <a:srgbClr val="1F6FB2"/>
                </a:solidFill>
                <a:latin typeface="Arial"/>
              </a:rPr>
              <a:t>▪</a:t>
            </a:r>
          </a:p>
        </p:txBody>
      </p:sp>
      <p:sp>
        <p:nvSpPr>
          <p:cNvPr id="25" name="TextBox 24"/>
          <p:cNvSpPr txBox="1"/>
          <p:nvPr/>
        </p:nvSpPr>
        <p:spPr>
          <a:xfrm>
            <a:off x="6452463" y="2381503"/>
            <a:ext cx="5172303" cy="204215"/>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2B3A47"/>
                </a:solidFill>
                <a:latin typeface="Arial"/>
              </a:rPr>
              <a:t>Thời gian thực thi </a:t>
            </a:r>
            <a:r>
              <a:rPr sz="1200" b="1" i="0">
                <a:solidFill>
                  <a:srgbClr val="0E2D4E"/>
                </a:solidFill>
                <a:latin typeface="Arial"/>
              </a:rPr>
              <a:t>thấp hơn</a:t>
            </a:r>
            <a:r>
              <a:rPr sz="1200" b="0" i="0">
                <a:solidFill>
                  <a:srgbClr val="2B3A47"/>
                </a:solidFill>
                <a:latin typeface="Arial"/>
              </a:rPr>
              <a:t> PSOVM trong các thí nghiệm được báo cáo</a:t>
            </a:r>
          </a:p>
        </p:txBody>
      </p:sp>
      <p:sp>
        <p:nvSpPr>
          <p:cNvPr id="26" name="Rounded Rectangle 25"/>
          <p:cNvSpPr/>
          <p:nvPr/>
        </p:nvSpPr>
        <p:spPr>
          <a:xfrm>
            <a:off x="6278727" y="3310128"/>
            <a:ext cx="5346039" cy="606856"/>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278727" y="3310128"/>
            <a:ext cx="64008" cy="606856"/>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61607" y="3429000"/>
            <a:ext cx="5016855" cy="369112"/>
          </a:xfrm>
          <a:prstGeom prst="rect">
            <a:avLst/>
          </a:prstGeom>
          <a:noFill/>
        </p:spPr>
        <p:txBody>
          <a:bodyPr wrap="square" lIns="0" rIns="0" tIns="0" bIns="0" anchor="t">
            <a:spAutoFit/>
          </a:bodyPr>
          <a:lstStyle/>
          <a:p>
            <a:pPr algn="l">
              <a:lnSpc>
                <a:spcPct val="118000"/>
              </a:lnSpc>
              <a:spcBef>
                <a:spcPts val="0"/>
              </a:spcBef>
              <a:spcAft>
                <a:spcPts val="0"/>
              </a:spcAft>
            </a:pPr>
            <a:r>
              <a:rPr sz="1140" b="1" i="0">
                <a:solidFill>
                  <a:srgbClr val="1B7A57"/>
                </a:solidFill>
                <a:latin typeface="Arial"/>
              </a:rPr>
              <a:t>Hướng phát triển:</a:t>
            </a:r>
            <a:r>
              <a:rPr sz="1140" b="0" i="0">
                <a:solidFill>
                  <a:srgbClr val="1B7A57"/>
                </a:solidFill>
                <a:latin typeface="Arial"/>
              </a:rPr>
              <a:t> thử các thuật toán </a:t>
            </a:r>
            <a:r>
              <a:rPr sz="1140" b="1" i="0">
                <a:solidFill>
                  <a:srgbClr val="1B7A57"/>
                </a:solidFill>
                <a:latin typeface="Arial"/>
              </a:rPr>
              <a:t>metaheuristic khác</a:t>
            </a:r>
            <a:r>
              <a:rPr sz="1140" b="0" i="0">
                <a:solidFill>
                  <a:srgbClr val="1B7A57"/>
                </a:solidFill>
                <a:latin typeface="Arial"/>
              </a:rPr>
              <a:t> cho bài toán này.</a:t>
            </a:r>
          </a:p>
        </p:txBody>
      </p:sp>
      <p:sp>
        <p:nvSpPr>
          <p:cNvPr id="29" name="Rounded Rectangle 28"/>
          <p:cNvSpPr/>
          <p:nvPr/>
        </p:nvSpPr>
        <p:spPr>
          <a:xfrm>
            <a:off x="566928" y="4498848"/>
            <a:ext cx="11057839" cy="606856"/>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66928" y="4498848"/>
            <a:ext cx="64008" cy="606856"/>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9808" y="4617720"/>
            <a:ext cx="10728655" cy="36911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FFFFFF"/>
                </a:solidFill>
                <a:latin typeface="Arial"/>
              </a:rPr>
              <a:t>Chuỗi xử lý: </a:t>
            </a:r>
            <a:r>
              <a:rPr sz="1140" b="1" i="0">
                <a:solidFill>
                  <a:srgbClr val="FFFFFF"/>
                </a:solidFill>
                <a:latin typeface="Arial"/>
              </a:rPr>
              <a:t>Takagi-Sugeno</a:t>
            </a:r>
            <a:r>
              <a:rPr sz="1140" b="0" i="0">
                <a:solidFill>
                  <a:srgbClr val="FFFFFF"/>
                </a:solidFill>
                <a:latin typeface="Arial"/>
              </a:rPr>
              <a:t> dự đoán lỗi, </a:t>
            </a:r>
            <a:r>
              <a:rPr sz="1140" b="1" i="0">
                <a:solidFill>
                  <a:srgbClr val="FFFFFF"/>
                </a:solidFill>
                <a:latin typeface="Arial"/>
              </a:rPr>
              <a:t>Game Theory và Nash</a:t>
            </a:r>
            <a:r>
              <a:rPr sz="1140" b="0" i="0">
                <a:solidFill>
                  <a:srgbClr val="FFFFFF"/>
                </a:solidFill>
                <a:latin typeface="Arial"/>
              </a:rPr>
              <a:t> mô hình hóa việc di chuyển, </a:t>
            </a:r>
            <a:r>
              <a:rPr sz="1140" b="1" i="0">
                <a:solidFill>
                  <a:srgbClr val="FFFFFF"/>
                </a:solidFill>
                <a:latin typeface="Arial"/>
              </a:rPr>
              <a:t>Simulated Annealing</a:t>
            </a:r>
            <a:r>
              <a:rPr sz="1140" b="0" i="0">
                <a:solidFill>
                  <a:srgbClr val="FFFFFF"/>
                </a:solidFill>
                <a:latin typeface="Arial"/>
              </a:rPr>
              <a:t> tìm lời giải, </a:t>
            </a:r>
            <a:r>
              <a:rPr sz="1140" b="1" i="0">
                <a:solidFill>
                  <a:srgbClr val="FFFFFF"/>
                </a:solidFill>
                <a:latin typeface="Arial"/>
              </a:rPr>
              <a:t>PFTSA</a:t>
            </a:r>
            <a:r>
              <a:rPr sz="1140" b="0" i="0">
                <a:solidFill>
                  <a:srgbClr val="FFFFFF"/>
                </a:solidFill>
                <a:latin typeface="Arial"/>
              </a:rPr>
              <a:t> tạo kế hoạch di chuyển VM.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1645920" y="3200400"/>
            <a:ext cx="4754880" cy="4754880"/>
          </a:xfrm>
          <a:prstGeom prst="ellipse">
            <a:avLst/>
          </a:prstGeom>
          <a:solidFill>
            <a:srgbClr val="173F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174175" y="-1463040"/>
            <a:ext cx="4389120" cy="4389120"/>
          </a:xfrm>
          <a:prstGeom prst="ellipse">
            <a:avLst/>
          </a:prstGeom>
          <a:solidFill>
            <a:srgbClr val="173F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0"/>
            <a:ext cx="146304"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8720" y="2057400"/>
            <a:ext cx="9784080" cy="914400"/>
          </a:xfrm>
          <a:prstGeom prst="rect">
            <a:avLst/>
          </a:prstGeom>
          <a:noFill/>
        </p:spPr>
        <p:txBody>
          <a:bodyPr wrap="square" lIns="0" rIns="0" tIns="0" bIns="0" anchor="t">
            <a:spAutoFit/>
          </a:bodyPr>
          <a:lstStyle/>
          <a:p>
            <a:pPr algn="l">
              <a:lnSpc>
                <a:spcPct val="102000"/>
              </a:lnSpc>
              <a:spcBef>
                <a:spcPts val="0"/>
              </a:spcBef>
              <a:spcAft>
                <a:spcPts val="0"/>
              </a:spcAft>
            </a:pPr>
            <a:r>
              <a:rPr sz="3600" b="1" i="0">
                <a:solidFill>
                  <a:srgbClr val="FFFFFF"/>
                </a:solidFill>
                <a:latin typeface="Arial"/>
              </a:rPr>
              <a:t>Cảm ơn thầy cô và các bạn</a:t>
            </a:r>
          </a:p>
        </p:txBody>
      </p:sp>
      <p:sp>
        <p:nvSpPr>
          <p:cNvPr id="7" name="TextBox 6"/>
          <p:cNvSpPr txBox="1"/>
          <p:nvPr/>
        </p:nvSpPr>
        <p:spPr>
          <a:xfrm>
            <a:off x="1188720" y="2971800"/>
            <a:ext cx="9784080" cy="457200"/>
          </a:xfrm>
          <a:prstGeom prst="rect">
            <a:avLst/>
          </a:prstGeom>
          <a:noFill/>
        </p:spPr>
        <p:txBody>
          <a:bodyPr wrap="square" lIns="0" rIns="0" tIns="0" bIns="0" anchor="t">
            <a:spAutoFit/>
          </a:bodyPr>
          <a:lstStyle/>
          <a:p>
            <a:pPr algn="l">
              <a:lnSpc>
                <a:spcPct val="100000"/>
              </a:lnSpc>
              <a:spcBef>
                <a:spcPts val="0"/>
              </a:spcBef>
              <a:spcAft>
                <a:spcPts val="0"/>
              </a:spcAft>
            </a:pPr>
            <a:r>
              <a:rPr sz="1900" b="0" i="1">
                <a:solidFill>
                  <a:srgbClr val="5D9BD3"/>
                </a:solidFill>
                <a:latin typeface="Arial"/>
              </a:rPr>
              <a:t>Questions &amp; Discussion</a:t>
            </a:r>
          </a:p>
        </p:txBody>
      </p:sp>
      <p:sp>
        <p:nvSpPr>
          <p:cNvPr id="8" name="Rounded Rectangle 7"/>
          <p:cNvSpPr/>
          <p:nvPr/>
        </p:nvSpPr>
        <p:spPr>
          <a:xfrm>
            <a:off x="1188720" y="3886200"/>
            <a:ext cx="9601200" cy="1051560"/>
          </a:xfrm>
          <a:prstGeom prst="roundRect">
            <a:avLst>
              <a:gd name="adj" fmla="val 8000"/>
            </a:avLst>
          </a:prstGeom>
          <a:solidFill>
            <a:srgbClr val="173F68"/>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00000"/>
              </a:lnSpc>
              <a:spcBef>
                <a:spcPts val="0"/>
              </a:spcBef>
              <a:spcAft>
                <a:spcPts val="0"/>
              </a:spcAft>
            </a:pPr>
            <a:r>
              <a:rPr sz="1200" b="1" i="0">
                <a:solidFill>
                  <a:srgbClr val="5D9BD3"/>
                </a:solidFill>
                <a:latin typeface="Arial"/>
              </a:rPr>
              <a:t>Key takeaway</a:t>
            </a:r>
          </a:p>
          <a:p>
            <a:pPr algn="l">
              <a:lnSpc>
                <a:spcPct val="112000"/>
              </a:lnSpc>
              <a:spcBef>
                <a:spcPts val="400"/>
              </a:spcBef>
              <a:spcAft>
                <a:spcPts val="0"/>
              </a:spcAft>
            </a:pPr>
            <a:r>
              <a:rPr sz="1500" b="0" i="0">
                <a:solidFill>
                  <a:srgbClr val="FFFFFF"/>
                </a:solidFill>
                <a:latin typeface="Arial"/>
              </a:rPr>
              <a:t>Predict the fault before it happens, then optimize VM migration to prevent its impact.</a:t>
            </a:r>
          </a:p>
        </p:txBody>
      </p:sp>
      <p:sp>
        <p:nvSpPr>
          <p:cNvPr id="9" name="TextBox 8"/>
          <p:cNvSpPr txBox="1"/>
          <p:nvPr/>
        </p:nvSpPr>
        <p:spPr>
          <a:xfrm>
            <a:off x="566928" y="6519672"/>
            <a:ext cx="82296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Chịu lỗi chủ động cho Cloud · Takagi-Sugeno + Simulated Annealing · Nông Văn Tình</a:t>
            </a:r>
          </a:p>
        </p:txBody>
      </p:sp>
      <p:sp>
        <p:nvSpPr>
          <p:cNvPr id="10" name="TextBox 9"/>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