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 xin chào thầy cô và các bạn.</a:t>
            </a:r>
          </a:p>
          <a:p/>
          <a:p>
            <a:r>
              <a:t>Bài trình bày hôm nay của em là Chương 11 — Bảo mật đám mây.</a:t>
            </a:r>
          </a:p>
          <a:p/>
          <a:p>
            <a:r>
              <a:t>Khi đưa một hệ thống lên Cloud, chúng ta thường nghĩ ngay đến lợi ích: triển</a:t>
            </a:r>
          </a:p>
          <a:p>
            <a:r>
              <a:t>khai nhanh, mở rộng linh hoạt, không phải đầu tư hạ tầng. Nhưng cùng với đó,</a:t>
            </a:r>
          </a:p>
          <a:p>
            <a:r>
              <a:t>mô hình bảo mật cũng thay đổi — và đó là điều em muốn trình bày hôm nay.</a:t>
            </a:r>
          </a:p>
          <a:p/>
          <a:p>
            <a:r>
              <a:t>Vì thời gian có hạn, em xin đi nhanh qua bức tranh tổng thể, tập trung vào ý</a:t>
            </a:r>
          </a:p>
          <a:p>
            <a:r>
              <a:t>tưởng và cách tư duy; phần chi tiết kỹ thuật em xin trao đổi thêm ở phần hỏi</a:t>
            </a:r>
          </a:p>
          <a:p>
            <a:r>
              <a:t>đáp.</a:t>
            </a:r>
          </a:p>
          <a:p/>
          <a:p>
            <a:r>
              <a:t>Trước hết, em xin giới thiệu nội dung bài trình bày.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Bài của em gồm sáu phần, đi theo một mạch từ khái quát đến cụ thể.</a:t>
            </a:r>
          </a:p>
          <a:p/>
          <a:p>
            <a:r>
              <a:t>Phần một là nền tảng: bảo mật đám mây khác gì bảo mật truyền thống, ai chịu</a:t>
            </a:r>
          </a:p>
          <a:p>
            <a:r>
              <a:t>trách nhiệm, và rốt cuộc chúng ta đang bảo vệ điều gì.</a:t>
            </a:r>
          </a:p>
          <a:p/>
          <a:p>
            <a:r>
              <a:t>Phần hai thu hẹp lại vào đối tượng quan trọng nhất — dữ liệu.</a:t>
            </a:r>
          </a:p>
          <a:p/>
          <a:p>
            <a:r>
              <a:t>Từ phần hai sẽ nảy ra một bài toán: làm sao để Cloud xử lý dữ liệu mà không</a:t>
            </a:r>
          </a:p>
          <a:p>
            <a:r>
              <a:t>nhìn thấy dữ liệu. Đó là lý do có phần ba — ba kỹ thuật mật mã nâng cao: ABE,</a:t>
            </a:r>
          </a:p>
          <a:p>
            <a:r>
              <a:t>FHE và Searchable Encryption. Đây là phần trọng tâm.</a:t>
            </a:r>
          </a:p>
          <a:p/>
          <a:p>
            <a:r>
              <a:t>Phần bốn lùi lại một bước để nhìn rộng hơn: hạ tầng và vùng tin cậy.</a:t>
            </a:r>
          </a:p>
          <a:p/>
          <a:p>
            <a:r>
              <a:t>Phần năm đi vào ứng dụng, danh tính và máy chủ ảo — những gì khách hàng trực</a:t>
            </a:r>
          </a:p>
          <a:p>
            <a:r>
              <a:t>tiếp quản lý.</a:t>
            </a:r>
          </a:p>
          <a:p/>
          <a:p>
            <a:r>
              <a:t>Và phần sáu tổng hợp thành các lớp kiểm soát, khép bài bằng tư duy phòng thủ</a:t>
            </a:r>
          </a:p>
          <a:p>
            <a:r>
              <a:t>nhiều lớp.</a:t>
            </a:r>
          </a:p>
          <a:p/>
          <a:p>
            <a:r>
              <a:t>Chúng ta bắt đầu với phần một.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Để bắt đầu, chúng ta cần trả lời một câu hỏi rất cơ bản: bảo mật đám mây thực</a:t>
            </a:r>
          </a:p>
          <a:p>
            <a:r>
              <a:t>chất là gì?</a:t>
            </a:r>
          </a:p>
          <a:p/>
          <a:p>
            <a:r>
              <a:t>Hiểu đơn giản, đó là tập hợp các công nghệ, chính sách và quy trình nhằm bảo</a:t>
            </a:r>
          </a:p>
          <a:p>
            <a:r>
              <a:t>vệ bốn thứ: dữ liệu, ứng dụng, hạ tầng, và danh tính cùng quyền truy cập.</a:t>
            </a:r>
          </a:p>
          <a:p/>
          <a:p>
            <a:r>
              <a:t>Nhưng có một điểm khiến bài toán này khác hẳn mô hình truyền thống: chúng ta</a:t>
            </a:r>
          </a:p>
          <a:p>
            <a:r>
              <a:t>không còn tự kiểm soát toàn bộ hạ tầng. Tài nguyên đi thuê, hạ tầng dùng</a:t>
            </a:r>
          </a:p>
          <a:p>
            <a:r>
              <a:t>chung, và mọi truy cập đều qua mạng.</a:t>
            </a:r>
          </a:p>
          <a:p/>
          <a:p>
            <a:r>
              <a:t>Từ đó xuất hiện khái niệm quan trọng nhất của Cloud: Shared Responsibility</a:t>
            </a:r>
          </a:p>
          <a:p>
            <a:r>
              <a:t>Model — mô hình trách nhiệm chung. Có thể hiểu thành hai phía. Nhà cung cấp</a:t>
            </a:r>
          </a:p>
          <a:p>
            <a:r>
              <a:t>chịu trách nhiệm với nền tảng họ cung cấp: trung tâm dữ liệu, phần cứng, mạng</a:t>
            </a:r>
          </a:p>
          <a:p>
            <a:r>
              <a:t>lõi, lớp ảo hóa. Khách hàng chịu trách nhiệm với những gì mình triển khai lên</a:t>
            </a:r>
          </a:p>
          <a:p>
            <a:r>
              <a:t>đó: dữ liệu, danh tính, quyền truy cập và cấu hình dịch vụ.</a:t>
            </a:r>
          </a:p>
          <a:p/>
          <a:p>
            <a:r>
              <a:t>Ranh giới này không cố định: chuyển từ IaaS sang PaaS rồi SaaS, phần nhà cung</a:t>
            </a:r>
          </a:p>
          <a:p>
            <a:r>
              <a:t>cấp lo tăng dần, phần khách hàng giảm đi — nhưng không bao giờ bằng không. Vì</a:t>
            </a:r>
          </a:p>
          <a:p>
            <a:r>
              <a:t>vậy khi có sự cố, trước hết phải xác định nó nằm ở lớp nào.</a:t>
            </a:r>
          </a:p>
          <a:p/>
          <a:p>
            <a:r>
              <a:t>Vậy dù ai chịu trách nhiệm, rốt cuộc chúng ta đang bảo vệ điều gì? Đó là bộ</a:t>
            </a:r>
          </a:p>
          <a:p>
            <a:r>
              <a:t>ba CIA. Confidentiality — chỉ người được phép mới xem được dữ liệu. Integrity</a:t>
            </a:r>
          </a:p>
          <a:p>
            <a:r>
              <a:t>— dữ liệu không bị thay đổi trái phép. Availability — khi người dùng hợp lệ</a:t>
            </a:r>
          </a:p>
          <a:p>
            <a:r>
              <a:t>cần thì hệ thống phải sẵn sàng.</a:t>
            </a:r>
          </a:p>
          <a:p/>
          <a:p>
            <a:r>
              <a:t>Ý cần nhớ ở phần này: Cloud không xóa bỏ trách nhiệm bảo mật, nó phân chia</a:t>
            </a:r>
          </a:p>
          <a:p>
            <a:r>
              <a:t>lại trách nhiệm.</a:t>
            </a:r>
          </a:p>
          <a:p/>
          <a:p>
            <a:r>
              <a:t>Vậy khi dữ liệu thực sự đi vào Cloud, nó phải đối mặt với những vấn đề gì?</a:t>
            </a:r>
          </a:p>
          <a:p>
            <a:r>
              <a:t>Đó là nội dung phần tiếp theo.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Sau khi đã xác định trách nhiệm và mục tiêu, chúng ta nhìn vào đối tượng quan</a:t>
            </a:r>
          </a:p>
          <a:p>
            <a:r>
              <a:t>trọng nhất: dữ liệu.</a:t>
            </a:r>
          </a:p>
          <a:p/>
          <a:p>
            <a:r>
              <a:t>Dữ liệu trên Cloud không nằm yên một chỗ. Nó bắt đầu từ người dùng, đi qua</a:t>
            </a:r>
          </a:p>
          <a:p>
            <a:r>
              <a:t>mạng, được lưu trữ, rồi được đưa vào xử lý và trả kết quả về. Nhìn theo vòng</a:t>
            </a:r>
          </a:p>
          <a:p>
            <a:r>
              <a:t>đời đó, dữ liệu tồn tại ở ba trạng thái, mỗi trạng thái cần một cách bảo vệ</a:t>
            </a:r>
          </a:p>
          <a:p>
            <a:r>
              <a:t>khác nhau.</a:t>
            </a:r>
          </a:p>
          <a:p/>
          <a:p>
            <a:r>
              <a:t>Khi dữ liệu đang truyền, điều chúng ta quan tâm là nó có bị nghe lén hay giả</a:t>
            </a:r>
          </a:p>
          <a:p>
            <a:r>
              <a:t>mạo không; cách xử lý là mã hóa đường truyền kết hợp xác thực hai đầu — và</a:t>
            </a:r>
          </a:p>
          <a:p>
            <a:r>
              <a:t>một nguyên tắc đáng nhớ là không nên mặc định cứ mạng riêng là an toàn.</a:t>
            </a:r>
          </a:p>
          <a:p/>
          <a:p>
            <a:r>
              <a:t>Khi dữ liệu đang được lưu trữ, vấn đề chuyển sang quyền truy cập và khả năng</a:t>
            </a:r>
          </a:p>
          <a:p>
            <a:r>
              <a:t>mất dữ liệu — xử lý bằng mã hóa lưu trữ và quản lý khóa cho tốt.</a:t>
            </a:r>
          </a:p>
          <a:p/>
          <a:p>
            <a:r>
              <a:t>Còn khi dữ liệu đang được xử lý, một vấn đề khó hơn xuất hiện: để xử lý thì</a:t>
            </a:r>
          </a:p>
          <a:p>
            <a:r>
              <a:t>thông thường Cloud phải nhìn thấy dữ liệu. Em xin quay lại điểm này ngay sau</a:t>
            </a:r>
          </a:p>
          <a:p>
            <a:r>
              <a:t>đây.</a:t>
            </a:r>
          </a:p>
          <a:p/>
          <a:p>
            <a:r>
              <a:t>Ngoài ba trạng thái, khi dữ liệu nằm trong tay nhà cung cấp còn bốn vấn đề</a:t>
            </a:r>
          </a:p>
          <a:p>
            <a:r>
              <a:t>cần kiểm soát: dữ liệu có còn toàn vẹn không, quyền riêng tư được bảo vệ thế</a:t>
            </a:r>
          </a:p>
          <a:p>
            <a:r>
              <a:t>nào, dữ liệu thực sự đang được lưu ở đâu — điều này còn liên quan đến quy</a:t>
            </a:r>
          </a:p>
          <a:p>
            <a:r>
              <a:t>định pháp lý của từng quốc gia — và khi cần thì có truy cập được không.</a:t>
            </a:r>
          </a:p>
          <a:p/>
          <a:p>
            <a:r>
              <a:t>Một lớp thông tin nữa thường bị bỏ qua là metadata: ai truy cập, khi nào, tần</a:t>
            </a:r>
          </a:p>
          <a:p>
            <a:r>
              <a:t>suất ra sao. Nghĩa là ngay cả khi nội dung đã mã hóa, thông tin xung quanh dữ</a:t>
            </a:r>
          </a:p>
          <a:p>
            <a:r>
              <a:t>liệu vẫn có thể tiết lộ những điều có giá trị.</a:t>
            </a:r>
          </a:p>
          <a:p/>
          <a:p>
            <a:r>
              <a:t>Đến đây, một bài toán thú vị hơn xuất hiện: nếu em muốn tận dụng khả năng</a:t>
            </a:r>
          </a:p>
          <a:p>
            <a:r>
              <a:t>tính toán của Cloud, nhưng không muốn Cloud nhìn thấy dữ liệu gốc, thì phải</a:t>
            </a:r>
          </a:p>
          <a:p>
            <a:r>
              <a:t>làm thế nào?</a:t>
            </a:r>
          </a:p>
          <a:p/>
          <a:p>
            <a:r>
              <a:t>Đây chính là chỗ mã hóa truyền thống gặp giới hạn — và là nội dung phần ba.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Chúng ta thử đặt lại bài toán vừa nêu cho thật rõ.</a:t>
            </a:r>
          </a:p>
          <a:p/>
          <a:p>
            <a:r>
              <a:t>Cách làm truyền thống là: mã hóa dữ liệu ở máy mình, tải bản mã lên Cloud, và</a:t>
            </a:r>
          </a:p>
          <a:p>
            <a:r>
              <a:t>khi cần xử lý thì giải mã ra rồi tính toán. Nhìn vào luồng này ta thấy ngay</a:t>
            </a:r>
          </a:p>
          <a:p>
            <a:r>
              <a:t>điểm yếu: đến bước xử lý, dữ liệu vẫn phải hiện ra ở dạng rõ trên hệ thống</a:t>
            </a:r>
          </a:p>
          <a:p>
            <a:r>
              <a:t>của nhà cung cấp. Mã hóa chỉ bảo vệ được lúc truyền và lúc lưu, còn lúc dùng</a:t>
            </a:r>
          </a:p>
          <a:p>
            <a:r>
              <a:t>thì không.</a:t>
            </a:r>
          </a:p>
          <a:p/>
          <a:p>
            <a:r>
              <a:t>Vậy bài toán đặt ra là: muốn Cloud xử lý dữ liệu, nhưng không muốn Cloud biết</a:t>
            </a:r>
          </a:p>
          <a:p>
            <a:r>
              <a:t>dữ liệu.</a:t>
            </a:r>
          </a:p>
          <a:p/>
          <a:p>
            <a:r>
              <a:t>Từ nhu cầu đó xuất hiện các kỹ thuật mật mã nâng cao. Em xin giới thiệu ba kỹ</a:t>
            </a:r>
          </a:p>
          <a:p>
            <a:r>
              <a:t>thuật, và cách dễ nhớ nhất là xem chúng như ba câu trả lời cho ba câu hỏi</a:t>
            </a:r>
          </a:p>
          <a:p>
            <a:r>
              <a:t>khác nhau.</a:t>
            </a:r>
          </a:p>
          <a:p/>
          <a:p>
            <a:r>
              <a:t>Ai được phép giải mã? Trả lời bằng ABE — mã hóa dựa trên thuộc tính.</a:t>
            </a:r>
          </a:p>
          <a:p/>
          <a:p>
            <a:r>
              <a:t>Có thể tính toán ngay trên dữ liệu đã mã hóa không? Trả lời bằng FHE — mã hóa</a:t>
            </a:r>
          </a:p>
          <a:p>
            <a:r>
              <a:t>đồng cấu toàn phần.</a:t>
            </a:r>
          </a:p>
          <a:p/>
          <a:p>
            <a:r>
              <a:t>Có thể tìm kiếm mà không cần giải mã không? Trả lời bằng Searchable</a:t>
            </a:r>
          </a:p>
          <a:p>
            <a:r>
              <a:t>Encryption.</a:t>
            </a:r>
          </a:p>
          <a:p/>
          <a:p>
            <a:r>
              <a:t>Slide này giống như một bản đồ. Ba slide tiếp theo em xin đi nhanh vào từng</a:t>
            </a:r>
          </a:p>
          <a:p>
            <a:r>
              <a:t>kỹ thuật, bắt đầu với ABE.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Kỹ thuật thứ nhất trả lời câu hỏi: ai được phép giải mã.</a:t>
            </a:r>
          </a:p>
          <a:p/>
          <a:p>
            <a:r>
              <a:t>Với mã hóa thông thường, muốn cho ai đọc thì phải mã hóa riêng cho người đó.</a:t>
            </a:r>
          </a:p>
          <a:p>
            <a:r>
              <a:t>Cách này ổn khi có vài người dùng, nhưng trong một tổ chức lớn, liên tục có</a:t>
            </a:r>
          </a:p>
          <a:p>
            <a:r>
              <a:t>người vào người ra, thì quản lý khóa trở thành gánh nặng.</a:t>
            </a:r>
          </a:p>
          <a:p/>
          <a:p>
            <a:r>
              <a:t>ABE tiếp cận theo hướng khác. Thay vì hỏi "mã hóa cho ai", nó hỏi "ai đủ điều</a:t>
            </a:r>
          </a:p>
          <a:p>
            <a:r>
              <a:t>kiện thì được đọc". Dữ liệu được mã hóa kèm một chính sách truy cập — tức là</a:t>
            </a:r>
          </a:p>
          <a:p>
            <a:r>
              <a:t>điều kiện phải thỏa mới đọc được. Mỗi người dùng được cấp một khóa gắn với</a:t>
            </a:r>
          </a:p>
          <a:p>
            <a:r>
              <a:t>tập thuộc tính của mình, chẳng hạn vai trò, phòng ban, tổ chức. Khi giải mã,</a:t>
            </a:r>
          </a:p>
          <a:p>
            <a:r>
              <a:t>hệ thống đối chiếu thuộc tính trong khóa với chính sách trong bản mã: thỏa</a:t>
            </a:r>
          </a:p>
          <a:p>
            <a:r>
              <a:t>thì giải mã thành công, không thỏa thì không ra được gì.</a:t>
            </a:r>
          </a:p>
          <a:p/>
          <a:p>
            <a:r>
              <a:t>Có hai mô hình chính. CP-ABE đặt chính sách ở bản mã, nghĩa là người mã hóa</a:t>
            </a:r>
          </a:p>
          <a:p>
            <a:r>
              <a:t>quyết định ai được đọc dữ liệu của mình. KP-ABE thì ngược lại, đặt chính sách</a:t>
            </a:r>
          </a:p>
          <a:p>
            <a:r>
              <a:t>ở khóa, nghĩa là cơ quan cấp khóa quyết định một người được đọc những loại dữ</a:t>
            </a:r>
          </a:p>
          <a:p>
            <a:r>
              <a:t>liệu nào.</a:t>
            </a:r>
          </a:p>
          <a:p/>
          <a:p>
            <a:r>
              <a:t>Điểm đáng giá nhất của ABE là quyền truy cập nằm ngay trong bản mã, chứ không</a:t>
            </a:r>
          </a:p>
          <a:p>
            <a:r>
              <a:t>nằm ở phần mềm kiểm soát truy cập của máy chủ. Kể cả khi kẻ tấn công lấy được</a:t>
            </a:r>
          </a:p>
          <a:p>
            <a:r>
              <a:t>bản mã, không có thuộc tính phù hợp thì vẫn không đọc được.</a:t>
            </a:r>
          </a:p>
          <a:p/>
          <a:p>
            <a:r>
              <a:t>ABE đã giải quyết câu hỏi ai được đọc, nhưng chưa trả lời được câu hỏi khó</a:t>
            </a:r>
          </a:p>
          <a:p>
            <a:r>
              <a:t>hơn: làm sao tính toán trên dữ liệu mà không cần nhìn thấy nó. Đó là kỹ thuật</a:t>
            </a:r>
          </a:p>
          <a:p>
            <a:r>
              <a:t>tiếp theo.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Kỹ thuật thứ hai, theo em, là ý tưởng thú vị nhất của chương: FHE — mã hóa</a:t>
            </a:r>
          </a:p>
          <a:p>
            <a:r>
              <a:t>đồng cấu toàn phần.</a:t>
            </a:r>
          </a:p>
          <a:p/>
          <a:p>
            <a:r>
              <a:t>Ý tưởng như sau. Người dùng mã hóa dữ liệu ngay tại máy mình rồi gửi bản mã</a:t>
            </a:r>
          </a:p>
          <a:p>
            <a:r>
              <a:t>lên Cloud. Cloud thực hiện phép toán trực tiếp trên bản mã — không giải mã,</a:t>
            </a:r>
          </a:p>
          <a:p>
            <a:r>
              <a:t>và cũng không có khóa để giải mã. Kết quả tính ra vẫn đang ở dạng mã hóa; chỉ</a:t>
            </a:r>
          </a:p>
          <a:p>
            <a:r>
              <a:t>người giữ khóa mới giải mã để lấy kết quả thật.</a:t>
            </a:r>
          </a:p>
          <a:p/>
          <a:p>
            <a:r>
              <a:t>Điều đặc biệt là trong suốt quá trình đó, dữ liệu gốc không một lần nào xuất</a:t>
            </a:r>
          </a:p>
          <a:p>
            <a:r>
              <a:t>hiện ở phía nhà cung cấp. Nói cách khác, FHE biến Cloud từ "nơi nhìn thấy dữ</a:t>
            </a:r>
          </a:p>
          <a:p>
            <a:r>
              <a:t>liệu" thành "nơi chỉ thực hiện phép tính trên dữ liệu". Đây chính là lời giải</a:t>
            </a:r>
          </a:p>
          <a:p>
            <a:r>
              <a:t>cho bài toán dữ liệu đang được xử lý mà em nêu ở phần hai.</a:t>
            </a:r>
          </a:p>
          <a:p/>
          <a:p>
            <a:r>
              <a:t>Tất nhiên là có cái giá phải trả, ở hai điểm.</a:t>
            </a:r>
          </a:p>
          <a:p/>
          <a:p>
            <a:r>
              <a:t>Thứ nhất là chi phí: tính toán trên bản mã chậm hơn rất nhiều so với tính</a:t>
            </a:r>
          </a:p>
          <a:p>
            <a:r>
              <a:t>toán thông thường, nên chưa thể áp dụng đại trà.</a:t>
            </a:r>
          </a:p>
          <a:p/>
          <a:p>
            <a:r>
              <a:t>Thứ hai là nhiễu. Mỗi bản mã mang theo một lượng nhiễu nhỏ, và mỗi phép toán</a:t>
            </a:r>
          </a:p>
          <a:p>
            <a:r>
              <a:t>lại làm nhiễu tích lũy thêm; đến một ngưỡng nào đó thì không còn giải mã đúng</a:t>
            </a:r>
          </a:p>
          <a:p>
            <a:r>
              <a:t>được nữa. Kỹ thuật xử lý việc này gọi là bootstrapping — hiểu đơn giản là làm</a:t>
            </a:r>
          </a:p>
          <a:p>
            <a:r>
              <a:t>sạch bớt nhiễu để có thể tiếp tục tính.</a:t>
            </a:r>
          </a:p>
          <a:p/>
          <a:p>
            <a:r>
              <a:t>Vì vậy hiện nay FHE phù hợp nhất với những bài toán mà dữ liệu rất nhạy cảm</a:t>
            </a:r>
          </a:p>
          <a:p>
            <a:r>
              <a:t>và việc giữ bí mật quan trọng hơn tốc độ.</a:t>
            </a:r>
          </a:p>
          <a:p/>
          <a:p>
            <a:r>
              <a:t>Như vậy chúng ta đã có câu trả lời cho việc đọc và việc tính toán. Còn một</a:t>
            </a:r>
          </a:p>
          <a:p>
            <a:r>
              <a:t>nhu cầu rất đời thường nữa chưa được giải quyết: tìm kiếm.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Kỹ thuật thứ ba xuất phát từ một tình huống rất thực tế.</a:t>
            </a:r>
          </a:p>
          <a:p/>
          <a:p>
            <a:r>
              <a:t>Giả sử em đã mã hóa toàn bộ dữ liệu trước khi đưa lên Cloud. Về bảo mật thì</a:t>
            </a:r>
          </a:p>
          <a:p>
            <a:r>
              <a:t>rất tốt, nhưng Cloud không tìm kiếm được nữa, vì với nó tất cả chỉ là dữ liệu</a:t>
            </a:r>
          </a:p>
          <a:p>
            <a:r>
              <a:t>vô nghĩa; muốn tìm một tài liệu thì phải tải cả kho về giải mã hết — không</a:t>
            </a:r>
          </a:p>
          <a:p>
            <a:r>
              <a:t>khả thi.</a:t>
            </a:r>
          </a:p>
          <a:p/>
          <a:p>
            <a:r>
              <a:t>Searchable Encryption giải quyết bằng cách tách việc tìm kiếm ra khỏi việc</a:t>
            </a:r>
          </a:p>
          <a:p>
            <a:r>
              <a:t>đọc nội dung, chia thành hai giai đoạn.</a:t>
            </a:r>
          </a:p>
          <a:p/>
          <a:p>
            <a:r>
              <a:t>Giai đoạn thứ nhất là khi tải dữ liệu lên. Ngoài việc mã hóa tài liệu, hệ</a:t>
            </a:r>
          </a:p>
          <a:p>
            <a:r>
              <a:t>thống còn rút ra các từ khóa và xây dựng một chỉ mục tìm kiếm — bản thân chỉ</a:t>
            </a:r>
          </a:p>
          <a:p>
            <a:r>
              <a:t>mục này cũng được mã hóa. Cả hai cùng được lưu trên Cloud.</a:t>
            </a:r>
          </a:p>
          <a:p/>
          <a:p>
            <a:r>
              <a:t>Giai đoạn thứ hai là khi tìm kiếm. Người dùng không gửi từ khóa ở dạng rõ, mà</a:t>
            </a:r>
          </a:p>
          <a:p>
            <a:r>
              <a:t>sinh ra một trapdoor — có thể hiểu là truy vấn đã được mã hóa. Cloud dùng</a:t>
            </a:r>
          </a:p>
          <a:p>
            <a:r>
              <a:t>trapdoor đối chiếu với chỉ mục, xác định tài liệu nào khớp và trả về đúng</a:t>
            </a:r>
          </a:p>
          <a:p>
            <a:r>
              <a:t>những tài liệu đó, mà không đọc được nội dung và cũng không biết từ khóa thực</a:t>
            </a:r>
          </a:p>
          <a:p>
            <a:r>
              <a:t>sự là gì.</a:t>
            </a:r>
          </a:p>
          <a:p/>
          <a:p>
            <a:r>
              <a:t>Em xin lưu ý một điểm: kỹ thuật này vẫn để lộ thông tin gián tiếp — chẳng hạn</a:t>
            </a:r>
          </a:p>
          <a:p>
            <a:r>
              <a:t>những tài liệu nào hay được trả về cùng nhau. Người ta gọi đó là rò rỉ mẫu</a:t>
            </a:r>
          </a:p>
          <a:p>
            <a:r>
              <a:t>truy cập, và đây vẫn là hướng đang được nghiên cứu cải tiến.</a:t>
            </a:r>
          </a:p>
          <a:p/>
          <a:p>
            <a:r>
              <a:t>Tóm lại phần ba: ba kỹ thuật trả lời ba câu hỏi — ABE là ai được đọc, FHE là</a:t>
            </a:r>
          </a:p>
          <a:p>
            <a:r>
              <a:t>tính toán thế nào, SE là tìm kiếm ra sao.</a:t>
            </a:r>
          </a:p>
          <a:p/>
          <a:p>
            <a:r>
              <a:t>Nhưng bảo vệ tốt dữ liệu thôi thì chưa đủ. Chúng ta hãy lùi lại một bước để</a:t>
            </a:r>
          </a:p>
          <a:p>
            <a:r>
              <a:t>nhìn vào lớp bên dưới: hạ tầng.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Đến đây em xin chuyển từ dữ liệu sang hạ tầng.</a:t>
            </a:r>
          </a:p>
          <a:p/>
          <a:p>
            <a:r>
              <a:t>Nhìn tổng thể, bảo mật Cloud xếp thành nhiều lớp đồng tâm. Trong cùng là dữ</a:t>
            </a:r>
          </a:p>
          <a:p>
            <a:r>
              <a:t>liệu, bao quanh là mạng, tiếp đến là quản lý danh tính và truy cập, ngoài</a:t>
            </a:r>
          </a:p>
          <a:p>
            <a:r>
              <a:t>cùng là máy chủ và máy ảo. Cách nhìn này có ích, vì mỗi lớp là một cơ hội để</a:t>
            </a:r>
          </a:p>
          <a:p>
            <a:r>
              <a:t>phát hiện và chặn kẻ tấn công: vượt qua được lớp này chưa có nghĩa là vào</a:t>
            </a:r>
          </a:p>
          <a:p>
            <a:r>
              <a:t>được lớp trong.</a:t>
            </a:r>
          </a:p>
          <a:p/>
          <a:p>
            <a:r>
              <a:t>Bối cảnh triển khai cũng ảnh hưởng nhiều. Private Cloud là môi trường kiểm</a:t>
            </a:r>
          </a:p>
          <a:p>
            <a:r>
              <a:t>soát chặt hơn, gần với mô hình mạng nội bộ quen thuộc. Còn Public Cloud thì</a:t>
            </a:r>
          </a:p>
          <a:p>
            <a:r>
              <a:t>kết nối Internet, nhiều khách hàng dùng chung hạ tầng, và phụ thuộc rất nhiều</a:t>
            </a:r>
          </a:p>
          <a:p>
            <a:r>
              <a:t>vào việc chúng ta cấu hình có đúng hay không.</a:t>
            </a:r>
          </a:p>
          <a:p/>
          <a:p>
            <a:r>
              <a:t>Những nguy cơ điển hình ở lớp này gồm: tấn công có chủ đích kéo dài; mối đe</a:t>
            </a:r>
          </a:p>
          <a:p>
            <a:r>
              <a:t>dọa từ chính người bên trong; truy cập trái phép; và di chuyển ngang — tức là</a:t>
            </a:r>
          </a:p>
          <a:p>
            <a:r>
              <a:t>chiếm được một máy rồi lần sang các máy khác trong cùng mạng.</a:t>
            </a:r>
          </a:p>
          <a:p/>
          <a:p>
            <a:r>
              <a:t>Cách xử lý gồm ba việc đi cùng nhau: chia mạng thành các phân đoạn để giới</a:t>
            </a:r>
          </a:p>
          <a:p>
            <a:r>
              <a:t>hạn phạm vi thiệt hại; thiết lập vùng tin cậy quanh những tài nguyên quan</a:t>
            </a:r>
          </a:p>
          <a:p>
            <a:r>
              <a:t>trọng nhất; và dùng IAM để quy định rõ ai được làm gì.</a:t>
            </a:r>
          </a:p>
          <a:p/>
          <a:p>
            <a:r>
              <a:t>Tư duy cần nhớ: không phải cứ nằm bên trong mạng thì mặc nhiên đáng tin cậy.</a:t>
            </a:r>
          </a:p>
          <a:p/>
          <a:p>
            <a:r>
              <a:t>Nói đến IAM, chúng ta sang phần năm: những gì khách hàng trực tiếp quản lý.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Phần năm nói về ứng dụng và danh tính — và bảng này, theo em, là ý quan trọng</a:t>
            </a:r>
          </a:p>
          <a:p>
            <a:r>
              <a:t>nhất của cả phần.</a:t>
            </a:r>
          </a:p>
          <a:p/>
          <a:p>
            <a:r>
              <a:t>Ở phần một em có nói ranh giới trách nhiệm dịch chuyển theo mô hình dịch vụ.</a:t>
            </a:r>
          </a:p>
          <a:p>
            <a:r>
              <a:t>Bảng này cho thấy cụ thể nó dịch chuyển như thế nào.</a:t>
            </a:r>
          </a:p>
          <a:p/>
          <a:p>
            <a:r>
              <a:t>Với IaaS, nhà cung cấp chỉ lo hạ tầng; khách hàng tự lo hệ điều hành, mạng và</a:t>
            </a:r>
          </a:p>
          <a:p>
            <a:r>
              <a:t>ứng dụng — rủi ro nằm ở cấu hình máy ảo. Với PaaS, nhà cung cấp lo thêm nền</a:t>
            </a:r>
          </a:p>
          <a:p>
            <a:r>
              <a:t>tảng; khách hàng tập trung vào ứng dụng, dữ liệu và quyền truy cập.</a:t>
            </a:r>
          </a:p>
          <a:p/>
          <a:p>
            <a:r>
              <a:t>Với SaaS, nhà cung cấp lo gần như toàn bộ; phần còn lại của khách hàng chủ</a:t>
            </a:r>
          </a:p>
          <a:p>
            <a:r>
              <a:t>yếu là quản lý người dùng và phân quyền. Nghe thì ít việc nhất, nhưng thực tế</a:t>
            </a:r>
          </a:p>
          <a:p>
            <a:r>
              <a:t>lại là nơi hay xảy ra sự cố nhất: chia sẻ dữ liệu nhầm ra bên ngoài, hoặc cấp</a:t>
            </a:r>
          </a:p>
          <a:p>
            <a:r>
              <a:t>quyền rộng hơn mức cần thiết.</a:t>
            </a:r>
          </a:p>
          <a:p/>
          <a:p>
            <a:r>
              <a:t>Nhìn ngang cả ba cột, ta thấy một điểm chung xuyên suốt: quản lý danh tính và</a:t>
            </a:r>
          </a:p>
          <a:p>
            <a:r>
              <a:t>truy cập. Có bốn việc cần làm. Thứ nhất là SSO — đăng nhập một lần — để tập</a:t>
            </a:r>
          </a:p>
          <a:p>
            <a:r>
              <a:t>trung việc xác thực, dễ kiểm soát và dễ thu hồi. Thứ hai là xác thực mạnh,</a:t>
            </a:r>
          </a:p>
          <a:p>
            <a:r>
              <a:t>tức đa yếu tố, để một mật khẩu bị lộ không đủ để vào hệ thống. Thứ ba là đặc</a:t>
            </a:r>
          </a:p>
          <a:p>
            <a:r>
              <a:t>quyền tối thiểu: chỉ cấp đúng quyền cần dùng và rà soát định kỳ. Thứ tư là</a:t>
            </a:r>
          </a:p>
          <a:p>
            <a:r>
              <a:t>phân quyền chi tiết theo vai trò và theo tài nguyên.</a:t>
            </a:r>
          </a:p>
          <a:p/>
          <a:p>
            <a:r>
              <a:t>Đi kèm là quản lý secrets — API key, token, chứng chỉ, khóa SSH: lưu trữ an</a:t>
            </a:r>
          </a:p>
          <a:p>
            <a:r>
              <a:t>toàn, xoay vòng định kỳ và thu hồi được ngay khi nghi ngờ bị lộ.</a:t>
            </a:r>
          </a:p>
          <a:p/>
          <a:p>
            <a:r>
              <a:t>Ý cần nhớ: trên Cloud, phần lớn sự cố không đến từ việc phá vỡ mã hóa, mà từ</a:t>
            </a:r>
          </a:p>
          <a:p>
            <a:r>
              <a:t>cấu hình sai và quyền cấp thừa.</a:t>
            </a:r>
          </a:p>
          <a:p/>
          <a:p>
            <a:r>
              <a:t>Còn một thành phần nữa khách hàng trực tiếp quản lý, đó là máy chủ 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 xin nói nhanh hai nội dung cuối trước khi tổng kết.</a:t>
            </a:r>
          </a:p>
          <a:p/>
          <a:p>
            <a:r>
              <a:t>Thứ nhất là máy chủ ảo. Đặc điểm của Cloud là máy ảo được tạo ra rất nhanh và</a:t>
            </a:r>
          </a:p>
          <a:p>
            <a:r>
              <a:t>rất nhiều, nên một cấu hình sai cũng được nhân bản rất nhanh. Có năm việc tối</a:t>
            </a:r>
          </a:p>
          <a:p>
            <a:r>
              <a:t>thiểu cần làm.</a:t>
            </a:r>
          </a:p>
          <a:p/>
          <a:p>
            <a:r>
              <a:t>Một, cấu hình an toàn ngay từ mặc định, vì nhiều máy ảo tạo ra rồi để đó</a:t>
            </a:r>
          </a:p>
          <a:p>
            <a:r>
              <a:t>không ai quay lại chỉnh. Hai, chỉ dùng image đã được kiểm tra, có nguồn gốc</a:t>
            </a:r>
          </a:p>
          <a:p>
            <a:r>
              <a:t>rõ ràng. Ba, tuyệt đối không nhúng khóa riêng hay chứng chỉ vào image, vì</a:t>
            </a:r>
          </a:p>
          <a:p>
            <a:r>
              <a:t>image có thể bị sao chép và khi đó khóa cũng đi theo. Bốn, bật firewall ngay</a:t>
            </a:r>
          </a:p>
          <a:p>
            <a:r>
              <a:t>trên máy ảo chứ không chỉ dựa vào firewall lớp mạng — đúng tinh thần phòng</a:t>
            </a:r>
          </a:p>
          <a:p>
            <a:r>
              <a:t>thủ nhiều lớp. Năm, đẩy log tập trung ra ngoài, để khi máy ảo bị xóa thì bằng</a:t>
            </a:r>
          </a:p>
          <a:p>
            <a:r>
              <a:t>chứng vẫn còn.</a:t>
            </a:r>
          </a:p>
          <a:p/>
          <a:p>
            <a:r>
              <a:t>Thứ hai là bức tranh tổng thể về kiểm soát bảo mật, gồm bốn nhóm, sắp theo</a:t>
            </a:r>
          </a:p>
          <a:p>
            <a:r>
              <a:t>trình tự một sự cố diễn ra. Nhóm răn đe làm kẻ tấn công nản lòng ngay từ đầu.</a:t>
            </a:r>
          </a:p>
          <a:p>
            <a:r>
              <a:t>Nhóm ngăn ngừa chặn tấn công xảy ra: mã hóa, IAM, firewall, hardening — phần</a:t>
            </a:r>
          </a:p>
          <a:p>
            <a:r>
              <a:t>lớn những gì em trình bày nãy giờ nằm ở nhóm này. Nhóm phát hiện cho ta biết</a:t>
            </a:r>
          </a:p>
          <a:p>
            <a:r>
              <a:t>có chuyện đang xảy ra: giám sát, log, phát hiện xâm nhập. Và nhóm khắc phục</a:t>
            </a:r>
          </a:p>
          <a:p>
            <a:r>
              <a:t>đưa hệ thống trở lại bình thường: sao lưu, khôi phục, ứng phó sự cố.</a:t>
            </a:r>
          </a:p>
          <a:p/>
          <a:p>
            <a:r>
              <a:t>Ý cần nhớ: không nhóm nào đủ một mình. Ngăn ngừa có thể bị vượt qua nên phải</a:t>
            </a:r>
          </a:p>
          <a:p>
            <a:r>
              <a:t>có phát hiện; phát hiện rồi thì phải có khả năng khắc phục.</a:t>
            </a:r>
          </a:p>
          <a:p/>
          <a:p>
            <a:r>
              <a:t>Và đó cũng là tinh thần để em khép lại bài trình bày.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 xin tổng kết lại toàn bộ bài.</a:t>
            </a:r>
          </a:p>
          <a:p/>
          <a:p>
            <a:r>
              <a:t>Nếu phải gói tất cả vào một chuỗi, em xin đề xuất chuỗi này: xác định trách</a:t>
            </a:r>
          </a:p>
          <a:p>
            <a:r>
              <a:t>nhiệm, bảo vệ dữ liệu, kiểm soát danh tính, phân đoạn mạng, gia cố ứng dụng</a:t>
            </a:r>
          </a:p>
          <a:p>
            <a:r>
              <a:t>và hạ tầng, giám sát, rồi khôi phục. Đó chính là tư duy Defense in Depth —</a:t>
            </a:r>
          </a:p>
          <a:p>
            <a:r>
              <a:t>phòng thủ nhiều lớp.</a:t>
            </a:r>
          </a:p>
          <a:p/>
          <a:p>
            <a:r>
              <a:t>Và em xin nhấn mạnh ba thông điệp cuối cùng.</a:t>
            </a:r>
          </a:p>
          <a:p/>
          <a:p>
            <a:r>
              <a:t>Thứ nhất, Cloud không loại bỏ trách nhiệm bảo mật, mà phân chia lại trách</a:t>
            </a:r>
          </a:p>
          <a:p>
            <a:r>
              <a:t>nhiệm. Dù dùng IaaS, PaaS hay SaaS, phần của khách hàng luôn còn đó — chỉ là</a:t>
            </a:r>
          </a:p>
          <a:p>
            <a:r>
              <a:t>nó nằm ở chỗ khác nhau.</a:t>
            </a:r>
          </a:p>
          <a:p/>
          <a:p>
            <a:r>
              <a:t>Thứ hai, bảo vệ dữ liệu không chỉ là mã hóa. Còn phải kiểm soát ai được đọc,</a:t>
            </a:r>
          </a:p>
          <a:p>
            <a:r>
              <a:t>dữ liệu có toàn vẹn không, đang lưu ở đâu, và có thể xử lý an toàn hay không.</a:t>
            </a:r>
          </a:p>
          <a:p>
            <a:r>
              <a:t>Chính những câu hỏi đó dẫn tới ABE, FHE và Searchable Encryption ở phần ba.</a:t>
            </a:r>
          </a:p>
          <a:p/>
          <a:p>
            <a:r>
              <a:t>Thứ ba, bảo mật Cloud hiệu quả không nằm ở một công nghệ duy nhất, mà ở nhiều</a:t>
            </a:r>
          </a:p>
          <a:p>
            <a:r>
              <a:t>lớp kết hợp với nhau: từ mật mã và IAM đến mạng, ứng dụng, giám sát và khôi</a:t>
            </a:r>
          </a:p>
          <a:p>
            <a:r>
              <a:t>phục.</a:t>
            </a:r>
          </a:p>
          <a:p/>
          <a:p>
            <a:r>
              <a:t>Bài trình bày của em đến đây là kết thúc. Em xin chân thành cảm ơn thầy cô và</a:t>
            </a:r>
          </a:p>
          <a:p>
            <a:r>
              <a:t>các bạn đã lắng nghe.</a:t>
            </a:r>
          </a:p>
          <a:p/>
          <a:p>
            <a:r>
              <a:t>Sau đây em xin mời thầy cô và các bạn đặt câu hỏi và cùng thảo luận ạ.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59775" y="-1554480"/>
            <a:ext cx="5120640" cy="5120640"/>
          </a:xfrm>
          <a:prstGeom prst="ellipse">
            <a:avLst/>
          </a:prstGeom>
          <a:solidFill>
            <a:srgbClr val="173F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14255" y="3840480"/>
            <a:ext cx="4023360" cy="4023360"/>
          </a:xfrm>
          <a:prstGeom prst="ellipse">
            <a:avLst/>
          </a:prstGeom>
          <a:solidFill>
            <a:srgbClr val="173F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78308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5D9BD3"/>
                </a:solidFill>
                <a:latin typeface="Arial"/>
              </a:rPr>
              <a:t>CHƯƠNG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221992"/>
            <a:ext cx="9509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FFFFFF"/>
                </a:solidFill>
                <a:latin typeface="Arial"/>
              </a:rPr>
              <a:t>BẢO MẬT ĐÁM MÂY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227832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5D9BD3"/>
                </a:solidFill>
                <a:latin typeface="Arial"/>
              </a:rPr>
              <a:t>Cloud Security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51560" y="3867912"/>
            <a:ext cx="2057400" cy="0"/>
          </a:xfrm>
          <a:prstGeom prst="line">
            <a:avLst/>
          </a:prstGeom>
          <a:ln w="38100">
            <a:solidFill>
              <a:srgbClr val="1F6F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51560" y="4123944"/>
            <a:ext cx="9326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BDD3E6"/>
                </a:solidFill>
                <a:latin typeface="Arial"/>
              </a:rPr>
              <a:t>Trách nhiệm · Dữ liệu · Mật mã · Hạ tầng · Ứng dụng · Kiểm soát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650992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DD3E6"/>
                </a:solidFill>
                <a:latin typeface="Arial"/>
              </a:rPr>
              <a:t>Người thực hiện: </a:t>
            </a:r>
            <a:r>
              <a:rPr sz="1300" b="1" i="0">
                <a:solidFill>
                  <a:srgbClr val="FFFFFF"/>
                </a:solidFill>
                <a:latin typeface="Arial"/>
              </a:rPr>
              <a:t>Nông Văn Tình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61727" y="6519672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E8FAE"/>
                </a:solidFill>
                <a:latin typeface="Arial"/>
              </a:rPr>
              <a:t>1/12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84048"/>
            <a:ext cx="77724" cy="603504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29184"/>
            <a:ext cx="107835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F6FB2"/>
                </a:solidFill>
                <a:latin typeface="Arial"/>
              </a:rPr>
              <a:t>NỘI DUNG TRÌNH BÀY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566928"/>
            <a:ext cx="1078351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E2D4E"/>
                </a:solidFill>
                <a:latin typeface="Arial"/>
              </a:rPr>
              <a:t>MỤC LỤC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152144"/>
            <a:ext cx="11057839" cy="0"/>
          </a:xfrm>
          <a:prstGeom prst="line">
            <a:avLst/>
          </a:prstGeom>
          <a:ln w="12700">
            <a:solidFill>
              <a:srgbClr val="C3D8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519672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88A"/>
                </a:solidFill>
                <a:latin typeface="Arial"/>
              </a:rPr>
              <a:t>Bảo mật đám mây (Cloud Security) · Nông Văn Tình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1727" y="6519672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88A"/>
                </a:solidFill>
                <a:latin typeface="Arial"/>
              </a:rPr>
              <a:t>2/12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09344"/>
            <a:ext cx="3527450" cy="1188720"/>
          </a:xfrm>
          <a:prstGeom prst="roundRect">
            <a:avLst>
              <a:gd name="adj" fmla="val 6000"/>
            </a:avLst>
          </a:prstGeom>
          <a:solidFill>
            <a:srgbClr val="F5F9FC"/>
          </a:solidFill>
          <a:ln w="12700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609344"/>
            <a:ext cx="59436" cy="118872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746504"/>
            <a:ext cx="3189122" cy="2020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E2D4E"/>
                </a:solidFill>
                <a:latin typeface="Arial"/>
              </a:rPr>
              <a:t>1 · NỀN TẢNG BẢO MẬT ĐÁM MÂY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008911"/>
            <a:ext cx="137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F6FB2"/>
                </a:solidFill>
                <a:latin typeface="Arial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012569"/>
            <a:ext cx="3051962" cy="1924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2B3A47"/>
                </a:solidFill>
                <a:latin typeface="Arial"/>
              </a:rPr>
              <a:t>Shared Responsibility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264841"/>
            <a:ext cx="137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F6FB2"/>
                </a:solidFill>
                <a:latin typeface="Arial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2268499"/>
            <a:ext cx="3051962" cy="1924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2B3A47"/>
                </a:solidFill>
                <a:latin typeface="Arial"/>
              </a:rPr>
              <a:t>Bộ ba bảo mật CIA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32122" y="1609344"/>
            <a:ext cx="3527450" cy="1188720"/>
          </a:xfrm>
          <a:prstGeom prst="roundRect">
            <a:avLst>
              <a:gd name="adj" fmla="val 6000"/>
            </a:avLst>
          </a:prstGeom>
          <a:solidFill>
            <a:srgbClr val="F5F9FC"/>
          </a:solidFill>
          <a:ln w="12700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32122" y="1609344"/>
            <a:ext cx="59436" cy="118872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3290" y="1746504"/>
            <a:ext cx="3189122" cy="2020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E2D4E"/>
                </a:solidFill>
                <a:latin typeface="Arial"/>
              </a:rPr>
              <a:t>2 · BẢO VỆ DỮ LIỆU TRÊN CLOUD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3290" y="2008911"/>
            <a:ext cx="137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F6FB2"/>
                </a:solidFill>
                <a:latin typeface="Arial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70450" y="2012569"/>
            <a:ext cx="3051962" cy="1924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2B3A47"/>
                </a:solidFill>
                <a:latin typeface="Arial"/>
              </a:rPr>
              <a:t>Ba trạng thái của dữ liệu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33290" y="2264841"/>
            <a:ext cx="137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F6FB2"/>
                </a:solidFill>
                <a:latin typeface="Arial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70450" y="2268499"/>
            <a:ext cx="3051962" cy="1924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2B3A47"/>
                </a:solidFill>
                <a:latin typeface="Arial"/>
              </a:rPr>
              <a:t>Bốn vấn đề cần kiểm soát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7316" y="1609344"/>
            <a:ext cx="3527450" cy="1188720"/>
          </a:xfrm>
          <a:prstGeom prst="roundRect">
            <a:avLst>
              <a:gd name="adj" fmla="val 6000"/>
            </a:avLst>
          </a:prstGeom>
          <a:solidFill>
            <a:srgbClr val="F5F9FC"/>
          </a:solidFill>
          <a:ln w="12700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97316" y="1609344"/>
            <a:ext cx="59436" cy="118872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98484" y="1746504"/>
            <a:ext cx="3189122" cy="2020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E2D4E"/>
                </a:solidFill>
                <a:latin typeface="Arial"/>
              </a:rPr>
              <a:t>3 · MẬT MÃ NÂNG CAO CHO CLOUD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98484" y="2008911"/>
            <a:ext cx="137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F6FB2"/>
                </a:solidFill>
                <a:latin typeface="Arial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35644" y="2012569"/>
            <a:ext cx="3051962" cy="1924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2B3A47"/>
                </a:solidFill>
                <a:latin typeface="Arial"/>
              </a:rPr>
              <a:t>ABE · FHE · Searchable Encryption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98484" y="2264841"/>
            <a:ext cx="137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F6FB2"/>
                </a:solidFill>
                <a:latin typeface="Arial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35644" y="2268499"/>
            <a:ext cx="3051962" cy="1924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2B3A47"/>
                </a:solidFill>
                <a:latin typeface="Arial"/>
              </a:rPr>
              <a:t>Ba bài toán khác nhau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3072384"/>
            <a:ext cx="3527450" cy="1188720"/>
          </a:xfrm>
          <a:prstGeom prst="roundRect">
            <a:avLst>
              <a:gd name="adj" fmla="val 6000"/>
            </a:avLst>
          </a:prstGeom>
          <a:solidFill>
            <a:srgbClr val="F5F9FC"/>
          </a:solidFill>
          <a:ln w="12700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66928" y="3072384"/>
            <a:ext cx="59436" cy="1188720"/>
          </a:xfrm>
          <a:prstGeom prst="rect">
            <a:avLst/>
          </a:prstGeom>
          <a:solidFill>
            <a:srgbClr val="5D9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8096" y="3209544"/>
            <a:ext cx="3189122" cy="2020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E2D4E"/>
                </a:solidFill>
                <a:latin typeface="Arial"/>
              </a:rPr>
              <a:t>4 · HẠ TẦNG &amp; VÙNG TIN CẬY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8096" y="3471951"/>
            <a:ext cx="137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F6FB2"/>
                </a:solidFill>
                <a:latin typeface="Arial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3475609"/>
            <a:ext cx="3051962" cy="1924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2B3A47"/>
                </a:solidFill>
                <a:latin typeface="Arial"/>
              </a:rPr>
              <a:t>Public Cloud vs Private Cloud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8096" y="3727881"/>
            <a:ext cx="137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F6FB2"/>
                </a:solidFill>
                <a:latin typeface="Arial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5256" y="3731539"/>
            <a:ext cx="3051962" cy="1924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2B3A47"/>
                </a:solidFill>
                <a:latin typeface="Arial"/>
              </a:rPr>
              <a:t>Phân đoạn mạng &amp; Trust Zone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32122" y="3072384"/>
            <a:ext cx="3527450" cy="1188720"/>
          </a:xfrm>
          <a:prstGeom prst="roundRect">
            <a:avLst>
              <a:gd name="adj" fmla="val 6000"/>
            </a:avLst>
          </a:prstGeom>
          <a:solidFill>
            <a:srgbClr val="F5F9FC"/>
          </a:solidFill>
          <a:ln w="12700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332122" y="3072384"/>
            <a:ext cx="59436" cy="1188720"/>
          </a:xfrm>
          <a:prstGeom prst="rect">
            <a:avLst/>
          </a:prstGeom>
          <a:solidFill>
            <a:srgbClr val="5D9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33290" y="3209544"/>
            <a:ext cx="3189122" cy="2020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E2D4E"/>
                </a:solidFill>
                <a:latin typeface="Arial"/>
              </a:rPr>
              <a:t>5 · ỨNG DỤNG, DANH TÍNH &amp; MÁY CHỦ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33290" y="3471951"/>
            <a:ext cx="137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F6FB2"/>
                </a:solidFill>
                <a:latin typeface="Arial"/>
              </a:rPr>
              <a:t>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70450" y="3475609"/>
            <a:ext cx="3051962" cy="1924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2B3A47"/>
                </a:solidFill>
                <a:latin typeface="Arial"/>
              </a:rPr>
              <a:t>IaaS · PaaS · SaaS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33290" y="3727881"/>
            <a:ext cx="137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F6FB2"/>
                </a:solidFill>
                <a:latin typeface="Arial"/>
              </a:rPr>
              <a:t>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70450" y="3731539"/>
            <a:ext cx="3051962" cy="1924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2B3A47"/>
                </a:solidFill>
                <a:latin typeface="Arial"/>
              </a:rPr>
              <a:t>IAM · SSO · Máy chủ ảo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097316" y="3072384"/>
            <a:ext cx="3527450" cy="1188720"/>
          </a:xfrm>
          <a:prstGeom prst="roundRect">
            <a:avLst>
              <a:gd name="adj" fmla="val 6000"/>
            </a:avLst>
          </a:prstGeom>
          <a:solidFill>
            <a:srgbClr val="F5F9FC"/>
          </a:solidFill>
          <a:ln w="12700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97316" y="3072384"/>
            <a:ext cx="59436" cy="1188720"/>
          </a:xfrm>
          <a:prstGeom prst="rect">
            <a:avLst/>
          </a:prstGeom>
          <a:solidFill>
            <a:srgbClr val="5D9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98484" y="3209544"/>
            <a:ext cx="3189122" cy="2020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E2D4E"/>
                </a:solidFill>
                <a:latin typeface="Arial"/>
              </a:rPr>
              <a:t>6 · KIỂM SOÁT &amp; TỔNG KẾT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98484" y="3471951"/>
            <a:ext cx="137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F6FB2"/>
                </a:solidFill>
                <a:latin typeface="Arial"/>
              </a:rPr>
              <a:t>•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35644" y="3475609"/>
            <a:ext cx="3051962" cy="1924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2B3A47"/>
                </a:solidFill>
                <a:latin typeface="Arial"/>
              </a:rPr>
              <a:t>Bốn nhóm kiểm soát bảo mật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98484" y="3727881"/>
            <a:ext cx="137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F6FB2"/>
                </a:solidFill>
                <a:latin typeface="Arial"/>
              </a:rPr>
              <a:t>•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35644" y="3731539"/>
            <a:ext cx="3051962" cy="1924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2B3A47"/>
                </a:solidFill>
                <a:latin typeface="Arial"/>
              </a:rPr>
              <a:t>Defense in Depth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66928" y="4608576"/>
            <a:ext cx="11057839" cy="436016"/>
          </a:xfrm>
          <a:prstGeom prst="roundRect">
            <a:avLst>
              <a:gd name="adj" fmla="val 10000"/>
            </a:avLst>
          </a:prstGeom>
          <a:solidFill>
            <a:srgbClr val="EAF2F9"/>
          </a:solidFill>
          <a:ln w="12700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66928" y="4608576"/>
            <a:ext cx="64008" cy="436016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49808" y="4727448"/>
            <a:ext cx="10728655" cy="1982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0E2D4E"/>
                </a:solidFill>
                <a:latin typeface="Arial"/>
              </a:rPr>
              <a:t>Mạch bài: </a:t>
            </a:r>
            <a:r>
              <a:rPr sz="1140" b="1" i="0">
                <a:solidFill>
                  <a:srgbClr val="0E2D4E"/>
                </a:solidFill>
                <a:latin typeface="Arial"/>
              </a:rPr>
              <a:t>trách nhiệm &amp; mục tiêu</a:t>
            </a:r>
            <a:r>
              <a:rPr sz="1140" b="0" i="0">
                <a:solidFill>
                  <a:srgbClr val="0E2D4E"/>
                </a:solidFill>
                <a:latin typeface="Arial"/>
              </a:rPr>
              <a:t> → </a:t>
            </a:r>
            <a:r>
              <a:rPr sz="1140" b="1" i="0">
                <a:solidFill>
                  <a:srgbClr val="0E2D4E"/>
                </a:solidFill>
                <a:latin typeface="Arial"/>
              </a:rPr>
              <a:t>dữ liệu</a:t>
            </a:r>
            <a:r>
              <a:rPr sz="1140" b="0" i="0">
                <a:solidFill>
                  <a:srgbClr val="0E2D4E"/>
                </a:solidFill>
                <a:latin typeface="Arial"/>
              </a:rPr>
              <a:t> → </a:t>
            </a:r>
            <a:r>
              <a:rPr sz="1140" b="1" i="0">
                <a:solidFill>
                  <a:srgbClr val="0E2D4E"/>
                </a:solidFill>
                <a:latin typeface="Arial"/>
              </a:rPr>
              <a:t>mật mã nâng cao</a:t>
            </a:r>
            <a:r>
              <a:rPr sz="1140" b="0" i="0">
                <a:solidFill>
                  <a:srgbClr val="0E2D4E"/>
                </a:solidFill>
                <a:latin typeface="Arial"/>
              </a:rPr>
              <a:t> → </a:t>
            </a:r>
            <a:r>
              <a:rPr sz="1140" b="1" i="0">
                <a:solidFill>
                  <a:srgbClr val="0E2D4E"/>
                </a:solidFill>
                <a:latin typeface="Arial"/>
              </a:rPr>
              <a:t>hạ tầng, ứng dụng, máy chủ</a:t>
            </a:r>
            <a:r>
              <a:rPr sz="1140" b="0" i="0">
                <a:solidFill>
                  <a:srgbClr val="0E2D4E"/>
                </a:solidFill>
                <a:latin typeface="Arial"/>
              </a:rPr>
              <a:t> → </a:t>
            </a:r>
            <a:r>
              <a:rPr sz="1140" b="1" i="0">
                <a:solidFill>
                  <a:srgbClr val="0E2D4E"/>
                </a:solidFill>
                <a:latin typeface="Arial"/>
              </a:rPr>
              <a:t>các lớp kiểm soát</a:t>
            </a:r>
            <a:r>
              <a:rPr sz="1140" b="0" i="0">
                <a:solidFill>
                  <a:srgbClr val="0E2D4E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84048"/>
            <a:ext cx="77724" cy="603504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29184"/>
            <a:ext cx="107835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F6FB2"/>
                </a:solidFill>
                <a:latin typeface="Arial"/>
              </a:rPr>
              <a:t>PHẦN 1 · NỀN TẢNG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566928"/>
            <a:ext cx="1078351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E2D4E"/>
                </a:solidFill>
                <a:latin typeface="Arial"/>
              </a:rPr>
              <a:t>TRÁCH NHIỆM &amp; MỤC TIÊU BẢO MẬT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152144"/>
            <a:ext cx="11057839" cy="0"/>
          </a:xfrm>
          <a:prstGeom prst="line">
            <a:avLst/>
          </a:prstGeom>
          <a:ln w="12700">
            <a:solidFill>
              <a:srgbClr val="C3D8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519672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88A"/>
                </a:solidFill>
                <a:latin typeface="Arial"/>
              </a:rPr>
              <a:t>Bảo mật đám mây (Cloud Security) · Nông Văn Tình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1727" y="6519672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88A"/>
                </a:solidFill>
                <a:latin typeface="Arial"/>
              </a:rPr>
              <a:t>3/12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499616"/>
            <a:ext cx="50292" cy="142367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481328"/>
            <a:ext cx="10938967" cy="1880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E2D4E"/>
                </a:solidFill>
                <a:latin typeface="Arial"/>
              </a:rPr>
              <a:t>Shared Responsibility Model — ranh giới dịch chuyển theo mô hình dịch vụ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788287"/>
            <a:ext cx="3527450" cy="1170432"/>
          </a:xfrm>
          <a:prstGeom prst="roundRect">
            <a:avLst>
              <a:gd name="adj" fmla="val 6000"/>
            </a:avLst>
          </a:prstGeom>
          <a:solidFill>
            <a:srgbClr val="F5F9FC"/>
          </a:solidFill>
          <a:ln w="12700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788287"/>
            <a:ext cx="59436" cy="1170432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1925447"/>
            <a:ext cx="3189122" cy="195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2D4E"/>
                </a:solidFill>
                <a:latin typeface="Arial"/>
              </a:rPr>
              <a:t>NHÀ CUNG CẤP (CSP)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180869"/>
            <a:ext cx="137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B2"/>
                </a:solidFill>
                <a:latin typeface="Arial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2184527"/>
            <a:ext cx="3051962" cy="1894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3A47"/>
                </a:solidFill>
                <a:latin typeface="Arial"/>
              </a:rPr>
              <a:t>Hạ tầng vật lý, ảo hóa, mạng lõi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2433853"/>
            <a:ext cx="137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B2"/>
                </a:solidFill>
                <a:latin typeface="Arial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2437511"/>
            <a:ext cx="3051962" cy="1894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3A47"/>
                </a:solidFill>
                <a:latin typeface="Arial"/>
              </a:rPr>
              <a:t>Dịch vụ nền tảng họ vận hành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32122" y="1788287"/>
            <a:ext cx="3527450" cy="1170432"/>
          </a:xfrm>
          <a:prstGeom prst="roundRect">
            <a:avLst>
              <a:gd name="adj" fmla="val 6000"/>
            </a:avLst>
          </a:prstGeom>
          <a:solidFill>
            <a:srgbClr val="F5F9FC"/>
          </a:solidFill>
          <a:ln w="12700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32122" y="1788287"/>
            <a:ext cx="59436" cy="1170432"/>
          </a:xfrm>
          <a:prstGeom prst="rect">
            <a:avLst/>
          </a:prstGeom>
          <a:solidFill>
            <a:srgbClr val="5D9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3290" y="1925447"/>
            <a:ext cx="3189122" cy="195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2D4E"/>
                </a:solidFill>
                <a:latin typeface="Arial"/>
              </a:rPr>
              <a:t>KHÁCH HÀNG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33290" y="2180869"/>
            <a:ext cx="137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B2"/>
                </a:solidFill>
                <a:latin typeface="Arial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70450" y="2184527"/>
            <a:ext cx="3051962" cy="1894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3A47"/>
                </a:solidFill>
                <a:latin typeface="Arial"/>
              </a:rPr>
              <a:t>Dữ liệu, danh tính, quyền truy cập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33290" y="2433853"/>
            <a:ext cx="137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B2"/>
                </a:solidFill>
                <a:latin typeface="Arial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70450" y="2437511"/>
            <a:ext cx="3051962" cy="1894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3A47"/>
                </a:solidFill>
                <a:latin typeface="Arial"/>
              </a:rPr>
              <a:t>Cấu hình dịch vụ và ứng dụng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7316" y="1788287"/>
            <a:ext cx="3527450" cy="1170432"/>
          </a:xfrm>
          <a:prstGeom prst="roundRect">
            <a:avLst>
              <a:gd name="adj" fmla="val 6000"/>
            </a:avLst>
          </a:prstGeom>
          <a:solidFill>
            <a:srgbClr val="F5F9FC"/>
          </a:solidFill>
          <a:ln w="12700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97316" y="1788287"/>
            <a:ext cx="59436" cy="1170432"/>
          </a:xfrm>
          <a:prstGeom prst="rect">
            <a:avLst/>
          </a:prstGeom>
          <a:solidFill>
            <a:srgbClr val="A8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98484" y="1925447"/>
            <a:ext cx="3189122" cy="195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2D4E"/>
                </a:solidFill>
                <a:latin typeface="Arial"/>
              </a:rPr>
              <a:t>DỊCH CHUYỂN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98484" y="2180869"/>
            <a:ext cx="137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B2"/>
                </a:solidFill>
                <a:latin typeface="Arial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35644" y="2184527"/>
            <a:ext cx="3051962" cy="1894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3A47"/>
                </a:solidFill>
                <a:latin typeface="Arial"/>
              </a:rPr>
              <a:t>IaaS → PaaS → SaaS: CSP lo nhiều hơn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98484" y="2433853"/>
            <a:ext cx="137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B2"/>
                </a:solidFill>
                <a:latin typeface="Arial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35644" y="2437511"/>
            <a:ext cx="3051962" cy="1894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3A47"/>
                </a:solidFill>
                <a:latin typeface="Arial"/>
              </a:rPr>
              <a:t>Nhưng khách hàng không hết trách nhiệm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3287903"/>
            <a:ext cx="50292" cy="142367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3269615"/>
            <a:ext cx="10938967" cy="1880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E2D4E"/>
                </a:solidFill>
                <a:latin typeface="Arial"/>
              </a:rPr>
              <a:t>Mục tiêu bảo mật — bộ ba CIA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3576574"/>
            <a:ext cx="3527450" cy="896112"/>
          </a:xfrm>
          <a:prstGeom prst="roundRect">
            <a:avLst>
              <a:gd name="adj" fmla="val 6000"/>
            </a:avLst>
          </a:prstGeom>
          <a:solidFill>
            <a:srgbClr val="F5F9FC"/>
          </a:solidFill>
          <a:ln w="12700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4088" y="3713734"/>
            <a:ext cx="3253130" cy="2020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E2D4E"/>
                </a:solidFill>
                <a:latin typeface="Arial"/>
              </a:rPr>
              <a:t>Confidentiality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" y="3979798"/>
            <a:ext cx="3253130" cy="196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A47"/>
                </a:solidFill>
                <a:latin typeface="Arial"/>
              </a:rPr>
              <a:t>Ai được phép </a:t>
            </a:r>
            <a:r>
              <a:rPr sz="1150" b="1" i="0">
                <a:solidFill>
                  <a:srgbClr val="1F6FB2"/>
                </a:solidFill>
                <a:latin typeface="Arial"/>
              </a:rPr>
              <a:t>xem</a:t>
            </a:r>
            <a:r>
              <a:rPr sz="1150" b="0" i="0">
                <a:solidFill>
                  <a:srgbClr val="2B3A47"/>
                </a:solidFill>
                <a:latin typeface="Arial"/>
              </a:rPr>
              <a:t> dữ liệu?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32122" y="3576574"/>
            <a:ext cx="3527450" cy="896112"/>
          </a:xfrm>
          <a:prstGeom prst="roundRect">
            <a:avLst>
              <a:gd name="adj" fmla="val 6000"/>
            </a:avLst>
          </a:prstGeom>
          <a:solidFill>
            <a:srgbClr val="F5F9FC"/>
          </a:solidFill>
          <a:ln w="12700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69282" y="3713734"/>
            <a:ext cx="3253130" cy="2020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E2D4E"/>
                </a:solidFill>
                <a:latin typeface="Arial"/>
              </a:rPr>
              <a:t>Integrity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69282" y="3979798"/>
            <a:ext cx="3253130" cy="196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A47"/>
                </a:solidFill>
                <a:latin typeface="Arial"/>
              </a:rPr>
              <a:t>Dữ liệu có bị </a:t>
            </a:r>
            <a:r>
              <a:rPr sz="1150" b="1" i="0">
                <a:solidFill>
                  <a:srgbClr val="1F6FB2"/>
                </a:solidFill>
                <a:latin typeface="Arial"/>
              </a:rPr>
              <a:t>thay đổi</a:t>
            </a:r>
            <a:r>
              <a:rPr sz="1150" b="0" i="0">
                <a:solidFill>
                  <a:srgbClr val="2B3A47"/>
                </a:solidFill>
                <a:latin typeface="Arial"/>
              </a:rPr>
              <a:t> trái phép?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97316" y="3576574"/>
            <a:ext cx="3527450" cy="896112"/>
          </a:xfrm>
          <a:prstGeom prst="roundRect">
            <a:avLst>
              <a:gd name="adj" fmla="val 6000"/>
            </a:avLst>
          </a:prstGeom>
          <a:solidFill>
            <a:srgbClr val="F5F9FC"/>
          </a:solidFill>
          <a:ln w="12700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34476" y="3713734"/>
            <a:ext cx="3253130" cy="2020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E2D4E"/>
                </a:solidFill>
                <a:latin typeface="Arial"/>
              </a:rPr>
              <a:t>Availability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34476" y="3979798"/>
            <a:ext cx="3253130" cy="196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A47"/>
                </a:solidFill>
                <a:latin typeface="Arial"/>
              </a:rPr>
              <a:t>Khi cần, hệ thống có </a:t>
            </a:r>
            <a:r>
              <a:rPr sz="1150" b="1" i="0">
                <a:solidFill>
                  <a:srgbClr val="1F6FB2"/>
                </a:solidFill>
                <a:latin typeface="Arial"/>
              </a:rPr>
              <a:t>sẵn sàng</a:t>
            </a:r>
            <a:r>
              <a:rPr sz="1150" b="0" i="0">
                <a:solidFill>
                  <a:srgbClr val="2B3A47"/>
                </a:solidFill>
                <a:latin typeface="Arial"/>
              </a:rPr>
              <a:t>?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66928" y="4747006"/>
            <a:ext cx="11057839" cy="436016"/>
          </a:xfrm>
          <a:prstGeom prst="roundRect">
            <a:avLst>
              <a:gd name="adj" fmla="val 10000"/>
            </a:avLst>
          </a:prstGeom>
          <a:solidFill>
            <a:srgbClr val="EAF2F9"/>
          </a:solidFill>
          <a:ln w="12700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66928" y="4747006"/>
            <a:ext cx="64008" cy="436016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9808" y="4865878"/>
            <a:ext cx="10728655" cy="1982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0E2D4E"/>
                </a:solidFill>
                <a:latin typeface="Arial"/>
              </a:rPr>
              <a:t>Cloud </a:t>
            </a:r>
            <a:r>
              <a:rPr sz="1140" b="1" i="0">
                <a:solidFill>
                  <a:srgbClr val="0E2D4E"/>
                </a:solidFill>
                <a:latin typeface="Arial"/>
              </a:rPr>
              <a:t>không xóa bỏ</a:t>
            </a:r>
            <a:r>
              <a:rPr sz="1140" b="0" i="0">
                <a:solidFill>
                  <a:srgbClr val="0E2D4E"/>
                </a:solidFill>
                <a:latin typeface="Arial"/>
              </a:rPr>
              <a:t> trách nhiệm bảo mật — nó </a:t>
            </a:r>
            <a:r>
              <a:rPr sz="1140" b="1" i="0">
                <a:solidFill>
                  <a:srgbClr val="0E2D4E"/>
                </a:solidFill>
                <a:latin typeface="Arial"/>
              </a:rPr>
              <a:t>phân chia lại</a:t>
            </a:r>
            <a:r>
              <a:rPr sz="1140" b="0" i="0">
                <a:solidFill>
                  <a:srgbClr val="0E2D4E"/>
                </a:solidFill>
                <a:latin typeface="Arial"/>
              </a:rPr>
              <a:t> trách nhiệm.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84048"/>
            <a:ext cx="77724" cy="603504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29184"/>
            <a:ext cx="107835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F6FB2"/>
                </a:solidFill>
                <a:latin typeface="Arial"/>
              </a:rPr>
              <a:t>PHẦN 2 · BẢO VỆ DỮ LIỆU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566928"/>
            <a:ext cx="1078351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E2D4E"/>
                </a:solidFill>
                <a:latin typeface="Arial"/>
              </a:rPr>
              <a:t>DỮ LIỆU TRÊN CLOUD ĐƯỢC BẢO VỆ THẾ NÀO?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152144"/>
            <a:ext cx="11057839" cy="0"/>
          </a:xfrm>
          <a:prstGeom prst="line">
            <a:avLst/>
          </a:prstGeom>
          <a:ln w="12700">
            <a:solidFill>
              <a:srgbClr val="C3D8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519672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88A"/>
                </a:solidFill>
                <a:latin typeface="Arial"/>
              </a:rPr>
              <a:t>Bảo mật đám mây (Cloud Security) · Nông Văn Tình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1727" y="6519672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88A"/>
                </a:solidFill>
                <a:latin typeface="Arial"/>
              </a:rPr>
              <a:t>4/12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81328"/>
            <a:ext cx="1992111" cy="512064"/>
          </a:xfrm>
          <a:prstGeom prst="roundRect">
            <a:avLst>
              <a:gd name="adj" fmla="val 10000"/>
            </a:avLst>
          </a:prstGeom>
          <a:solidFill>
            <a:srgbClr val="EAF2F9"/>
          </a:solidFill>
          <a:ln w="12700">
            <a:solidFill>
              <a:srgbClr val="5D9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E2D4E"/>
                </a:solidFill>
                <a:latin typeface="Arial"/>
              </a:rPr>
              <a:t>Người dùng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586471" y="1668780"/>
            <a:ext cx="219456" cy="137160"/>
          </a:xfrm>
          <a:prstGeom prst="rightArrow">
            <a:avLst/>
          </a:prstGeom>
          <a:solidFill>
            <a:srgbClr val="5D9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833359" y="1481328"/>
            <a:ext cx="1992111" cy="512064"/>
          </a:xfrm>
          <a:prstGeom prst="roundRect">
            <a:avLst>
              <a:gd name="adj" fmla="val 10000"/>
            </a:avLst>
          </a:prstGeom>
          <a:solidFill>
            <a:srgbClr val="EAF2F9"/>
          </a:solidFill>
          <a:ln w="12700">
            <a:solidFill>
              <a:srgbClr val="5D9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E2D4E"/>
                </a:solidFill>
                <a:latin typeface="Arial"/>
              </a:rPr>
              <a:t>Đường truyền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852903" y="1668780"/>
            <a:ext cx="219456" cy="137160"/>
          </a:xfrm>
          <a:prstGeom prst="rightArrow">
            <a:avLst/>
          </a:prstGeom>
          <a:solidFill>
            <a:srgbClr val="5D9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99791" y="1481328"/>
            <a:ext cx="1992111" cy="512064"/>
          </a:xfrm>
          <a:prstGeom prst="roundRect">
            <a:avLst>
              <a:gd name="adj" fmla="val 10000"/>
            </a:avLst>
          </a:prstGeom>
          <a:solidFill>
            <a:srgbClr val="EAF2F9"/>
          </a:solidFill>
          <a:ln w="12700">
            <a:solidFill>
              <a:srgbClr val="5D9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E2D4E"/>
                </a:solidFill>
                <a:latin typeface="Arial"/>
              </a:rPr>
              <a:t>Lưu trữ Cloud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119335" y="1668780"/>
            <a:ext cx="219456" cy="137160"/>
          </a:xfrm>
          <a:prstGeom prst="rightArrow">
            <a:avLst/>
          </a:prstGeom>
          <a:solidFill>
            <a:srgbClr val="5D9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66223" y="1481328"/>
            <a:ext cx="1992111" cy="512064"/>
          </a:xfrm>
          <a:prstGeom prst="roundRect">
            <a:avLst>
              <a:gd name="adj" fmla="val 10000"/>
            </a:avLst>
          </a:prstGeom>
          <a:solidFill>
            <a:srgbClr val="EAF2F9"/>
          </a:solidFill>
          <a:ln w="12700">
            <a:solidFill>
              <a:srgbClr val="5D9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E2D4E"/>
                </a:solidFill>
                <a:latin typeface="Arial"/>
              </a:rPr>
              <a:t>Xử lý Cloud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385767" y="1668780"/>
            <a:ext cx="219456" cy="137160"/>
          </a:xfrm>
          <a:prstGeom prst="rightArrow">
            <a:avLst/>
          </a:prstGeom>
          <a:solidFill>
            <a:srgbClr val="5D9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632655" y="1481328"/>
            <a:ext cx="1992111" cy="512064"/>
          </a:xfrm>
          <a:prstGeom prst="roundRect">
            <a:avLst>
              <a:gd name="adj" fmla="val 10000"/>
            </a:avLst>
          </a:prstGeom>
          <a:solidFill>
            <a:srgbClr val="EAF2F9"/>
          </a:solidFill>
          <a:ln w="12700">
            <a:solidFill>
              <a:srgbClr val="5D9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E2D4E"/>
                </a:solidFill>
                <a:latin typeface="Arial"/>
              </a:rPr>
              <a:t>Trả kết quả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2285999"/>
            <a:ext cx="3527450" cy="1051560"/>
          </a:xfrm>
          <a:prstGeom prst="roundRect">
            <a:avLst>
              <a:gd name="adj" fmla="val 6000"/>
            </a:avLst>
          </a:prstGeom>
          <a:solidFill>
            <a:srgbClr val="F5F9FC"/>
          </a:solidFill>
          <a:ln w="12700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2285999"/>
            <a:ext cx="59436" cy="105156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2423159"/>
            <a:ext cx="3189122" cy="195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2D4E"/>
                </a:solidFill>
                <a:latin typeface="Arial"/>
              </a:rPr>
              <a:t>Data-in-Transit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2678582"/>
            <a:ext cx="137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B2"/>
                </a:solidFill>
                <a:latin typeface="Arial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2682239"/>
            <a:ext cx="3051962" cy="1894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3A47"/>
                </a:solidFill>
                <a:latin typeface="Arial"/>
              </a:rPr>
              <a:t>Đang truyền trên mạng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2931566"/>
            <a:ext cx="137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B2"/>
                </a:solidFill>
                <a:latin typeface="Arial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" y="2935223"/>
            <a:ext cx="3051962" cy="1894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3A47"/>
                </a:solidFill>
                <a:latin typeface="Arial"/>
              </a:rPr>
              <a:t>→ Mã hóa + xác thực đầu cuối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32122" y="2285999"/>
            <a:ext cx="3527450" cy="1051560"/>
          </a:xfrm>
          <a:prstGeom prst="roundRect">
            <a:avLst>
              <a:gd name="adj" fmla="val 6000"/>
            </a:avLst>
          </a:prstGeom>
          <a:solidFill>
            <a:srgbClr val="F5F9FC"/>
          </a:solidFill>
          <a:ln w="12700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32122" y="2285999"/>
            <a:ext cx="59436" cy="105156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33290" y="2423159"/>
            <a:ext cx="3189122" cy="195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2D4E"/>
                </a:solidFill>
                <a:latin typeface="Arial"/>
              </a:rPr>
              <a:t>Data-at-Rest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33290" y="2678582"/>
            <a:ext cx="137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B2"/>
                </a:solidFill>
                <a:latin typeface="Arial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70450" y="2682239"/>
            <a:ext cx="3051962" cy="1894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3A47"/>
                </a:solidFill>
                <a:latin typeface="Arial"/>
              </a:rPr>
              <a:t>Đang nằm trong kho lưu trữ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33290" y="2931566"/>
            <a:ext cx="137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B2"/>
                </a:solidFill>
                <a:latin typeface="Arial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70450" y="2935223"/>
            <a:ext cx="3051962" cy="1894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3A47"/>
                </a:solidFill>
                <a:latin typeface="Arial"/>
              </a:rPr>
              <a:t>→ Mã hóa lưu trữ + quản lý khóa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97316" y="2285999"/>
            <a:ext cx="3527450" cy="1051560"/>
          </a:xfrm>
          <a:prstGeom prst="roundRect">
            <a:avLst>
              <a:gd name="adj" fmla="val 6000"/>
            </a:avLst>
          </a:prstGeom>
          <a:solidFill>
            <a:srgbClr val="F5F9FC"/>
          </a:solidFill>
          <a:ln w="12700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97316" y="2285999"/>
            <a:ext cx="59436" cy="1051560"/>
          </a:xfrm>
          <a:prstGeom prst="rect">
            <a:avLst/>
          </a:prstGeom>
          <a:solidFill>
            <a:srgbClr val="B83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98484" y="2423159"/>
            <a:ext cx="3189122" cy="195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2D4E"/>
                </a:solidFill>
                <a:latin typeface="Arial"/>
              </a:rPr>
              <a:t>Data-in-Use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98484" y="2678582"/>
            <a:ext cx="137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B2"/>
                </a:solidFill>
                <a:latin typeface="Arial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35644" y="2682239"/>
            <a:ext cx="3051962" cy="1894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3A47"/>
                </a:solidFill>
                <a:latin typeface="Arial"/>
              </a:rPr>
              <a:t>Đang được xử lý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98484" y="2931566"/>
            <a:ext cx="137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B2"/>
                </a:solidFill>
                <a:latin typeface="Arial"/>
              </a:rPr>
              <a:t>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35644" y="2935223"/>
            <a:ext cx="3051962" cy="1894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3A47"/>
                </a:solidFill>
                <a:latin typeface="Arial"/>
              </a:rPr>
              <a:t>→ Bài toán khó nhất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3648455"/>
            <a:ext cx="50292" cy="142367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3630167"/>
            <a:ext cx="10938967" cy="1880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E2D4E"/>
                </a:solidFill>
                <a:latin typeface="Arial"/>
              </a:rPr>
              <a:t>Bốn vấn đề khi dữ liệu nằm trong tay nhà cung cấp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66928" y="3937126"/>
            <a:ext cx="2654731" cy="384048"/>
          </a:xfrm>
          <a:prstGeom prst="roundRect">
            <a:avLst>
              <a:gd name="adj" fmla="val 30000"/>
            </a:avLst>
          </a:prstGeom>
          <a:solidFill>
            <a:srgbClr val="EAF2F9"/>
          </a:solidFill>
          <a:ln w="9525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0E2D4E"/>
                </a:solidFill>
                <a:latin typeface="Arial"/>
              </a:rPr>
              <a:t>Integrity — toàn vẹn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367963" y="3937126"/>
            <a:ext cx="2654731" cy="384048"/>
          </a:xfrm>
          <a:prstGeom prst="roundRect">
            <a:avLst>
              <a:gd name="adj" fmla="val 30000"/>
            </a:avLst>
          </a:prstGeom>
          <a:solidFill>
            <a:srgbClr val="EAF2F9"/>
          </a:solidFill>
          <a:ln w="9525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0E2D4E"/>
                </a:solidFill>
                <a:latin typeface="Arial"/>
              </a:rPr>
              <a:t>Privacy — riêng tư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68999" y="3937126"/>
            <a:ext cx="2654731" cy="384048"/>
          </a:xfrm>
          <a:prstGeom prst="roundRect">
            <a:avLst>
              <a:gd name="adj" fmla="val 30000"/>
            </a:avLst>
          </a:prstGeom>
          <a:solidFill>
            <a:srgbClr val="EAF2F9"/>
          </a:solidFill>
          <a:ln w="9525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0E2D4E"/>
                </a:solidFill>
                <a:latin typeface="Arial"/>
              </a:rPr>
              <a:t>Data location — lưu ở đâu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970035" y="3937126"/>
            <a:ext cx="2654731" cy="384048"/>
          </a:xfrm>
          <a:prstGeom prst="roundRect">
            <a:avLst>
              <a:gd name="adj" fmla="val 30000"/>
            </a:avLst>
          </a:prstGeom>
          <a:solidFill>
            <a:srgbClr val="EAF2F9"/>
          </a:solidFill>
          <a:ln w="9525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0E2D4E"/>
                </a:solidFill>
                <a:latin typeface="Arial"/>
              </a:rPr>
              <a:t>Availability — sẵn sàng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66928" y="4577207"/>
            <a:ext cx="11057839" cy="436016"/>
          </a:xfrm>
          <a:prstGeom prst="roundRect">
            <a:avLst>
              <a:gd name="adj" fmla="val 10000"/>
            </a:avLst>
          </a:prstGeom>
          <a:solidFill>
            <a:srgbClr val="FDF4E4"/>
          </a:solidFill>
          <a:ln w="12700">
            <a:solidFill>
              <a:srgbClr val="EBD2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66928" y="4577207"/>
            <a:ext cx="64008" cy="436016"/>
          </a:xfrm>
          <a:prstGeom prst="rect">
            <a:avLst/>
          </a:prstGeom>
          <a:solidFill>
            <a:srgbClr val="A8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9808" y="4696079"/>
            <a:ext cx="10728655" cy="1982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A86A00"/>
                </a:solidFill>
                <a:latin typeface="Arial"/>
              </a:rPr>
              <a:t>Không chỉ nội dung cần được bảo vệ: </a:t>
            </a:r>
            <a:r>
              <a:rPr sz="1140" b="1" i="0">
                <a:solidFill>
                  <a:srgbClr val="A86A00"/>
                </a:solidFill>
                <a:latin typeface="Arial"/>
              </a:rPr>
              <a:t>metadata</a:t>
            </a:r>
            <a:r>
              <a:rPr sz="1140" b="0" i="0">
                <a:solidFill>
                  <a:srgbClr val="A86A00"/>
                </a:solidFill>
                <a:latin typeface="Arial"/>
              </a:rPr>
              <a:t> cũng tiết lộ thông tin. Và mã hóa thông thường vẫn phải </a:t>
            </a:r>
            <a:r>
              <a:rPr sz="1140" b="1" i="0">
                <a:solidFill>
                  <a:srgbClr val="A86A00"/>
                </a:solidFill>
                <a:latin typeface="Arial"/>
              </a:rPr>
              <a:t>giải mã khi xử lý</a:t>
            </a:r>
            <a:r>
              <a:rPr sz="1140" b="0" i="0">
                <a:solidFill>
                  <a:srgbClr val="A86A00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84048"/>
            <a:ext cx="77724" cy="603504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29184"/>
            <a:ext cx="107835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F6FB2"/>
                </a:solidFill>
                <a:latin typeface="Arial"/>
              </a:rPr>
              <a:t>PHẦN 3 · MẬT MÃ NÂNG CAO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566928"/>
            <a:ext cx="1078351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E2D4E"/>
                </a:solidFill>
                <a:latin typeface="Arial"/>
              </a:rPr>
              <a:t>BA BÀI TOÁN — BA KỸ THUẬT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152144"/>
            <a:ext cx="11057839" cy="0"/>
          </a:xfrm>
          <a:prstGeom prst="line">
            <a:avLst/>
          </a:prstGeom>
          <a:ln w="12700">
            <a:solidFill>
              <a:srgbClr val="C3D8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519672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88A"/>
                </a:solidFill>
                <a:latin typeface="Arial"/>
              </a:rPr>
              <a:t>Bảo mật đám mây (Cloud Security) · Nông Văn Tình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1727" y="6519672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88A"/>
                </a:solidFill>
                <a:latin typeface="Arial"/>
              </a:rPr>
              <a:t>5/12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17904"/>
            <a:ext cx="2531287" cy="548640"/>
          </a:xfrm>
          <a:prstGeom prst="roundRect">
            <a:avLst>
              <a:gd name="adj" fmla="val 10000"/>
            </a:avLst>
          </a:prstGeom>
          <a:solidFill>
            <a:srgbClr val="EAF2F9"/>
          </a:solidFill>
          <a:ln w="12700">
            <a:solidFill>
              <a:srgbClr val="5D9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E2D4E"/>
                </a:solidFill>
                <a:latin typeface="Arial"/>
              </a:rPr>
              <a:t>Mã hóa</a:t>
            </a:r>
          </a:p>
          <a:p>
            <a:pPr algn="ctr">
              <a:lnSpc>
                <a:spcPct val="106000"/>
              </a:lnSpc>
              <a:spcBef>
                <a:spcPts val="200"/>
              </a:spcBef>
              <a:spcAft>
                <a:spcPts val="0"/>
              </a:spcAft>
            </a:pPr>
            <a:r>
              <a:rPr sz="990" b="0" i="0">
                <a:solidFill>
                  <a:srgbClr val="64788A"/>
                </a:solidFill>
                <a:latin typeface="Arial"/>
              </a:rPr>
              <a:t>phía người dùng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143935" y="1723644"/>
            <a:ext cx="219456" cy="137160"/>
          </a:xfrm>
          <a:prstGeom prst="rightArrow">
            <a:avLst/>
          </a:prstGeom>
          <a:solidFill>
            <a:srgbClr val="5D9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09111" y="1517904"/>
            <a:ext cx="2531287" cy="548640"/>
          </a:xfrm>
          <a:prstGeom prst="roundRect">
            <a:avLst>
              <a:gd name="adj" fmla="val 10000"/>
            </a:avLst>
          </a:prstGeom>
          <a:solidFill>
            <a:srgbClr val="EAF2F9"/>
          </a:solidFill>
          <a:ln w="12700">
            <a:solidFill>
              <a:srgbClr val="5D9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E2D4E"/>
                </a:solidFill>
                <a:latin typeface="Arial"/>
              </a:rPr>
              <a:t>Tải lên</a:t>
            </a:r>
          </a:p>
          <a:p>
            <a:pPr algn="ctr">
              <a:lnSpc>
                <a:spcPct val="106000"/>
              </a:lnSpc>
              <a:spcBef>
                <a:spcPts val="200"/>
              </a:spcBef>
              <a:spcAft>
                <a:spcPts val="0"/>
              </a:spcAft>
            </a:pPr>
            <a:r>
              <a:rPr sz="990" b="0" i="0">
                <a:solidFill>
                  <a:srgbClr val="64788A"/>
                </a:solidFill>
                <a:latin typeface="Arial"/>
              </a:rPr>
              <a:t>Cloud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986119" y="1723644"/>
            <a:ext cx="219456" cy="137160"/>
          </a:xfrm>
          <a:prstGeom prst="rightArrow">
            <a:avLst/>
          </a:prstGeom>
          <a:solidFill>
            <a:srgbClr val="5D9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51295" y="1517904"/>
            <a:ext cx="2531287" cy="548640"/>
          </a:xfrm>
          <a:prstGeom prst="roundRect">
            <a:avLst>
              <a:gd name="adj" fmla="val 10000"/>
            </a:avLst>
          </a:prstGeom>
          <a:solidFill>
            <a:srgbClr val="EAF2F9"/>
          </a:solidFill>
          <a:ln w="12700">
            <a:solidFill>
              <a:srgbClr val="5D9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E2D4E"/>
                </a:solidFill>
                <a:latin typeface="Arial"/>
              </a:rPr>
              <a:t>Giải mã</a:t>
            </a:r>
          </a:p>
          <a:p>
            <a:pPr algn="ctr">
              <a:lnSpc>
                <a:spcPct val="106000"/>
              </a:lnSpc>
              <a:spcBef>
                <a:spcPts val="200"/>
              </a:spcBef>
              <a:spcAft>
                <a:spcPts val="0"/>
              </a:spcAft>
            </a:pPr>
            <a:r>
              <a:rPr sz="990" b="0" i="0">
                <a:solidFill>
                  <a:srgbClr val="64788A"/>
                </a:solidFill>
                <a:latin typeface="Arial"/>
              </a:rPr>
              <a:t>để xử lý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828303" y="1723644"/>
            <a:ext cx="219456" cy="137160"/>
          </a:xfrm>
          <a:prstGeom prst="rightArrow">
            <a:avLst/>
          </a:prstGeom>
          <a:solidFill>
            <a:srgbClr val="5D9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093479" y="1517904"/>
            <a:ext cx="2531287" cy="548640"/>
          </a:xfrm>
          <a:prstGeom prst="roundRect">
            <a:avLst>
              <a:gd name="adj" fmla="val 10000"/>
            </a:avLst>
          </a:prstGeom>
          <a:solidFill>
            <a:srgbClr val="FBEDEB"/>
          </a:solidFill>
          <a:ln w="12700">
            <a:solidFill>
              <a:srgbClr val="EE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B8342A"/>
                </a:solidFill>
                <a:latin typeface="Arial"/>
              </a:rPr>
              <a:t>Cloud thấy</a:t>
            </a:r>
          </a:p>
          <a:p>
            <a:pPr algn="ctr">
              <a:lnSpc>
                <a:spcPct val="106000"/>
              </a:lnSpc>
              <a:spcBef>
                <a:spcPts val="200"/>
              </a:spcBef>
              <a:spcAft>
                <a:spcPts val="0"/>
              </a:spcAft>
            </a:pPr>
            <a:r>
              <a:rPr sz="990" b="0" i="0">
                <a:solidFill>
                  <a:srgbClr val="64788A"/>
                </a:solidFill>
                <a:latin typeface="Arial"/>
              </a:rPr>
              <a:t>dữ liệu gốc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2304287"/>
            <a:ext cx="11057839" cy="452501"/>
          </a:xfrm>
          <a:prstGeom prst="roundRect">
            <a:avLst>
              <a:gd name="adj" fmla="val 10000"/>
            </a:avLst>
          </a:prstGeom>
          <a:solidFill>
            <a:srgbClr val="FBEDEB"/>
          </a:solidFill>
          <a:ln w="12700">
            <a:solidFill>
              <a:srgbClr val="EE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2304287"/>
            <a:ext cx="64008" cy="452501"/>
          </a:xfrm>
          <a:prstGeom prst="rect">
            <a:avLst/>
          </a:prstGeom>
          <a:solidFill>
            <a:srgbClr val="B83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2423159"/>
            <a:ext cx="10728655" cy="214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B8342A"/>
                </a:solidFill>
                <a:latin typeface="Arial"/>
              </a:rPr>
              <a:t>Bài toán: </a:t>
            </a:r>
            <a:r>
              <a:rPr sz="1250" b="1" i="0">
                <a:solidFill>
                  <a:srgbClr val="B8342A"/>
                </a:solidFill>
                <a:latin typeface="Arial"/>
              </a:rPr>
              <a:t>muốn Cloud xử lý dữ liệu, nhưng không muốn Cloud biết dữ liệu.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067684"/>
            <a:ext cx="11057839" cy="306959"/>
          </a:xfrm>
          <a:prstGeom prst="rect">
            <a:avLst/>
          </a:prstGeom>
          <a:solidFill>
            <a:srgbClr val="0E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3067684"/>
            <a:ext cx="2976502" cy="3069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CÂU HỎI ĐẶT 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17750" y="3067684"/>
            <a:ext cx="3450410" cy="3069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KỸ THUẬT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1040" y="3067684"/>
            <a:ext cx="4082286" cy="3069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Ý TƯỞNG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374643"/>
            <a:ext cx="11057839" cy="303656"/>
          </a:xfrm>
          <a:prstGeom prst="rect">
            <a:avLst/>
          </a:prstGeom>
          <a:solidFill>
            <a:srgbClr val="FFFFFF"/>
          </a:solidFill>
          <a:ln w="6350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3374643"/>
            <a:ext cx="2976502" cy="303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E2D4E"/>
                </a:solidFill>
                <a:latin typeface="Arial"/>
              </a:rPr>
              <a:t>Ai được phép giải mã?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17750" y="3374643"/>
            <a:ext cx="3450410" cy="303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A47"/>
                </a:solidFill>
                <a:latin typeface="Arial"/>
              </a:rPr>
              <a:t>ABE — Attribute-Based Encryption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1040" y="3374643"/>
            <a:ext cx="4082286" cy="303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A47"/>
                </a:solidFill>
                <a:latin typeface="Arial"/>
              </a:rPr>
              <a:t>Quyền đọc gắn với </a:t>
            </a:r>
            <a:r>
              <a:rPr sz="1150" b="1" i="0">
                <a:solidFill>
                  <a:srgbClr val="1F6FB2"/>
                </a:solidFill>
                <a:latin typeface="Arial"/>
              </a:rPr>
              <a:t>thuộc tính</a:t>
            </a:r>
            <a:r>
              <a:rPr sz="1150" b="0" i="0">
                <a:solidFill>
                  <a:srgbClr val="2B3A47"/>
                </a:solidFill>
                <a:latin typeface="Arial"/>
              </a:rPr>
              <a:t> và </a:t>
            </a:r>
            <a:r>
              <a:rPr sz="1150" b="1" i="0">
                <a:solidFill>
                  <a:srgbClr val="1F6FB2"/>
                </a:solidFill>
                <a:latin typeface="Arial"/>
              </a:rPr>
              <a:t>chính sách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678300"/>
            <a:ext cx="11057839" cy="303656"/>
          </a:xfrm>
          <a:prstGeom prst="rect">
            <a:avLst/>
          </a:prstGeom>
          <a:solidFill>
            <a:srgbClr val="F5F9FC"/>
          </a:solidFill>
          <a:ln w="6350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3678300"/>
            <a:ext cx="2976502" cy="303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E2D4E"/>
                </a:solidFill>
                <a:latin typeface="Arial"/>
              </a:rPr>
              <a:t>Tính toán trên bản mã được không?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17750" y="3678300"/>
            <a:ext cx="3450410" cy="303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A47"/>
                </a:solidFill>
                <a:latin typeface="Arial"/>
              </a:rPr>
              <a:t>FHE — Fully Homomorphic Encryption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1040" y="3678300"/>
            <a:ext cx="4082286" cy="303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A47"/>
                </a:solidFill>
                <a:latin typeface="Arial"/>
              </a:rPr>
              <a:t>Cloud tính </a:t>
            </a:r>
            <a:r>
              <a:rPr sz="1150" b="1" i="0">
                <a:solidFill>
                  <a:srgbClr val="1F6FB2"/>
                </a:solidFill>
                <a:latin typeface="Arial"/>
              </a:rPr>
              <a:t>trực tiếp trên dữ liệu đã mã hóa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981957"/>
            <a:ext cx="11057839" cy="303656"/>
          </a:xfrm>
          <a:prstGeom prst="rect">
            <a:avLst/>
          </a:prstGeom>
          <a:solidFill>
            <a:srgbClr val="FFFFFF"/>
          </a:solidFill>
          <a:ln w="6350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3981957"/>
            <a:ext cx="2976502" cy="303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E2D4E"/>
                </a:solidFill>
                <a:latin typeface="Arial"/>
              </a:rPr>
              <a:t>Tìm kiếm mà không giải mã?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17750" y="3981957"/>
            <a:ext cx="3450410" cy="303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A47"/>
                </a:solidFill>
                <a:latin typeface="Arial"/>
              </a:rPr>
              <a:t>SE — Searchable Encryption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51040" y="3981957"/>
            <a:ext cx="4082286" cy="303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A47"/>
                </a:solidFill>
                <a:latin typeface="Arial"/>
              </a:rPr>
              <a:t>Tìm qua </a:t>
            </a:r>
            <a:r>
              <a:rPr sz="1150" b="1" i="0">
                <a:solidFill>
                  <a:srgbClr val="1F6FB2"/>
                </a:solidFill>
                <a:latin typeface="Arial"/>
              </a:rPr>
              <a:t>chỉ mục mã hóa</a:t>
            </a:r>
            <a:r>
              <a:rPr sz="1150" b="0" i="0">
                <a:solidFill>
                  <a:srgbClr val="2B3A47"/>
                </a:solidFill>
                <a:latin typeface="Arial"/>
              </a:rPr>
              <a:t> và </a:t>
            </a:r>
            <a:r>
              <a:rPr sz="1150" b="1" i="0">
                <a:solidFill>
                  <a:srgbClr val="1F6FB2"/>
                </a:solidFill>
                <a:latin typeface="Arial"/>
              </a:rPr>
              <a:t>trapdoor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84048"/>
            <a:ext cx="77724" cy="603504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29184"/>
            <a:ext cx="107835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F6FB2"/>
                </a:solidFill>
                <a:latin typeface="Arial"/>
              </a:rPr>
              <a:t>PHẦN 3 · MẬT MÃ NÂNG CAO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566928"/>
            <a:ext cx="1078351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E2D4E"/>
                </a:solidFill>
                <a:latin typeface="Arial"/>
              </a:rPr>
              <a:t>ABE — MÃ HÓA DỰA TRÊN THUỘC TÍNH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152144"/>
            <a:ext cx="11057839" cy="0"/>
          </a:xfrm>
          <a:prstGeom prst="line">
            <a:avLst/>
          </a:prstGeom>
          <a:ln w="12700">
            <a:solidFill>
              <a:srgbClr val="C3D8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519672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88A"/>
                </a:solidFill>
                <a:latin typeface="Arial"/>
              </a:rPr>
              <a:t>Bảo mật đám mây (Cloud Security) · Nông Văn Tình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1727" y="6519672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88A"/>
                </a:solidFill>
                <a:latin typeface="Arial"/>
              </a:rPr>
              <a:t>6/12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99616"/>
            <a:ext cx="11057839" cy="436016"/>
          </a:xfrm>
          <a:prstGeom prst="roundRect">
            <a:avLst>
              <a:gd name="adj" fmla="val 10000"/>
            </a:avLst>
          </a:prstGeom>
          <a:solidFill>
            <a:srgbClr val="EAF2F9"/>
          </a:solidFill>
          <a:ln w="12700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499616"/>
            <a:ext cx="64008" cy="436016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618488"/>
            <a:ext cx="10728655" cy="1982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0E2D4E"/>
                </a:solidFill>
                <a:latin typeface="Arial"/>
              </a:rPr>
              <a:t>Bài toán: </a:t>
            </a:r>
            <a:r>
              <a:rPr sz="1140" b="1" i="0">
                <a:solidFill>
                  <a:srgbClr val="0E2D4E"/>
                </a:solidFill>
                <a:latin typeface="Arial"/>
              </a:rPr>
              <a:t>quyền đọc gắn với ai?</a:t>
            </a:r>
            <a:r>
              <a:rPr sz="1140" b="0" i="0">
                <a:solidFill>
                  <a:srgbClr val="0E2D4E"/>
                </a:solidFill>
                <a:latin typeface="Arial"/>
              </a:rPr>
              <a:t> — Thay vì mã hóa riêng cho từng người, dữ liệu được mã hóa kèm </a:t>
            </a:r>
            <a:r>
              <a:rPr sz="1140" b="1" i="0">
                <a:solidFill>
                  <a:srgbClr val="0E2D4E"/>
                </a:solidFill>
                <a:latin typeface="Arial"/>
              </a:rPr>
              <a:t>một chính sách truy cập</a:t>
            </a:r>
            <a:r>
              <a:rPr sz="1140" b="0" i="0">
                <a:solidFill>
                  <a:srgbClr val="0E2D4E"/>
                </a:solidFill>
                <a:latin typeface="Arial"/>
              </a:rP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228240"/>
            <a:ext cx="3539642" cy="960120"/>
          </a:xfrm>
          <a:prstGeom prst="roundRect">
            <a:avLst>
              <a:gd name="adj" fmla="val 8000"/>
            </a:avLst>
          </a:prstGeom>
          <a:solidFill>
            <a:srgbClr val="F5F9FC"/>
          </a:solidFill>
          <a:ln w="12700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85800" y="2347112"/>
            <a:ext cx="274320" cy="274320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347112"/>
            <a:ext cx="2936138" cy="722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E2D4E"/>
                </a:solidFill>
                <a:latin typeface="Arial"/>
              </a:rPr>
              <a:t>Thuộc tính người dùng</a:t>
            </a:r>
          </a:p>
          <a:p>
            <a:pPr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</a:pPr>
            <a:r>
              <a:rPr sz="1010" b="0" i="0">
                <a:solidFill>
                  <a:srgbClr val="2B3A47"/>
                </a:solidFill>
                <a:latin typeface="Arial"/>
              </a:rPr>
              <a:t>Vai trò, phòng ban, tổ chức… được cấp trong khóa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6026" y="2228240"/>
            <a:ext cx="3539642" cy="960120"/>
          </a:xfrm>
          <a:prstGeom prst="roundRect">
            <a:avLst>
              <a:gd name="adj" fmla="val 8000"/>
            </a:avLst>
          </a:prstGeom>
          <a:solidFill>
            <a:srgbClr val="F5F9FC"/>
          </a:solidFill>
          <a:ln w="12700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44898" y="2347112"/>
            <a:ext cx="274320" cy="274320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10658" y="2347112"/>
            <a:ext cx="2936138" cy="722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E2D4E"/>
                </a:solidFill>
                <a:latin typeface="Arial"/>
              </a:rPr>
              <a:t>Chính sách trên dữ liệu</a:t>
            </a:r>
          </a:p>
          <a:p>
            <a:pPr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</a:pPr>
            <a:r>
              <a:rPr sz="1010" b="0" i="0">
                <a:solidFill>
                  <a:srgbClr val="2B3A47"/>
                </a:solidFill>
                <a:latin typeface="Arial"/>
              </a:rPr>
              <a:t>Điều kiện phải thỏa mới được đọc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85124" y="2228240"/>
            <a:ext cx="3539642" cy="960120"/>
          </a:xfrm>
          <a:prstGeom prst="roundRect">
            <a:avLst>
              <a:gd name="adj" fmla="val 8000"/>
            </a:avLst>
          </a:prstGeom>
          <a:solidFill>
            <a:srgbClr val="F5F9FC"/>
          </a:solidFill>
          <a:ln w="12700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03996" y="2347112"/>
            <a:ext cx="274320" cy="274320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69756" y="2347112"/>
            <a:ext cx="2936138" cy="722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E2D4E"/>
                </a:solidFill>
                <a:latin typeface="Arial"/>
              </a:rPr>
              <a:t>Khớp thuộc tính</a:t>
            </a:r>
          </a:p>
          <a:p>
            <a:pPr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</a:pPr>
            <a:r>
              <a:rPr sz="1010" b="0" i="0">
                <a:solidFill>
                  <a:srgbClr val="2B3A47"/>
                </a:solidFill>
                <a:latin typeface="Arial"/>
              </a:rPr>
              <a:t>Thỏa chính sách → giải mã thành công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3480968"/>
            <a:ext cx="5410047" cy="988745"/>
          </a:xfrm>
          <a:prstGeom prst="roundRect">
            <a:avLst>
              <a:gd name="adj" fmla="val 6000"/>
            </a:avLst>
          </a:prstGeom>
          <a:solidFill>
            <a:srgbClr val="F5F9FC"/>
          </a:solidFill>
          <a:ln w="12700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3480968"/>
            <a:ext cx="59436" cy="988745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3618128"/>
            <a:ext cx="5071719" cy="2020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E2D4E"/>
                </a:solidFill>
                <a:latin typeface="Arial"/>
              </a:rPr>
              <a:t>CP-ABE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" y="3880535"/>
            <a:ext cx="137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F6FB2"/>
                </a:solidFill>
                <a:latin typeface="Arial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3884193"/>
            <a:ext cx="4934559" cy="1924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2B3A47"/>
                </a:solidFill>
                <a:latin typeface="Arial"/>
              </a:rPr>
              <a:t>Chính sách nằm ở </a:t>
            </a:r>
            <a:r>
              <a:rPr sz="1120" b="1" i="0">
                <a:solidFill>
                  <a:srgbClr val="1F6FB2"/>
                </a:solidFill>
                <a:latin typeface="Arial"/>
              </a:rPr>
              <a:t>bản mã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" y="4136466"/>
            <a:ext cx="137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F6FB2"/>
                </a:solidFill>
                <a:latin typeface="Arial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4140123"/>
            <a:ext cx="4934559" cy="1924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2B3A47"/>
                </a:solidFill>
                <a:latin typeface="Arial"/>
              </a:rPr>
              <a:t>Người mã hóa quyết định ai được đọc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4719" y="3480968"/>
            <a:ext cx="5410047" cy="988745"/>
          </a:xfrm>
          <a:prstGeom prst="roundRect">
            <a:avLst>
              <a:gd name="adj" fmla="val 6000"/>
            </a:avLst>
          </a:prstGeom>
          <a:solidFill>
            <a:srgbClr val="F5F9FC"/>
          </a:solidFill>
          <a:ln w="12700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14719" y="3480968"/>
            <a:ext cx="59436" cy="988745"/>
          </a:xfrm>
          <a:prstGeom prst="rect">
            <a:avLst/>
          </a:prstGeom>
          <a:solidFill>
            <a:srgbClr val="5D9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15887" y="3618128"/>
            <a:ext cx="5071719" cy="2020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E2D4E"/>
                </a:solidFill>
                <a:latin typeface="Arial"/>
              </a:rPr>
              <a:t>KP-ABE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15887" y="3880535"/>
            <a:ext cx="137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F6FB2"/>
                </a:solidFill>
                <a:latin typeface="Arial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53047" y="3884193"/>
            <a:ext cx="4934559" cy="1924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2B3A47"/>
                </a:solidFill>
                <a:latin typeface="Arial"/>
              </a:rPr>
              <a:t>Chính sách nằm ở </a:t>
            </a:r>
            <a:r>
              <a:rPr sz="1120" b="1" i="0">
                <a:solidFill>
                  <a:srgbClr val="1F6FB2"/>
                </a:solidFill>
                <a:latin typeface="Arial"/>
              </a:rPr>
              <a:t>khóa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15887" y="4136466"/>
            <a:ext cx="137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F6FB2"/>
                </a:solidFill>
                <a:latin typeface="Arial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53047" y="4140123"/>
            <a:ext cx="4934559" cy="1924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2B3A47"/>
                </a:solidFill>
                <a:latin typeface="Arial"/>
              </a:rPr>
              <a:t>Cơ quan cấp khóa quyết định đọc được gì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" y="4725746"/>
            <a:ext cx="11057839" cy="436016"/>
          </a:xfrm>
          <a:prstGeom prst="roundRect">
            <a:avLst>
              <a:gd name="adj" fmla="val 10000"/>
            </a:avLst>
          </a:prstGeom>
          <a:solidFill>
            <a:srgbClr val="E9F5F0"/>
          </a:solidFill>
          <a:ln w="12700">
            <a:solidFill>
              <a:srgbClr val="B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6928" y="4725746"/>
            <a:ext cx="64008" cy="436016"/>
          </a:xfrm>
          <a:prstGeom prst="rect">
            <a:avLst/>
          </a:prstGeom>
          <a:solidFill>
            <a:srgbClr val="1B7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9808" y="4844618"/>
            <a:ext cx="10728655" cy="1982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B7A57"/>
                </a:solidFill>
                <a:latin typeface="Arial"/>
              </a:rPr>
              <a:t>Quyền truy cập nằm </a:t>
            </a:r>
            <a:r>
              <a:rPr sz="1140" b="1" i="0">
                <a:solidFill>
                  <a:srgbClr val="1B7A57"/>
                </a:solidFill>
                <a:latin typeface="Arial"/>
              </a:rPr>
              <a:t>ngay trong bản mã</a:t>
            </a:r>
            <a:r>
              <a:rPr sz="1140" b="0" i="0">
                <a:solidFill>
                  <a:srgbClr val="1B7A57"/>
                </a:solidFill>
                <a:latin typeface="Arial"/>
              </a:rPr>
              <a:t> — không phụ thuộc vào việc máy chủ có kiểm soát đúng hay không.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84048"/>
            <a:ext cx="77724" cy="603504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29184"/>
            <a:ext cx="107835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F6FB2"/>
                </a:solidFill>
                <a:latin typeface="Arial"/>
              </a:rPr>
              <a:t>PHẦN 3 · MẬT MÃ NÂNG CAO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566928"/>
            <a:ext cx="1078351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E2D4E"/>
                </a:solidFill>
                <a:latin typeface="Arial"/>
              </a:rPr>
              <a:t>FHE — TÍNH TOÁN TRÊN DỮ LIỆU MÃ HÓA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152144"/>
            <a:ext cx="11057839" cy="0"/>
          </a:xfrm>
          <a:prstGeom prst="line">
            <a:avLst/>
          </a:prstGeom>
          <a:ln w="12700">
            <a:solidFill>
              <a:srgbClr val="C3D8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519672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88A"/>
                </a:solidFill>
                <a:latin typeface="Arial"/>
              </a:rPr>
              <a:t>Bảo mật đám mây (Cloud Security) · Nông Văn Tình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1727" y="6519672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88A"/>
                </a:solidFill>
                <a:latin typeface="Arial"/>
              </a:rPr>
              <a:t>7/12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99616"/>
            <a:ext cx="11057839" cy="436016"/>
          </a:xfrm>
          <a:prstGeom prst="roundRect">
            <a:avLst>
              <a:gd name="adj" fmla="val 10000"/>
            </a:avLst>
          </a:prstGeom>
          <a:solidFill>
            <a:srgbClr val="EAF2F9"/>
          </a:solidFill>
          <a:ln w="12700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499616"/>
            <a:ext cx="64008" cy="436016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618488"/>
            <a:ext cx="10728655" cy="1982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0E2D4E"/>
                </a:solidFill>
                <a:latin typeface="Arial"/>
              </a:rPr>
              <a:t>Bài toán: </a:t>
            </a:r>
            <a:r>
              <a:rPr sz="1140" b="1" i="0">
                <a:solidFill>
                  <a:srgbClr val="0E2D4E"/>
                </a:solidFill>
                <a:latin typeface="Arial"/>
              </a:rPr>
              <a:t>Cloud tính toán giúp, nhưng không được nhìn thấy dữ liệu gốc.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228240"/>
            <a:ext cx="2021372" cy="713232"/>
          </a:xfrm>
          <a:prstGeom prst="roundRect">
            <a:avLst>
              <a:gd name="adj" fmla="val 10000"/>
            </a:avLst>
          </a:prstGeom>
          <a:solidFill>
            <a:srgbClr val="EAF2F9"/>
          </a:solidFill>
          <a:ln w="12700">
            <a:solidFill>
              <a:srgbClr val="5D9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2D4E"/>
                </a:solidFill>
                <a:latin typeface="Arial"/>
              </a:rPr>
              <a:t>Mã hóa</a:t>
            </a:r>
          </a:p>
          <a:p>
            <a:pPr algn="ctr">
              <a:lnSpc>
                <a:spcPct val="106000"/>
              </a:lnSpc>
              <a:spcBef>
                <a:spcPts val="200"/>
              </a:spcBef>
              <a:spcAft>
                <a:spcPts val="0"/>
              </a:spcAft>
            </a:pPr>
            <a:r>
              <a:rPr sz="940" b="0" i="0">
                <a:solidFill>
                  <a:srgbClr val="64788A"/>
                </a:solidFill>
                <a:latin typeface="Arial"/>
              </a:rPr>
              <a:t>tại máy người dùng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597444" y="2516276"/>
            <a:ext cx="219456" cy="137160"/>
          </a:xfrm>
          <a:prstGeom prst="rightArrow">
            <a:avLst/>
          </a:prstGeom>
          <a:solidFill>
            <a:srgbClr val="5D9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26044" y="2228240"/>
            <a:ext cx="2021372" cy="713232"/>
          </a:xfrm>
          <a:prstGeom prst="roundRect">
            <a:avLst>
              <a:gd name="adj" fmla="val 10000"/>
            </a:avLst>
          </a:prstGeom>
          <a:solidFill>
            <a:srgbClr val="EAF2F9"/>
          </a:solidFill>
          <a:ln w="12700">
            <a:solidFill>
              <a:srgbClr val="5D9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2D4E"/>
                </a:solidFill>
                <a:latin typeface="Arial"/>
              </a:rPr>
              <a:t>Gửi lên</a:t>
            </a:r>
          </a:p>
          <a:p>
            <a:pPr algn="ctr">
              <a:lnSpc>
                <a:spcPct val="106000"/>
              </a:lnSpc>
              <a:spcBef>
                <a:spcPts val="200"/>
              </a:spcBef>
              <a:spcAft>
                <a:spcPts val="0"/>
              </a:spcAft>
            </a:pPr>
            <a:r>
              <a:rPr sz="940" b="0" i="0">
                <a:solidFill>
                  <a:srgbClr val="64788A"/>
                </a:solidFill>
                <a:latin typeface="Arial"/>
              </a:rPr>
              <a:t>Cloud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856561" y="2516276"/>
            <a:ext cx="219456" cy="137160"/>
          </a:xfrm>
          <a:prstGeom prst="rightArrow">
            <a:avLst/>
          </a:prstGeom>
          <a:solidFill>
            <a:srgbClr val="5D9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85161" y="2228240"/>
            <a:ext cx="2021372" cy="713232"/>
          </a:xfrm>
          <a:prstGeom prst="roundRect">
            <a:avLst>
              <a:gd name="adj" fmla="val 10000"/>
            </a:avLst>
          </a:prstGeom>
          <a:solidFill>
            <a:srgbClr val="EAF2F9"/>
          </a:solidFill>
          <a:ln w="12700">
            <a:solidFill>
              <a:srgbClr val="5D9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2D4E"/>
                </a:solidFill>
                <a:latin typeface="Arial"/>
              </a:rPr>
              <a:t>Tính toán</a:t>
            </a:r>
          </a:p>
          <a:p>
            <a:pPr algn="ctr">
              <a:lnSpc>
                <a:spcPct val="106000"/>
              </a:lnSpc>
              <a:spcBef>
                <a:spcPts val="200"/>
              </a:spcBef>
              <a:spcAft>
                <a:spcPts val="0"/>
              </a:spcAft>
            </a:pPr>
            <a:r>
              <a:rPr sz="940" b="0" i="0">
                <a:solidFill>
                  <a:srgbClr val="64788A"/>
                </a:solidFill>
                <a:latin typeface="Arial"/>
              </a:rPr>
              <a:t>ngay trên bản mã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115677" y="2516276"/>
            <a:ext cx="219456" cy="137160"/>
          </a:xfrm>
          <a:prstGeom prst="rightArrow">
            <a:avLst/>
          </a:prstGeom>
          <a:solidFill>
            <a:srgbClr val="5D9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44277" y="2228240"/>
            <a:ext cx="2021372" cy="713232"/>
          </a:xfrm>
          <a:prstGeom prst="roundRect">
            <a:avLst>
              <a:gd name="adj" fmla="val 10000"/>
            </a:avLst>
          </a:prstGeom>
          <a:solidFill>
            <a:srgbClr val="EAF2F9"/>
          </a:solidFill>
          <a:ln w="12700">
            <a:solidFill>
              <a:srgbClr val="5D9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2D4E"/>
                </a:solidFill>
                <a:latin typeface="Arial"/>
              </a:rPr>
              <a:t>Kết quả</a:t>
            </a:r>
          </a:p>
          <a:p>
            <a:pPr algn="ctr">
              <a:lnSpc>
                <a:spcPct val="106000"/>
              </a:lnSpc>
              <a:spcBef>
                <a:spcPts val="200"/>
              </a:spcBef>
              <a:spcAft>
                <a:spcPts val="0"/>
              </a:spcAft>
            </a:pPr>
            <a:r>
              <a:rPr sz="940" b="0" i="0">
                <a:solidFill>
                  <a:srgbClr val="64788A"/>
                </a:solidFill>
                <a:latin typeface="Arial"/>
              </a:rPr>
              <a:t>vẫn đang mã hóa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9374794" y="2516276"/>
            <a:ext cx="219456" cy="137160"/>
          </a:xfrm>
          <a:prstGeom prst="rightArrow">
            <a:avLst/>
          </a:prstGeom>
          <a:solidFill>
            <a:srgbClr val="5D9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603394" y="2228240"/>
            <a:ext cx="2021372" cy="713232"/>
          </a:xfrm>
          <a:prstGeom prst="roundRect">
            <a:avLst>
              <a:gd name="adj" fmla="val 10000"/>
            </a:avLst>
          </a:prstGeom>
          <a:solidFill>
            <a:srgbClr val="E9F5F0"/>
          </a:solidFill>
          <a:ln w="12700">
            <a:solidFill>
              <a:srgbClr val="B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B7A57"/>
                </a:solidFill>
                <a:latin typeface="Arial"/>
              </a:rPr>
              <a:t>Giải mã</a:t>
            </a:r>
          </a:p>
          <a:p>
            <a:pPr algn="ctr">
              <a:lnSpc>
                <a:spcPct val="106000"/>
              </a:lnSpc>
              <a:spcBef>
                <a:spcPts val="200"/>
              </a:spcBef>
              <a:spcAft>
                <a:spcPts val="0"/>
              </a:spcAft>
            </a:pPr>
            <a:r>
              <a:rPr sz="940" b="0" i="0">
                <a:solidFill>
                  <a:srgbClr val="64788A"/>
                </a:solidFill>
                <a:latin typeface="Arial"/>
              </a:rPr>
              <a:t>chỉ người giữ khóa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3252368"/>
            <a:ext cx="5410047" cy="1097280"/>
          </a:xfrm>
          <a:prstGeom prst="roundRect">
            <a:avLst>
              <a:gd name="adj" fmla="val 6000"/>
            </a:avLst>
          </a:prstGeom>
          <a:solidFill>
            <a:srgbClr val="F5F9FC"/>
          </a:solidFill>
          <a:ln w="12700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3252368"/>
            <a:ext cx="59436" cy="1097280"/>
          </a:xfrm>
          <a:prstGeom prst="rect">
            <a:avLst/>
          </a:prstGeom>
          <a:solidFill>
            <a:srgbClr val="1B7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3389528"/>
            <a:ext cx="5071719" cy="2020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E2D4E"/>
                </a:solidFill>
                <a:latin typeface="Arial"/>
              </a:rPr>
              <a:t>Điểm đặc biệt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" y="3651935"/>
            <a:ext cx="137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F6FB2"/>
                </a:solidFill>
                <a:latin typeface="Arial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3655593"/>
            <a:ext cx="4934559" cy="1924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2B3A47"/>
                </a:solidFill>
                <a:latin typeface="Arial"/>
              </a:rPr>
              <a:t>Dữ liệu gốc </a:t>
            </a:r>
            <a:r>
              <a:rPr sz="1120" b="1" i="0">
                <a:solidFill>
                  <a:srgbClr val="1F6FB2"/>
                </a:solidFill>
                <a:latin typeface="Arial"/>
              </a:rPr>
              <a:t>không bao giờ</a:t>
            </a:r>
            <a:r>
              <a:rPr sz="1120" b="0" i="0">
                <a:solidFill>
                  <a:srgbClr val="2B3A47"/>
                </a:solidFill>
                <a:latin typeface="Arial"/>
              </a:rPr>
              <a:t> xuất hiện ở phía Cloud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" y="3907866"/>
            <a:ext cx="137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F6FB2"/>
                </a:solidFill>
                <a:latin typeface="Arial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3911523"/>
            <a:ext cx="4934559" cy="1924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2B3A47"/>
                </a:solidFill>
                <a:latin typeface="Arial"/>
              </a:rPr>
              <a:t>Cloud chỉ </a:t>
            </a:r>
            <a:r>
              <a:rPr sz="1120" b="1" i="0">
                <a:solidFill>
                  <a:srgbClr val="1F6FB2"/>
                </a:solidFill>
                <a:latin typeface="Arial"/>
              </a:rPr>
              <a:t>thực hiện phép tính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4719" y="3252368"/>
            <a:ext cx="5410047" cy="1097280"/>
          </a:xfrm>
          <a:prstGeom prst="roundRect">
            <a:avLst>
              <a:gd name="adj" fmla="val 6000"/>
            </a:avLst>
          </a:prstGeom>
          <a:solidFill>
            <a:srgbClr val="F5F9FC"/>
          </a:solidFill>
          <a:ln w="12700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14719" y="3252368"/>
            <a:ext cx="59436" cy="1097280"/>
          </a:xfrm>
          <a:prstGeom prst="rect">
            <a:avLst/>
          </a:prstGeom>
          <a:solidFill>
            <a:srgbClr val="A8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15887" y="3389528"/>
            <a:ext cx="5071719" cy="2020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E2D4E"/>
                </a:solidFill>
                <a:latin typeface="Arial"/>
              </a:rPr>
              <a:t>Đánh đổi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15887" y="3651935"/>
            <a:ext cx="137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F6FB2"/>
                </a:solidFill>
                <a:latin typeface="Arial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53047" y="3655593"/>
            <a:ext cx="4934559" cy="1924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2B3A47"/>
                </a:solidFill>
                <a:latin typeface="Arial"/>
              </a:rPr>
              <a:t>Chi phí tính toán </a:t>
            </a:r>
            <a:r>
              <a:rPr sz="1120" b="1" i="0">
                <a:solidFill>
                  <a:srgbClr val="1F6FB2"/>
                </a:solidFill>
                <a:latin typeface="Arial"/>
              </a:rPr>
              <a:t>lớn hơn nhiều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15887" y="3907866"/>
            <a:ext cx="137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F6FB2"/>
                </a:solidFill>
                <a:latin typeface="Arial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53047" y="3911523"/>
            <a:ext cx="4934559" cy="1924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2B3A47"/>
                </a:solidFill>
                <a:latin typeface="Arial"/>
              </a:rPr>
              <a:t>Nhiễu tích lũy → cần </a:t>
            </a:r>
            <a:r>
              <a:rPr sz="1120" b="1" i="0">
                <a:solidFill>
                  <a:srgbClr val="1F6FB2"/>
                </a:solidFill>
                <a:latin typeface="Arial"/>
              </a:rPr>
              <a:t>bootstrapping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" y="4605680"/>
            <a:ext cx="11057839" cy="436016"/>
          </a:xfrm>
          <a:prstGeom prst="roundRect">
            <a:avLst>
              <a:gd name="adj" fmla="val 10000"/>
            </a:avLst>
          </a:prstGeom>
          <a:solidFill>
            <a:srgbClr val="E9F5F0"/>
          </a:solidFill>
          <a:ln w="12700">
            <a:solidFill>
              <a:srgbClr val="B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6928" y="4605680"/>
            <a:ext cx="64008" cy="436016"/>
          </a:xfrm>
          <a:prstGeom prst="rect">
            <a:avLst/>
          </a:prstGeom>
          <a:solidFill>
            <a:srgbClr val="1B7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9808" y="4724552"/>
            <a:ext cx="10728655" cy="1982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B7A57"/>
                </a:solidFill>
                <a:latin typeface="Arial"/>
              </a:rPr>
              <a:t>FHE biến Cloud từ </a:t>
            </a:r>
            <a:r>
              <a:rPr sz="1140" b="1" i="0">
                <a:solidFill>
                  <a:srgbClr val="1B7A57"/>
                </a:solidFill>
                <a:latin typeface="Arial"/>
              </a:rPr>
              <a:t>“nơi nhìn thấy dữ liệu”</a:t>
            </a:r>
            <a:r>
              <a:rPr sz="1140" b="0" i="0">
                <a:solidFill>
                  <a:srgbClr val="1B7A57"/>
                </a:solidFill>
                <a:latin typeface="Arial"/>
              </a:rPr>
              <a:t> thành </a:t>
            </a:r>
            <a:r>
              <a:rPr sz="1140" b="1" i="0">
                <a:solidFill>
                  <a:srgbClr val="1B7A57"/>
                </a:solidFill>
                <a:latin typeface="Arial"/>
              </a:rPr>
              <a:t>“nơi thực hiện phép tính trên dữ liệu”</a:t>
            </a:r>
            <a:r>
              <a:rPr sz="1140" b="0" i="0">
                <a:solidFill>
                  <a:srgbClr val="1B7A57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84048"/>
            <a:ext cx="77724" cy="603504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29184"/>
            <a:ext cx="107835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F6FB2"/>
                </a:solidFill>
                <a:latin typeface="Arial"/>
              </a:rPr>
              <a:t>PHẦN 3 · MẬT MÃ NÂNG CAO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566928"/>
            <a:ext cx="1078351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E2D4E"/>
                </a:solidFill>
                <a:latin typeface="Arial"/>
              </a:rPr>
              <a:t>SE — TÌM KIẾM TRÊN DỮ LIỆU MÃ HÓA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152144"/>
            <a:ext cx="11057839" cy="0"/>
          </a:xfrm>
          <a:prstGeom prst="line">
            <a:avLst/>
          </a:prstGeom>
          <a:ln w="12700">
            <a:solidFill>
              <a:srgbClr val="C3D8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519672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88A"/>
                </a:solidFill>
                <a:latin typeface="Arial"/>
              </a:rPr>
              <a:t>Bảo mật đám mây (Cloud Security) · Nông Văn Tình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1727" y="6519672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88A"/>
                </a:solidFill>
                <a:latin typeface="Arial"/>
              </a:rPr>
              <a:t>8/12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99616"/>
            <a:ext cx="11057839" cy="436016"/>
          </a:xfrm>
          <a:prstGeom prst="roundRect">
            <a:avLst>
              <a:gd name="adj" fmla="val 10000"/>
            </a:avLst>
          </a:prstGeom>
          <a:solidFill>
            <a:srgbClr val="FBEDEB"/>
          </a:solidFill>
          <a:ln w="12700">
            <a:solidFill>
              <a:srgbClr val="EE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499616"/>
            <a:ext cx="64008" cy="436016"/>
          </a:xfrm>
          <a:prstGeom prst="rect">
            <a:avLst/>
          </a:prstGeom>
          <a:solidFill>
            <a:srgbClr val="B83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618488"/>
            <a:ext cx="10728655" cy="1982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B8342A"/>
                </a:solidFill>
                <a:latin typeface="Arial"/>
              </a:rPr>
              <a:t>Bài toán: mã hóa hết thì </a:t>
            </a:r>
            <a:r>
              <a:rPr sz="1140" b="1" i="0">
                <a:solidFill>
                  <a:srgbClr val="B8342A"/>
                </a:solidFill>
                <a:latin typeface="Arial"/>
              </a:rPr>
              <a:t>Cloud không tìm kiếm được</a:t>
            </a:r>
            <a:r>
              <a:rPr sz="1140" b="0" i="0">
                <a:solidFill>
                  <a:srgbClr val="B8342A"/>
                </a:solidFill>
                <a:latin typeface="Arial"/>
              </a:rPr>
              <a:t> — mà tải cả kho về giải mã thì không khả thi.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2246528"/>
            <a:ext cx="50292" cy="142367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228240"/>
            <a:ext cx="5254599" cy="1880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E2D4E"/>
                </a:solidFill>
                <a:latin typeface="Arial"/>
              </a:rPr>
              <a:t>Khi tải dữ liệu lên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535199"/>
            <a:ext cx="5373471" cy="420624"/>
          </a:xfrm>
          <a:prstGeom prst="roundRect">
            <a:avLst>
              <a:gd name="adj" fmla="val 14000"/>
            </a:avLst>
          </a:prstGeom>
          <a:solidFill>
            <a:srgbClr val="EAF2F9"/>
          </a:solidFill>
          <a:ln w="12700">
            <a:solidFill>
              <a:srgbClr val="5D9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E2D4E"/>
                </a:solidFill>
                <a:latin typeface="Arial"/>
              </a:rPr>
              <a:t>Rút </a:t>
            </a:r>
            <a:r>
              <a:rPr sz="1100" b="1" i="0">
                <a:solidFill>
                  <a:srgbClr val="0E2D4E"/>
                </a:solidFill>
                <a:latin typeface="Arial"/>
              </a:rPr>
              <a:t>từ khóa</a:t>
            </a:r>
            <a:r>
              <a:rPr sz="1100" b="0" i="0">
                <a:solidFill>
                  <a:srgbClr val="0E2D4E"/>
                </a:solidFill>
                <a:latin typeface="Arial"/>
              </a:rPr>
              <a:t> từ tài liệu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3185083" y="2969539"/>
            <a:ext cx="137160" cy="137160"/>
          </a:xfrm>
          <a:prstGeom prst="downArrow">
            <a:avLst/>
          </a:prstGeom>
          <a:solidFill>
            <a:srgbClr val="5D9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66928" y="3120415"/>
            <a:ext cx="5373471" cy="420624"/>
          </a:xfrm>
          <a:prstGeom prst="roundRect">
            <a:avLst>
              <a:gd name="adj" fmla="val 14000"/>
            </a:avLst>
          </a:prstGeom>
          <a:solidFill>
            <a:srgbClr val="EAF2F9"/>
          </a:solidFill>
          <a:ln w="12700">
            <a:solidFill>
              <a:srgbClr val="5D9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E2D4E"/>
                </a:solidFill>
                <a:latin typeface="Arial"/>
              </a:rPr>
              <a:t>Tạo </a:t>
            </a:r>
            <a:r>
              <a:rPr sz="1100" b="1" i="0">
                <a:solidFill>
                  <a:srgbClr val="0E2D4E"/>
                </a:solidFill>
                <a:latin typeface="Arial"/>
              </a:rPr>
              <a:t>chỉ mục</a:t>
            </a:r>
            <a:r>
              <a:rPr sz="1100" b="0" i="0">
                <a:solidFill>
                  <a:srgbClr val="0E2D4E"/>
                </a:solidFill>
                <a:latin typeface="Arial"/>
              </a:rPr>
              <a:t> — cũng được mã hóa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3185083" y="3554755"/>
            <a:ext cx="137160" cy="137160"/>
          </a:xfrm>
          <a:prstGeom prst="downArrow">
            <a:avLst/>
          </a:prstGeom>
          <a:solidFill>
            <a:srgbClr val="5D9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66928" y="3705631"/>
            <a:ext cx="5373471" cy="420624"/>
          </a:xfrm>
          <a:prstGeom prst="roundRect">
            <a:avLst>
              <a:gd name="adj" fmla="val 14000"/>
            </a:avLst>
          </a:prstGeom>
          <a:solidFill>
            <a:srgbClr val="EAF2F9"/>
          </a:solidFill>
          <a:ln w="12700">
            <a:solidFill>
              <a:srgbClr val="5D9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E2D4E"/>
                </a:solidFill>
                <a:latin typeface="Arial"/>
              </a:rPr>
              <a:t>Lưu dữ liệu mã hóa + chỉ mục lên Cloud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51295" y="2246528"/>
            <a:ext cx="50292" cy="142367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0167" y="2228240"/>
            <a:ext cx="5254599" cy="1880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E2D4E"/>
                </a:solidFill>
                <a:latin typeface="Arial"/>
              </a:rPr>
              <a:t>Khi tìm kiếm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51295" y="2535199"/>
            <a:ext cx="5373471" cy="420624"/>
          </a:xfrm>
          <a:prstGeom prst="roundRect">
            <a:avLst>
              <a:gd name="adj" fmla="val 14000"/>
            </a:avLst>
          </a:prstGeom>
          <a:solidFill>
            <a:srgbClr val="EAF2F9"/>
          </a:solidFill>
          <a:ln w="12700">
            <a:solidFill>
              <a:srgbClr val="5D9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E2D4E"/>
                </a:solidFill>
                <a:latin typeface="Arial"/>
              </a:rPr>
              <a:t>Người dùng gửi </a:t>
            </a:r>
            <a:r>
              <a:rPr sz="1100" b="1" i="0">
                <a:solidFill>
                  <a:srgbClr val="0E2D4E"/>
                </a:solidFill>
                <a:latin typeface="Arial"/>
              </a:rPr>
              <a:t>trapdoor</a:t>
            </a:r>
            <a:r>
              <a:rPr sz="1100" b="0" i="0">
                <a:solidFill>
                  <a:srgbClr val="0E2D4E"/>
                </a:solidFill>
                <a:latin typeface="Arial"/>
              </a:rPr>
              <a:t> (truy vấn đã mã hóa)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8869451" y="2969539"/>
            <a:ext cx="137160" cy="137160"/>
          </a:xfrm>
          <a:prstGeom prst="downArrow">
            <a:avLst/>
          </a:prstGeom>
          <a:solidFill>
            <a:srgbClr val="5D9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51295" y="3120415"/>
            <a:ext cx="5373471" cy="420624"/>
          </a:xfrm>
          <a:prstGeom prst="roundRect">
            <a:avLst>
              <a:gd name="adj" fmla="val 14000"/>
            </a:avLst>
          </a:prstGeom>
          <a:solidFill>
            <a:srgbClr val="EAF2F9"/>
          </a:solidFill>
          <a:ln w="12700">
            <a:solidFill>
              <a:srgbClr val="5D9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E2D4E"/>
                </a:solidFill>
                <a:latin typeface="Arial"/>
              </a:rPr>
              <a:t>Cloud </a:t>
            </a:r>
            <a:r>
              <a:rPr sz="1100" b="1" i="0">
                <a:solidFill>
                  <a:srgbClr val="0E2D4E"/>
                </a:solidFill>
                <a:latin typeface="Arial"/>
              </a:rPr>
              <a:t>đối chiếu</a:t>
            </a:r>
            <a:r>
              <a:rPr sz="1100" b="0" i="0">
                <a:solidFill>
                  <a:srgbClr val="0E2D4E"/>
                </a:solidFill>
                <a:latin typeface="Arial"/>
              </a:rPr>
              <a:t> trapdoor với chỉ mục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8869451" y="3554755"/>
            <a:ext cx="137160" cy="137160"/>
          </a:xfrm>
          <a:prstGeom prst="downArrow">
            <a:avLst/>
          </a:prstGeom>
          <a:solidFill>
            <a:srgbClr val="5D9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251295" y="3705631"/>
            <a:ext cx="5373471" cy="420624"/>
          </a:xfrm>
          <a:prstGeom prst="roundRect">
            <a:avLst>
              <a:gd name="adj" fmla="val 14000"/>
            </a:avLst>
          </a:prstGeom>
          <a:solidFill>
            <a:srgbClr val="E9F5F0"/>
          </a:solidFill>
          <a:ln w="12700">
            <a:solidFill>
              <a:srgbClr val="B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B7A57"/>
                </a:solidFill>
                <a:latin typeface="Arial"/>
              </a:rPr>
              <a:t>Trả về đúng tài liệu — </a:t>
            </a:r>
            <a:r>
              <a:rPr sz="1100" b="1" i="0">
                <a:solidFill>
                  <a:srgbClr val="1B7A57"/>
                </a:solidFill>
                <a:latin typeface="Arial"/>
              </a:rPr>
              <a:t>không đọc nội dung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4382287"/>
            <a:ext cx="11057839" cy="436016"/>
          </a:xfrm>
          <a:prstGeom prst="roundRect">
            <a:avLst>
              <a:gd name="adj" fmla="val 10000"/>
            </a:avLst>
          </a:prstGeom>
          <a:solidFill>
            <a:srgbClr val="FDF4E4"/>
          </a:solidFill>
          <a:ln w="12700">
            <a:solidFill>
              <a:srgbClr val="EBD2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6928" y="4382287"/>
            <a:ext cx="64008" cy="436016"/>
          </a:xfrm>
          <a:prstGeom prst="rect">
            <a:avLst/>
          </a:prstGeom>
          <a:solidFill>
            <a:srgbClr val="A8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4501159"/>
            <a:ext cx="10728655" cy="1982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A86A00"/>
                </a:solidFill>
                <a:latin typeface="Arial"/>
              </a:rPr>
              <a:t>Lưu ý: vẫn có thể </a:t>
            </a:r>
            <a:r>
              <a:rPr sz="1140" b="1" i="0">
                <a:solidFill>
                  <a:srgbClr val="A86A00"/>
                </a:solidFill>
                <a:latin typeface="Arial"/>
              </a:rPr>
              <a:t>rò rỉ gián tiếp</a:t>
            </a:r>
            <a:r>
              <a:rPr sz="1140" b="0" i="0">
                <a:solidFill>
                  <a:srgbClr val="A86A00"/>
                </a:solidFill>
                <a:latin typeface="Arial"/>
              </a:rPr>
              <a:t> (mẫu truy cập) → đây là hướng còn đang được nghiên cứu cải tiến.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84048"/>
            <a:ext cx="77724" cy="603504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29184"/>
            <a:ext cx="107835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F6FB2"/>
                </a:solidFill>
                <a:latin typeface="Arial"/>
              </a:rPr>
              <a:t>PHẦN 4 · HẠ TẦNG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566928"/>
            <a:ext cx="1078351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E2D4E"/>
                </a:solidFill>
                <a:latin typeface="Arial"/>
              </a:rPr>
              <a:t>BẢO VỆ HẠ TẦNG &amp; VÙNG TIN CẬY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152144"/>
            <a:ext cx="11057839" cy="0"/>
          </a:xfrm>
          <a:prstGeom prst="line">
            <a:avLst/>
          </a:prstGeom>
          <a:ln w="12700">
            <a:solidFill>
              <a:srgbClr val="C3D8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519672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88A"/>
                </a:solidFill>
                <a:latin typeface="Arial"/>
              </a:rPr>
              <a:t>Bảo mật đám mây (Cloud Security) · Nông Văn Tình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1727" y="6519672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88A"/>
                </a:solidFill>
                <a:latin typeface="Arial"/>
              </a:rPr>
              <a:t>9/12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499616"/>
            <a:ext cx="50292" cy="142367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481328"/>
            <a:ext cx="5254599" cy="1880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E2D4E"/>
                </a:solidFill>
                <a:latin typeface="Arial"/>
              </a:rPr>
              <a:t>Bảo mật theo lớp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788287"/>
            <a:ext cx="5373471" cy="566928"/>
          </a:xfrm>
          <a:prstGeom prst="roundRect">
            <a:avLst>
              <a:gd name="adj" fmla="val 12000"/>
            </a:avLst>
          </a:prstGeom>
          <a:solidFill>
            <a:srgbClr val="EAF2F9"/>
          </a:solidFill>
          <a:ln w="12700">
            <a:solidFill>
              <a:srgbClr val="5D9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E2D4E"/>
                </a:solidFill>
                <a:latin typeface="Arial"/>
              </a:rPr>
              <a:t>Dữ liệu</a:t>
            </a:r>
          </a:p>
          <a:p>
            <a:pPr algn="ctr">
              <a:lnSpc>
                <a:spcPct val="104000"/>
              </a:lnSpc>
              <a:spcBef>
                <a:spcPts val="100"/>
              </a:spcBef>
              <a:spcAft>
                <a:spcPts val="0"/>
              </a:spcAft>
            </a:pPr>
            <a:r>
              <a:rPr sz="969" b="0" i="0">
                <a:solidFill>
                  <a:srgbClr val="64788A"/>
                </a:solidFill>
                <a:latin typeface="Arial"/>
              </a:rPr>
              <a:t>Mã hóa · phân loại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446655"/>
            <a:ext cx="5373471" cy="566928"/>
          </a:xfrm>
          <a:prstGeom prst="roundRect">
            <a:avLst>
              <a:gd name="adj" fmla="val 12000"/>
            </a:avLst>
          </a:prstGeom>
          <a:solidFill>
            <a:srgbClr val="EAF2F9"/>
          </a:solidFill>
          <a:ln w="12700">
            <a:solidFill>
              <a:srgbClr val="5D9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E2D4E"/>
                </a:solidFill>
                <a:latin typeface="Arial"/>
              </a:rPr>
              <a:t>Mạng</a:t>
            </a:r>
          </a:p>
          <a:p>
            <a:pPr algn="ctr">
              <a:lnSpc>
                <a:spcPct val="104000"/>
              </a:lnSpc>
              <a:spcBef>
                <a:spcPts val="100"/>
              </a:spcBef>
              <a:spcAft>
                <a:spcPts val="0"/>
              </a:spcAft>
            </a:pPr>
            <a:r>
              <a:rPr sz="969" b="0" i="0">
                <a:solidFill>
                  <a:srgbClr val="64788A"/>
                </a:solidFill>
                <a:latin typeface="Arial"/>
              </a:rPr>
              <a:t>Phân đoạn · firewall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105023"/>
            <a:ext cx="5373471" cy="566928"/>
          </a:xfrm>
          <a:prstGeom prst="roundRect">
            <a:avLst>
              <a:gd name="adj" fmla="val 12000"/>
            </a:avLst>
          </a:prstGeom>
          <a:solidFill>
            <a:srgbClr val="EAF2F9"/>
          </a:solidFill>
          <a:ln w="12700">
            <a:solidFill>
              <a:srgbClr val="5D9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E2D4E"/>
                </a:solidFill>
                <a:latin typeface="Arial"/>
              </a:rPr>
              <a:t>Danh tính &amp; truy cập</a:t>
            </a:r>
          </a:p>
          <a:p>
            <a:pPr algn="ctr">
              <a:lnSpc>
                <a:spcPct val="104000"/>
              </a:lnSpc>
              <a:spcBef>
                <a:spcPts val="100"/>
              </a:spcBef>
              <a:spcAft>
                <a:spcPts val="0"/>
              </a:spcAft>
            </a:pPr>
            <a:r>
              <a:rPr sz="969" b="0" i="0">
                <a:solidFill>
                  <a:srgbClr val="64788A"/>
                </a:solidFill>
                <a:latin typeface="Arial"/>
              </a:rPr>
              <a:t>IAM · least privilege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763391"/>
            <a:ext cx="5373471" cy="566928"/>
          </a:xfrm>
          <a:prstGeom prst="roundRect">
            <a:avLst>
              <a:gd name="adj" fmla="val 12000"/>
            </a:avLst>
          </a:prstGeom>
          <a:solidFill>
            <a:srgbClr val="EAF2F9"/>
          </a:solidFill>
          <a:ln w="12700">
            <a:solidFill>
              <a:srgbClr val="5D9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E2D4E"/>
                </a:solidFill>
                <a:latin typeface="Arial"/>
              </a:rPr>
              <a:t>Máy chủ / Máy ảo</a:t>
            </a:r>
          </a:p>
          <a:p>
            <a:pPr algn="ctr">
              <a:lnSpc>
                <a:spcPct val="104000"/>
              </a:lnSpc>
              <a:spcBef>
                <a:spcPts val="100"/>
              </a:spcBef>
              <a:spcAft>
                <a:spcPts val="0"/>
              </a:spcAft>
            </a:pPr>
            <a:r>
              <a:rPr sz="969" b="0" i="0">
                <a:solidFill>
                  <a:srgbClr val="64788A"/>
                </a:solidFill>
                <a:latin typeface="Arial"/>
              </a:rPr>
              <a:t>Hardening · giám sát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51295" y="1499616"/>
            <a:ext cx="50292" cy="142367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0167" y="1481328"/>
            <a:ext cx="5254599" cy="1880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E2D4E"/>
                </a:solidFill>
                <a:latin typeface="Arial"/>
              </a:rPr>
              <a:t>Bối cảnh khác nhau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51295" y="1788287"/>
            <a:ext cx="2595295" cy="960120"/>
          </a:xfrm>
          <a:prstGeom prst="roundRect">
            <a:avLst>
              <a:gd name="adj" fmla="val 6000"/>
            </a:avLst>
          </a:prstGeom>
          <a:solidFill>
            <a:srgbClr val="F5F9FC"/>
          </a:solidFill>
          <a:ln w="12700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51295" y="1788287"/>
            <a:ext cx="59436" cy="96012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52463" y="1925447"/>
            <a:ext cx="2256967" cy="1880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E2D4E"/>
                </a:solidFill>
                <a:latin typeface="Arial"/>
              </a:rPr>
              <a:t>Private Cloud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2463" y="2173884"/>
            <a:ext cx="137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60" b="1" i="0">
                <a:solidFill>
                  <a:srgbClr val="1F6FB2"/>
                </a:solidFill>
                <a:latin typeface="Arial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9623" y="2177542"/>
            <a:ext cx="2119807" cy="1835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2B3A47"/>
                </a:solidFill>
                <a:latin typeface="Arial"/>
              </a:rPr>
              <a:t>Kiểm soát chặt hơn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52463" y="2420975"/>
            <a:ext cx="137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60" b="1" i="0">
                <a:solidFill>
                  <a:srgbClr val="1F6FB2"/>
                </a:solidFill>
                <a:latin typeface="Arial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9623" y="2424633"/>
            <a:ext cx="2119807" cy="1835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2B3A47"/>
                </a:solidFill>
                <a:latin typeface="Arial"/>
              </a:rPr>
              <a:t>Gần mô hình mạng nội bộ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29471" y="1788287"/>
            <a:ext cx="2595295" cy="960120"/>
          </a:xfrm>
          <a:prstGeom prst="roundRect">
            <a:avLst>
              <a:gd name="adj" fmla="val 6000"/>
            </a:avLst>
          </a:prstGeom>
          <a:solidFill>
            <a:srgbClr val="F5F9FC"/>
          </a:solidFill>
          <a:ln w="12700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29471" y="1788287"/>
            <a:ext cx="59436" cy="960120"/>
          </a:xfrm>
          <a:prstGeom prst="rect">
            <a:avLst/>
          </a:prstGeom>
          <a:solidFill>
            <a:srgbClr val="5D9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0639" y="1925447"/>
            <a:ext cx="2256967" cy="1880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E2D4E"/>
                </a:solidFill>
                <a:latin typeface="Arial"/>
              </a:rPr>
              <a:t>Public Cloud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0639" y="2173884"/>
            <a:ext cx="137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60" b="1" i="0">
                <a:solidFill>
                  <a:srgbClr val="1F6FB2"/>
                </a:solidFill>
                <a:latin typeface="Arial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67799" y="2177542"/>
            <a:ext cx="2119807" cy="1835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2B3A47"/>
                </a:solidFill>
                <a:latin typeface="Arial"/>
              </a:rPr>
              <a:t>Kết nối Internet, dùng chung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0639" y="2420975"/>
            <a:ext cx="137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60" b="1" i="0">
                <a:solidFill>
                  <a:srgbClr val="1F6FB2"/>
                </a:solidFill>
                <a:latin typeface="Arial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67799" y="2424633"/>
            <a:ext cx="2119807" cy="1835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2B3A47"/>
                </a:solidFill>
                <a:latin typeface="Arial"/>
              </a:rPr>
              <a:t>Phụ thuộc cấu hình đúng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51295" y="2986151"/>
            <a:ext cx="50292" cy="142367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70167" y="2967863"/>
            <a:ext cx="5254599" cy="1880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E2D4E"/>
                </a:solidFill>
                <a:latin typeface="Arial"/>
              </a:rPr>
              <a:t>Nguy cơ điển hình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51295" y="3256534"/>
            <a:ext cx="2613583" cy="329184"/>
          </a:xfrm>
          <a:prstGeom prst="roundRect">
            <a:avLst>
              <a:gd name="adj" fmla="val 30000"/>
            </a:avLst>
          </a:prstGeom>
          <a:solidFill>
            <a:srgbClr val="EAF2F9"/>
          </a:solidFill>
          <a:ln w="9525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0E2D4E"/>
                </a:solidFill>
                <a:latin typeface="Arial"/>
              </a:rPr>
              <a:t>APT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11183" y="3256534"/>
            <a:ext cx="2613583" cy="329184"/>
          </a:xfrm>
          <a:prstGeom prst="roundRect">
            <a:avLst>
              <a:gd name="adj" fmla="val 30000"/>
            </a:avLst>
          </a:prstGeom>
          <a:solidFill>
            <a:srgbClr val="EAF2F9"/>
          </a:solidFill>
          <a:ln w="9525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0E2D4E"/>
                </a:solidFill>
                <a:latin typeface="Arial"/>
              </a:rPr>
              <a:t>Insider threat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51295" y="3677158"/>
            <a:ext cx="2613583" cy="329184"/>
          </a:xfrm>
          <a:prstGeom prst="roundRect">
            <a:avLst>
              <a:gd name="adj" fmla="val 30000"/>
            </a:avLst>
          </a:prstGeom>
          <a:solidFill>
            <a:srgbClr val="EAF2F9"/>
          </a:solidFill>
          <a:ln w="9525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0E2D4E"/>
                </a:solidFill>
                <a:latin typeface="Arial"/>
              </a:rPr>
              <a:t>Truy cập trái phép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11183" y="3677158"/>
            <a:ext cx="2613583" cy="329184"/>
          </a:xfrm>
          <a:prstGeom prst="roundRect">
            <a:avLst>
              <a:gd name="adj" fmla="val 30000"/>
            </a:avLst>
          </a:prstGeom>
          <a:solidFill>
            <a:srgbClr val="EAF2F9"/>
          </a:solidFill>
          <a:ln w="9525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0E2D4E"/>
                </a:solidFill>
                <a:latin typeface="Arial"/>
              </a:rPr>
              <a:t>Lateral movement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4568063"/>
            <a:ext cx="11057839" cy="436016"/>
          </a:xfrm>
          <a:prstGeom prst="roundRect">
            <a:avLst>
              <a:gd name="adj" fmla="val 10000"/>
            </a:avLst>
          </a:prstGeom>
          <a:solidFill>
            <a:srgbClr val="EAF2F9"/>
          </a:solidFill>
          <a:ln w="12700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66928" y="4568063"/>
            <a:ext cx="64008" cy="436016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9808" y="4686935"/>
            <a:ext cx="10728655" cy="1982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0E2D4E"/>
                </a:solidFill>
                <a:latin typeface="Arial"/>
              </a:rPr>
              <a:t>Giải pháp: </a:t>
            </a:r>
            <a:r>
              <a:rPr sz="1140" b="1" i="0">
                <a:solidFill>
                  <a:srgbClr val="0E2D4E"/>
                </a:solidFill>
                <a:latin typeface="Arial"/>
              </a:rPr>
              <a:t>phân đoạn mạng</a:t>
            </a:r>
            <a:r>
              <a:rPr sz="1140" b="0" i="0">
                <a:solidFill>
                  <a:srgbClr val="0E2D4E"/>
                </a:solidFill>
                <a:latin typeface="Arial"/>
              </a:rPr>
              <a:t> + </a:t>
            </a:r>
            <a:r>
              <a:rPr sz="1140" b="1" i="0">
                <a:solidFill>
                  <a:srgbClr val="0E2D4E"/>
                </a:solidFill>
                <a:latin typeface="Arial"/>
              </a:rPr>
              <a:t>vùng tin cậy (trust zone)</a:t>
            </a:r>
            <a:r>
              <a:rPr sz="1140" b="0" i="0">
                <a:solidFill>
                  <a:srgbClr val="0E2D4E"/>
                </a:solidFill>
                <a:latin typeface="Arial"/>
              </a:rPr>
              <a:t> + </a:t>
            </a:r>
            <a:r>
              <a:rPr sz="1140" b="1" i="0">
                <a:solidFill>
                  <a:srgbClr val="0E2D4E"/>
                </a:solidFill>
                <a:latin typeface="Arial"/>
              </a:rPr>
              <a:t>IAM</a:t>
            </a:r>
            <a:r>
              <a:rPr sz="1140" b="0" i="0">
                <a:solidFill>
                  <a:srgbClr val="0E2D4E"/>
                </a:solidFill>
                <a:latin typeface="Arial"/>
              </a:rPr>
              <a:t>. Không phải cứ ở bên trong mạng thì mặc nhiên đáng tin cậy.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84048"/>
            <a:ext cx="77724" cy="603504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29184"/>
            <a:ext cx="107835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F6FB2"/>
                </a:solidFill>
                <a:latin typeface="Arial"/>
              </a:rPr>
              <a:t>PHẦN 5 · ỨNG DỤNG &amp; DANH TÍNH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566928"/>
            <a:ext cx="1078351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E2D4E"/>
                </a:solidFill>
                <a:latin typeface="Arial"/>
              </a:rPr>
              <a:t>IaaS / PaaS / SaaS &amp; QUẢN LÝ TRUY CẬP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152144"/>
            <a:ext cx="11057839" cy="0"/>
          </a:xfrm>
          <a:prstGeom prst="line">
            <a:avLst/>
          </a:prstGeom>
          <a:ln w="12700">
            <a:solidFill>
              <a:srgbClr val="C3D8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519672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88A"/>
                </a:solidFill>
                <a:latin typeface="Arial"/>
              </a:rPr>
              <a:t>Bảo mật đám mây (Cloud Security) · Nông Văn Tình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1727" y="6519672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88A"/>
                </a:solidFill>
                <a:latin typeface="Arial"/>
              </a:rPr>
              <a:t>10/12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481328"/>
            <a:ext cx="11057839" cy="306959"/>
          </a:xfrm>
          <a:prstGeom prst="rect">
            <a:avLst/>
          </a:prstGeom>
          <a:solidFill>
            <a:srgbClr val="0E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481328"/>
            <a:ext cx="2028687" cy="3069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2869935" y="1481328"/>
            <a:ext cx="2418964" cy="3069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IaaS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71780" y="1481328"/>
            <a:ext cx="2809241" cy="3069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PaaS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63901" y="1481328"/>
            <a:ext cx="3069425" cy="3069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SaaS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1788287"/>
            <a:ext cx="11057839" cy="296418"/>
          </a:xfrm>
          <a:prstGeom prst="rect">
            <a:avLst/>
          </a:prstGeom>
          <a:solidFill>
            <a:srgbClr val="FFFFFF"/>
          </a:solidFill>
          <a:ln w="6350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788287"/>
            <a:ext cx="2028687" cy="2964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2D4E"/>
                </a:solidFill>
                <a:latin typeface="Arial"/>
              </a:rPr>
              <a:t>CSP quản lý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69935" y="1788287"/>
            <a:ext cx="2418964" cy="2964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3A47"/>
                </a:solidFill>
                <a:latin typeface="Arial"/>
              </a:rPr>
              <a:t>Hạ tầng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71780" y="1788287"/>
            <a:ext cx="2809241" cy="2964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3A47"/>
                </a:solidFill>
                <a:latin typeface="Arial"/>
              </a:rPr>
              <a:t>Hạ tầng + nền tảng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3901" y="1788287"/>
            <a:ext cx="3069425" cy="2964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3A47"/>
                </a:solidFill>
                <a:latin typeface="Arial"/>
              </a:rPr>
              <a:t>Gần như toàn bộ ứng dụng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084704"/>
            <a:ext cx="11057839" cy="296418"/>
          </a:xfrm>
          <a:prstGeom prst="rect">
            <a:avLst/>
          </a:prstGeom>
          <a:solidFill>
            <a:srgbClr val="F5F9FC"/>
          </a:solidFill>
          <a:ln w="6350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2084704"/>
            <a:ext cx="2028687" cy="2964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2D4E"/>
                </a:solidFill>
                <a:latin typeface="Arial"/>
              </a:rPr>
              <a:t>Khách hàng lo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69935" y="2084704"/>
            <a:ext cx="2418964" cy="2964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3A47"/>
                </a:solidFill>
                <a:latin typeface="Arial"/>
              </a:rPr>
              <a:t>OS, mạng, ứng dụng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71780" y="2084704"/>
            <a:ext cx="2809241" cy="2964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3A47"/>
                </a:solidFill>
                <a:latin typeface="Arial"/>
              </a:rPr>
              <a:t>Ứng dụng, dữ liệu, truy cập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63901" y="2084704"/>
            <a:ext cx="3069425" cy="2964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3A47"/>
                </a:solidFill>
                <a:latin typeface="Arial"/>
              </a:rPr>
              <a:t>Người dùng, dữ liệu, phân quyền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2381123"/>
            <a:ext cx="11057839" cy="296418"/>
          </a:xfrm>
          <a:prstGeom prst="rect">
            <a:avLst/>
          </a:prstGeom>
          <a:solidFill>
            <a:srgbClr val="FFFFFF"/>
          </a:solidFill>
          <a:ln w="6350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2381123"/>
            <a:ext cx="2028687" cy="2964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2D4E"/>
                </a:solidFill>
                <a:latin typeface="Arial"/>
              </a:rPr>
              <a:t>Rủi ro tiêu biểu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69935" y="2381123"/>
            <a:ext cx="2418964" cy="2964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3A47"/>
                </a:solidFill>
                <a:latin typeface="Arial"/>
              </a:rPr>
              <a:t>Cấu hình máy ảo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71780" y="2381123"/>
            <a:ext cx="2809241" cy="2964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3A47"/>
                </a:solidFill>
                <a:latin typeface="Arial"/>
              </a:rPr>
              <a:t>Nền tảng &amp; truy cập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63901" y="2381123"/>
            <a:ext cx="3069425" cy="2964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3A47"/>
                </a:solidFill>
                <a:latin typeface="Arial"/>
              </a:rPr>
              <a:t>Phân quyền &amp; cấu hình sai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2988436"/>
            <a:ext cx="50292" cy="142367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2970148"/>
            <a:ext cx="10938967" cy="1880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E2D4E"/>
                </a:solidFill>
                <a:latin typeface="Arial"/>
              </a:rPr>
              <a:t>Xuyên suốt cả ba mô hình: Identity &amp; Access Management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3277108"/>
            <a:ext cx="2613583" cy="960120"/>
          </a:xfrm>
          <a:prstGeom prst="roundRect">
            <a:avLst>
              <a:gd name="adj" fmla="val 6000"/>
            </a:avLst>
          </a:prstGeom>
          <a:solidFill>
            <a:srgbClr val="F5F9FC"/>
          </a:solidFill>
          <a:ln w="12700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66928" y="3277108"/>
            <a:ext cx="59436" cy="96012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" y="3414267"/>
            <a:ext cx="2275255" cy="1880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E2D4E"/>
                </a:solidFill>
                <a:latin typeface="Arial"/>
              </a:rPr>
              <a:t>SSO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6" y="3662705"/>
            <a:ext cx="137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1F6FB2"/>
                </a:solidFill>
                <a:latin typeface="Arial"/>
              </a:rP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" y="3666363"/>
            <a:ext cx="2138095" cy="1806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2B3A47"/>
                </a:solidFill>
                <a:latin typeface="Arial"/>
              </a:rPr>
              <a:t>Đăng nhập một lần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8096" y="3906850"/>
            <a:ext cx="137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1F6FB2"/>
                </a:solidFill>
                <a:latin typeface="Arial"/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256" y="3910507"/>
            <a:ext cx="2138095" cy="1806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2B3A47"/>
                </a:solidFill>
                <a:latin typeface="Arial"/>
              </a:rPr>
              <a:t>Tập trung việc xác thực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381679" y="3277108"/>
            <a:ext cx="2613583" cy="960120"/>
          </a:xfrm>
          <a:prstGeom prst="roundRect">
            <a:avLst>
              <a:gd name="adj" fmla="val 6000"/>
            </a:avLst>
          </a:prstGeom>
          <a:solidFill>
            <a:srgbClr val="F5F9FC"/>
          </a:solidFill>
          <a:ln w="12700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381679" y="3277108"/>
            <a:ext cx="59436" cy="96012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582847" y="3414267"/>
            <a:ext cx="2275255" cy="1880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E2D4E"/>
                </a:solidFill>
                <a:latin typeface="Arial"/>
              </a:rPr>
              <a:t>Xác thực mạnh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82847" y="3662705"/>
            <a:ext cx="137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1F6FB2"/>
                </a:solidFill>
                <a:latin typeface="Arial"/>
              </a:rPr>
              <a:t>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20007" y="3666363"/>
            <a:ext cx="2138095" cy="1806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2B3A47"/>
                </a:solidFill>
                <a:latin typeface="Arial"/>
              </a:rPr>
              <a:t>Đa yếu tố (MFA)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82847" y="3906850"/>
            <a:ext cx="137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1F6FB2"/>
                </a:solidFill>
                <a:latin typeface="Arial"/>
              </a:rPr>
              <a:t>•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20007" y="3910507"/>
            <a:ext cx="2138095" cy="1806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2B3A47"/>
                </a:solidFill>
                <a:latin typeface="Arial"/>
              </a:rPr>
              <a:t>Chống lộ mật khẩu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96431" y="3277108"/>
            <a:ext cx="2613583" cy="960120"/>
          </a:xfrm>
          <a:prstGeom prst="roundRect">
            <a:avLst>
              <a:gd name="adj" fmla="val 6000"/>
            </a:avLst>
          </a:prstGeom>
          <a:solidFill>
            <a:srgbClr val="F5F9FC"/>
          </a:solidFill>
          <a:ln w="12700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196431" y="3277108"/>
            <a:ext cx="59436" cy="960120"/>
          </a:xfrm>
          <a:prstGeom prst="rect">
            <a:avLst/>
          </a:prstGeom>
          <a:solidFill>
            <a:srgbClr val="5D9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97599" y="3414267"/>
            <a:ext cx="2275255" cy="1880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E2D4E"/>
                </a:solidFill>
                <a:latin typeface="Arial"/>
              </a:rPr>
              <a:t>Least Privilege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97599" y="3662705"/>
            <a:ext cx="137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1F6FB2"/>
                </a:solidFill>
                <a:latin typeface="Arial"/>
              </a:rPr>
              <a:t>•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34759" y="3666363"/>
            <a:ext cx="2138095" cy="1806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2B3A47"/>
                </a:solidFill>
                <a:latin typeface="Arial"/>
              </a:rPr>
              <a:t>Chỉ cấp quyền cần dùng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97599" y="3906850"/>
            <a:ext cx="137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1F6FB2"/>
                </a:solidFill>
                <a:latin typeface="Arial"/>
              </a:rPr>
              <a:t>•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34759" y="3910507"/>
            <a:ext cx="2138095" cy="1806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2B3A47"/>
                </a:solidFill>
                <a:latin typeface="Arial"/>
              </a:rPr>
              <a:t>Rà soát định kỳ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011183" y="3277108"/>
            <a:ext cx="2613583" cy="960120"/>
          </a:xfrm>
          <a:prstGeom prst="roundRect">
            <a:avLst>
              <a:gd name="adj" fmla="val 6000"/>
            </a:avLst>
          </a:prstGeom>
          <a:solidFill>
            <a:srgbClr val="F5F9FC"/>
          </a:solidFill>
          <a:ln w="12700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011183" y="3277108"/>
            <a:ext cx="59436" cy="960120"/>
          </a:xfrm>
          <a:prstGeom prst="rect">
            <a:avLst/>
          </a:prstGeom>
          <a:solidFill>
            <a:srgbClr val="5D9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212351" y="3414267"/>
            <a:ext cx="2275255" cy="1880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E2D4E"/>
                </a:solidFill>
                <a:latin typeface="Arial"/>
              </a:rPr>
              <a:t>Phân quyền chi tiết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12351" y="3662705"/>
            <a:ext cx="137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1F6FB2"/>
                </a:solidFill>
                <a:latin typeface="Arial"/>
              </a:rPr>
              <a:t>•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349511" y="3666363"/>
            <a:ext cx="2138095" cy="1806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2B3A47"/>
                </a:solidFill>
                <a:latin typeface="Arial"/>
              </a:rPr>
              <a:t>Theo vai trò, theo tài nguyên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212351" y="3906850"/>
            <a:ext cx="137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1F6FB2"/>
                </a:solidFill>
                <a:latin typeface="Arial"/>
              </a:rPr>
              <a:t>•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349511" y="3910507"/>
            <a:ext cx="2138095" cy="1806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2B3A47"/>
                </a:solidFill>
                <a:latin typeface="Arial"/>
              </a:rPr>
              <a:t>Quản lý secrets &amp; API key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66928" y="4474971"/>
            <a:ext cx="11057839" cy="436016"/>
          </a:xfrm>
          <a:prstGeom prst="roundRect">
            <a:avLst>
              <a:gd name="adj" fmla="val 10000"/>
            </a:avLst>
          </a:prstGeom>
          <a:solidFill>
            <a:srgbClr val="FDF4E4"/>
          </a:solidFill>
          <a:ln w="12700">
            <a:solidFill>
              <a:srgbClr val="EBD2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66928" y="4474971"/>
            <a:ext cx="64008" cy="436016"/>
          </a:xfrm>
          <a:prstGeom prst="rect">
            <a:avLst/>
          </a:prstGeom>
          <a:solidFill>
            <a:srgbClr val="A8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49808" y="4593843"/>
            <a:ext cx="10728655" cy="1982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A86A00"/>
                </a:solidFill>
                <a:latin typeface="Arial"/>
              </a:rPr>
              <a:t>Trên Cloud, sự cố thường không đến từ việc </a:t>
            </a:r>
            <a:r>
              <a:rPr sz="1140" b="1" i="0">
                <a:solidFill>
                  <a:srgbClr val="A86A00"/>
                </a:solidFill>
                <a:latin typeface="Arial"/>
              </a:rPr>
              <a:t>phá vỡ mã hóa</a:t>
            </a:r>
            <a:r>
              <a:rPr sz="1140" b="0" i="0">
                <a:solidFill>
                  <a:srgbClr val="A86A00"/>
                </a:solidFill>
                <a:latin typeface="Arial"/>
              </a:rPr>
              <a:t>, mà đến từ </a:t>
            </a:r>
            <a:r>
              <a:rPr sz="1140" b="1" i="0">
                <a:solidFill>
                  <a:srgbClr val="A86A00"/>
                </a:solidFill>
                <a:latin typeface="Arial"/>
              </a:rPr>
              <a:t>cấu hình sai</a:t>
            </a:r>
            <a:r>
              <a:rPr sz="1140" b="0" i="0">
                <a:solidFill>
                  <a:srgbClr val="A86A00"/>
                </a:solidFill>
                <a:latin typeface="Arial"/>
              </a:rPr>
              <a:t> và </a:t>
            </a:r>
            <a:r>
              <a:rPr sz="1140" b="1" i="0">
                <a:solidFill>
                  <a:srgbClr val="A86A00"/>
                </a:solidFill>
                <a:latin typeface="Arial"/>
              </a:rPr>
              <a:t>quyền cấp thừa</a:t>
            </a:r>
            <a:r>
              <a:rPr sz="1140" b="0" i="0">
                <a:solidFill>
                  <a:srgbClr val="A86A00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84048"/>
            <a:ext cx="77724" cy="603504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29184"/>
            <a:ext cx="107835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F6FB2"/>
                </a:solidFill>
                <a:latin typeface="Arial"/>
              </a:rPr>
              <a:t>PHẦN 6 · MÁY CHỦ &amp; KIỂM SOÁT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566928"/>
            <a:ext cx="1078351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E2D4E"/>
                </a:solidFill>
                <a:latin typeface="Arial"/>
              </a:rPr>
              <a:t>MÁY CHỦ ẢO &amp; CÁC LỚP KIỂM SOÁT BẢO MẬT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152144"/>
            <a:ext cx="11057839" cy="0"/>
          </a:xfrm>
          <a:prstGeom prst="line">
            <a:avLst/>
          </a:prstGeom>
          <a:ln w="12700">
            <a:solidFill>
              <a:srgbClr val="C3D8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519672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88A"/>
                </a:solidFill>
                <a:latin typeface="Arial"/>
              </a:rPr>
              <a:t>Bảo mật đám mây (Cloud Security) · Nông Văn Tình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1727" y="6519672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88A"/>
                </a:solidFill>
                <a:latin typeface="Arial"/>
              </a:rPr>
              <a:t>11/12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499616"/>
            <a:ext cx="50292" cy="142367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481328"/>
            <a:ext cx="10938967" cy="1880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E2D4E"/>
                </a:solidFill>
                <a:latin typeface="Arial"/>
              </a:rPr>
              <a:t>Máy chủ ảo — 5 việc tối thiểu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788287"/>
            <a:ext cx="2094524" cy="402336"/>
          </a:xfrm>
          <a:prstGeom prst="roundRect">
            <a:avLst>
              <a:gd name="adj" fmla="val 30000"/>
            </a:avLst>
          </a:prstGeom>
          <a:solidFill>
            <a:srgbClr val="EAF2F9"/>
          </a:solidFill>
          <a:ln w="9525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0E2D4E"/>
                </a:solidFill>
                <a:latin typeface="Arial"/>
              </a:rPr>
              <a:t>Cấu hình an toàn mặc định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07756" y="1788287"/>
            <a:ext cx="2094524" cy="402336"/>
          </a:xfrm>
          <a:prstGeom prst="roundRect">
            <a:avLst>
              <a:gd name="adj" fmla="val 30000"/>
            </a:avLst>
          </a:prstGeom>
          <a:solidFill>
            <a:srgbClr val="EAF2F9"/>
          </a:solidFill>
          <a:ln w="9525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0E2D4E"/>
                </a:solidFill>
                <a:latin typeface="Arial"/>
              </a:rPr>
              <a:t>Chỉ dùng image đã kiểm tra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48585" y="1788287"/>
            <a:ext cx="2094524" cy="402336"/>
          </a:xfrm>
          <a:prstGeom prst="roundRect">
            <a:avLst>
              <a:gd name="adj" fmla="val 30000"/>
            </a:avLst>
          </a:prstGeom>
          <a:solidFill>
            <a:srgbClr val="EAF2F9"/>
          </a:solidFill>
          <a:ln w="9525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0E2D4E"/>
                </a:solidFill>
                <a:latin typeface="Arial"/>
              </a:rPr>
              <a:t>Không nhúng khóa / chứng chỉ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89413" y="1788287"/>
            <a:ext cx="2094524" cy="402336"/>
          </a:xfrm>
          <a:prstGeom prst="roundRect">
            <a:avLst>
              <a:gd name="adj" fmla="val 30000"/>
            </a:avLst>
          </a:prstGeom>
          <a:solidFill>
            <a:srgbClr val="EAF2F9"/>
          </a:solidFill>
          <a:ln w="9525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0E2D4E"/>
                </a:solidFill>
                <a:latin typeface="Arial"/>
              </a:rPr>
              <a:t>Bật firewall trên máy ảo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30242" y="1788287"/>
            <a:ext cx="2094524" cy="402336"/>
          </a:xfrm>
          <a:prstGeom prst="roundRect">
            <a:avLst>
              <a:gd name="adj" fmla="val 30000"/>
            </a:avLst>
          </a:prstGeom>
          <a:solidFill>
            <a:srgbClr val="EAF2F9"/>
          </a:solidFill>
          <a:ln w="9525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0E2D4E"/>
                </a:solidFill>
                <a:latin typeface="Arial"/>
              </a:rPr>
              <a:t>Log tập trung ra ngoài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2519806"/>
            <a:ext cx="50292" cy="142367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501518"/>
            <a:ext cx="10938967" cy="1880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E2D4E"/>
                </a:solidFill>
                <a:latin typeface="Arial"/>
              </a:rPr>
              <a:t>Bốn nhóm kiểm soát — Defense in Depth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2808477"/>
            <a:ext cx="2613583" cy="1188720"/>
          </a:xfrm>
          <a:prstGeom prst="roundRect">
            <a:avLst>
              <a:gd name="adj" fmla="val 6000"/>
            </a:avLst>
          </a:prstGeom>
          <a:solidFill>
            <a:srgbClr val="F5F9FC"/>
          </a:solidFill>
          <a:ln w="12700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2808477"/>
            <a:ext cx="59436" cy="1188720"/>
          </a:xfrm>
          <a:prstGeom prst="rect">
            <a:avLst/>
          </a:prstGeom>
          <a:solidFill>
            <a:srgbClr val="5D9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2945637"/>
            <a:ext cx="2275255" cy="1880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E2D4E"/>
                </a:solidFill>
                <a:latin typeface="Arial"/>
              </a:rPr>
              <a:t>1 · Răn đe (Deterrent)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3194075"/>
            <a:ext cx="137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60" b="1" i="0">
                <a:solidFill>
                  <a:srgbClr val="1F6FB2"/>
                </a:solidFill>
                <a:latin typeface="Arial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3197732"/>
            <a:ext cx="2138095" cy="1835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2B3A47"/>
                </a:solidFill>
                <a:latin typeface="Arial"/>
              </a:rPr>
              <a:t>Chính sách, cảnh báo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3441166"/>
            <a:ext cx="137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60" b="1" i="0">
                <a:solidFill>
                  <a:srgbClr val="1F6FB2"/>
                </a:solidFill>
                <a:latin typeface="Arial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" y="3444824"/>
            <a:ext cx="2138095" cy="1835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2B3A47"/>
                </a:solidFill>
                <a:latin typeface="Arial"/>
              </a:rPr>
              <a:t>Làm nản lòng kẻ tấn công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81679" y="2808477"/>
            <a:ext cx="2613583" cy="1188720"/>
          </a:xfrm>
          <a:prstGeom prst="roundRect">
            <a:avLst>
              <a:gd name="adj" fmla="val 6000"/>
            </a:avLst>
          </a:prstGeom>
          <a:solidFill>
            <a:srgbClr val="F5F9FC"/>
          </a:solidFill>
          <a:ln w="12700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381679" y="2808477"/>
            <a:ext cx="59436" cy="118872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82847" y="2945637"/>
            <a:ext cx="2275255" cy="1880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E2D4E"/>
                </a:solidFill>
                <a:latin typeface="Arial"/>
              </a:rPr>
              <a:t>2 · Ngăn ngừa (Preventive)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82847" y="3194075"/>
            <a:ext cx="137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60" b="1" i="0">
                <a:solidFill>
                  <a:srgbClr val="1F6FB2"/>
                </a:solidFill>
                <a:latin typeface="Arial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20007" y="3197732"/>
            <a:ext cx="2138095" cy="1835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2B3A47"/>
                </a:solidFill>
                <a:latin typeface="Arial"/>
              </a:rPr>
              <a:t>Mã hóa, IAM, firewall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82847" y="3441166"/>
            <a:ext cx="137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60" b="1" i="0">
                <a:solidFill>
                  <a:srgbClr val="1F6FB2"/>
                </a:solidFill>
                <a:latin typeface="Arial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20007" y="3444824"/>
            <a:ext cx="2138095" cy="1835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2B3A47"/>
                </a:solidFill>
                <a:latin typeface="Arial"/>
              </a:rPr>
              <a:t>Hardening hệ thống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6431" y="2808477"/>
            <a:ext cx="2613583" cy="1188720"/>
          </a:xfrm>
          <a:prstGeom prst="roundRect">
            <a:avLst>
              <a:gd name="adj" fmla="val 6000"/>
            </a:avLst>
          </a:prstGeom>
          <a:solidFill>
            <a:srgbClr val="F5F9FC"/>
          </a:solidFill>
          <a:ln w="12700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6431" y="2808477"/>
            <a:ext cx="59436" cy="1188720"/>
          </a:xfrm>
          <a:prstGeom prst="rect">
            <a:avLst/>
          </a:prstGeom>
          <a:solidFill>
            <a:srgbClr val="A8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97599" y="2945637"/>
            <a:ext cx="2275255" cy="1880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E2D4E"/>
                </a:solidFill>
                <a:latin typeface="Arial"/>
              </a:rPr>
              <a:t>3 · Phát hiện (Detective)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97599" y="3194075"/>
            <a:ext cx="137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60" b="1" i="0">
                <a:solidFill>
                  <a:srgbClr val="1F6FB2"/>
                </a:solidFill>
                <a:latin typeface="Arial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4759" y="3197732"/>
            <a:ext cx="2138095" cy="1835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2B3A47"/>
                </a:solidFill>
                <a:latin typeface="Arial"/>
              </a:rPr>
              <a:t>Giám sát, log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97599" y="3441166"/>
            <a:ext cx="137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60" b="1" i="0">
                <a:solidFill>
                  <a:srgbClr val="1F6FB2"/>
                </a:solidFill>
                <a:latin typeface="Arial"/>
              </a:rPr>
              <a:t>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34759" y="3444824"/>
            <a:ext cx="2138095" cy="1835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2B3A47"/>
                </a:solidFill>
                <a:latin typeface="Arial"/>
              </a:rPr>
              <a:t>Phát hiện xâm nhập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11183" y="2808477"/>
            <a:ext cx="2613583" cy="1188720"/>
          </a:xfrm>
          <a:prstGeom prst="roundRect">
            <a:avLst>
              <a:gd name="adj" fmla="val 6000"/>
            </a:avLst>
          </a:prstGeom>
          <a:solidFill>
            <a:srgbClr val="F5F9FC"/>
          </a:solidFill>
          <a:ln w="12700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011183" y="2808477"/>
            <a:ext cx="59436" cy="1188720"/>
          </a:xfrm>
          <a:prstGeom prst="rect">
            <a:avLst/>
          </a:prstGeom>
          <a:solidFill>
            <a:srgbClr val="1B7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12351" y="2945637"/>
            <a:ext cx="2275255" cy="1880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E2D4E"/>
                </a:solidFill>
                <a:latin typeface="Arial"/>
              </a:rPr>
              <a:t>4 · Khắc phục (Corrective)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12351" y="3194075"/>
            <a:ext cx="137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60" b="1" i="0">
                <a:solidFill>
                  <a:srgbClr val="1F6FB2"/>
                </a:solidFill>
                <a:latin typeface="Arial"/>
              </a:rPr>
              <a:t>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49511" y="3197732"/>
            <a:ext cx="2138095" cy="1835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2B3A47"/>
                </a:solidFill>
                <a:latin typeface="Arial"/>
              </a:rPr>
              <a:t>Sao lưu, khôi phục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12351" y="3441166"/>
            <a:ext cx="137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60" b="1" i="0">
                <a:solidFill>
                  <a:srgbClr val="1F6FB2"/>
                </a:solidFill>
                <a:latin typeface="Arial"/>
              </a:rPr>
              <a:t>•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49511" y="3444824"/>
            <a:ext cx="2138095" cy="1835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2B3A47"/>
                </a:solidFill>
                <a:latin typeface="Arial"/>
              </a:rPr>
              <a:t>Ứng phó sự cố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66928" y="4234941"/>
            <a:ext cx="11057839" cy="436016"/>
          </a:xfrm>
          <a:prstGeom prst="roundRect">
            <a:avLst>
              <a:gd name="adj" fmla="val 10000"/>
            </a:avLst>
          </a:prstGeom>
          <a:solidFill>
            <a:srgbClr val="EAF2F9"/>
          </a:solidFill>
          <a:ln w="12700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66928" y="4234941"/>
            <a:ext cx="64008" cy="436016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49808" y="4353813"/>
            <a:ext cx="10728655" cy="1982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0E2D4E"/>
                </a:solidFill>
                <a:latin typeface="Arial"/>
              </a:rPr>
              <a:t>Không lớp nào đủ một mình — hiệu quả đến từ việc </a:t>
            </a:r>
            <a:r>
              <a:rPr sz="1140" b="1" i="0">
                <a:solidFill>
                  <a:srgbClr val="0E2D4E"/>
                </a:solidFill>
                <a:latin typeface="Arial"/>
              </a:rPr>
              <a:t>kết hợp cả bốn nhóm</a:t>
            </a:r>
            <a:r>
              <a:rPr sz="1140" b="0" i="0">
                <a:solidFill>
                  <a:srgbClr val="0E2D4E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84048"/>
            <a:ext cx="77724" cy="603504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29184"/>
            <a:ext cx="107835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F6FB2"/>
                </a:solidFill>
                <a:latin typeface="Arial"/>
              </a:rPr>
              <a:t>TỔNG KẾT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566928"/>
            <a:ext cx="1078351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E2D4E"/>
                </a:solidFill>
                <a:latin typeface="Arial"/>
              </a:rPr>
              <a:t>CLOUD SECURITY LÀ MỘT HỆ THỐNG NHIỀU LỚP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152144"/>
            <a:ext cx="11057839" cy="0"/>
          </a:xfrm>
          <a:prstGeom prst="line">
            <a:avLst/>
          </a:prstGeom>
          <a:ln w="12700">
            <a:solidFill>
              <a:srgbClr val="C3D8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519672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88A"/>
                </a:solidFill>
                <a:latin typeface="Arial"/>
              </a:rPr>
              <a:t>Bảo mật đám mây (Cloud Security) · Nông Văn Tình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1727" y="6519672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88A"/>
                </a:solidFill>
                <a:latin typeface="Arial"/>
              </a:rPr>
              <a:t>12/12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17904"/>
            <a:ext cx="1690573" cy="566928"/>
          </a:xfrm>
          <a:prstGeom prst="roundRect">
            <a:avLst>
              <a:gd name="adj" fmla="val 10000"/>
            </a:avLst>
          </a:prstGeom>
          <a:solidFill>
            <a:srgbClr val="EAF2F9"/>
          </a:solidFill>
          <a:ln w="12700">
            <a:solidFill>
              <a:srgbClr val="5D9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0E2D4E"/>
                </a:solidFill>
                <a:latin typeface="Arial"/>
              </a:rPr>
              <a:t>Trách nhiệm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239213" y="1732788"/>
            <a:ext cx="219456" cy="137160"/>
          </a:xfrm>
          <a:prstGeom prst="rightArrow">
            <a:avLst/>
          </a:prstGeom>
          <a:solidFill>
            <a:srgbClr val="5D9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440381" y="1517904"/>
            <a:ext cx="1690573" cy="566928"/>
          </a:xfrm>
          <a:prstGeom prst="roundRect">
            <a:avLst>
              <a:gd name="adj" fmla="val 10000"/>
            </a:avLst>
          </a:prstGeom>
          <a:solidFill>
            <a:srgbClr val="EAF2F9"/>
          </a:solidFill>
          <a:ln w="12700">
            <a:solidFill>
              <a:srgbClr val="5D9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0E2D4E"/>
                </a:solidFill>
                <a:latin typeface="Arial"/>
              </a:rPr>
              <a:t>Dữ liệu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112666" y="1732788"/>
            <a:ext cx="219456" cy="137160"/>
          </a:xfrm>
          <a:prstGeom prst="rightArrow">
            <a:avLst/>
          </a:prstGeom>
          <a:solidFill>
            <a:srgbClr val="5D9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13834" y="1517904"/>
            <a:ext cx="1690573" cy="566928"/>
          </a:xfrm>
          <a:prstGeom prst="roundRect">
            <a:avLst>
              <a:gd name="adj" fmla="val 10000"/>
            </a:avLst>
          </a:prstGeom>
          <a:solidFill>
            <a:srgbClr val="EAF2F9"/>
          </a:solidFill>
          <a:ln w="12700">
            <a:solidFill>
              <a:srgbClr val="5D9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0E2D4E"/>
                </a:solidFill>
                <a:latin typeface="Arial"/>
              </a:rPr>
              <a:t>Mật mã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986119" y="1732788"/>
            <a:ext cx="219456" cy="137160"/>
          </a:xfrm>
          <a:prstGeom prst="rightArrow">
            <a:avLst/>
          </a:prstGeom>
          <a:solidFill>
            <a:srgbClr val="5D9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87287" y="1517904"/>
            <a:ext cx="1690573" cy="566928"/>
          </a:xfrm>
          <a:prstGeom prst="roundRect">
            <a:avLst>
              <a:gd name="adj" fmla="val 10000"/>
            </a:avLst>
          </a:prstGeom>
          <a:solidFill>
            <a:srgbClr val="EAF2F9"/>
          </a:solidFill>
          <a:ln w="12700">
            <a:solidFill>
              <a:srgbClr val="5D9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0E2D4E"/>
                </a:solidFill>
                <a:latin typeface="Arial"/>
              </a:rPr>
              <a:t>Mạng &amp; Trust zone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859572" y="1732788"/>
            <a:ext cx="219456" cy="137160"/>
          </a:xfrm>
          <a:prstGeom prst="rightArrow">
            <a:avLst/>
          </a:prstGeom>
          <a:solidFill>
            <a:srgbClr val="5D9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60740" y="1517904"/>
            <a:ext cx="1690573" cy="566928"/>
          </a:xfrm>
          <a:prstGeom prst="roundRect">
            <a:avLst>
              <a:gd name="adj" fmla="val 10000"/>
            </a:avLst>
          </a:prstGeom>
          <a:solidFill>
            <a:srgbClr val="EAF2F9"/>
          </a:solidFill>
          <a:ln w="12700">
            <a:solidFill>
              <a:srgbClr val="5D9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0E2D4E"/>
                </a:solidFill>
                <a:latin typeface="Arial"/>
              </a:rPr>
              <a:t>IAM &amp; Ứng dụng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733026" y="1732788"/>
            <a:ext cx="219456" cy="137160"/>
          </a:xfrm>
          <a:prstGeom prst="rightArrow">
            <a:avLst/>
          </a:prstGeom>
          <a:solidFill>
            <a:srgbClr val="5D9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934194" y="1517904"/>
            <a:ext cx="1690573" cy="566928"/>
          </a:xfrm>
          <a:prstGeom prst="roundRect">
            <a:avLst>
              <a:gd name="adj" fmla="val 10000"/>
            </a:avLst>
          </a:prstGeom>
          <a:solidFill>
            <a:srgbClr val="E9F5F0"/>
          </a:solidFill>
          <a:ln w="12700">
            <a:solidFill>
              <a:srgbClr val="B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1B7A57"/>
                </a:solidFill>
                <a:latin typeface="Arial"/>
              </a:rPr>
              <a:t>Giám sát &amp; Khôi phục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2432303"/>
            <a:ext cx="3527450" cy="1463040"/>
          </a:xfrm>
          <a:prstGeom prst="roundRect">
            <a:avLst>
              <a:gd name="adj" fmla="val 6000"/>
            </a:avLst>
          </a:prstGeom>
          <a:solidFill>
            <a:srgbClr val="F5F9FC"/>
          </a:solidFill>
          <a:ln w="12700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6928" y="2432303"/>
            <a:ext cx="59436" cy="146304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" y="2569463"/>
            <a:ext cx="3189122" cy="195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2D4E"/>
                </a:solidFill>
                <a:latin typeface="Arial"/>
              </a:rPr>
              <a:t>1 · Phân chia lại trách nhiệm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2828543"/>
            <a:ext cx="3189122" cy="3574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2B3A47"/>
                </a:solidFill>
                <a:latin typeface="Arial"/>
              </a:rPr>
              <a:t>Cloud không loại bỏ trách nhiệm bảo mật; phần của khách hàng luôn còn đó.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32122" y="2432303"/>
            <a:ext cx="3527450" cy="1463040"/>
          </a:xfrm>
          <a:prstGeom prst="roundRect">
            <a:avLst>
              <a:gd name="adj" fmla="val 6000"/>
            </a:avLst>
          </a:prstGeom>
          <a:solidFill>
            <a:srgbClr val="F5F9FC"/>
          </a:solidFill>
          <a:ln w="12700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32122" y="2432303"/>
            <a:ext cx="59436" cy="146304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33290" y="2569463"/>
            <a:ext cx="3189122" cy="195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2D4E"/>
                </a:solidFill>
                <a:latin typeface="Arial"/>
              </a:rPr>
              <a:t>2 · Bảo vệ dữ liệu ≠ chỉ mã hóa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33290" y="2828543"/>
            <a:ext cx="3189122" cy="3574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2B3A47"/>
                </a:solidFill>
                <a:latin typeface="Arial"/>
              </a:rPr>
              <a:t>Còn là quyền truy cập, toàn vẹn, vị trí lưu trữ và khả năng xử lý an toàn.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97316" y="2432303"/>
            <a:ext cx="3527450" cy="1463040"/>
          </a:xfrm>
          <a:prstGeom prst="roundRect">
            <a:avLst>
              <a:gd name="adj" fmla="val 6000"/>
            </a:avLst>
          </a:prstGeom>
          <a:solidFill>
            <a:srgbClr val="F5F9FC"/>
          </a:solidFill>
          <a:ln w="12700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97316" y="2432303"/>
            <a:ext cx="59436" cy="1463040"/>
          </a:xfrm>
          <a:prstGeom prst="rect">
            <a:avLst/>
          </a:prstGeom>
          <a:solidFill>
            <a:srgbClr val="5D9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98484" y="2569463"/>
            <a:ext cx="3189122" cy="195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2D4E"/>
                </a:solidFill>
                <a:latin typeface="Arial"/>
              </a:rPr>
              <a:t>3 · Nhiều lớp kết hợp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98484" y="2828543"/>
            <a:ext cx="3189122" cy="3574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2B3A47"/>
                </a:solidFill>
                <a:latin typeface="Arial"/>
              </a:rPr>
              <a:t>Mật mã, IAM, mạng, ứng dụng, giám sát và khôi phục — Defense in Depth.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4206240"/>
            <a:ext cx="11057839" cy="459994"/>
          </a:xfrm>
          <a:prstGeom prst="roundRect">
            <a:avLst>
              <a:gd name="adj" fmla="val 10000"/>
            </a:avLst>
          </a:prstGeom>
          <a:solidFill>
            <a:srgbClr val="0E2D4E"/>
          </a:solidFill>
          <a:ln w="12700">
            <a:solidFill>
              <a:srgbClr val="0E2D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66928" y="4206240"/>
            <a:ext cx="64008" cy="459994"/>
          </a:xfrm>
          <a:prstGeom prst="rect">
            <a:avLst/>
          </a:prstGeom>
          <a:solidFill>
            <a:srgbClr val="5D9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325112"/>
            <a:ext cx="10728655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Xin cảm ơn thầy cô và các bạn đã lắng nghe — </a:t>
            </a:r>
            <a:r>
              <a:rPr sz="1300" b="1" i="0">
                <a:solidFill>
                  <a:srgbClr val="FFFFFF"/>
                </a:solidFill>
                <a:latin typeface="Arial"/>
              </a:rPr>
              <a:t>rất mong nhận được câu hỏi và góp ý.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