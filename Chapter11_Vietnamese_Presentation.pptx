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chào thầy và các anh chị học viên. Tiếp theo, mình xin được trình bày về đề tài: Bảo mật điện toán đám mây (Cloud Security).</a:t>
            </a:r>
          </a:p>
          <a:p/>
          <a:p>
            <a:r>
              <a:t>Ngày nay, việc dịch chuyển dữ liệu và ứng dụng lên đám mây đang trở thành xu hướng tất yếu của các doanh nghiệp. Tuy nhiên, có một thực tế là: khi đưa hệ thống lên Cloud, mô hình bảo mật truyền thống đã hoàn toàn thay đổi. Ranh giới bảo vệ không còn gói gọn trong các bức tường lửa nội bộ, mà phần lớn dữ liệu và hạ tầng đã chuyển sang nằm dưới sự kiểm soát của bên thứ ba.</a:t>
            </a:r>
          </a:p>
          <a:p/>
          <a:p>
            <a:r>
              <a:t>Vậy làm thế nào để chúng ta vừa tận dụng được tính linh hoạt của đám mây, vừa bảo vệ an toàn cho tài sản dữ liệu của mình? Trong bài trình bày hôm nay, mình sẽ cùng mọi người lần lượt khám phá các khái niệm bảo mật cốt lõi, các kỹ thuật mã hóa hiện đại, cho đến chiến lược bảo vệ hạ tầng, ứng dụng và máy chủ ảo trên Cloud."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hiểu một cách tổng thể về bảo mật trong môi trường Cloud, bài trình bày của mình sẽ đi theo 6 phần, bắt đầu từ nền tảng và sau đó đi dần xuống các lớp bảo vệ cụ thể.</a:t>
            </a:r>
          </a:p>
          <a:p/>
          <a:p>
            <a:r>
              <a:t>Phần thứ nhất là Nền tảng bảo mật đám mây.</a:t>
            </a:r>
          </a:p>
          <a:p>
            <a:r>
              <a:t>Mình sẽ bắt đầu bằng việc làm rõ Cloud Security là gì, sau đó xem xét mô hình trách nhiệm chia sẻ giữa nhà cung cấp dịch vụ Cloud và khách hàng. Cuối phần này, chúng ta sẽ sử dụng bộ ba CIA để xác định những mục tiêu cốt lõi của bảo mật.</a:t>
            </a:r>
          </a:p>
          <a:p/>
          <a:p>
            <a:r>
              <a:t>Phần thứ hai là Bảo vệ dữ liệu trên Cloud.</a:t>
            </a:r>
          </a:p>
          <a:p>
            <a:r>
              <a:t>Ở đây, chúng ta sẽ nhìn vào dữ liệu trong các trạng thái khác nhau, từ lúc truyền qua mạng cho đến khi được lưu trữ và xử lý. Đồng thời, mình sẽ đề cập đến các vấn đề như metadata, quyền riêng tư, tính toàn vẹn, vị trí và tính sẵn sàng của dữ liệu.</a:t>
            </a:r>
          </a:p>
          <a:p/>
          <a:p>
            <a:r>
              <a:t>Phần thứ ba là Mật mã nâng cao cho Cloud.</a:t>
            </a:r>
          </a:p>
          <a:p>
            <a:r>
              <a:t>Đây là phần trọng tâm của bài. Chúng ta sẽ xuất phát từ một câu hỏi:</a:t>
            </a:r>
          </a:p>
          <a:p/>
          <a:p>
            <a:r>
              <a:t>“Nếu muốn Cloud lưu trữ và xử lý dữ liệu, nhưng không muốn Cloud nhìn thấy dữ liệu gốc, thì chúng ta có thể làm gì?”</a:t>
            </a:r>
          </a:p>
          <a:p/>
          <a:p>
            <a:r>
              <a:t>Từ câu hỏi đó, mình sẽ lần lượt giới thiệu ABE, FHE và Searchable Encryption, với mỗi kỹ thuật giải quyết một nhu cầu bảo mật khác nhau.</a:t>
            </a:r>
          </a:p>
          <a:p/>
          <a:p>
            <a:r>
              <a:t>Phần thứ tư là Bảo vệ hạ tầng và vùng tin cậy.</a:t>
            </a:r>
          </a:p>
          <a:p>
            <a:r>
              <a:t>Sau khi nói về dữ liệu, chúng ta sẽ chuyển sang lớp hạ tầng: sự khác biệt giữa Public Cloud và Private Cloud, các rủi ro về mạng và cấu hình, sau đó là Trust Zones và IAM để kiểm soát phạm vi truy cập.</a:t>
            </a:r>
          </a:p>
          <a:p/>
          <a:p>
            <a:r>
              <a:t>Phần thứ năm là Bảo mật ứng dụng và máy chủ.</a:t>
            </a:r>
          </a:p>
          <a:p>
            <a:r>
              <a:t>Phần này sẽ liên hệ với ba mô hình dịch vụ IaaS, PaaS và SaaS, đồng thời xem xét các cơ chế như kiểm soát truy cập, SSO, gia cố hệ điều hành và bảo vệ máy chủ ảo.</a:t>
            </a:r>
          </a:p>
          <a:p/>
          <a:p>
            <a:r>
              <a:t>Cuối cùng, phần thứ sáu là Kiểm soát và phòng thủ đa lớp.</a:t>
            </a:r>
          </a:p>
          <a:p>
            <a:r>
              <a:t>Mình sẽ tổng hợp lại toàn bộ những cơ chế vừa trình bày thành bốn nhóm: răn đe, phòng ngừa, phát hiện và khắc phục, qua đó cho thấy Cloud Security không phụ thuộc vào một công nghệ duy nhất mà là sự kết hợp của nhiều lớp bảo vệ.</a:t>
            </a:r>
          </a:p>
          <a:p/>
          <a:p>
            <a:r>
              <a:t>Và bây giờ, chúng ta sẽ bắt đầu với câu hỏi nền tảng thứ nhất: Cloud Security là gì, và khi đưa hệ thống lên Cloud thì trách nhiệm bảo mật được phân chia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bắt đầu, chúng ta cần trả lời một câu hỏi rất cơ bản: Cloud Security thực chất là gì?</a:t>
            </a:r>
          </a:p>
          <a:p/>
          <a:p>
            <a:r>
              <a:t>Hiểu đơn giản, Cloud Security là tập hợp các công nghệ, chính sách, quy trình và biện pháp kiểm soát nhằm bảo vệ dữ liệu, ứng dụng, hạ tầng cũng như danh tính và quyền truy cập trong môi trường Cloud.</a:t>
            </a:r>
          </a:p>
          <a:p/>
          <a:p>
            <a:r>
              <a:t>Tuy nhiên, có một điểm khiến Cloud Security khác với mô hình bảo mật truyền thống: chúng ta không còn tự kiểm soát toàn bộ hạ tầng.</a:t>
            </a:r>
          </a:p>
          <a:p/>
          <a:p>
            <a:r>
              <a:t>Một phần hạ tầng được vận hành bởi Cloud Service Provider, hay CSP. Và từ đây xuất hiện một khái niệm rất quan trọng: Shared Responsibility Model – Mô hình trách nhiệm chia sẻ.</a:t>
            </a:r>
          </a:p>
          <a:p/>
          <a:p>
            <a:r>
              <a:t>Có thể hiểu đơn giản thành hai phía.</a:t>
            </a:r>
          </a:p>
          <a:p/>
          <a:p>
            <a:r>
              <a:t>CSP chịu trách nhiệm về Security of the Cloud — tức là bảo vệ những thành phần thuộc về nền tảng Cloud mà họ cung cấp, chẳng hạn như trung tâm dữ liệu, phần cứng, mạng và hạ tầng nền tảng.</a:t>
            </a:r>
          </a:p>
          <a:p/>
          <a:p>
            <a:r>
              <a:t>Ngược lại, khách hàng chịu trách nhiệm về Security in the Cloud — chẳng hạn như cấu hình tài nguyên, quản lý danh tính, quyền truy cập, dữ liệu và ứng dụng của mình.</a:t>
            </a:r>
          </a:p>
          <a:p/>
          <a:p>
            <a:r>
              <a:t>Nhưng ranh giới này không cố định. Khi chuyển từ IaaS sang PaaS rồi SaaS, phần trách nhiệm của CSP tăng lên và phần khách hàng phải tự quản lý giảm xuống.</a:t>
            </a:r>
          </a:p>
          <a:p/>
          <a:p>
            <a:r>
              <a:t>Vì vậy, nếu dữ liệu bị rò rỉ, chúng ta không thể ngay lập tức kết luận rằng lỗi thuộc về CSP hay khách hàng. Trước tiên phải xác định nguyên nhân sự cố và phần trách nhiệm tương ứng.</a:t>
            </a:r>
          </a:p>
          <a:p/>
          <a:p>
            <a:r>
              <a:t>Vậy cuối cùng, dù ai chịu trách nhiệm, chúng ta đang cố gắng bảo vệ điều gì?</a:t>
            </a:r>
          </a:p>
          <a:p/>
          <a:p>
            <a:r>
              <a:t>Đó chính là CIA Triad.</a:t>
            </a:r>
          </a:p>
          <a:p/>
          <a:p>
            <a:r>
              <a:t>Confidentiality — chỉ người được phép mới có thể truy cập dữ liệu.</a:t>
            </a:r>
          </a:p>
          <a:p/>
          <a:p>
            <a:r>
              <a:t>Integrity — dữ liệu không bị thay đổi trái phép.</a:t>
            </a:r>
          </a:p>
          <a:p/>
          <a:p>
            <a:r>
              <a:t>Và Availability — hệ thống phải sẵn sàng khi người dùng hợp lệ cần sử dụng.</a:t>
            </a:r>
          </a:p>
          <a:p/>
          <a:p>
            <a:r>
              <a:t>Trong Cloud, ba mục tiêu này trở nên phức tạp hơn bởi chúng ta có sự tham gia của bên thứ ba, kết nối qua mạng, tài nguyên dùng chung và rất nhiều cấu hình có thể thay đổi.</a:t>
            </a:r>
          </a:p>
          <a:p/>
          <a:p>
            <a:r>
              <a:t>Vậy khi dữ liệu thực sự đi vào môi trường Cloud, nó sẽ phải đối mặt với những vấn đề cụ thể nào?</a:t>
            </a:r>
          </a:p>
          <a:p/>
          <a:p>
            <a:r>
              <a:t>Đó sẽ là nội dung của phần tiếp theo: Bảo vệ dữ liệu trên Cloud.”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khi đã xác định Cloud Security là gì và trách nhiệm được phân chia như thế nào, chúng ta hãy thu hẹp phạm vi lại và nhìn vào đối tượng quan trọng nhất: dữ liệu.</a:t>
            </a:r>
          </a:p>
          <a:p/>
          <a:p>
            <a:r>
              <a:t>Dữ liệu trên Cloud không đứng yên ở một chỗ. Nó có thể bắt đầu từ người dùng, đi qua mạng, được lưu trữ trên Cloud, sau đó được đưa vào hệ thống để xử lý và cuối cùng trả kết quả về cho người dùng.</a:t>
            </a:r>
          </a:p>
          <a:p/>
          <a:p>
            <a:r>
              <a:t>Vì vậy, chúng ta có thể nhìn dữ liệu qua ba trạng thái chính: Data-in-Transit, Data-at-Rest và Data-in-Use.</a:t>
            </a:r>
          </a:p>
          <a:p/>
          <a:p>
            <a:r>
              <a:t>Khi dữ liệu đang truyền, chúng ta quan tâm đến việc nó có bị nghe lén, can thiệp hoặc giả mạo hay không. Khi dữ liệu được lưu trữ, vấn đề chuyển sang quyền truy cập, tính toàn vẹn và khả năng mất dữ liệu. Còn khi dữ liệu đang được xử lý, một vấn đề khó hơn xuất hiện: Cloud cần sử dụng dữ liệu, nhưng để xử lý thì thông thường nó phải nhìn thấy dữ liệu.</a:t>
            </a:r>
          </a:p>
          <a:p/>
          <a:p>
            <a:r>
              <a:t>Trước hết, với Data-in-Transit, một nguyên tắc quan trọng là không nên mặc định rằng mạng riêng thì an toàn. Dữ liệu đi qua Internet hay mạng nội bộ đều cần được bảo vệ bằng các giao thức và thuật toán mã hóa phù hợp, đã được kiểm chứng.</a:t>
            </a:r>
          </a:p>
          <a:p/>
          <a:p>
            <a:r>
              <a:t>Ngoài nội dung dữ liệu, chúng ta còn có một lớp thông tin khác thường bị bỏ qua, đó là metadata.</a:t>
            </a:r>
          </a:p>
          <a:p/>
          <a:p>
            <a:r>
              <a:t>Metadata có thể cho chúng ta biết ai truy cập dữ liệu, thời điểm truy cập, tần suất truy cập hoặc dữ liệu đang nằm ở đâu. Vì vậy, ngay cả khi nội dung đã được bảo vệ, metadata vẫn có thể tiết lộ những thông tin có giá trị.</a:t>
            </a:r>
          </a:p>
          <a:p/>
          <a:p>
            <a:r>
              <a:t>Khi đưa dữ liệu lên Cloud, chúng ta cần đặt ra bốn câu hỏi: Dữ liệu có còn toàn vẹn không? Quyền riêng tư được bảo vệ thế nào? Dữ liệu đang nằm ở đâu? Và khi cần, chúng ta có thể truy cập nó hay không?</a:t>
            </a:r>
          </a:p>
          <a:p/>
          <a:p>
            <a:r>
              <a:t>Tuy nhiên, ở đây xuất hiện một bài toán thú vị hơn.</a:t>
            </a:r>
          </a:p>
          <a:p/>
          <a:p>
            <a:r>
              <a:t>Nếu tôi muốn tận dụng khả năng lưu trữ và tính toán rất mạnh của Cloud, nhưng lại không muốn Cloud nhìn thấy dữ liệu gốc của mình, thì tôi phải làm thế nào?</a:t>
            </a:r>
          </a:p>
          <a:p/>
          <a:p>
            <a:r>
              <a:t>Đây chính là điểm mà các cơ chế mã hóa truyền thống bắt đầu gặp giới hạn, và cũng là lý do chúng ta cần đến các kỹ thuật mật mã nâng cao cho Cloud.</a:t>
            </a:r>
          </a:p>
          <a:p/>
          <a:p>
            <a:r>
              <a:t>Đó sẽ là nội dung của phần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“Từ Slide 4, chúng ta đã thấy một vấn đề quan trọng: nếu dữ liệu được mã hóa, thì việc bảo vệ dữ liệu trở nên tốt hơn, nhưng chúng ta cũng gặp một bài toán mới — Cloud phải làm gì với dữ liệu mà nó không được nhìn thấy?</a:t>
            </a:r>
          </a:p>
          <a:p/>
          <a:p>
            <a:r>
              <a:t>Với mã hóa truyền thống, quy trình thường là: dữ liệu được mã hóa để lưu trữ hoặc truyền đi, nhưng khi cần xử lý thì dữ liệu phải được đưa về dạng mà hệ thống có thể sử dụng.</a:t>
            </a:r>
          </a:p>
          <a:p/>
          <a:p>
            <a:r>
              <a:t>Vì vậy, câu hỏi đặt ra là:</a:t>
            </a:r>
          </a:p>
          <a:p/>
          <a:p>
            <a:r>
              <a:t>Liệu chúng ta có thể sử dụng khả năng của Cloud mà vẫn hạn chế việc Cloud nhìn thấy dữ liệu gốc hay không?</a:t>
            </a:r>
          </a:p>
          <a:p/>
          <a:p>
            <a:r>
              <a:t>Đây chính là động lực cho các kỹ thuật mật mã nâng cao.</a:t>
            </a:r>
          </a:p>
          <a:p/>
          <a:p>
            <a:r>
              <a:t>Trong bài này, chúng ta tập trung vào ba kỹ thuật, và điều quan trọng là mỗi kỹ thuật giải quyết một bài toán khác nhau.</a:t>
            </a:r>
          </a:p>
          <a:p/>
          <a:p>
            <a:r>
              <a:t>Thứ nhất là ABE — Attribute-Based Encryption.</a:t>
            </a:r>
          </a:p>
          <a:p/>
          <a:p>
            <a:r>
              <a:t>ABE tập trung vào câu hỏi: Ai được phép truy cập dữ liệu?</a:t>
            </a:r>
          </a:p>
          <a:p/>
          <a:p>
            <a:r>
              <a:t>Thay vì chỉ nói rằng một người dùng cụ thể được phép đọc dữ liệu, chúng ta có thể xây dựng chính sách dựa trên các thuộc tính. Ví dụ, người dùng cần đồng thời có các thuộc tính như Doctor, Cardiology và Hospital A mới có thể truy cập một loại hồ sơ nhất định.</a:t>
            </a:r>
          </a:p>
          <a:p/>
          <a:p>
            <a:r>
              <a:t>ABE có hai mô hình nổi bật là CP-ABE và KP-ABE. Chúng khác nhau chủ yếu ở vị trí đặt chính sách truy cập: CP-ABE đặt chính sách trên ciphertext, còn KP-ABE đặt chính sách trong khóa của người dùng.</a:t>
            </a:r>
          </a:p>
          <a:p/>
          <a:p>
            <a:r>
              <a:t>Thứ hai là FHE — Fully Homomorphic Encryption.</a:t>
            </a:r>
          </a:p>
          <a:p/>
          <a:p>
            <a:r>
              <a:t>FHE giải quyết một câu hỏi khác:</a:t>
            </a:r>
          </a:p>
          <a:p/>
          <a:p>
            <a:r>
              <a:t>Cloud có thể tính toán trên dữ liệu mà không cần biết dữ liệu gốc hay không?</a:t>
            </a:r>
          </a:p>
          <a:p/>
          <a:p>
            <a:r>
              <a:t>Với FHE, dữ liệu được mã hóa trước khi gửi lên Cloud. Cloud có thể thực hiện các phép toán trực tiếp trên ciphertext và trả về kết quả cũng ở dạng mã hóa. Người sở hữu khóa mới có thể giải mã kết quả.</a:t>
            </a:r>
          </a:p>
          <a:p/>
          <a:p>
            <a:r>
              <a:t>Đây là lý do FHE đặc biệt đáng chú ý trong những bài toán như phân tích dữ liệu y tế, nơi dữ liệu vừa cần được xử lý vừa có yêu cầu cao về quyền riêng tư.</a:t>
            </a:r>
          </a:p>
          <a:p/>
          <a:p>
            <a:r>
              <a:t>Cuối cùng là Searchable Encryption, hay SE.</a:t>
            </a:r>
          </a:p>
          <a:p/>
          <a:p>
            <a:r>
              <a:t>SE giải quyết bài toán tìm kiếm. Nếu chúng ta có hàng nghìn tài liệu đã được mã hóa, làm thế nào để tìm được tài liệu chứa một từ khóa mà không phải giải mã toàn bộ kho dữ liệu?</a:t>
            </a:r>
          </a:p>
          <a:p/>
          <a:p>
            <a:r>
              <a:t>Searchable Encryption cung cấp các cơ chế để thực hiện truy vấn trên dữ liệu mã hóa, tùy thuộc vào lược đồ mà vẫn kiểm soát lượng thông tin bị tiết lộ.</a:t>
            </a:r>
          </a:p>
          <a:p/>
          <a:p>
            <a:r>
              <a:t>Vì vậy, chúng ta có thể ghi nhớ ba kỹ thuật này bằng ba từ:</a:t>
            </a:r>
          </a:p>
          <a:p/>
          <a:p>
            <a:r>
              <a:t>ABE — Access. Ai được truy cập?</a:t>
            </a:r>
          </a:p>
          <a:p/>
          <a:p>
            <a:r>
              <a:t>FHE — Compute. Có thể tính toán trên dữ liệu mã hóa không?</a:t>
            </a:r>
          </a:p>
          <a:p/>
          <a:p>
            <a:r>
              <a:t>SE — Search. Có thể tìm kiếm dữ liệu mã hóa không?</a:t>
            </a:r>
          </a:p>
          <a:p/>
          <a:p>
            <a:r>
              <a:t>Đây chính là ba hướng mà chúng ta sẽ lần lượt đi sâu trong các slide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Slide 5, chúng ta đã nhìn thấy ABE như một trong ba kỹ thuật mật mã nâng cao, với nhiệm vụ chính là giải quyết bài toán Access — ai được phép truy cập dữ liệu.</a:t>
            </a:r>
          </a:p>
          <a:p/>
          <a:p>
            <a:r>
              <a:t>Bây giờ chúng ta đi sâu hơn một bước: ABE thực sự làm điều đó như thế nào?</a:t>
            </a:r>
          </a:p>
          <a:p/>
          <a:p>
            <a:r>
              <a:t>Điểm quan trọng của ABE là quyền truy cập không nhất thiết phải gắn với một cá nhân cụ thể. Thay vào đó, hệ thống sử dụng các thuộc tính để xây dựng chính sách.</a:t>
            </a:r>
          </a:p>
          <a:p/>
          <a:p>
            <a:r>
              <a:t>Ví dụ, chúng ta có một hồ sơ bệnh án và quy định rằng người muốn truy cập phải có ba thuộc tính: Doctor, Cardiology và Hospital A.</a:t>
            </a:r>
          </a:p>
          <a:p/>
          <a:p>
            <a:r>
              <a:t>Như vậy, hệ thống không chỉ hỏi 'Bạn là ai?', mà hỏi thêm: Bạn có những thuộc tính nào, và những thuộc tính đó có thỏa mãn chính sách truy cập hay không?</a:t>
            </a:r>
          </a:p>
          <a:p/>
          <a:p>
            <a:r>
              <a:t>Đây chính là nguyên tắc cốt lõi của ABE:</a:t>
            </a:r>
          </a:p>
          <a:p/>
          <a:p>
            <a:r>
              <a:t>Nếu tập thuộc tính của người dùng thỏa mãn Access Policy thì quá trình giải mã có thể thành công. Nếu không thỏa mãn thì không thể giải mã.</a:t>
            </a:r>
          </a:p>
          <a:p/>
          <a:p>
            <a:r>
              <a:t>Từ đây, ABE được chia thành hai mô hình rất quan trọng: CP-ABE và KP-ABE.</a:t>
            </a:r>
          </a:p>
          <a:p/>
          <a:p>
            <a:r>
              <a:t>Với CP-ABE — Ciphertext-Policy ABE, chính sách truy cập nằm trên bản mã. Người mã hóa dữ liệu quyết định chính sách.</a:t>
            </a:r>
          </a:p>
          <a:p/>
          <a:p>
            <a:r>
              <a:t>Ví dụ, khi tôi đưa một hồ sơ bệnh án lên Cloud, tôi có thể đặt chính sách rằng:</a:t>
            </a:r>
          </a:p>
          <a:p/>
          <a:p>
            <a:r>
              <a:t>'Chỉ người có thuộc tính Doctor AND Cardiology AND Hospital A mới được giải mã.'</a:t>
            </a:r>
          </a:p>
          <a:p/>
          <a:p>
            <a:r>
              <a:t>Còn khóa của người dùng chỉ chứa các thuộc tính mà người đó được cấp.</a:t>
            </a:r>
          </a:p>
          <a:p/>
          <a:p>
            <a:r>
              <a:t>Vì vậy, có thể nhớ CP-ABE bằng câu:</a:t>
            </a:r>
          </a:p>
          <a:p/>
          <a:p>
            <a:r>
              <a:t>'Dữ liệu này cho ai?'</a:t>
            </a:r>
          </a:p>
          <a:p/>
          <a:p>
            <a:r>
              <a:t>Ngược lại, với KP-ABE — Key-Policy ABE, chính sách truy cập nằm trong khóa của người dùng. Bản mã chỉ mang các thuộc tính mô tả loại dữ liệu.</a:t>
            </a:r>
          </a:p>
          <a:p/>
          <a:p>
            <a:r>
              <a:t>Khi đó, cơ quan cấp khóa quyết định một người dùng có thể truy cập những loại dữ liệu nào thông qua chính sách được nhúng trong khóa của họ.</a:t>
            </a:r>
          </a:p>
          <a:p/>
          <a:p>
            <a:r>
              <a:t>Vì vậy, KP-ABE có thể ghi nhớ bằng câu:</a:t>
            </a:r>
          </a:p>
          <a:p/>
          <a:p>
            <a:r>
              <a:t>'Người này được xem loại dữ liệu nào?'</a:t>
            </a:r>
          </a:p>
          <a:p/>
          <a:p>
            <a:r>
              <a:t>Đây là khác biệt quan trọng nhất giữa hai mô hình:</a:t>
            </a:r>
          </a:p>
          <a:p/>
          <a:p>
            <a:r>
              <a:t>CP-ABE: Policy nằm ở Ciphertext.</a:t>
            </a:r>
          </a:p>
          <a:p/>
          <a:p>
            <a:r>
              <a:t>KP-ABE: Policy nằm ở Key.</a:t>
            </a:r>
          </a:p>
          <a:p/>
          <a:p>
            <a:r>
              <a:t>Về mặt quy trình, chúng ta có thể hình dung ABE qua bốn bước.</a:t>
            </a:r>
          </a:p>
          <a:p/>
          <a:p>
            <a:r>
              <a:t>Đầu tiên là Setup, hệ thống tạo các tham số cần thiết.</a:t>
            </a:r>
          </a:p>
          <a:p/>
          <a:p>
            <a:r>
              <a:t>Tiếp theo là Key Generation, người dùng được cấp Secret Key tương ứng với thuộc tính hoặc chính sách của họ.</a:t>
            </a:r>
          </a:p>
          <a:p/>
          <a:p>
            <a:r>
              <a:t>Sau đó là Encryption, dữ liệu được mã hóa và gắn với Policy hoặc Attributes tùy vào mô hình.</a:t>
            </a:r>
          </a:p>
          <a:p/>
          <a:p>
            <a:r>
              <a:t>Cuối cùng là Decryption. Hệ thống kiểm tra xem thông tin trong khóa có thỏa mãn chính sách hay không. Nếu có, người dùng giải mã được; nếu không, bản mã vẫn được bảo vệ.</a:t>
            </a:r>
          </a:p>
          <a:p/>
          <a:p>
            <a:r>
              <a:t>Như vậy, điều quan trọng nhất cần nhớ ở slide này là:</a:t>
            </a:r>
          </a:p>
          <a:p/>
          <a:p>
            <a:r>
              <a:t>ABE biến bài toán kiểm soát truy cập thành bài toán thuộc tính và chính sách.</a:t>
            </a:r>
          </a:p>
          <a:p/>
          <a:p>
            <a:r>
              <a:t>Nhưng đến đây chúng ta mới đang nói về mô hình ABE cơ bản. Một câu hỏi khó hơn sẽ xuất hiện:</a:t>
            </a:r>
          </a:p>
          <a:p/>
          <a:p>
            <a:r>
              <a:t>Nếu hệ thống có nhiều cơ quan cấp khóa, nhiều người dùng và nhiều miền quản trị khác nhau thì chúng ta tổ chức ABE như thế nào? Và làm sao chứng minh rằng hệ thống thực sự an toàn trước một đối thủ?</a:t>
            </a:r>
          </a:p>
          <a:p/>
          <a:p>
            <a:r>
              <a:t>Đó chính là nội dung của phần tiếp theo: KP-ABE phi tập trung và Security Game.”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Slide 6, chúng ta đã thấy KP-ABE có một đặc điểm quan trọng: chính sách truy cập nằm trong khóa của người dùng.</a:t>
            </a:r>
          </a:p>
          <a:p/>
          <a:p>
            <a:r>
              <a:t>Nhưng nếu triển khai trong một hệ thống Cloud lớn thì sẽ xuất hiện một vấn đề mới:</a:t>
            </a:r>
          </a:p>
          <a:p/>
          <a:p>
            <a:r>
              <a:t>Chúng ta có nhất thiết phải có một cơ quan duy nhất quản lý tất cả thuộc tính của tất cả người dùng hay không?</a:t>
            </a:r>
          </a:p>
          <a:p/>
          <a:p>
            <a:r>
              <a:t>Ví dụ, một hệ thống có thể có một cơ quan quản lý thuộc tính về chức vụ, một cơ quan quản lý thuộc tính về bệnh viện, và một cơ quan khác quản lý thuộc tính về chuyên môn.</a:t>
            </a:r>
          </a:p>
          <a:p/>
          <a:p>
            <a:r>
              <a:t>Đây là lúc chúng ta cần đến KP-ABE phi tập trung — Decentralized KP-ABE.</a:t>
            </a:r>
          </a:p>
          <a:p/>
          <a:p>
            <a:r>
              <a:t>Điểm quan trọng ở đây là hệ thống có thể có nhiều Attribute Authority, và mỗi Authority chỉ quản lý những thuộc tính thuộc phạm vi của mình. Người dùng có thể nhận các thành phần khóa từ nhiều Authority khác nhau.</a:t>
            </a:r>
          </a:p>
          <a:p/>
          <a:p>
            <a:r>
              <a:t>Toàn bộ quá trình có thể được hình dung qua 5 bước.</a:t>
            </a:r>
          </a:p>
          <a:p/>
          <a:p>
            <a:r>
              <a:t>Đầu tiên là Global Setup, hệ thống tạo các tham số chung.</a:t>
            </a:r>
          </a:p>
          <a:p/>
          <a:p>
            <a:r>
              <a:t>Tiếp theo là Authority Setup, mỗi Authority thiết lập các khóa cần thiết cho những thuộc tính mà mình quản lý.</a:t>
            </a:r>
          </a:p>
          <a:p/>
          <a:p>
            <a:r>
              <a:t>Sau đó là Key Issuing, người dùng tương tác với các Authority để nhận các thành phần khóa tương ứng.</a:t>
            </a:r>
          </a:p>
          <a:p/>
          <a:p>
            <a:r>
              <a:t>Bước thứ tư là Encryption. Dữ liệu được mã hóa cùng các thuộc tính mô tả loại dữ liệu đó.</a:t>
            </a:r>
          </a:p>
          <a:p/>
          <a:p>
            <a:r>
              <a:t>Cuối cùng là Decryption. Người dùng kết hợp các thành phần khóa của mình và chỉ có thể giải mã nếu các thuộc tính mà họ sở hữu thỏa mãn chính sách truy cập.</a:t>
            </a:r>
          </a:p>
          <a:p/>
          <a:p>
            <a:r>
              <a:t>Như vậy, điểm quan trọng nhất của mô hình phi tập trung là:</a:t>
            </a:r>
          </a:p>
          <a:p/>
          <a:p>
            <a:r>
              <a:t>Chúng ta không còn phụ thuộc vào một Authority duy nhất để quản lý toàn bộ hệ thống.</a:t>
            </a:r>
          </a:p>
          <a:p/>
          <a:p>
            <a:r>
              <a:t>Nhưng đến đây lại xuất hiện một câu hỏi khác:</a:t>
            </a:r>
          </a:p>
          <a:p/>
          <a:p>
            <a:r>
              <a:t>Làm thế nào chúng ta biết được một lược đồ mật mã như vậy thực sự an toàn?</a:t>
            </a:r>
          </a:p>
          <a:p/>
          <a:p>
            <a:r>
              <a:t>Trong mật mã học, người ta không chỉ nói rằng một thuật toán 'có vẻ an toàn'. Độ an toàn thường được mô hình hóa bằng một Security Game.</a:t>
            </a:r>
          </a:p>
          <a:p/>
          <a:p>
            <a:r>
              <a:t>Hãy hình dung đây là một cuộc chơi giữa hai bên: Adversary, đại diện cho đối thủ, và Challenger, đại diện cho hệ thống.</a:t>
            </a:r>
          </a:p>
          <a:p/>
          <a:p>
            <a:r>
              <a:t>Đầu tiên, Adversary được phép thực hiện các truy vấn khóa theo những điều kiện mà mô hình cho phép.</a:t>
            </a:r>
          </a:p>
          <a:p/>
          <a:p>
            <a:r>
              <a:t>Sau đó đến bước Challenge. Adversary đưa ra hai bản rõ \(m_0\) và \(m_1\). Challenger chọn ngẫu nhiên một trong hai bản rõ, mã hóa nó và gửi bản mã cho Adversary.</a:t>
            </a:r>
          </a:p>
          <a:p/>
          <a:p>
            <a:r>
              <a:t>Sau khi nhận bản mã, Adversary vẫn có thể thực hiện thêm các truy vấn hợp lệ. Cuối cùng, Adversary phải đoán xem bản mã đó được tạo từ \(m_0\) hay \(m_1\).</a:t>
            </a:r>
          </a:p>
          <a:p/>
          <a:p>
            <a:r>
              <a:t>Nếu chỉ đoán ngẫu nhiên thì xác suất đúng là:</a:t>
            </a:r>
          </a:p>
          <a:p/>
          <a:p>
            <a:r>
              <a:t>$$</a:t>
            </a:r>
          </a:p>
          <a:p>
            <a:r>
              <a:t>\frac{1}{2}</a:t>
            </a:r>
          </a:p>
          <a:p>
            <a:r>
              <a:t>$$</a:t>
            </a:r>
          </a:p>
          <a:p/>
          <a:p>
            <a:r>
              <a:t>Vì vậy, mục tiêu của một lược đồ an toàn là làm cho Adversary không thể đạt được một lợi thế đáng kể so với xác suất đoán ngẫu nhiên, trong những giới hạn mà mô hình bảo mật đặt ra.</a:t>
            </a:r>
          </a:p>
          <a:p/>
          <a:p>
            <a:r>
              <a:t>Đây chính là ý tưởng đằng sau Selective-ID Security mà chúng ta đang xét.</a:t>
            </a:r>
          </a:p>
          <a:p/>
          <a:p>
            <a:r>
              <a:t>Như vậy, ở phần ABE, chúng ta đã đi từ một câu hỏi rất thực tế là 'Ai được phép truy cập dữ liệu?', đến một mô hình mật mã có thể quản lý nhiều Authority và có cơ chế hình thức để phân tích độ an toàn.</a:t>
            </a:r>
          </a:p>
          <a:p/>
          <a:p>
            <a:r>
              <a:t>Nhưng ABE mới giải quyết bài toán kiểm soát quyền truy cập.</a:t>
            </a:r>
          </a:p>
          <a:p/>
          <a:p>
            <a:r>
              <a:t>Vậy nếu chúng ta muốn Cloud thực sự xử lý dữ liệu trong khi dữ liệu vẫn ở dạng mã hóa, thì sao?</a:t>
            </a:r>
          </a:p>
          <a:p/>
          <a:p>
            <a:r>
              <a:t>Đó là một bài toán hoàn toàn khác, và nó dẫn chúng ta đến kỹ thuật tiếp theo:</a:t>
            </a:r>
          </a:p>
          <a:p/>
          <a:p>
            <a:r>
              <a:t>Fully Homomorphic Encryption — FHE.”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Slide 6 và Slide 7, chúng ta đã giải quyết bài toán kiểm soát truy cập bằng ABE: ai được phép đọc dữ liệu và hệ thống có thể quản lý quyền đó như thế nào.</a:t>
            </a:r>
          </a:p>
          <a:p/>
          <a:p>
            <a:r>
              <a:t>Nhưng bây giờ chúng ta chuyển sang một bài toán khác.</a:t>
            </a:r>
          </a:p>
          <a:p/>
          <a:p>
            <a:r>
              <a:t>Nếu Cloud được phép xử lý dữ liệu của chúng ta, liệu chúng ta có thể giữ dữ liệu đó ở trạng thái mã hóa trong suốt quá trình xử lý hay không?</a:t>
            </a:r>
          </a:p>
          <a:p/>
          <a:p>
            <a:r>
              <a:t>Đây chính là vấn đề mà Fully Homomorphic Encryption — FHE hướng tới.</a:t>
            </a:r>
          </a:p>
          <a:p/>
          <a:p>
            <a:r>
              <a:t>Với mã hóa thông thường, chúng ta thường có một quy trình là: dữ liệu được mã hóa để bảo vệ, nhưng khi cần tính toán thì dữ liệu phải được giải mã. Chính thời điểm đó, dữ liệu gốc có thể xuất hiện trên môi trường Cloud.</a:t>
            </a:r>
          </a:p>
          <a:p/>
          <a:p>
            <a:r>
              <a:t>FHE thay đổi cách tiếp cận này.</a:t>
            </a:r>
          </a:p>
          <a:p/>
          <a:p>
            <a:r>
              <a:t>Dữ liệu được mã hóa trước khi gửi lên Cloud. Sau đó, Cloud thực hiện phép tính trực tiếp trên ciphertext. Cuối cùng, người sở hữu khóa mới giải mã kết quả.</a:t>
            </a:r>
          </a:p>
          <a:p/>
          <a:p>
            <a:r>
              <a:t>Có thể hiểu đơn giản:</a:t>
            </a:r>
          </a:p>
          <a:p/>
          <a:p>
            <a:r>
              <a:t>Cloud nhìn thấy bản mã, thực hiện phép tính trên bản mã, nhưng không cần biết bản rõ ban đầu.</a:t>
            </a:r>
          </a:p>
          <a:p/>
          <a:p>
            <a:r>
              <a:t>Về mặt toán học, ý tưởng có thể biểu diễn đơn giản bằng công thức:</a:t>
            </a:r>
          </a:p>
          <a:p/>
          <a:p>
            <a:r>
              <a:t>$$</a:t>
            </a:r>
          </a:p>
          <a:p>
            <a:r>
              <a:t>Dec(Eval(E(m),f)) = f(m)</a:t>
            </a:r>
          </a:p>
          <a:p>
            <a:r>
              <a:t>$$</a:t>
            </a:r>
          </a:p>
          <a:p/>
          <a:p>
            <a:r>
              <a:t>Nghĩa là nếu chúng ta mã hóa dữ liệu \(m\), sau đó để Cloud thực hiện hàm \(f\) trên bản mã, khi giải mã kết quả chúng ta thu được chính kết quả của việc áp dụng \(f\) lên dữ liệu gốc.</a:t>
            </a:r>
          </a:p>
          <a:p/>
          <a:p>
            <a:r>
              <a:t>Trong kiến trúc mà chúng ta đang xét, có ba thành phần chính.</a:t>
            </a:r>
          </a:p>
          <a:p/>
          <a:p>
            <a:r>
              <a:t>Thứ nhất là User — chủ sở hữu dữ liệu. User chịu trách nhiệm mã hóa dữ liệu ban đầu và cuối cùng giải mã kết quả.</a:t>
            </a:r>
          </a:p>
          <a:p/>
          <a:p>
            <a:r>
              <a:t>Thứ hai là HC Node, tức nút tính toán đồng cấu. Đây là nơi Cloud thực hiện các phép toán như cộng, nhân và các phép toán được hỗ trợ trên ciphertext.</a:t>
            </a:r>
          </a:p>
          <a:p/>
          <a:p>
            <a:r>
              <a:t>Thứ ba là Bootstrapping Node. Thành phần này có nhiệm vụ xử lý một vấn đề kỹ thuật rất quan trọng của FHE: Noise.</a:t>
            </a:r>
          </a:p>
          <a:p/>
          <a:p>
            <a:r>
              <a:t>Mỗi phép toán trên ciphertext đều làm nhiễu trong bản mã tăng lên. Nếu thực hiện càng nhiều phép toán, noise càng tích tụ. Khi vượt quá một ngưỡng nhất định, bản mã có thể không còn giải mã chính xác được nữa.</a:t>
            </a:r>
          </a:p>
          <a:p/>
          <a:p>
            <a:r>
              <a:t>Vì vậy chúng ta cần đến Bootstrapping.</a:t>
            </a:r>
          </a:p>
          <a:p/>
          <a:p>
            <a:r>
              <a:t>Có thể hình dung Bootstrapping giống như việc 'làm mới' một bản mã đã tích tụ quá nhiều nhiễu. Sau khi được làm mới, ciphertext có thể tiếp tục được đưa trở lại HC Node để thực hiện các phép tính tiếp theo.</a:t>
            </a:r>
          </a:p>
          <a:p/>
          <a:p>
            <a:r>
              <a:t>Trong kiến trúc cụ thể mà chúng ta đang trình bày, Bootstrapping Node được đặt trong Secure Enclave. Enclave tạo ra một môi trường thực thi được bảo vệ cho thành phần này.</a:t>
            </a:r>
          </a:p>
          <a:p/>
          <a:p>
            <a:r>
              <a:t>Ngoài ra, kiến trúc có thể sử dụng Remote Attestation để User xác minh trạng thái hoặc cấu hình của môi trường trước khi thiết lập kênh an toàn.</a:t>
            </a:r>
          </a:p>
          <a:p/>
          <a:p>
            <a:r>
              <a:t>Tuy nhiên, có một điểm cần phân biệt: FHE không đồng nghĩa với Secure Enclave. FHE là cơ chế mật mã cho phép tính toán trên ciphertext; Secure Enclave và Remote Attestation là những cơ chế bảo vệ bổ sung trong kiến trúc triển khai cụ thể này.</a:t>
            </a:r>
          </a:p>
          <a:p/>
          <a:p>
            <a:r>
              <a:t>Toàn bộ luồng có thể tóm tắt như sau:</a:t>
            </a:r>
          </a:p>
          <a:p/>
          <a:p>
            <a:r>
              <a:t>User mã hóa dữ liệu → HC Node tính toán trên ciphertext → Bootstrapping khi noise tăng cao → HC Node tiếp tục tính toán → User giải mã kết quả.</a:t>
            </a:r>
          </a:p>
          <a:p/>
          <a:p>
            <a:r>
              <a:t>Đây chính là điểm khác biệt lớn mà FHE mang lại: Cloud có thể cung cấp năng lực tính toán mà không nhất thiết phải được nhìn thấy dữ liệu gốc.</a:t>
            </a:r>
          </a:p>
          <a:p/>
          <a:p>
            <a:r>
              <a:t>Nhưng FHE giải quyết bài toán tính toán. Còn một nhu cầu rất phổ biến khác là:</a:t>
            </a:r>
          </a:p>
          <a:p/>
          <a:p>
            <a:r>
              <a:t>Nếu hàng nghìn tài liệu đều đã được mã hóa, làm thế nào để Cloud tìm được tài liệu chứa một từ khóa mà không cần giải mã toàn bộ kho dữ liệu?</a:t>
            </a:r>
          </a:p>
          <a:p/>
          <a:p>
            <a:r>
              <a:t>Đó chính là bài toán tiếp theo, và chúng ta sẽ chuyển sang Searchable Encryption — 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Slide 8, chúng ta đã nhìn FHE từ góc độ kỹ thuật: ciphertext, homomorphic computation, noise và bootstrapping.</a:t>
            </a:r>
          </a:p>
          <a:p/>
          <a:p>
            <a:r>
              <a:t>Bây giờ chúng ta tạm rời phần kỹ thuật để trả lời một câu hỏi đơn giản hơn:</a:t>
            </a:r>
          </a:p>
          <a:p/>
          <a:p>
            <a:r>
              <a:t>FHE thực sự giúp ích gì khi doanh nghiệp sử dụng Cloud?</a:t>
            </a:r>
          </a:p>
          <a:p/>
          <a:p>
            <a:r>
              <a:t>Hãy tưởng tượng Doanh nghiệp B có một tập dữ liệu nhạy cảm gồm hai giá trị là 5 và 10. Doanh nghiệp muốn thuê Cloud thực hiện phép tính tổng nhưng không muốn gửi dữ liệu dưới dạng rõ.</a:t>
            </a:r>
          </a:p>
          <a:p/>
          <a:p>
            <a:r>
              <a:t>Trước tiên, doanh nghiệp mã hóa hai giá trị đó. Cloud chỉ nhận được hai ciphertext.</a:t>
            </a:r>
          </a:p>
          <a:p/>
          <a:p>
            <a:r>
              <a:t>Sau đó, doanh nghiệp yêu cầu Cloud thực hiện phép cộng.</a:t>
            </a:r>
          </a:p>
          <a:p/>
          <a:p>
            <a:r>
              <a:t>Điểm đặc biệt ở đây là Cloud không cần giải mã hai ciphertext. Nó thực hiện phép toán đồng cấu trực tiếp trên chúng và tạo ra một ciphertext mới tương ứng với kết quả.</a:t>
            </a:r>
          </a:p>
          <a:p/>
          <a:p>
            <a:r>
              <a:t>Khi nhận kết quả, chỉ doanh nghiệp sở hữu khóa giải mã mới có thể lấy ra giá trị cuối cùng là 15.</a:t>
            </a:r>
          </a:p>
          <a:p/>
          <a:p>
            <a:r>
              <a:t>Vì vậy, chúng ta có một sự thay đổi rất quan trọng trong mô hình thuê ngoài:</a:t>
            </a:r>
          </a:p>
          <a:p/>
          <a:p>
            <a:r>
              <a:t>Cloud có quyền thực hiện phép tính, nhưng không nhất thiết có quyền nhìn thấy dữ liệu.</a:t>
            </a:r>
          </a:p>
          <a:p/>
          <a:p>
            <a:r>
              <a:t>Đây chính là ý nghĩa lớn nhất của FHE.</a:t>
            </a:r>
          </a:p>
          <a:p/>
          <a:p>
            <a:r>
              <a:t>Có một điểm mình muốn làm rõ để tránh hiểu nhầm: ví dụ 5 và 10 ở đây chỉ nhằm minh họa tính chất đồng cấu. Trong một hệ FHE thực tế, ciphertext không đơn giản là 'nhân đôi số 5 thành 10 rồi chia 2 để giải mã'. Quy trình mã hóa, tính toán và giải mã được thực hiện bằng một lược đồ mật mã với khóa và các phép toán tương ứng.</a:t>
            </a:r>
          </a:p>
          <a:p/>
          <a:p>
            <a:r>
              <a:t>Bây giờ chúng ta thử đưa ý tưởng này vào một lĩnh vực nhạy cảm hơn: y tế.</a:t>
            </a:r>
          </a:p>
          <a:p/>
          <a:p>
            <a:r>
              <a:t>Bệnh viện có một lượng lớn dữ liệu bệnh nhân và muốn sử dụng năng lực tính toán của Cloud để thực hiện các phân tích, chẳng hạn như phân tích thống kê hoặc các mô hình dự báo.</a:t>
            </a:r>
          </a:p>
          <a:p/>
          <a:p>
            <a:r>
              <a:t>Nhưng dữ liệu y tế chứa rất nhiều thông tin nhạy cảm. Nếu bệnh viện gửi dữ liệu dạng rõ cho Cloud, chúng ta lại quay về đúng vấn đề mà FHE muốn giải quyết.</a:t>
            </a:r>
          </a:p>
          <a:p/>
          <a:p>
            <a:r>
              <a:t>Với FHE, dữ liệu có thể được mã hóa trước khi gửi lên môi trường tính toán. Cloud thực hiện các phép toán trên ciphertext và trả về kết quả đã mã hóa. Bệnh viện sau đó sử dụng khóa của mình để giải mã kết quả.</a:t>
            </a:r>
          </a:p>
          <a:p/>
          <a:p>
            <a:r>
              <a:t>Như vậy, FHE tạo ra một mô hình rất thú vị:</a:t>
            </a:r>
          </a:p>
          <a:p/>
          <a:p>
            <a:r>
              <a:t>Cloud cung cấp năng lực tính toán, nhưng quyền giải mã vẫn nằm ở chủ sở hữu dữ liệu.</a:t>
            </a:r>
          </a:p>
          <a:p/>
          <a:p>
            <a:r>
              <a:t>Đây cũng là lý do FHE được nghiên cứu cho các bài toán xử lý dữ liệu nhạy cảm, trong đó có dữ liệu y tế.</a:t>
            </a:r>
          </a:p>
          <a:p/>
          <a:p>
            <a:r>
              <a:t>Và đến đây, chúng ta đã giải quyết một nhu cầu rất cụ thể:</a:t>
            </a:r>
          </a:p>
          <a:p/>
          <a:p>
            <a:r>
              <a:t>Muốn tính toán trên dữ liệu mã hóa → dùng FHE.</a:t>
            </a:r>
          </a:p>
          <a:p/>
          <a:p>
            <a:r>
              <a:t>Nhưng Cloud không chỉ được thuê để tính toán. Một thao tác rất phổ biến khác là tìm kiếm.</a:t>
            </a:r>
          </a:p>
          <a:p/>
          <a:p>
            <a:r>
              <a:t>Ví dụ, chúng ta có hàng nghìn email hoặc tài liệu đã được mã hóa. Người dùng muốn tìm tất cả tài liệu chứa từ khóa 'Urgent'.</a:t>
            </a:r>
          </a:p>
          <a:p/>
          <a:p>
            <a:r>
              <a:t>Nếu giải mã toàn bộ dữ liệu trước khi tìm kiếm thì chúng ta lại tạo ra một điểm phơi nhiễm mới.</a:t>
            </a:r>
          </a:p>
          <a:p/>
          <a:p>
            <a:r>
              <a:t>Vậy câu hỏi tiếp theo là:</a:t>
            </a:r>
          </a:p>
          <a:p/>
          <a:p>
            <a:r>
              <a:t>Có thể tìm kiếm trên dữ liệu đã mã hóa mà không cần tiết lộ nội dung hay không?</a:t>
            </a:r>
          </a:p>
          <a:p/>
          <a:p>
            <a:r>
              <a:t>Đây chính là bài toán mà Searchable Encryption — SE giải quyết.</a:t>
            </a:r>
          </a:p>
          <a:p/>
          <a:p>
            <a:r>
              <a:t>Mời thầy cô và các bạn cùng chuyển sang Slide 10: Searchable Encryption — Tìm kiếm trên dữ liệu mã hóa.”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khi đã tìm hiểu ABE để kiểm soát quyền truy cập và FHE để thực hiện tính toán trên dữ liệu mã hóa, chúng ta còn một bài toán rất thực tế:</a:t>
            </a:r>
          </a:p>
          <a:p/>
          <a:p>
            <a:r>
              <a:t>Nếu hàng nghìn, thậm chí hàng triệu tài liệu trên Cloud đều đã được mã hóa, thì làm thế nào để tìm đúng tài liệu mình cần?</a:t>
            </a:r>
          </a:p>
          <a:p/>
          <a:p>
            <a:r>
              <a:t>Nếu giải mã toàn bộ dữ liệu rồi mới tìm kiếm thì vừa tốn thời gian, vừa làm mất đi lợi ích của việc mã hóa. Đây chính là bài toán mà Searchable Encryption — SE, hay mã hóa có thể tìm kiếm, hướng tới giải quyết.</a:t>
            </a:r>
          </a:p>
          <a:p/>
          <a:p>
            <a:r>
              <a:t>Ý tưởng của SE khá trực quan. Thay vì yêu cầu Cloud đọc nội dung tài liệu, hệ thống xây dựng các thông tin tìm kiếm, chẳng hạn như chỉ mục từ khóa. Khi người dùng muốn tìm một từ khóa, họ tạo ra một Trapdoor, có thể hiểu đơn giản là một dạng truy vấn được mã hóa.</a:t>
            </a:r>
          </a:p>
          <a:p/>
          <a:p>
            <a:r>
              <a:t>Cloud nhận Trapdoor và thực hiện đối sánh với các chỉ mục mà không cần đọc nội dung đầy đủ của tài liệu.</a:t>
            </a:r>
          </a:p>
          <a:p/>
          <a:p>
            <a:r>
              <a:t>Có hai hướng triển khai phổ biến. Thứ nhất là Searchable Encryption sử dụng khóa đối xứng, thường tập trung vào hiệu quả tìm kiếm. Thứ hai là PEKS — Public Key Encryption with Keyword Search, cho phép xây dựng cơ chế tìm kiếm từ khóa dựa trên mật mã khóa công khai.</a:t>
            </a:r>
          </a:p>
          <a:p/>
          <a:p>
            <a:r>
              <a:t>Để hình dung rõ hơn, hãy lấy ví dụ về email khẩn cấp.</a:t>
            </a:r>
          </a:p>
          <a:p/>
          <a:p>
            <a:r>
              <a:t>Giả sử Alice đang đi nghỉ và muốn những email có từ khóa ‘Urgent’ được tự động chuyển cho John. Các email được lưu dưới dạng mã hóa nên máy chủ trung gian không thể đọc nội dung. John tạo một Trapdoor cho từ khóa ‘Urgent’ và gửi truy vấn đó cho hệ thống. Cloud thực hiện đối sánh với thông tin tìm kiếm và xác định những email phù hợp để xử lý tiếp theo.</a:t>
            </a:r>
          </a:p>
          <a:p/>
          <a:p>
            <a:r>
              <a:t>Điểm quan trọng ở đây là: Cloud có thể thực hiện chức năng tìm kiếm mà không cần đọc toàn bộ nội dung tài liệu.</a:t>
            </a:r>
          </a:p>
          <a:p/>
          <a:p>
            <a:r>
              <a:t>Từ ví dụ này, chúng ta có thể nhìn lại toàn bộ Phần 3 dưới một góc rất đơn giản:</a:t>
            </a:r>
          </a:p>
          <a:p/>
          <a:p>
            <a:r>
              <a:t>ABE trả lời câu hỏi: Ai được phép truy cập?</a:t>
            </a:r>
          </a:p>
          <a:p/>
          <a:p>
            <a:r>
              <a:t>FHE trả lời câu hỏi: Làm thế nào Cloud có thể tính toán mà không thấy dữ liệu?</a:t>
            </a:r>
          </a:p>
          <a:p/>
          <a:p>
            <a:r>
              <a:t>Và SE trả lời câu hỏi: Làm thế nào Cloud có thể tìm kiếm mà không cần đọc dữ liệu?</a:t>
            </a:r>
          </a:p>
          <a:p/>
          <a:p>
            <a:r>
              <a:t>Như vậy, ba kỹ thuật này bảo vệ dữ liệu ở ba khía cạnh khác nhau: truy cập, tính toán và tìm kiếm.</a:t>
            </a:r>
          </a:p>
          <a:p/>
          <a:p>
            <a:r>
              <a:t>Tuy nhiên, bảo mật Cloud không chỉ dừng lại ở dữ liệu. Ngay cả khi dữ liệu đã được bảo vệ bằng những cơ chế mật mã mạnh, hạ tầng mạng, máy chủ, vùng tin cậy và cấu hình hệ thống vẫn có thể trở thành điểm yếu.</a:t>
            </a:r>
          </a:p>
          <a:p/>
          <a:p>
            <a:r>
              <a:t>Vì vậy, từ đây chúng ta sẽ zoom out một lần nữa — từ bảo vệ dữ liệu sang bảo vệ toàn bộ hạ tầng Cloud.</a:t>
            </a:r>
          </a:p>
          <a:p/>
          <a:p>
            <a:r>
              <a:t>Xin mời thầy cô và các bạn cùng bước sang Phần 4: Bảo vệ hạ tầng và Vùng tin cậy — Trust Zones.”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khi đã tìm hiểu các kỹ thuật mật mã giúp bảo vệ dữ liệu, bây giờ chúng ta sẽ zoom out một lần nữa.</a:t>
            </a:r>
          </a:p>
          <a:p/>
          <a:p>
            <a:r>
              <a:t>Bởi vì bảo mật Cloud không chỉ là bảo vệ bản thân dữ liệu. Chúng ta còn phải bảo vệ hạ tầng đang lưu trữ, truyền tải và xử lý dữ liệu đó.</a:t>
            </a:r>
          </a:p>
          <a:p/>
          <a:p>
            <a:r>
              <a:t>Có thể hình dung các lớp bảo vệ theo thứ tự: Data → Network → Identity &amp; Access → Host và VM.</a:t>
            </a:r>
          </a:p>
          <a:p/>
          <a:p>
            <a:r>
              <a:t>Ở cấp độ mạng, một câu hỏi thường được đặt ra là: Private Cloud có an toàn hơn Public Cloud không?</a:t>
            </a:r>
          </a:p>
          <a:p/>
          <a:p>
            <a:r>
              <a:t>Thay vì xem đây là câu hỏi có một câu trả lời tuyệt đối, chúng ta nên nhìn vào mô hình kiểm soát và bề mặt tấn công.</a:t>
            </a:r>
          </a:p>
          <a:p/>
          <a:p>
            <a:r>
              <a:t>Private Cloud thường cho tổ chức mức độ kiểm soát trực tiếp hơn đối với môi trường mạng. Tuy nhiên, nó vẫn phải đối phó với những vấn đề quen thuộc như cấu hình sai, tài khoản bị xâm phạm hoặc mối đe dọa từ người bên trong.</a:t>
            </a:r>
          </a:p>
          <a:p/>
          <a:p>
            <a:r>
              <a:t>Với Public Cloud, một phần hạ tầng nằm dưới sự vận hành của CSP và tài nguyên có thể được truy cập qua mạng Internet. Vì vậy, các vấn đề như network exposure, misconfiguration, monitoring và availability trở nên đặc biệt quan trọng.</a:t>
            </a:r>
          </a:p>
          <a:p/>
          <a:p>
            <a:r>
              <a:t>Trong số đó, misconfiguration — cấu hình sai là một vấn đề rất đáng chú ý. Chỉ một thiết lập sai về quyền truy cập hoặc cấu hình mạng cũng có thể khiến tài nguyên vốn chỉ dành cho một phạm vi nhỏ trở nên có thể truy cập từ bên ngoài.</a:t>
            </a:r>
          </a:p>
          <a:p/>
          <a:p>
            <a:r>
              <a:t>Nhưng ngay cả khi chúng ta đã cấu hình mạng tốt, vẫn còn một câu hỏi khác:</a:t>
            </a:r>
          </a:p>
          <a:p/>
          <a:p>
            <a:r>
              <a:t>Nếu một tài khoản hoặc một máy ảo đã bị xâm nhập thì chuyện gì xảy ra tiếp theo?</a:t>
            </a:r>
          </a:p>
          <a:p/>
          <a:p>
            <a:r>
              <a:t>Đây là lúc chúng ta cần đến ý tưởng Trust Zones.</a:t>
            </a:r>
          </a:p>
          <a:p/>
          <a:p>
            <a:r>
              <a:t>Thay vì coi toàn bộ hệ thống là một vùng tin cậy duy nhất, chúng ta chia hạ tầng thành nhiều vùng và đặt các ranh giới kiểm soát giữa chúng.</a:t>
            </a:r>
          </a:p>
          <a:p/>
          <a:p>
            <a:r>
              <a:t>Ví dụ, một tài khoản hoặc máy ảo ở Zone A không mặc nhiên được truy cập Zone B. Muốn đi qua ranh giới đó, hệ thống phải kiểm tra quyền truy cập và áp dụng chính sách tương ứng.</a:t>
            </a:r>
          </a:p>
          <a:p/>
          <a:p>
            <a:r>
              <a:t>Mục tiêu rất quan trọng ở đây là hạn chế lateral movement — di chuyển ngang. Nếu một thành phần bị xâm nhập, kẻ tấn công không nên có khả năng dễ dàng di chuyển từ tài nguyên này sang toàn bộ hệ thống.</a:t>
            </a:r>
          </a:p>
          <a:p/>
          <a:p>
            <a:r>
              <a:t>Vì vậy, Trust Zone có thể được hiểu đơn giản là sự kết hợp giữa phân đoạn mạng và kiểm soát truy cập, với tư duy rằng không nên mặc nhiên tin tưởng một thành phần chỉ vì nó đang nằm bên trong mạng.</a:t>
            </a:r>
          </a:p>
          <a:p/>
          <a:p>
            <a:r>
              <a:t>Như vậy, đến đây chúng ta đã đi từ bảo vệ dữ liệu bằng mật mã sang bảo vệ hạ tầng bằng network segmentation và access control.</a:t>
            </a:r>
          </a:p>
          <a:p/>
          <a:p>
            <a:r>
              <a:t>Nhưng vẫn còn một vấn đề: trách nhiệm bảo mật thay đổi như thế nào khi chúng ta chuyển từ IaaS sang PaaS và SaaS? Và ở từng mô hình, khách hàng thực sự phải bảo vệ những gì?</a:t>
            </a:r>
          </a:p>
          <a:p/>
          <a:p>
            <a:r>
              <a:t>Đó sẽ là nội dung chúng ta tìm hiểu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khi đã nhìn vấn đề ở cấp độ mạng và Trust Zone, chúng ta tiếp tục đi vào bên trong kiến trúc Cloud để xem một câu hỏi rất quan trọng:</a:t>
            </a:r>
          </a:p>
          <a:p/>
          <a:p>
            <a:r>
              <a:t>Khi sử dụng IaaS, PaaS hay SaaS, trách nhiệm bảo mật của khách hàng thay đổi như thế nào?</a:t>
            </a:r>
          </a:p>
          <a:p/>
          <a:p>
            <a:r>
              <a:t>Điểm cần nhớ đầu tiên là: Cloud không có nghĩa là CSP chịu trách nhiệm cho mọi thứ. Ranh giới trách nhiệm được phân chia giữa nhà cung cấp và khách hàng, và ranh giới đó thay đổi theo mô hình dịch vụ.</a:t>
            </a:r>
          </a:p>
          <a:p/>
          <a:p>
            <a:r>
              <a:t>Với IaaS, CSP chủ yếu bảo vệ phần hạ tầng bên dưới như trung tâm dữ liệu, phần cứng, mạng và Hypervisor. Khách hàng vẫn phải quản lý hệ điều hành, cấu hình mạng, ứng dụng, dữ liệu và quyền truy cập.</a:t>
            </a:r>
          </a:p>
          <a:p/>
          <a:p>
            <a:r>
              <a:t>Vì vậy, IaaS cho khách hàng mức độ kiểm soát rất lớn, nhưng đi kèm với đó là trách nhiệm bảo mật cũng lớn hơn. Một cấu hình sai trên máy chủ ảo, một dịch vụ không cần thiết được mở, hay một hệ điều hành không được cập nhật đều có thể trở thành điểm yếu.</a:t>
            </a:r>
          </a:p>
          <a:p/>
          <a:p>
            <a:r>
              <a:t>Khi chuyển lên PaaS, CSP tiếp quản thêm nhiều thành phần của nền tảng như hệ điều hành, runtime hoặc middleware. Khách hàng có thể tập trung nhiều hơn vào mã nguồn, dữ liệu và cấu hình ứng dụng.</a:t>
            </a:r>
          </a:p>
          <a:p/>
          <a:p>
            <a:r>
              <a:t>Còn với SaaS, phần lớn hạ tầng và ứng dụng đã được nhà cung cấp quản lý. Tuy nhiên, khách hàng vẫn phải chịu trách nhiệm đối với những thứ thuộc về mình, đặc biệt là người dùng, danh tính, quyền truy cập, dữ liệu và cấu hình dịch vụ.</a:t>
            </a:r>
          </a:p>
          <a:p/>
          <a:p>
            <a:r>
              <a:t>Vì vậy, chúng ta có thể hình dung một quy luật rất đơn giản:</a:t>
            </a:r>
          </a:p>
          <a:p/>
          <a:p>
            <a:r>
              <a:t>Càng đi từ IaaS lên PaaS rồi SaaS, CSP quản lý càng nhiều thành phần hơn; nhưng khách hàng không bao giờ được phép bỏ qua phần trách nhiệm của mình.</a:t>
            </a:r>
          </a:p>
          <a:p/>
          <a:p>
            <a:r>
              <a:t>Điều này dẫn chúng ta đến một thay đổi rất quan trọng trong tư duy bảo mật.</a:t>
            </a:r>
          </a:p>
          <a:p/>
          <a:p>
            <a:r>
              <a:t>Trong mô hình mạng truyền thống, chúng ta thường đặt câu hỏi: ‘Người dùng đang ở đâu?’ Chúng ta dựa nhiều vào IP, firewall và vành đai mạng để quyết định quyền truy cập.</a:t>
            </a:r>
          </a:p>
          <a:p/>
          <a:p>
            <a:r>
              <a:t>Nhưng trong Cloud, người dùng và dịch vụ có thể truy cập tài nguyên từ rất nhiều vị trí khác nhau. Vì vậy, câu hỏi ngày càng chuyển thành:</a:t>
            </a:r>
          </a:p>
          <a:p/>
          <a:p>
            <a:r>
              <a:t>‘Người này là ai, đang yêu cầu quyền gì và có được phép thực hiện hành động đó hay không?’</a:t>
            </a:r>
          </a:p>
          <a:p/>
          <a:p>
            <a:r>
              <a:t>Đây chính là lý do Identity và IAM — Identity and Access Management trở thành một lớp bảo mật rất quan trọng.</a:t>
            </a:r>
          </a:p>
          <a:p/>
          <a:p>
            <a:r>
              <a:t>Đồng thời, quyền truy cập cũng cần đủ fine-grained, tức là đủ chi tiết. Chúng ta không chỉ hỏi ‘người dùng này có quyền truy cập hay không’, mà phải hỏi: họ có quyền gì, trên tài nguyên nào, trong điều kiện nào và trong bao lâu?</a:t>
            </a:r>
          </a:p>
          <a:p/>
          <a:p>
            <a:r>
              <a:t>Điều này đặc biệt quan trọng với SaaS. Một ứng dụng có thể cung cấp tính năng chia sẻ tài liệu rất tiện lợi nhưng những tài nguyên liên quan, chẳng hạn nội dung nhúng hoặc liên kết phụ thuộc, có thể có cơ chế quyền riêng. Vì vậy, việc thu hồi một quyền ở lớp bên ngoài không nhất thiết có nghĩa là mọi tài nguyên liên quan đều tự động mất quyền truy cập.</a:t>
            </a:r>
          </a:p>
          <a:p/>
          <a:p>
            <a:r>
              <a:t>Và đây chính là điểm chúng ta cần ghi nhớ:</a:t>
            </a:r>
          </a:p>
          <a:p/>
          <a:p>
            <a:r>
              <a:t>Bảo mật Cloud không chỉ là bảo vệ hạ tầng; đó còn là bài toán quản lý chính xác ai được làm gì trên tài nguyên nào.</a:t>
            </a:r>
          </a:p>
          <a:p/>
          <a:p>
            <a:r>
              <a:t>Trong ba mô hình, IaaS đặt nhiều trách nhiệm trực tiếp lên khách hàng nhất ở tầng máy chủ. Vì vậy, ngay sau đây chúng ta sẽ tập trung vào câu hỏi:</a:t>
            </a:r>
          </a:p>
          <a:p/>
          <a:p>
            <a:r>
              <a:t>Nếu chúng ta tự quản lý máy chủ ảo, cần làm gì để gia cố nó trước các rủi ro bảo mật?</a:t>
            </a:r>
          </a:p>
          <a:p/>
          <a:p>
            <a:r>
              <a:t>Xin mời thầy cô và các bạn chuyển sang Slide 13: 6 khuyến nghị bảo mật máy chủ ảo — VM Security Checklist.”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các slide trước, chúng ta đã thấy một nguyên tắc quan trọng của Cloud Security: trách nhiệm bảo mật không giống nhau ở mọi mô hình dịch vụ.</a:t>
            </a:r>
          </a:p>
          <a:p/>
          <a:p>
            <a:r>
              <a:t>Với PaaS, nhà cung cấp đã quản lý một phần rất lớn bên dưới ứng dụng. Chúng ta không còn phải trực tiếp quản lý toàn bộ máy chủ vật lý hay nhiều thành phần nền tảng như trong IaaS.</a:t>
            </a:r>
          </a:p>
          <a:p/>
          <a:p>
            <a:r>
              <a:t>Tuy nhiên, điều đó không có nghĩa là ứng dụng được bảo vệ hoàn toàn bởi CSP.</a:t>
            </a:r>
          </a:p>
          <a:p/>
          <a:p>
            <a:r>
              <a:t>Có thể hình dung trách nhiệm thành hai phía.</a:t>
            </a:r>
          </a:p>
          <a:p/>
          <a:p>
            <a:r>
              <a:t>Phía thứ nhất là CSP. Nhà cung cấp chịu trách nhiệm đối với hạ tầng, nền tảng và các thành phần runtime thuộc phạm vi của dịch vụ PaaS.</a:t>
            </a:r>
          </a:p>
          <a:p/>
          <a:p>
            <a:r>
              <a:t>Phía thứ hai là khách hàng. Chúng ta vẫn phải bảo vệ mã nguồn, dữ liệu, cấu hình ứng dụng và những thành phần mà mình trực tiếp đưa vào hoặc kiểm soát.</a:t>
            </a:r>
          </a:p>
          <a:p/>
          <a:p>
            <a:r>
              <a:t>Ranh giới chính xác sẽ phụ thuộc vào dịch vụ PaaS cụ thể. Vì vậy, khi đánh giá một nền tảng, không nên chỉ hỏi ‘CSP có bảo mật hay không’, mà phải hỏi cụ thể hơn: CSP bảo vệ đến lớp nào và khách hàng còn phải bảo vệ những gì?</a:t>
            </a:r>
          </a:p>
          <a:p/>
          <a:p>
            <a:r>
              <a:t>Một điểm rất đáng chú ý là third-party dependencies.</a:t>
            </a:r>
          </a:p>
          <a:p/>
          <a:p>
            <a:r>
              <a:t>Một ứng dụng PaaS hiếm khi hoạt động hoàn toàn độc lập. Nó có thể sử dụng thư viện mã nguồn mở, gọi API của bên thứ ba hoặc phụ thuộc vào một dịch vụ bên ngoài.</a:t>
            </a:r>
          </a:p>
          <a:p/>
          <a:p>
            <a:r>
              <a:t>Vì vậy, nếu chỉ kiểm tra mã nguồn của ứng dụng mà bỏ qua dependency, chúng ta vẫn có thể bỏ sót một nguồn rủi ro quan trọng.</a:t>
            </a:r>
          </a:p>
          <a:p/>
          <a:p>
            <a:r>
              <a:t>Do đó, khi xây dựng ứng dụng trên PaaS, chúng ta cần nhìn toàn bộ chuỗi:</a:t>
            </a:r>
          </a:p>
          <a:p/>
          <a:p>
            <a:r>
              <a:t>CSP bảo vệ nền tảng → khách hàng bảo vệ ứng dụng và dữ liệu → các dependency bên ngoài cũng phải được kiểm soát.</a:t>
            </a:r>
          </a:p>
          <a:p/>
          <a:p>
            <a:r>
              <a:t>Đây chính là ý nghĩa của việc xác định rõ security boundary — ranh giới trách nhiệm bảo mật.</a:t>
            </a:r>
          </a:p>
          <a:p/>
          <a:p>
            <a:r>
              <a:t>Và từ đây, chúng ta sẽ đi đến một câu hỏi cụ thể hơn:</a:t>
            </a:r>
          </a:p>
          <a:p/>
          <a:p>
            <a:r>
              <a:t>Nếu ứng dụng đã nằm trên nền tảng Cloud, vậy ai được phép truy cập ứng dụng và chúng ta kiểm soát quyền đó như thế nào?</a:t>
            </a:r>
          </a:p>
          <a:p/>
          <a:p>
            <a:r>
              <a:t>Đó chính là nội dung của slide tiếp theo: IAM và SSO — quản lý danh tính và kiểm soát truy cập.”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Slide 13, chúng ta đã xác định được một nguyên tắc: trong PaaS, CSP bảo vệ phần nền tảng thuộc phạm vi dịch vụ, còn khách hàng vẫn phải bảo vệ ứng dụng, dữ liệu và các thành phần mình kiểm soát.</a:t>
            </a:r>
          </a:p>
          <a:p/>
          <a:p>
            <a:r>
              <a:t>Nhưng khi đã có một ứng dụng và dữ liệu cần bảo vệ, chúng ta gặp một câu hỏi tiếp theo:</a:t>
            </a:r>
          </a:p>
          <a:p/>
          <a:p>
            <a:r>
              <a:t>Ai được phép truy cập và họ được phép làm gì?</a:t>
            </a:r>
          </a:p>
          <a:p/>
          <a:p>
            <a:r>
              <a:t>Đây chính là vấn đề của Identity và Access Management — IAM.</a:t>
            </a:r>
          </a:p>
          <a:p/>
          <a:p>
            <a:r>
              <a:t>Trong môi trường truyền thống, kiểm soát truy cập thường dựa khá nhiều vào vị trí mạng. Chúng ta có thể hỏi một thiết bị đang ở mạng nào, địa chỉ IP nào hoặc kết nối qua cổng nào.</a:t>
            </a:r>
          </a:p>
          <a:p/>
          <a:p>
            <a:r>
              <a:t>Tuy nhiên, Cloud làm cho ranh giới mạng trở nên linh hoạt hơn. Người dùng có thể truy cập tài nguyên từ nhiều địa điểm, thiết bị và mạng khác nhau.</a:t>
            </a:r>
          </a:p>
          <a:p/>
          <a:p>
            <a:r>
              <a:t>Điều đó không có nghĩa là firewall hay network security không còn quan trọng. Chúng vẫn là một lớp phòng thủ cần thiết. Nhưng chúng không thể tự mình trả lời câu hỏi: người này có được phép thực hiện hành động này trên tài nguyên này hay không?</a:t>
            </a:r>
          </a:p>
          <a:p/>
          <a:p>
            <a:r>
              <a:t>Vì vậy, chúng ta chuyển trọng tâm sang Identity.</a:t>
            </a:r>
          </a:p>
          <a:p/>
          <a:p>
            <a:r>
              <a:t>IAM có thể được nhìn như một chuỗi:</a:t>
            </a:r>
          </a:p>
          <a:p/>
          <a:p>
            <a:r>
              <a:t>Identity → Authentication → Authorization → Resource → Action.</a:t>
            </a:r>
          </a:p>
          <a:p/>
          <a:p>
            <a:r>
              <a:t>Đầu tiên, hệ thống phải xác minh người dùng là ai. Đây là Authentication.</a:t>
            </a:r>
          </a:p>
          <a:p/>
          <a:p>
            <a:r>
              <a:t>Sau đó, hệ thống phải xác định người đó được phép làm gì. Đây là Authorization.</a:t>
            </a:r>
          </a:p>
          <a:p/>
          <a:p>
            <a:r>
              <a:t>Và quan trọng hơn, quyền đó phải gắn với tài nguyên cụ thể và hành động cụ thể.</a:t>
            </a:r>
          </a:p>
          <a:p/>
          <a:p>
            <a:r>
              <a:t>Ví dụ, một người dùng có thể được phép đọc một tài liệu nhưng không được phép xóa tài liệu đó. Việc đăng nhập thành công không đồng nghĩa với việc người dùng có toàn quyền trên hệ thống.</a:t>
            </a:r>
          </a:p>
          <a:p/>
          <a:p>
            <a:r>
              <a:t>Đây chính là lý do chúng ta áp dụng Least Privilege — mỗi danh tính chỉ nên có những quyền cần thiết cho công việc.</a:t>
            </a:r>
          </a:p>
          <a:p/>
          <a:p>
            <a:r>
              <a:t>Bên cạnh đó, các hoạt động truy cập cần được ghi log để có thể kiểm toán và phát hiện hành vi bất thường.</a:t>
            </a:r>
          </a:p>
          <a:p/>
          <a:p>
            <a:r>
              <a:t>Một cơ chế thường được sử dụng để đơn giản hóa việc xác thực là SSO — Single Sign-On.</a:t>
            </a:r>
          </a:p>
          <a:p/>
          <a:p>
            <a:r>
              <a:t>Quy trình có thể hình dung rất đơn giản:</a:t>
            </a:r>
          </a:p>
          <a:p/>
          <a:p>
            <a:r>
              <a:t>User → Identity Provider → Authentication và MFA → Token hoặc Session → Ứng dụng.</a:t>
            </a:r>
          </a:p>
          <a:p/>
          <a:p>
            <a:r>
              <a:t>Người dùng xác thực với một hệ thống định danh trung tâm. Sau khi xác thực thành công, thông tin xác thực phù hợp được sử dụng để truy cập các ứng dụng đã liên kết.</a:t>
            </a:r>
          </a:p>
          <a:p/>
          <a:p>
            <a:r>
              <a:t>Điểm quan trọng là SSO không có nghĩa tất cả ứng dụng phải lưu mật khẩu của người dùng. Việc xác thực có thể được tập trung tại Identity Provider.</a:t>
            </a:r>
          </a:p>
          <a:p/>
          <a:p>
            <a:r>
              <a:t>SSO đem lại nhiều lợi ích: giảm số lượng mật khẩu, đơn giản hóa quản lý tài khoản và hỗ trợ thu hồi quyền tập trung.</a:t>
            </a:r>
          </a:p>
          <a:p/>
          <a:p>
            <a:r>
              <a:t>Nhưng SSO cũng tạo ra một vấn đề gọi là blast radius.</a:t>
            </a:r>
          </a:p>
          <a:p/>
          <a:p>
            <a:r>
              <a:t>Nếu một danh tính trung tâm bị chiếm quyền, nhiều ứng dụng liên kết có thể cùng bị ảnh hưởng. Ngoài ra, nếu session hoặc token hợp lệ bị đánh cắp, kẻ tấn công có thể sử dụng phiên đó mà không nhất thiết phải biết mật khẩu.</a:t>
            </a:r>
          </a:p>
          <a:p/>
          <a:p>
            <a:r>
              <a:t>Vì vậy, SSO không nên được hiểu là ‘đăng nhập một lần rồi tin tưởng tất cả’.</a:t>
            </a:r>
          </a:p>
          <a:p/>
          <a:p>
            <a:r>
              <a:t>Chúng ta cần kết hợp MFA, Least Privilege, kiểm soát session và monitoring.</a:t>
            </a:r>
          </a:p>
          <a:p/>
          <a:p>
            <a:r>
              <a:t>Như vậy, nếu Slide 13 trả lời câu hỏi:</a:t>
            </a:r>
          </a:p>
          <a:p/>
          <a:p>
            <a:r>
              <a:t>‘PaaS: CSP và khách hàng chịu trách nhiệm bảo mật đến đâu?’</a:t>
            </a:r>
          </a:p>
          <a:p/>
          <a:p>
            <a:r>
              <a:t>thì Slide 14 trả lời:</a:t>
            </a:r>
          </a:p>
          <a:p/>
          <a:p>
            <a:r>
              <a:t>‘Ai được phép truy cập và chúng ta kiểm soát danh tính đó như thế nào?’</a:t>
            </a:r>
          </a:p>
          <a:p/>
          <a:p>
            <a:r>
              <a:t>Nhưng IAM ở mức cơ bản vẫn chưa trả lời đầy đủ một câu hỏi rất quan trọng:</a:t>
            </a:r>
          </a:p>
          <a:p/>
          <a:p>
            <a:r>
              <a:t>Một người đã được xác thực thì cụ thể họ được làm gì trên từng tài nguyên?</a:t>
            </a:r>
          </a:p>
          <a:p/>
          <a:p>
            <a:r>
              <a:t>Đây chính là vấn đề của Fine-grained Access Control, và đó sẽ là nội dung trọng tâm của Slide 15.”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khi đã tìm hiểu IAM và SSO ở slide trước, chúng ta chuyển sang mô hình có mức độ trừu tượng cao hơn: SaaS — Software as a Service.</a:t>
            </a:r>
          </a:p>
          <a:p/>
          <a:p>
            <a:r>
              <a:t>Điểm quan trọng đầu tiên là trách nhiệm bảo mật đã thay đổi.</a:t>
            </a:r>
          </a:p>
          <a:p/>
          <a:p>
            <a:r>
              <a:t>Trong SaaS, nhà cung cấp quản lý phần lớn hạ tầng phía dưới, nền tảng và bản thân ứng dụng. Vì vậy, khách hàng không còn trực tiếp quản lý máy chủ hay hệ điều hành như trong IaaS.</a:t>
            </a:r>
          </a:p>
          <a:p/>
          <a:p>
            <a:r>
              <a:t>Điều đó không có nghĩa là khách hàng không còn trách nhiệm bảo mật.</a:t>
            </a:r>
          </a:p>
          <a:p/>
          <a:p>
            <a:r>
              <a:t>Trọng tâm chuyển sang danh tính người dùng, quyền truy cập, dữ liệu và cách dịch vụ được sử dụng.</a:t>
            </a:r>
          </a:p>
          <a:p/>
          <a:p>
            <a:r>
              <a:t>Vì vậy, khi đánh giá một dịch vụ SaaS, chúng ta không nên chỉ nhìn vào chức năng của sản phẩm. Cần quan tâm đến kiến trúc, quy trình phát triển an toàn, kiểm thử bảo mật và cách nhà cung cấp quản lý các bản phát hành.</a:t>
            </a:r>
          </a:p>
          <a:p/>
          <a:p>
            <a:r>
              <a:t>Nhưng ở đây có một vấn đề quan trọng hơn liên quan trực tiếp đến những gì chúng ta vừa học ở Slide 14:</a:t>
            </a:r>
          </a:p>
          <a:p/>
          <a:p>
            <a:r>
              <a:t>IAM xác định người dùng là ai và họ có quyền gì. Nhưng trong SaaS, quyền đó có thể cần được kiểm soát đến mức rất chi tiết.</a:t>
            </a:r>
          </a:p>
          <a:p/>
          <a:p>
            <a:r>
              <a:t>Ví dụ, không chỉ hỏi một nhân viên có được sử dụng ứng dụng hay không.</a:t>
            </a:r>
          </a:p>
          <a:p/>
          <a:p>
            <a:r>
              <a:t>Chúng ta cần hỏi:</a:t>
            </a:r>
          </a:p>
          <a:p/>
          <a:p>
            <a:r>
              <a:t>Người đó được truy cập tài nguyên nào? Được thực hiện hành động gì? Và trong điều kiện nào?</a:t>
            </a:r>
          </a:p>
          <a:p/>
          <a:p>
            <a:r>
              <a:t>Đó chính là tư duy Fine-grained Access Control.</a:t>
            </a:r>
          </a:p>
          <a:p/>
          <a:p>
            <a:r>
              <a:t>Có thể mô hình hóa rất đơn giản:</a:t>
            </a:r>
          </a:p>
          <a:p/>
          <a:p>
            <a:r>
              <a:t>Identity → Resource → Action → Condition.</a:t>
            </a:r>
          </a:p>
          <a:p/>
          <a:p>
            <a:r>
              <a:t>Ví dụ, một nhân viên phòng Kế toán có thể được phép xem báo cáo tài chính, nhưng không nhất thiết được sửa hoặc chia sẻ báo cáo đó.</a:t>
            </a:r>
          </a:p>
          <a:p/>
          <a:p>
            <a:r>
              <a:t>Thậm chí quyền này có thể còn phụ thuộc vào điều kiện như thiết bị, vị trí hoặc trạng thái xác thực.</a:t>
            </a:r>
          </a:p>
          <a:p/>
          <a:p>
            <a:r>
              <a:t>Vấn đề là không phải dịch vụ SaaS nào cũng cung cấp mức độ kiểm soát chi tiết như vậy.</a:t>
            </a:r>
          </a:p>
          <a:p/>
          <a:p>
            <a:r>
              <a:t>Một số hệ thống chỉ cung cấp những quyền tương đối thô như View, Edit hoặc Share. Khi đó, doanh nghiệp có thể gặp khó khăn trong việc áp dụng đầy đủ nguyên tắc Least Privilege.</a:t>
            </a:r>
          </a:p>
          <a:p/>
          <a:p>
            <a:r>
              <a:t>Một tình huống khác cần chú ý là tài nguyên được tham chiếu hoặc nhúng.</a:t>
            </a:r>
          </a:p>
          <a:p/>
          <a:p>
            <a:r>
              <a:t>Một tài liệu có thể sử dụng hoặc liên kết đến những tài nguyên khác. Khi đó, việc thu hồi quyền trên tài liệu chính không nên mặc định được hiểu là mọi quyền đối với các tài nguyên liên quan cũng đã được thu hồi.</a:t>
            </a:r>
          </a:p>
          <a:p/>
          <a:p>
            <a:r>
              <a:t>Vì vậy, khi đánh giá quyền truy cập trong SaaS, chúng ta phải nhìn vào từng tài nguyên và mối quan hệ giữa chúng, thay vì chỉ kiểm tra quyền của ứng dụng ở mức tổng thể.</a:t>
            </a:r>
          </a:p>
          <a:p/>
          <a:p>
            <a:r>
              <a:t>Điểm này nối trực tiếp với Slide 14.</a:t>
            </a:r>
          </a:p>
          <a:p/>
          <a:p>
            <a:r>
              <a:t>Slide 14 tập trung vào câu hỏi:</a:t>
            </a:r>
          </a:p>
          <a:p/>
          <a:p>
            <a:r>
              <a:t>Ai là người dùng và họ được cấp quyền như thế nào?</a:t>
            </a:r>
          </a:p>
          <a:p/>
          <a:p>
            <a:r>
              <a:t>Còn Slide 15 đi thêm một bước:</a:t>
            </a:r>
          </a:p>
          <a:p/>
          <a:p>
            <a:r>
              <a:t>Quyền đó áp dụng lên tài nguyên nào và cho phép thực hiện hành động gì?</a:t>
            </a:r>
          </a:p>
          <a:p/>
          <a:p>
            <a:r>
              <a:t>Đó chính là sự chuyển từ Identity Management sang Fine-grained Access Control.</a:t>
            </a:r>
          </a:p>
          <a:p/>
          <a:p>
            <a:r>
              <a:t>Và khi quyền truy cập đã được kiểm soát đến mức tài nguyên và hành động, chúng ta vẫn cần logging, monitoring và access review để phát hiện những quyền được cấp sai hoặc không còn cần thiết.</a:t>
            </a:r>
          </a:p>
          <a:p/>
          <a:p>
            <a:r>
              <a:t>Như vậy, với SaaS, chúng ta không trực tiếp hardening máy chủ như IaaS. Nhưng chúng ta phải kiểm soát rất chặt ai có quyền truy cập dữ liệu và họ có thể làm gì với dữ liệu đó.</a:t>
            </a:r>
          </a:p>
          <a:p/>
          <a:p>
            <a:r>
              <a:t>Đây cũng là điểm chúng ta sẽ chuyển sang lớp tiếp theo.</a:t>
            </a:r>
          </a:p>
          <a:p/>
          <a:p>
            <a:r>
              <a:t>Nếu trong SaaS, phần lớn hạ tầng đã do nhà cung cấp quản lý, thì trong IaaS, khách hàng lại có quyền kiểm soát trực tiếp máy chủ ảo và hệ điều hành.</a:t>
            </a:r>
          </a:p>
          <a:p/>
          <a:p>
            <a:r>
              <a:t>Vì vậy, câu hỏi tiếp theo sẽ là:</a:t>
            </a:r>
          </a:p>
          <a:p/>
          <a:p>
            <a:r>
              <a:t>Khi tự quản lý một Virtual Machine, chúng ta phải bảo mật nó từ đâu?</a:t>
            </a:r>
          </a:p>
          <a:p/>
          <a:p>
            <a:r>
              <a:t>Ở Slide 16, chúng ta sẽ đi vào Virtual Machine Security Checklist — từ VM Image, credentials, firewall cho đến logging và auditing.”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khi đã đi qua SaaS và vấn đề kiểm soát truy cập ở mức tài nguyên, chúng ta chuyển xuống lớp IaaS — nơi khách hàng có quyền kiểm soát trực tiếp máy chủ ảo.</a:t>
            </a:r>
          </a:p>
          <a:p/>
          <a:p>
            <a:r>
              <a:t>Đây là điểm khác biệt rất quan trọng.</a:t>
            </a:r>
          </a:p>
          <a:p/>
          <a:p>
            <a:r>
              <a:t>Trong SaaS, phần lớn hạ tầng được nhà cung cấp quản lý. Nhưng trong IaaS, khách hàng thường phải tự chịu trách nhiệm đối với hệ điều hành, các dịch vụ chạy trên máy, tài khoản, cấu hình mạng và nhiều thiết lập bảo mật khác.</a:t>
            </a:r>
          </a:p>
          <a:p/>
          <a:p>
            <a:r>
              <a:t>Điều này tạo ra một vấn đề đặc trưng của Cloud: Self-Provisioning.</a:t>
            </a:r>
          </a:p>
          <a:p/>
          <a:p>
            <a:r>
              <a:t>Một VM có thể được tạo ra rất nhanh. Nhưng nếu mỗi VM được tạo theo một cách khác nhau, chúng ta rất dễ có những máy chủ với cấu hình không đồng nhất: máy chưa được cập nhật, có dịch vụ không cần thiết, mở quá nhiều cổng hoặc chứa sẵn thông tin xác thực.</a:t>
            </a:r>
          </a:p>
          <a:p/>
          <a:p>
            <a:r>
              <a:t>Vì vậy, nguyên tắc đầu tiên của Slide 16 là:</a:t>
            </a:r>
          </a:p>
          <a:p/>
          <a:p>
            <a:r>
              <a:t>Secure-by-Default.</a:t>
            </a:r>
          </a:p>
          <a:p/>
          <a:p>
            <a:r>
              <a:t>Thay vì tạo một VM rồi mới tìm cách bảo mật, chúng ta bắt đầu bằng một Golden Image hoặc một image chuẩn đã được kiểm tra và gia cố.</a:t>
            </a:r>
          </a:p>
          <a:p/>
          <a:p>
            <a:r>
              <a:t>Từ đó, chúng ta có sáu nhóm kiểm soát.</a:t>
            </a:r>
          </a:p>
          <a:p/>
          <a:p>
            <a:r>
              <a:t>Thứ nhất là Hardened Image.</a:t>
            </a:r>
          </a:p>
          <a:p/>
          <a:p>
            <a:r>
              <a:t>Image nên chứa phiên bản OS và các thành phần cần thiết, đồng thời loại bỏ những dịch vụ không sử dụng. Việc chuẩn hóa image giúp các VM được tạo ra có cấu hình bảo mật nhất quán.</a:t>
            </a:r>
          </a:p>
          <a:p/>
          <a:p>
            <a:r>
              <a:t>Thứ hai là Patch và Configuration Management.</a:t>
            </a:r>
          </a:p>
          <a:p/>
          <a:p>
            <a:r>
              <a:t>Một image an toàn tại thời điểm triển khai không có nghĩa là nó sẽ luôn an toàn. OS và package tiếp tục xuất hiện lỗ hổng, trong khi cấu hình có thể thay đổi theo thời gian.</a:t>
            </a:r>
          </a:p>
          <a:p/>
          <a:p>
            <a:r>
              <a:t>Vì vậy cần có quy trình cập nhật bản vá và kiểm tra configuration drift — tức là phát hiện khi cấu hình thực tế lệch khỏi baseline đã được phê duyệt.</a:t>
            </a:r>
          </a:p>
          <a:p/>
          <a:p>
            <a:r>
              <a:t>Thứ ba là Identity và Credentials.</a:t>
            </a:r>
          </a:p>
          <a:p/>
          <a:p>
            <a:r>
              <a:t>Không nên nhúng mật khẩu, private key hoặc các secret cố định vào VM image.</a:t>
            </a:r>
          </a:p>
          <a:p/>
          <a:p>
            <a:r>
              <a:t>Thay vào đó, sử dụng các cơ chế quản lý định danh và secret phù hợp, cấp quyền theo nguyên tắc Least Privilege, đồng thời kiểm soát các tài khoản có quyền đặc biệt như sudo hoặc administrator.</a:t>
            </a:r>
          </a:p>
          <a:p/>
          <a:p>
            <a:r>
              <a:t>Điểm quan trọng là: nếu một image được dùng để tạo hàng trăm VM, một credential bị nhúng trong image có thể trở thành một bí mật dùng chung trên rất nhiều máy.</a:t>
            </a:r>
          </a:p>
          <a:p/>
          <a:p>
            <a:r>
              <a:t>Thứ tư là Host Firewall.</a:t>
            </a:r>
          </a:p>
          <a:p/>
          <a:p>
            <a:r>
              <a:t>Mỗi VM không nên mặc định mở tất cả các cổng.</a:t>
            </a:r>
          </a:p>
          <a:p/>
          <a:p>
            <a:r>
              <a:t>Chúng ta chỉ mở những port thực sự cần thiết cho dịch vụ và giới hạn nguồn truy cập nếu có thể.</a:t>
            </a:r>
          </a:p>
          <a:p/>
          <a:p>
            <a:r>
              <a:t>Đồng thời, những service không sử dụng nên được tắt.</a:t>
            </a:r>
          </a:p>
          <a:p/>
          <a:p>
            <a:r>
              <a:t>Mục tiêu là giảm Attack Surface — càng ít cửa vào không cần thiết thì càng giảm số điểm có thể bị khai thác.</a:t>
            </a:r>
          </a:p>
          <a:p/>
          <a:p>
            <a:r>
              <a:t>Thứ năm là Logging và Auditing.</a:t>
            </a:r>
          </a:p>
          <a:p/>
          <a:p>
            <a:r>
              <a:t>Chúng ta cần biết ai đã đăng nhập, có hoạt động nâng quyền hay không, hệ thống đã thay đổi những gì và có sự kiện bất thường nào xảy ra.</a:t>
            </a:r>
          </a:p>
          <a:p/>
          <a:p>
            <a:r>
              <a:t>Quan trọng hơn, log không nên chỉ nằm trên chính VM.</a:t>
            </a:r>
          </a:p>
          <a:p/>
          <a:p>
            <a:r>
              <a:t>Nếu VM bị xâm nhập và log chỉ được lưu cục bộ, kẻ tấn công có thể tìm cách sửa hoặc xóa log.</a:t>
            </a:r>
          </a:p>
          <a:p/>
          <a:p>
            <a:r>
              <a:t>Vì vậy, các sự kiện quan trọng nên được chuyển tới hệ thống logging tập trung và được bảo vệ phù hợp.</a:t>
            </a:r>
          </a:p>
          <a:p/>
          <a:p>
            <a:r>
              <a:t>Thứ sáu là Continuous Verification.</a:t>
            </a:r>
          </a:p>
          <a:p/>
          <a:p>
            <a:r>
              <a:t>Đây là điểm giúp chúng ta tránh suy nghĩ rằng hardening chỉ là một thao tác thực hiện một lần.</a:t>
            </a:r>
          </a:p>
          <a:p/>
          <a:p>
            <a:r>
              <a:t>VM cần được kiểm tra định kỳ bằng vulnerability scanning, configuration assessment và các cơ chế giám sát phù hợp.</a:t>
            </a:r>
          </a:p>
          <a:p/>
          <a:p>
            <a:r>
              <a:t>Nếu phát hiện cấu hình lệch chuẩn hoặc lỗ hổng mới, chúng ta phải quay lại quá trình patch và hardening.</a:t>
            </a:r>
          </a:p>
          <a:p/>
          <a:p>
            <a:r>
              <a:t>Vì vậy, toàn bộ vòng đời của VM có thể được nhìn như sau:</a:t>
            </a:r>
          </a:p>
          <a:p/>
          <a:p>
            <a:r>
              <a:t>Golden Image → Secure Configuration → Controlled Provisioning → Least Privilege → Minimal Attack Surface → Centralized Logging → Scan, Patch và Review.</a:t>
            </a:r>
          </a:p>
          <a:p/>
          <a:p>
            <a:r>
              <a:t>Điều quan trọng là chu trình này có tính lặp lại.</a:t>
            </a:r>
          </a:p>
          <a:p/>
          <a:p>
            <a:r>
              <a:t>Một VM có thể an toàn khi được triển khai nhưng trở nên dễ bị tổn thương sau một thời gian nếu không được cập nhật và kiểm tra.</a:t>
            </a:r>
          </a:p>
          <a:p/>
          <a:p>
            <a:r>
              <a:t>Do đó, thông điệp chính của Slide 16 là:</a:t>
            </a:r>
          </a:p>
          <a:p/>
          <a:p>
            <a:r>
              <a:t>Bảo mật VM không phải là một thao tác hardening sau triển khai. Đó là một quy trình liên tục bắt đầu từ image và kéo dài trong toàn bộ vòng đời của VM.</a:t>
            </a:r>
          </a:p>
          <a:p/>
          <a:p>
            <a:r>
              <a:t>Như vậy, chúng ta đã đi qua các lớp từ PaaS, IAM, SaaS đến IaaS và Virtual Machine Security.</a:t>
            </a:r>
          </a:p>
          <a:p/>
          <a:p>
            <a:r>
              <a:t>Ở slide cuối, chúng ta sẽ không tiếp tục đi sâu vào một công nghệ riêng lẻ nữa, mà sẽ ghép các lớp này thành một mô hình bảo vệ thống nhất.</a:t>
            </a:r>
          </a:p>
          <a:p/>
          <a:p>
            <a:r>
              <a:t>Đó là Security Controls và Defense-in-Depth — từ phòng ngừa, phát hiện cho đến khắc phục và khôi phục.</a:t>
            </a:r>
          </a:p>
          <a:p/>
          <a:p>
            <a:r>
              <a:t>Mời thầy cô và các bạn 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 cô và các bạn,</a:t>
            </a:r>
          </a:p>
          <a:p/>
          <a:p>
            <a:r>
              <a:t>Sau khi đã đi qua các lớp bảo mật cụ thể — từ dữ liệu, IAM, mạng, ứng dụng cho đến máy chủ ảo — chúng ta cần một cách để phân loại và nhìn nhận các biện pháp bảo mật này một cách có hệ thống.</a:t>
            </a:r>
          </a:p>
          <a:p/>
          <a:p>
            <a:r>
              <a:t>Đó là vai trò của Security Controls.</a:t>
            </a:r>
          </a:p>
          <a:p/>
          <a:p>
            <a:r>
              <a:t>Security Control có thể hiểu đơn giản là một biện pháp được thiết kế để giảm rủi ro bảo mật.</a:t>
            </a:r>
          </a:p>
          <a:p/>
          <a:p>
            <a:r>
              <a:t>Điểm quan trọng là một hệ thống không thể chỉ dựa vào các cơ chế phòng ngừa.</a:t>
            </a:r>
          </a:p>
          <a:p/>
          <a:p>
            <a:r>
              <a:t>Chúng ta có thể triển khai MFA, firewall, encryption, hardening và rất nhiều biện pháp khác. Nhưng không có biện pháp nào đảm bảo rằng mọi sự cố đều bị ngăn chặn tuyệt đối.</a:t>
            </a:r>
          </a:p>
          <a:p/>
          <a:p>
            <a:r>
              <a:t>Vì vậy, chúng ta cần nhìn Security Controls theo cả trước, trong và sau sự cố.</a:t>
            </a:r>
          </a:p>
          <a:p/>
          <a:p>
            <a:r>
              <a:t>Ở đây chúng ta sử dụng bốn nhóm chính.</a:t>
            </a:r>
          </a:p>
          <a:p/>
          <a:p>
            <a:r>
              <a:t>Nhóm thứ nhất là Deterrent Controls — kiểm soát răn đe.</a:t>
            </a:r>
          </a:p>
          <a:p/>
          <a:p>
            <a:r>
              <a:t>Mục tiêu là làm giảm ý định hoặc hành vi vi phạm.</a:t>
            </a:r>
          </a:p>
          <a:p/>
          <a:p>
            <a:r>
              <a:t>Ví dụ có thể là chính sách bảo mật, cảnh báo, quy định sử dụng hệ thống hoặc thông báo về các hậu quả khi vi phạm.</a:t>
            </a:r>
          </a:p>
          <a:p/>
          <a:p>
            <a:r>
              <a:t>Nhóm này không trực tiếp ngăn một cuộc tấn công bằng kỹ thuật, nhưng nó tạo ra một lớp kiểm soát về mặt tổ chức và hành vi.</a:t>
            </a:r>
          </a:p>
          <a:p/>
          <a:p>
            <a:r>
              <a:t>Nhóm thứ hai là Preventive Controls — kiểm soát phòng ngừa.</a:t>
            </a:r>
          </a:p>
          <a:p/>
          <a:p>
            <a:r>
              <a:t>Đây là những cơ chế chúng ta đã gặp rất nhiều trong các slide trước.</a:t>
            </a:r>
          </a:p>
          <a:p/>
          <a:p>
            <a:r>
              <a:t>Ví dụ như MFA, IAM, mã hóa, firewall, network segmentation và hardening.</a:t>
            </a:r>
          </a:p>
          <a:p/>
          <a:p>
            <a:r>
              <a:t>Mục tiêu là ngăn sự cố xảy ra hoặc giảm khả năng một hành vi tấn công thành công.</a:t>
            </a:r>
          </a:p>
          <a:p/>
          <a:p>
            <a:r>
              <a:t>Tuy nhiên, nếu một tài khoản vẫn bị chiếm quyền hoặc một lỗ hổng vẫn bị khai thác, chúng ta cần nhóm control tiếp theo.</a:t>
            </a:r>
          </a:p>
          <a:p/>
          <a:p>
            <a:r>
              <a:t>Nhóm thứ ba là Detective Controls — kiểm soát phát hiện.</a:t>
            </a:r>
          </a:p>
          <a:p/>
          <a:p>
            <a:r>
              <a:t>Ở đây chúng ta cần biết chuyện gì đang xảy ra.</a:t>
            </a:r>
          </a:p>
          <a:p/>
          <a:p>
            <a:r>
              <a:t>Logging ghi lại sự kiện. Monitoring theo dõi hoạt động. IDS/IPS và các cơ chế cảnh báo có thể giúp nhận diện hành vi bất thường.</a:t>
            </a:r>
          </a:p>
          <a:p/>
          <a:p>
            <a:r>
              <a:t>Ví dụ, nếu một tài khoản đột nhiên đăng nhập từ một vị trí bất thường hoặc thực hiện hàng loạt thao tác nhạy cảm, hệ thống có thể tạo cảnh báo để đội ngũ bảo mật điều tra.</a:t>
            </a:r>
          </a:p>
          <a:p/>
          <a:p>
            <a:r>
              <a:t>Nhưng phát hiện thôi vẫn chưa đủ.</a:t>
            </a:r>
          </a:p>
          <a:p/>
          <a:p>
            <a:r>
              <a:t>Sau khi xác định có sự cố, chúng ta cần Corrective Controls — kiểm soát khắc phục.</a:t>
            </a:r>
          </a:p>
          <a:p/>
          <a:p>
            <a:r>
              <a:t>Ví dụ, chúng ta có thể cô lập máy chủ, thu hồi session hoặc token, khóa tài khoản, thay đổi credential, khôi phục cấu hình hoặc phục hồi dữ liệu từ backup.</a:t>
            </a:r>
          </a:p>
          <a:p/>
          <a:p>
            <a:r>
              <a:t>Hãy lấy một tình huống đơn giản:</a:t>
            </a:r>
          </a:p>
          <a:p/>
          <a:p>
            <a:r>
              <a:t>Một tài khoản Cloud bị chiếm quyền.</a:t>
            </a:r>
          </a:p>
          <a:p/>
          <a:p>
            <a:r>
              <a:t>Preventive Control có thể đã yêu cầu MFA và Least Privilege.</a:t>
            </a:r>
          </a:p>
          <a:p/>
          <a:p>
            <a:r>
              <a:t>Nhưng giả sử kẻ tấn công vẫn vượt qua được lớp này.</a:t>
            </a:r>
          </a:p>
          <a:p/>
          <a:p>
            <a:r>
              <a:t>Detective Control sẽ giúp phát hiện những dấu hiệu như đăng nhập bất thường hoặc hành vi sử dụng tài nguyên khác thường.</a:t>
            </a:r>
          </a:p>
          <a:p/>
          <a:p>
            <a:r>
              <a:t>Sau đó, Corrective Control có thể được kích hoạt: thu hồi session, khóa tài khoản và reset credential.</a:t>
            </a:r>
          </a:p>
          <a:p/>
          <a:p>
            <a:r>
              <a:t>Nếu dữ liệu hoặc cấu hình đã bị thay đổi, chúng ta tiếp tục sử dụng các cơ chế Recovery để đưa hệ thống trở lại trạng thái an toàn.</a:t>
            </a:r>
          </a:p>
          <a:p/>
          <a:p>
            <a:r>
              <a:t>Qua ví dụ này có thể thấy bốn nhóm control không thay thế nhau.</a:t>
            </a:r>
          </a:p>
          <a:p/>
          <a:p>
            <a:r>
              <a:t>Chúng tạo thành một chuỗi:</a:t>
            </a:r>
          </a:p>
          <a:p/>
          <a:p>
            <a:r>
              <a:t>Deterrent → Preventive → Detective → Corrective.</a:t>
            </a:r>
          </a:p>
          <a:p/>
          <a:p>
            <a:r>
              <a:t>Và đây là điểm quan trọng nhất của Slide 17:</a:t>
            </a:r>
          </a:p>
          <a:p/>
          <a:p>
            <a:r>
              <a:t>Bảo mật không chỉ là ngăn tấn công.</a:t>
            </a:r>
          </a:p>
          <a:p/>
          <a:p>
            <a:r>
              <a:t>Một kiến trúc bảo mật trưởng thành phải giả định rằng một số biện pháp có thể bị vượt qua, từ đó chuẩn bị sẵn khả năng phát hiện, giới hạn tác động và khôi phục.</a:t>
            </a:r>
          </a:p>
          <a:p/>
          <a:p>
            <a:r>
              <a:t>Đến đây, chúng ta đã có các loại Security Controls.</a:t>
            </a:r>
          </a:p>
          <a:p/>
          <a:p>
            <a:r>
              <a:t>Nhưng vẫn còn một câu hỏi:</a:t>
            </a:r>
          </a:p>
          <a:p/>
          <a:p>
            <a:r>
              <a:t>Làm thế nào để kết hợp các control này với toàn bộ những lớp kỹ thuật mà chúng ta đã học — Cryptography, IAM, Network, Application, VM, Monitoring và Recovery?</a:t>
            </a:r>
          </a:p>
          <a:p/>
          <a:p>
            <a:r>
              <a:t>Đó sẽ là nội dung của Slide 18.</a:t>
            </a:r>
          </a:p>
          <a:p/>
          <a:p>
            <a:r>
              <a:t>Ở slide cuối, chúng ta sẽ ghép tất cả thành một bức tranh thống nhất về Defense-in-Depth — phòng thủ đa lớp, đồng thời tổng kết lại những nguyên tắc quan trọng nhất của toàn bộ bài trình bày.</a:t>
            </a:r>
          </a:p>
          <a:p/>
          <a:p>
            <a:r>
              <a:t>Mời thầy cô và các bạn cùng chuyển sang Slide 18: Tổng kết — Kiến trúc Bảo mật Cloud &amp; Defense-in-Depth.”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 cô và các bạn,</a:t>
            </a:r>
          </a:p>
          <a:p/>
          <a:p>
            <a:r>
              <a:t>Đến slide cuối cùng, chúng ta sẽ không nhìn từng công nghệ một cách riêng lẻ nữa, mà ghép tất cả những nội dung đã học thành một kiến trúc bảo mật Cloud thống nhất.</a:t>
            </a:r>
          </a:p>
          <a:p/>
          <a:p>
            <a:r>
              <a:t>Nếu nhìn từ trên xuống, điểm đầu tiên là Shared Responsibility.</a:t>
            </a:r>
          </a:p>
          <a:p/>
          <a:p>
            <a:r>
              <a:t>Đây là nền tảng để xác định trách nhiệm giữa Cloud Service Provider và khách hàng.</a:t>
            </a:r>
          </a:p>
          <a:p/>
          <a:p>
            <a:r>
              <a:t>Khi sử dụng Cloud, chúng ta không thể chỉ hỏi:</a:t>
            </a:r>
          </a:p>
          <a:p/>
          <a:p>
            <a:r>
              <a:t>‘CSP có bảo mật hệ thống hay không?’</a:t>
            </a:r>
          </a:p>
          <a:p/>
          <a:p>
            <a:r>
              <a:t>Mà phải hỏi chính xác hơn:</a:t>
            </a:r>
          </a:p>
          <a:p/>
          <a:p>
            <a:r>
              <a:t>‘CSP chịu trách nhiệm đến lớp nào, và từ lớp nào trở đi khách hàng phải tự kiểm soát?’</a:t>
            </a:r>
          </a:p>
          <a:p/>
          <a:p>
            <a:r>
              <a:t>Với IaaS, khách hàng có quyền kiểm soát nhiều hơn đối với VM, hệ điều hành, network và application.</a:t>
            </a:r>
          </a:p>
          <a:p/>
          <a:p>
            <a:r>
              <a:t>Với PaaS, CSP quản lý nhiều thành phần nền tảng hơn, còn khách hàng tập trung nhiều hơn vào application, data, identity và configuration.</a:t>
            </a:r>
          </a:p>
          <a:p/>
          <a:p>
            <a:r>
              <a:t>Với SaaS, nhà cung cấp quản lý phần lớn stack phía dưới, nên trọng tâm của khách hàng chuyển mạnh sang identity, dữ liệu, quyền truy cập và cách dịch vụ được sử dụng.</a:t>
            </a:r>
          </a:p>
          <a:p/>
          <a:p>
            <a:r>
              <a:t>Sau Shared Responsibility là mục tiêu bảo mật CIA:</a:t>
            </a:r>
          </a:p>
          <a:p/>
          <a:p>
            <a:r>
              <a:t>Confidentiality — Integrity — Availability.</a:t>
            </a:r>
          </a:p>
          <a:p/>
          <a:p>
            <a:r>
              <a:t>Đây là ba mục tiêu xuyên suốt toàn bộ kiến trúc.</a:t>
            </a:r>
          </a:p>
          <a:p/>
          <a:p>
            <a:r>
              <a:t>Để bảo vệ dữ liệu, chúng ta sử dụng nhiều lớp khác nhau.</a:t>
            </a:r>
          </a:p>
          <a:p/>
          <a:p>
            <a:r>
              <a:t>Cryptography cung cấp các cơ chế bảo vệ dữ liệu, trong đó chúng ta đã tìm hiểu những kỹ thuật như ABE, FHE và Searchable Encryption.</a:t>
            </a:r>
          </a:p>
          <a:p/>
          <a:p>
            <a:r>
              <a:t>Nhưng cryptography không thể tự giải quyết toàn bộ bài toán.</a:t>
            </a:r>
          </a:p>
          <a:p/>
          <a:p>
            <a:r>
              <a:t>Chúng ta còn cần IAM để xác định ai được truy cập và được phép thực hiện hành động gì.</a:t>
            </a:r>
          </a:p>
          <a:p/>
          <a:p>
            <a:r>
              <a:t>Network Security giúp phân đoạn môi trường, giới hạn luồng truy cập và giảm phạm vi ảnh hưởng khi xảy ra sự cố.</a:t>
            </a:r>
          </a:p>
          <a:p/>
          <a:p>
            <a:r>
              <a:t>Tiếp theo là Application và VM Security.</a:t>
            </a:r>
          </a:p>
          <a:p/>
          <a:p>
            <a:r>
              <a:t>Ở lớp ứng dụng, chúng ta đã thấy sự khác nhau giữa SaaS, PaaS và IaaS, cũng như tầm quan trọng của fine-grained access control.</a:t>
            </a:r>
          </a:p>
          <a:p/>
          <a:p>
            <a:r>
              <a:t>Ở lớp VM, chúng ta có secure image, patching, firewall, least privilege và centralized logging.</a:t>
            </a:r>
          </a:p>
          <a:p/>
          <a:p>
            <a:r>
              <a:t>Nhưng ngay cả những lớp phòng ngừa này cũng không thể đảm bảo rằng mọi sự cố đều được ngăn chặn.</a:t>
            </a:r>
          </a:p>
          <a:p/>
          <a:p>
            <a:r>
              <a:t>Vì vậy, chúng ta cần Monitoring, Detection, Response và Recovery.</a:t>
            </a:r>
          </a:p>
          <a:p/>
          <a:p>
            <a:r>
              <a:t>Đây chính là tư tưởng của Defense-in-Depth — phòng thủ đa lớp.</a:t>
            </a:r>
          </a:p>
          <a:p/>
          <a:p>
            <a:r>
              <a:t>Mỗi lớp giải quyết một nhóm rủi ro khác nhau.</a:t>
            </a:r>
          </a:p>
          <a:p/>
          <a:p>
            <a:r>
              <a:t>Nếu một lớp bị vượt qua, các lớp còn lại vẫn phải tiếp tục hoạt động để giới hạn quyền truy cập, giảm phạm vi ảnh hưởng, phát hiện hành vi bất thường và hỗ trợ khôi phục hệ thống.</a:t>
            </a:r>
          </a:p>
          <a:p/>
          <a:p>
            <a:r>
              <a:t>Từ toàn bộ bài trình bày, chúng ta có thể giữ lại ba nguyên tắc lớn.</a:t>
            </a:r>
          </a:p>
          <a:p/>
          <a:p>
            <a:r>
              <a:t>Thứ nhất: Shared Responsibility.</a:t>
            </a:r>
          </a:p>
          <a:p/>
          <a:p>
            <a:r>
              <a:t>Cloud không loại bỏ trách nhiệm bảo mật. Cloud phân chia lại trách nhiệm.</a:t>
            </a:r>
          </a:p>
          <a:p/>
          <a:p>
            <a:r>
              <a:t>Vì vậy, trước khi triển khai một dịch vụ, chúng ta cần xác định rõ:</a:t>
            </a:r>
          </a:p>
          <a:p/>
          <a:p>
            <a:r>
              <a:t>CSP chịu trách nhiệm gì? Khách hàng chịu trách nhiệm gì?</a:t>
            </a:r>
          </a:p>
          <a:p/>
          <a:p>
            <a:r>
              <a:t>Thứ hai: Data Security không chỉ là Encryption.</a:t>
            </a:r>
          </a:p>
          <a:p/>
          <a:p>
            <a:r>
              <a:t>Mã hóa rất quan trọng, nhưng bảo vệ dữ liệu còn bao gồm quyền truy cập, tính toàn vẹn, tính sẵn sàng, quyền riêng tư, vòng đời dữ liệu và cả metadata.</a:t>
            </a:r>
          </a:p>
          <a:p/>
          <a:p>
            <a:r>
              <a:t>Thứ ba: Security phải được xây dựng theo nhiều lớp.</a:t>
            </a:r>
          </a:p>
          <a:p/>
          <a:p>
            <a:r>
              <a:t>Cryptography, IAM, Network, Application, VM, Monitoring và Recovery không thay thế nhau.</a:t>
            </a:r>
          </a:p>
          <a:p/>
          <a:p>
            <a:r>
              <a:t>Chúng bổ sung cho nhau để giảm khả năng một điểm yếu đơn lẻ dẫn đến việc toàn bộ hệ thống bị ảnh hưởng.</a:t>
            </a:r>
          </a:p>
          <a:p/>
          <a:p>
            <a:r>
              <a:t>Và trước khi kết thúc, có một vấn đề đặc biệt đáng chú ý trong môi trường Cloud hiện đại:</a:t>
            </a:r>
          </a:p>
          <a:p/>
          <a:p>
            <a:r>
              <a:t>Credentials và Secrets.</a:t>
            </a:r>
          </a:p>
          <a:p/>
          <a:p>
            <a:r>
              <a:t>Một hệ thống Cloud không chỉ có tài khoản người dùng.</a:t>
            </a:r>
          </a:p>
          <a:p/>
          <a:p>
            <a:r>
              <a:t>Chúng ta còn có API key, password, access token, certificate, SSH key và service account.</a:t>
            </a:r>
          </a:p>
          <a:p/>
          <a:p>
            <a:r>
              <a:t>Số lượng secret có thể tăng rất nhanh khi doanh nghiệp sử dụng Cloud và DevOps.</a:t>
            </a:r>
          </a:p>
          <a:p/>
          <a:p>
            <a:r>
              <a:t>Nếu một secret bị lộ và được cấp quá nhiều quyền, nó có thể trở thành điểm khởi đầu cho việc truy cập trái phép, leo thang đặc quyền và di chuyển ngang giữa các hệ thống.</a:t>
            </a:r>
          </a:p>
          <a:p/>
          <a:p>
            <a:r>
              <a:t>Vì vậy, secrets cần được quản lý theo vòng đời:</a:t>
            </a:r>
          </a:p>
          <a:p/>
          <a:p>
            <a:r>
              <a:t>Least Privilege → Secure Storage → Rotation → Monitoring → Revocation.</a:t>
            </a:r>
          </a:p>
          <a:p/>
          <a:p>
            <a:r>
              <a:t>Và đây cũng là thông điệp cuối cùng của toàn bộ bài trình bày:</a:t>
            </a:r>
          </a:p>
          <a:p/>
          <a:p>
            <a:r>
              <a:t>Đừng chỉ bảo vệ hạ tầng Cloud — hãy bảo vệ cả những “chìa khóa” có quyền truy cập vào nó.</a:t>
            </a:r>
          </a:p>
          <a:p/>
          <a:p>
            <a:r>
              <a:t>Nếu chúng ta phải tóm tắt toàn bộ bài học trong một chuỗi, có thể nhớ:</a:t>
            </a:r>
          </a:p>
          <a:p/>
          <a:p>
            <a:r>
              <a:t>Xác định trách nhiệm → Bảo vệ dữ liệu → Kiểm soát danh tính → Phân đoạn mạng → Gia cố ứng dụng và hạ tầng → Giám sát → Phản ứng → Khôi phục.</a:t>
            </a:r>
          </a:p>
          <a:p/>
          <a:p>
            <a:r>
              <a:t>Đó chính là tư duy Defense-in-Depth.</a:t>
            </a:r>
          </a:p>
          <a:p/>
          <a:p>
            <a:r>
              <a:t>Em xin chân thành cảm ơn thầy cô và các bạn đã lắng nghe.</a:t>
            </a:r>
          </a:p>
          <a:p/>
          <a:p>
            <a:r>
              <a:t>Sau đây, em xin mời thầy cô và các bạn đặt câu hỏi và cùng thảo luận.”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D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8259775" y="-1554480"/>
            <a:ext cx="5120640" cy="5120640"/>
          </a:xfrm>
          <a:prstGeom prst="ellipse">
            <a:avLst/>
          </a:prstGeom>
          <a:solidFill>
            <a:srgbClr val="173F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814255" y="3840480"/>
            <a:ext cx="4023360" cy="4023360"/>
          </a:xfrm>
          <a:prstGeom prst="ellipse">
            <a:avLst/>
          </a:prstGeom>
          <a:solidFill>
            <a:srgbClr val="173F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0"/>
            <a:ext cx="128016" cy="6858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51560" y="1627632"/>
            <a:ext cx="8229600" cy="365760"/>
          </a:xfrm>
          <a:prstGeom prst="rect">
            <a:avLst/>
          </a:prstGeom>
          <a:noFill/>
        </p:spPr>
        <p:txBody>
          <a:bodyPr wrap="square" lIns="0" rIns="0" tIns="0" bIns="0" anchor="t">
            <a:spAutoFit/>
          </a:bodyPr>
          <a:lstStyle/>
          <a:p>
            <a:pPr algn="l">
              <a:lnSpc>
                <a:spcPct val="100000"/>
              </a:lnSpc>
              <a:spcBef>
                <a:spcPts val="0"/>
              </a:spcBef>
              <a:spcAft>
                <a:spcPts val="0"/>
              </a:spcAft>
            </a:pPr>
            <a:r>
              <a:rPr sz="1700" b="1" i="0">
                <a:solidFill>
                  <a:srgbClr val="5D9BD3"/>
                </a:solidFill>
                <a:latin typeface="Arial"/>
              </a:rPr>
              <a:t>CHƯƠNG 11</a:t>
            </a:r>
          </a:p>
        </p:txBody>
      </p:sp>
      <p:sp>
        <p:nvSpPr>
          <p:cNvPr id="7" name="TextBox 6"/>
          <p:cNvSpPr txBox="1"/>
          <p:nvPr/>
        </p:nvSpPr>
        <p:spPr>
          <a:xfrm>
            <a:off x="1051560" y="2066543"/>
            <a:ext cx="9509760" cy="822960"/>
          </a:xfrm>
          <a:prstGeom prst="rect">
            <a:avLst/>
          </a:prstGeom>
          <a:noFill/>
        </p:spPr>
        <p:txBody>
          <a:bodyPr wrap="square" lIns="0" rIns="0" tIns="0" bIns="0" anchor="t">
            <a:spAutoFit/>
          </a:bodyPr>
          <a:lstStyle/>
          <a:p>
            <a:pPr algn="l">
              <a:lnSpc>
                <a:spcPct val="100000"/>
              </a:lnSpc>
              <a:spcBef>
                <a:spcPts val="0"/>
              </a:spcBef>
              <a:spcAft>
                <a:spcPts val="0"/>
              </a:spcAft>
            </a:pPr>
            <a:r>
              <a:rPr sz="4800" b="1" i="0">
                <a:solidFill>
                  <a:srgbClr val="FFFFFF"/>
                </a:solidFill>
                <a:latin typeface="Arial"/>
              </a:rPr>
              <a:t>BẢO MẬT ĐÁM MÂY</a:t>
            </a:r>
          </a:p>
        </p:txBody>
      </p:sp>
      <p:sp>
        <p:nvSpPr>
          <p:cNvPr id="8" name="TextBox 7"/>
          <p:cNvSpPr txBox="1"/>
          <p:nvPr/>
        </p:nvSpPr>
        <p:spPr>
          <a:xfrm>
            <a:off x="1051560" y="3072384"/>
            <a:ext cx="9144000" cy="411480"/>
          </a:xfrm>
          <a:prstGeom prst="rect">
            <a:avLst/>
          </a:prstGeom>
          <a:noFill/>
        </p:spPr>
        <p:txBody>
          <a:bodyPr wrap="square" lIns="0" rIns="0" tIns="0" bIns="0" anchor="t">
            <a:spAutoFit/>
          </a:bodyPr>
          <a:lstStyle/>
          <a:p>
            <a:pPr algn="l">
              <a:lnSpc>
                <a:spcPct val="100000"/>
              </a:lnSpc>
              <a:spcBef>
                <a:spcPts val="0"/>
              </a:spcBef>
              <a:spcAft>
                <a:spcPts val="0"/>
              </a:spcAft>
            </a:pPr>
            <a:r>
              <a:rPr sz="2000" b="0" i="1">
                <a:solidFill>
                  <a:srgbClr val="5D9BD3"/>
                </a:solidFill>
                <a:latin typeface="Arial"/>
              </a:rPr>
              <a:t>Cloud Security</a:t>
            </a:r>
          </a:p>
        </p:txBody>
      </p:sp>
      <p:cxnSp>
        <p:nvCxnSpPr>
          <p:cNvPr id="9" name="Connector 8"/>
          <p:cNvCxnSpPr/>
          <p:nvPr/>
        </p:nvCxnSpPr>
        <p:spPr>
          <a:xfrm>
            <a:off x="1051560" y="3712463"/>
            <a:ext cx="2057400" cy="0"/>
          </a:xfrm>
          <a:prstGeom prst="line">
            <a:avLst/>
          </a:prstGeom>
          <a:ln w="38100">
            <a:solidFill>
              <a:srgbClr val="1F6FB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51560" y="3968496"/>
            <a:ext cx="9326880" cy="36576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BDD3E6"/>
                </a:solidFill>
                <a:latin typeface="Arial"/>
              </a:rPr>
              <a:t>Dữ liệu · Mã hóa · Hạ tầng · PaaS · SaaS · Máy chủ ảo · Kiểm soát bảo mật</a:t>
            </a:r>
          </a:p>
        </p:txBody>
      </p:sp>
      <p:sp>
        <p:nvSpPr>
          <p:cNvPr id="11" name="TextBox 10"/>
          <p:cNvSpPr txBox="1"/>
          <p:nvPr/>
        </p:nvSpPr>
        <p:spPr>
          <a:xfrm>
            <a:off x="1051560" y="4498848"/>
            <a:ext cx="9326880" cy="457200"/>
          </a:xfrm>
          <a:prstGeom prst="rect">
            <a:avLst/>
          </a:prstGeom>
          <a:noFill/>
        </p:spPr>
        <p:txBody>
          <a:bodyPr wrap="square" lIns="0" rIns="0" tIns="0" bIns="0" anchor="t">
            <a:spAutoFit/>
          </a:bodyPr>
          <a:lstStyle/>
          <a:p>
            <a:pPr algn="l">
              <a:lnSpc>
                <a:spcPct val="120000"/>
              </a:lnSpc>
              <a:spcBef>
                <a:spcPts val="0"/>
              </a:spcBef>
              <a:spcAft>
                <a:spcPts val="0"/>
              </a:spcAft>
            </a:pPr>
            <a:r>
              <a:rPr sz="1300" b="0" i="1">
                <a:solidFill>
                  <a:srgbClr val="5D9BD3"/>
                </a:solidFill>
                <a:latin typeface="Arial"/>
              </a:rPr>
              <a:t>“Khi đưa hệ thống lên Cloud, mô hình bảo mật cũng hoàn toàn thay đổi.”</a:t>
            </a:r>
          </a:p>
        </p:txBody>
      </p:sp>
      <p:sp>
        <p:nvSpPr>
          <p:cNvPr id="12" name="TextBox 11"/>
          <p:cNvSpPr txBox="1"/>
          <p:nvPr/>
        </p:nvSpPr>
        <p:spPr>
          <a:xfrm>
            <a:off x="1051560" y="5650992"/>
            <a:ext cx="7315200" cy="320040"/>
          </a:xfrm>
          <a:prstGeom prst="rect">
            <a:avLst/>
          </a:prstGeom>
          <a:noFill/>
        </p:spPr>
        <p:txBody>
          <a:bodyPr wrap="square" lIns="0" rIns="0" tIns="0" bIns="0" anchor="t">
            <a:spAutoFit/>
          </a:bodyPr>
          <a:lstStyle/>
          <a:p>
            <a:pPr algn="l">
              <a:lnSpc>
                <a:spcPct val="110000"/>
              </a:lnSpc>
              <a:spcBef>
                <a:spcPts val="0"/>
              </a:spcBef>
              <a:spcAft>
                <a:spcPts val="0"/>
              </a:spcAft>
            </a:pPr>
            <a:r>
              <a:rPr sz="1300" b="0" i="0">
                <a:solidFill>
                  <a:srgbClr val="BDD3E6"/>
                </a:solidFill>
                <a:latin typeface="Arial"/>
              </a:rPr>
              <a:t>Người thực hiện: </a:t>
            </a:r>
            <a:r>
              <a:rPr sz="1300" b="1" i="0">
                <a:solidFill>
                  <a:srgbClr val="FFFFFF"/>
                </a:solidFill>
                <a:latin typeface="Arial"/>
              </a:rPr>
              <a:t>Nông Văn Tình</a:t>
            </a:r>
          </a:p>
        </p:txBody>
      </p:sp>
      <p:sp>
        <p:nvSpPr>
          <p:cNvPr id="13" name="TextBox 12"/>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E8FAE"/>
                </a:solidFill>
                <a:latin typeface="Arial"/>
              </a:rPr>
              <a:t>1/18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NỘI DUNG TRÌNH BÀY</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MỤC LỤC TRÌNH BÀY</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2/18</a:t>
            </a:r>
          </a:p>
        </p:txBody>
      </p:sp>
      <p:sp>
        <p:nvSpPr>
          <p:cNvPr id="8" name="Rounded Rectangle 7"/>
          <p:cNvSpPr/>
          <p:nvPr/>
        </p:nvSpPr>
        <p:spPr>
          <a:xfrm>
            <a:off x="566928" y="1517904"/>
            <a:ext cx="3527450" cy="1517904"/>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517904"/>
            <a:ext cx="59436" cy="15179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8096" y="1655063"/>
            <a:ext cx="3189122"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1 · NỀN TẢNG BẢO MẬT ĐÁM MÂY</a:t>
            </a:r>
          </a:p>
        </p:txBody>
      </p:sp>
      <p:sp>
        <p:nvSpPr>
          <p:cNvPr id="11" name="TextBox 10"/>
          <p:cNvSpPr txBox="1"/>
          <p:nvPr/>
        </p:nvSpPr>
        <p:spPr>
          <a:xfrm>
            <a:off x="768096" y="1917471"/>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12" name="TextBox 11"/>
          <p:cNvSpPr txBox="1"/>
          <p:nvPr/>
        </p:nvSpPr>
        <p:spPr>
          <a:xfrm>
            <a:off x="905256" y="1921128"/>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Cloud Security &amp; vấn đề đặc thù</a:t>
            </a:r>
          </a:p>
        </p:txBody>
      </p:sp>
      <p:sp>
        <p:nvSpPr>
          <p:cNvPr id="13" name="TextBox 12"/>
          <p:cNvSpPr txBox="1"/>
          <p:nvPr/>
        </p:nvSpPr>
        <p:spPr>
          <a:xfrm>
            <a:off x="768096" y="217045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14" name="TextBox 13"/>
          <p:cNvSpPr txBox="1"/>
          <p:nvPr/>
        </p:nvSpPr>
        <p:spPr>
          <a:xfrm>
            <a:off x="905256" y="2174113"/>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Shared Responsibility Model</a:t>
            </a:r>
          </a:p>
        </p:txBody>
      </p:sp>
      <p:sp>
        <p:nvSpPr>
          <p:cNvPr id="15" name="TextBox 14"/>
          <p:cNvSpPr txBox="1"/>
          <p:nvPr/>
        </p:nvSpPr>
        <p:spPr>
          <a:xfrm>
            <a:off x="768096" y="2423439"/>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16" name="TextBox 15"/>
          <p:cNvSpPr txBox="1"/>
          <p:nvPr/>
        </p:nvSpPr>
        <p:spPr>
          <a:xfrm>
            <a:off x="905256" y="2427097"/>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Bộ ba bảo mật CIA</a:t>
            </a:r>
          </a:p>
        </p:txBody>
      </p:sp>
      <p:sp>
        <p:nvSpPr>
          <p:cNvPr id="17" name="Rounded Rectangle 16"/>
          <p:cNvSpPr/>
          <p:nvPr/>
        </p:nvSpPr>
        <p:spPr>
          <a:xfrm>
            <a:off x="4332122" y="1517904"/>
            <a:ext cx="3527450" cy="1517904"/>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332122" y="1517904"/>
            <a:ext cx="59436" cy="15179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33290" y="1655063"/>
            <a:ext cx="3189122"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2 · BẢO VỆ DỮ LIỆU TRÊN CLOUD</a:t>
            </a:r>
          </a:p>
        </p:txBody>
      </p:sp>
      <p:sp>
        <p:nvSpPr>
          <p:cNvPr id="20" name="TextBox 19"/>
          <p:cNvSpPr txBox="1"/>
          <p:nvPr/>
        </p:nvSpPr>
        <p:spPr>
          <a:xfrm>
            <a:off x="4533290" y="1917471"/>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21" name="TextBox 20"/>
          <p:cNvSpPr txBox="1"/>
          <p:nvPr/>
        </p:nvSpPr>
        <p:spPr>
          <a:xfrm>
            <a:off x="4670450" y="1921128"/>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Vòng đời &amp; trạng thái dữ liệu</a:t>
            </a:r>
          </a:p>
        </p:txBody>
      </p:sp>
      <p:sp>
        <p:nvSpPr>
          <p:cNvPr id="22" name="TextBox 21"/>
          <p:cNvSpPr txBox="1"/>
          <p:nvPr/>
        </p:nvSpPr>
        <p:spPr>
          <a:xfrm>
            <a:off x="4533290" y="217045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23" name="TextBox 22"/>
          <p:cNvSpPr txBox="1"/>
          <p:nvPr/>
        </p:nvSpPr>
        <p:spPr>
          <a:xfrm>
            <a:off x="4670450" y="2174113"/>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Data-in-Transit &amp; Metadata</a:t>
            </a:r>
          </a:p>
        </p:txBody>
      </p:sp>
      <p:sp>
        <p:nvSpPr>
          <p:cNvPr id="24" name="TextBox 23"/>
          <p:cNvSpPr txBox="1"/>
          <p:nvPr/>
        </p:nvSpPr>
        <p:spPr>
          <a:xfrm>
            <a:off x="4533290" y="2423439"/>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25" name="TextBox 24"/>
          <p:cNvSpPr txBox="1"/>
          <p:nvPr/>
        </p:nvSpPr>
        <p:spPr>
          <a:xfrm>
            <a:off x="4670450" y="2427097"/>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Privacy · Integrity · Location</a:t>
            </a:r>
          </a:p>
        </p:txBody>
      </p:sp>
      <p:sp>
        <p:nvSpPr>
          <p:cNvPr id="26" name="Rounded Rectangle 25"/>
          <p:cNvSpPr/>
          <p:nvPr/>
        </p:nvSpPr>
        <p:spPr>
          <a:xfrm>
            <a:off x="8097316" y="1517904"/>
            <a:ext cx="3527450" cy="1517904"/>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097316" y="1517904"/>
            <a:ext cx="59436" cy="15179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298484" y="1655063"/>
            <a:ext cx="3189122"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3 · MẬT MÃ NÂNG CAO CHO CLOUD</a:t>
            </a:r>
          </a:p>
        </p:txBody>
      </p:sp>
      <p:sp>
        <p:nvSpPr>
          <p:cNvPr id="29" name="TextBox 28"/>
          <p:cNvSpPr txBox="1"/>
          <p:nvPr/>
        </p:nvSpPr>
        <p:spPr>
          <a:xfrm>
            <a:off x="8298484" y="1917471"/>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30" name="TextBox 29"/>
          <p:cNvSpPr txBox="1"/>
          <p:nvPr/>
        </p:nvSpPr>
        <p:spPr>
          <a:xfrm>
            <a:off x="8435644" y="1921128"/>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Attribute-Based Encryption (ABE)</a:t>
            </a:r>
          </a:p>
        </p:txBody>
      </p:sp>
      <p:sp>
        <p:nvSpPr>
          <p:cNvPr id="31" name="TextBox 30"/>
          <p:cNvSpPr txBox="1"/>
          <p:nvPr/>
        </p:nvSpPr>
        <p:spPr>
          <a:xfrm>
            <a:off x="8298484" y="217045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32" name="TextBox 31"/>
          <p:cNvSpPr txBox="1"/>
          <p:nvPr/>
        </p:nvSpPr>
        <p:spPr>
          <a:xfrm>
            <a:off x="8435644" y="2174113"/>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Fully Homomorphic Encryption (FHE)</a:t>
            </a:r>
          </a:p>
        </p:txBody>
      </p:sp>
      <p:sp>
        <p:nvSpPr>
          <p:cNvPr id="33" name="TextBox 32"/>
          <p:cNvSpPr txBox="1"/>
          <p:nvPr/>
        </p:nvSpPr>
        <p:spPr>
          <a:xfrm>
            <a:off x="8298484" y="2423439"/>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34" name="TextBox 33"/>
          <p:cNvSpPr txBox="1"/>
          <p:nvPr/>
        </p:nvSpPr>
        <p:spPr>
          <a:xfrm>
            <a:off x="8435644" y="2427097"/>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Searchable Encryption (SE)</a:t>
            </a:r>
          </a:p>
        </p:txBody>
      </p:sp>
      <p:sp>
        <p:nvSpPr>
          <p:cNvPr id="35" name="Rounded Rectangle 34"/>
          <p:cNvSpPr/>
          <p:nvPr/>
        </p:nvSpPr>
        <p:spPr>
          <a:xfrm>
            <a:off x="566928" y="3310127"/>
            <a:ext cx="3527450" cy="1517904"/>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566928" y="3310127"/>
            <a:ext cx="59436" cy="1517904"/>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68096" y="3447287"/>
            <a:ext cx="3189122"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4 · BẢO VỆ HẠ TẦNG &amp; VÙNG TIN CẬY</a:t>
            </a:r>
          </a:p>
        </p:txBody>
      </p:sp>
      <p:sp>
        <p:nvSpPr>
          <p:cNvPr id="38" name="TextBox 37"/>
          <p:cNvSpPr txBox="1"/>
          <p:nvPr/>
        </p:nvSpPr>
        <p:spPr>
          <a:xfrm>
            <a:off x="768096" y="370969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39" name="TextBox 38"/>
          <p:cNvSpPr txBox="1"/>
          <p:nvPr/>
        </p:nvSpPr>
        <p:spPr>
          <a:xfrm>
            <a:off x="905256" y="3713352"/>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Public Cloud vs Private Cloud</a:t>
            </a:r>
          </a:p>
        </p:txBody>
      </p:sp>
      <p:sp>
        <p:nvSpPr>
          <p:cNvPr id="40" name="TextBox 39"/>
          <p:cNvSpPr txBox="1"/>
          <p:nvPr/>
        </p:nvSpPr>
        <p:spPr>
          <a:xfrm>
            <a:off x="768096" y="3962679"/>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41" name="TextBox 40"/>
          <p:cNvSpPr txBox="1"/>
          <p:nvPr/>
        </p:nvSpPr>
        <p:spPr>
          <a:xfrm>
            <a:off x="905256" y="3966336"/>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Network Security &amp; cấu hình sai</a:t>
            </a:r>
          </a:p>
        </p:txBody>
      </p:sp>
      <p:sp>
        <p:nvSpPr>
          <p:cNvPr id="42" name="TextBox 41"/>
          <p:cNvSpPr txBox="1"/>
          <p:nvPr/>
        </p:nvSpPr>
        <p:spPr>
          <a:xfrm>
            <a:off x="768096" y="4215663"/>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43" name="TextBox 42"/>
          <p:cNvSpPr txBox="1"/>
          <p:nvPr/>
        </p:nvSpPr>
        <p:spPr>
          <a:xfrm>
            <a:off x="905256" y="4219320"/>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Trust Zones &amp; IAM</a:t>
            </a:r>
          </a:p>
        </p:txBody>
      </p:sp>
      <p:sp>
        <p:nvSpPr>
          <p:cNvPr id="44" name="Rounded Rectangle 43"/>
          <p:cNvSpPr/>
          <p:nvPr/>
        </p:nvSpPr>
        <p:spPr>
          <a:xfrm>
            <a:off x="4332122" y="3310127"/>
            <a:ext cx="3527450" cy="1517904"/>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4332122" y="3310127"/>
            <a:ext cx="59436" cy="1517904"/>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33290" y="3447287"/>
            <a:ext cx="3189122"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5 · BẢO MẬT ỨNG DỤNG &amp; MÁY CHỦ</a:t>
            </a:r>
          </a:p>
        </p:txBody>
      </p:sp>
      <p:sp>
        <p:nvSpPr>
          <p:cNvPr id="47" name="TextBox 46"/>
          <p:cNvSpPr txBox="1"/>
          <p:nvPr/>
        </p:nvSpPr>
        <p:spPr>
          <a:xfrm>
            <a:off x="4533290" y="370969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48" name="TextBox 47"/>
          <p:cNvSpPr txBox="1"/>
          <p:nvPr/>
        </p:nvSpPr>
        <p:spPr>
          <a:xfrm>
            <a:off x="4670450" y="3713352"/>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IaaS · PaaS · SaaS</a:t>
            </a:r>
          </a:p>
        </p:txBody>
      </p:sp>
      <p:sp>
        <p:nvSpPr>
          <p:cNvPr id="49" name="TextBox 48"/>
          <p:cNvSpPr txBox="1"/>
          <p:nvPr/>
        </p:nvSpPr>
        <p:spPr>
          <a:xfrm>
            <a:off x="4533290" y="3962679"/>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50" name="TextBox 49"/>
          <p:cNvSpPr txBox="1"/>
          <p:nvPr/>
        </p:nvSpPr>
        <p:spPr>
          <a:xfrm>
            <a:off x="4670450" y="3966336"/>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Access Control · SSO · Hardening</a:t>
            </a:r>
          </a:p>
        </p:txBody>
      </p:sp>
      <p:sp>
        <p:nvSpPr>
          <p:cNvPr id="51" name="TextBox 50"/>
          <p:cNvSpPr txBox="1"/>
          <p:nvPr/>
        </p:nvSpPr>
        <p:spPr>
          <a:xfrm>
            <a:off x="4533290" y="4215663"/>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52" name="TextBox 51"/>
          <p:cNvSpPr txBox="1"/>
          <p:nvPr/>
        </p:nvSpPr>
        <p:spPr>
          <a:xfrm>
            <a:off x="4670450" y="4219320"/>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Virtual Server Security</a:t>
            </a:r>
          </a:p>
        </p:txBody>
      </p:sp>
      <p:sp>
        <p:nvSpPr>
          <p:cNvPr id="53" name="Rounded Rectangle 52"/>
          <p:cNvSpPr/>
          <p:nvPr/>
        </p:nvSpPr>
        <p:spPr>
          <a:xfrm>
            <a:off x="8097316" y="3310127"/>
            <a:ext cx="3527450" cy="1517904"/>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8097316" y="3310127"/>
            <a:ext cx="59436" cy="1517904"/>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8298484" y="3447287"/>
            <a:ext cx="3189122" cy="202057"/>
          </a:xfrm>
          <a:prstGeom prst="rect">
            <a:avLst/>
          </a:prstGeom>
          <a:noFill/>
        </p:spPr>
        <p:txBody>
          <a:bodyPr wrap="square" lIns="0" rIns="0" tIns="0" bIns="0" anchor="t">
            <a:spAutoFit/>
          </a:bodyPr>
          <a:lstStyle/>
          <a:p>
            <a:pPr algn="l">
              <a:lnSpc>
                <a:spcPct val="110000"/>
              </a:lnSpc>
              <a:spcBef>
                <a:spcPts val="0"/>
              </a:spcBef>
              <a:spcAft>
                <a:spcPts val="0"/>
              </a:spcAft>
            </a:pPr>
            <a:r>
              <a:rPr sz="1250" b="1" i="0">
                <a:solidFill>
                  <a:srgbClr val="0E2D4E"/>
                </a:solidFill>
                <a:latin typeface="Arial"/>
              </a:rPr>
              <a:t>6 · KIỂM SOÁT &amp; PHÒNG THỦ ĐA LỚP</a:t>
            </a:r>
          </a:p>
        </p:txBody>
      </p:sp>
      <p:sp>
        <p:nvSpPr>
          <p:cNvPr id="56" name="TextBox 55"/>
          <p:cNvSpPr txBox="1"/>
          <p:nvPr/>
        </p:nvSpPr>
        <p:spPr>
          <a:xfrm>
            <a:off x="8298484" y="370969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57" name="TextBox 56"/>
          <p:cNvSpPr txBox="1"/>
          <p:nvPr/>
        </p:nvSpPr>
        <p:spPr>
          <a:xfrm>
            <a:off x="8435644" y="3713352"/>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Deterrent · Preventive</a:t>
            </a:r>
          </a:p>
        </p:txBody>
      </p:sp>
      <p:sp>
        <p:nvSpPr>
          <p:cNvPr id="58" name="TextBox 57"/>
          <p:cNvSpPr txBox="1"/>
          <p:nvPr/>
        </p:nvSpPr>
        <p:spPr>
          <a:xfrm>
            <a:off x="8298484" y="3962679"/>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59" name="TextBox 58"/>
          <p:cNvSpPr txBox="1"/>
          <p:nvPr/>
        </p:nvSpPr>
        <p:spPr>
          <a:xfrm>
            <a:off x="8435644" y="3966336"/>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Detective · Corrective</a:t>
            </a:r>
          </a:p>
        </p:txBody>
      </p:sp>
      <p:sp>
        <p:nvSpPr>
          <p:cNvPr id="60" name="TextBox 59"/>
          <p:cNvSpPr txBox="1"/>
          <p:nvPr/>
        </p:nvSpPr>
        <p:spPr>
          <a:xfrm>
            <a:off x="8298484" y="4215663"/>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1F6FB2"/>
                </a:solidFill>
                <a:latin typeface="Arial"/>
              </a:rPr>
              <a:t>•</a:t>
            </a:r>
          </a:p>
        </p:txBody>
      </p:sp>
      <p:sp>
        <p:nvSpPr>
          <p:cNvPr id="61" name="TextBox 60"/>
          <p:cNvSpPr txBox="1"/>
          <p:nvPr/>
        </p:nvSpPr>
        <p:spPr>
          <a:xfrm>
            <a:off x="8435644" y="4219320"/>
            <a:ext cx="3051962" cy="189484"/>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Defense-in-Depth</a:t>
            </a:r>
          </a:p>
        </p:txBody>
      </p:sp>
      <p:sp>
        <p:nvSpPr>
          <p:cNvPr id="62" name="Rounded Rectangle 61"/>
          <p:cNvSpPr/>
          <p:nvPr/>
        </p:nvSpPr>
        <p:spPr>
          <a:xfrm>
            <a:off x="566928" y="5120640"/>
            <a:ext cx="11057839" cy="436016"/>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566928" y="5120640"/>
            <a:ext cx="64008" cy="436016"/>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749808" y="5239512"/>
            <a:ext cx="10728655" cy="19827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0E2D4E"/>
                </a:solidFill>
                <a:latin typeface="Arial"/>
              </a:rPr>
              <a:t>Mạch bài: từ </a:t>
            </a:r>
            <a:r>
              <a:rPr sz="1140" b="1" i="0">
                <a:solidFill>
                  <a:srgbClr val="0E2D4E"/>
                </a:solidFill>
                <a:latin typeface="Arial"/>
              </a:rPr>
              <a:t>trách nhiệm và mục tiêu bảo mật</a:t>
            </a:r>
            <a:r>
              <a:rPr sz="1140" b="0" i="0">
                <a:solidFill>
                  <a:srgbClr val="0E2D4E"/>
                </a:solidFill>
                <a:latin typeface="Arial"/>
              </a:rPr>
              <a:t> → </a:t>
            </a:r>
            <a:r>
              <a:rPr sz="1140" b="1" i="0">
                <a:solidFill>
                  <a:srgbClr val="0E2D4E"/>
                </a:solidFill>
                <a:latin typeface="Arial"/>
              </a:rPr>
              <a:t>bảo vệ dữ liệu</a:t>
            </a:r>
            <a:r>
              <a:rPr sz="1140" b="0" i="0">
                <a:solidFill>
                  <a:srgbClr val="0E2D4E"/>
                </a:solidFill>
                <a:latin typeface="Arial"/>
              </a:rPr>
              <a:t> → </a:t>
            </a:r>
            <a:r>
              <a:rPr sz="1140" b="1" i="0">
                <a:solidFill>
                  <a:srgbClr val="0E2D4E"/>
                </a:solidFill>
                <a:latin typeface="Arial"/>
              </a:rPr>
              <a:t>mật mã nâng cao</a:t>
            </a:r>
            <a:r>
              <a:rPr sz="1140" b="0" i="0">
                <a:solidFill>
                  <a:srgbClr val="0E2D4E"/>
                </a:solidFill>
                <a:latin typeface="Arial"/>
              </a:rPr>
              <a:t> → </a:t>
            </a:r>
            <a:r>
              <a:rPr sz="1140" b="1" i="0">
                <a:solidFill>
                  <a:srgbClr val="0E2D4E"/>
                </a:solidFill>
                <a:latin typeface="Arial"/>
              </a:rPr>
              <a:t>hạ tầng, ứng dụng, máy chủ</a:t>
            </a:r>
            <a:r>
              <a:rPr sz="1140" b="0" i="0">
                <a:solidFill>
                  <a:srgbClr val="0E2D4E"/>
                </a:solidFill>
                <a:latin typeface="Arial"/>
              </a:rPr>
              <a:t> → </a:t>
            </a:r>
            <a:r>
              <a:rPr sz="1140" b="1" i="0">
                <a:solidFill>
                  <a:srgbClr val="0E2D4E"/>
                </a:solidFill>
                <a:latin typeface="Arial"/>
              </a:rPr>
              <a:t>các lớp kiểm soát</a:t>
            </a:r>
            <a:r>
              <a:rPr sz="1140" b="0" i="0">
                <a:solidFill>
                  <a:srgbClr val="0E2D4E"/>
                </a:solidFill>
                <a:latin typeface="Arial"/>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PHẦN 1 · NỀN TẢNG BẢO MẬT ĐÁM MÂY</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NỀN TẢNG BẢO MẬT ĐÁM MÂY</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3/18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5367528"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Cloud Security là gì?</a:t>
            </a:r>
          </a:p>
        </p:txBody>
      </p:sp>
      <p:sp>
        <p:nvSpPr>
          <p:cNvPr id="10" name="Rounded Rectangle 9"/>
          <p:cNvSpPr/>
          <p:nvPr/>
        </p:nvSpPr>
        <p:spPr>
          <a:xfrm>
            <a:off x="566928" y="1550543"/>
            <a:ext cx="5486400" cy="749808"/>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94944" y="1678559"/>
            <a:ext cx="5230368" cy="351536"/>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2B3A47"/>
                </a:solidFill>
                <a:latin typeface="Arial"/>
              </a:rPr>
              <a:t>Tập hợp </a:t>
            </a:r>
            <a:r>
              <a:rPr sz="1100" b="1" i="0">
                <a:solidFill>
                  <a:srgbClr val="1F6FB2"/>
                </a:solidFill>
                <a:latin typeface="Arial"/>
              </a:rPr>
              <a:t>công nghệ · chính sách · quy trình · biện pháp kiểm soát</a:t>
            </a:r>
            <a:r>
              <a:rPr sz="1100" b="0" i="0">
                <a:solidFill>
                  <a:srgbClr val="2B3A47"/>
                </a:solidFill>
                <a:latin typeface="Arial"/>
              </a:rPr>
              <a:t> nhằm bảo vệ tài nguyên trên Cloud.</a:t>
            </a:r>
          </a:p>
        </p:txBody>
      </p:sp>
      <p:sp>
        <p:nvSpPr>
          <p:cNvPr id="12" name="Rounded Rectangle 11"/>
          <p:cNvSpPr/>
          <p:nvPr/>
        </p:nvSpPr>
        <p:spPr>
          <a:xfrm>
            <a:off x="566928" y="2428367"/>
            <a:ext cx="1261872"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Dữ liệu</a:t>
            </a:r>
          </a:p>
        </p:txBody>
      </p:sp>
      <p:sp>
        <p:nvSpPr>
          <p:cNvPr id="13" name="Rounded Rectangle 12"/>
          <p:cNvSpPr/>
          <p:nvPr/>
        </p:nvSpPr>
        <p:spPr>
          <a:xfrm>
            <a:off x="1975103" y="2428367"/>
            <a:ext cx="1261872"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Ứng dụng</a:t>
            </a:r>
          </a:p>
        </p:txBody>
      </p:sp>
      <p:sp>
        <p:nvSpPr>
          <p:cNvPr id="14" name="Rounded Rectangle 13"/>
          <p:cNvSpPr/>
          <p:nvPr/>
        </p:nvSpPr>
        <p:spPr>
          <a:xfrm>
            <a:off x="3383279" y="2428367"/>
            <a:ext cx="1261872"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Hạ tầng</a:t>
            </a:r>
          </a:p>
        </p:txBody>
      </p:sp>
      <p:sp>
        <p:nvSpPr>
          <p:cNvPr id="15" name="Rounded Rectangle 14"/>
          <p:cNvSpPr/>
          <p:nvPr/>
        </p:nvSpPr>
        <p:spPr>
          <a:xfrm>
            <a:off x="4791455" y="2428367"/>
            <a:ext cx="1261872"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Danh tính</a:t>
            </a:r>
          </a:p>
        </p:txBody>
      </p:sp>
      <p:sp>
        <p:nvSpPr>
          <p:cNvPr id="16" name="Rectangle 15"/>
          <p:cNvSpPr/>
          <p:nvPr/>
        </p:nvSpPr>
        <p:spPr>
          <a:xfrm>
            <a:off x="566928" y="2940431"/>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85800" y="2922143"/>
            <a:ext cx="5367528"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Shared Responsibility Model</a:t>
            </a:r>
          </a:p>
        </p:txBody>
      </p:sp>
      <p:sp>
        <p:nvSpPr>
          <p:cNvPr id="18" name="Rectangle 17"/>
          <p:cNvSpPr/>
          <p:nvPr/>
        </p:nvSpPr>
        <p:spPr>
          <a:xfrm>
            <a:off x="566928" y="3174238"/>
            <a:ext cx="5486400" cy="294386"/>
          </a:xfrm>
          <a:prstGeom prst="rect">
            <a:avLst/>
          </a:prstGeom>
          <a:solidFill>
            <a:srgbClr val="0E2D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8368" y="3174238"/>
            <a:ext cx="2560320"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CSP — Security OF the Cloud</a:t>
            </a:r>
          </a:p>
        </p:txBody>
      </p:sp>
      <p:sp>
        <p:nvSpPr>
          <p:cNvPr id="20" name="TextBox 19"/>
          <p:cNvSpPr txBox="1"/>
          <p:nvPr/>
        </p:nvSpPr>
        <p:spPr>
          <a:xfrm>
            <a:off x="3401568" y="3174238"/>
            <a:ext cx="2560320"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Khách hàng — Security IN the Cloud</a:t>
            </a:r>
          </a:p>
        </p:txBody>
      </p:sp>
      <p:sp>
        <p:nvSpPr>
          <p:cNvPr id="21" name="Rectangle 20"/>
          <p:cNvSpPr/>
          <p:nvPr/>
        </p:nvSpPr>
        <p:spPr>
          <a:xfrm>
            <a:off x="566928" y="3468624"/>
            <a:ext cx="5486400" cy="438302"/>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8368" y="3468624"/>
            <a:ext cx="2560320" cy="438302"/>
          </a:xfrm>
          <a:prstGeom prst="rect">
            <a:avLst/>
          </a:prstGeom>
          <a:noFill/>
        </p:spPr>
        <p:txBody>
          <a:bodyPr wrap="square" lIns="0" rIns="0" tIns="0" bIns="0" anchor="ctr">
            <a:spAutoFit/>
          </a:bodyPr>
          <a:lstStyle/>
          <a:p>
            <a:pPr algn="l">
              <a:lnSpc>
                <a:spcPct val="114000"/>
              </a:lnSpc>
              <a:spcBef>
                <a:spcPts val="0"/>
              </a:spcBef>
              <a:spcAft>
                <a:spcPts val="0"/>
              </a:spcAft>
            </a:pPr>
            <a:r>
              <a:rPr sz="1040" b="0" i="0">
                <a:solidFill>
                  <a:srgbClr val="2B3A47"/>
                </a:solidFill>
                <a:latin typeface="Arial"/>
              </a:rPr>
              <a:t>Trung tâm dữ liệu, phần cứng, mạng nền tảng</a:t>
            </a:r>
          </a:p>
        </p:txBody>
      </p:sp>
      <p:sp>
        <p:nvSpPr>
          <p:cNvPr id="23" name="TextBox 22"/>
          <p:cNvSpPr txBox="1"/>
          <p:nvPr/>
        </p:nvSpPr>
        <p:spPr>
          <a:xfrm>
            <a:off x="3401568" y="3468624"/>
            <a:ext cx="2560320" cy="438302"/>
          </a:xfrm>
          <a:prstGeom prst="rect">
            <a:avLst/>
          </a:prstGeom>
          <a:noFill/>
        </p:spPr>
        <p:txBody>
          <a:bodyPr wrap="square" lIns="0" rIns="0" tIns="0" bIns="0" anchor="ctr">
            <a:spAutoFit/>
          </a:bodyPr>
          <a:lstStyle/>
          <a:p>
            <a:pPr algn="l">
              <a:lnSpc>
                <a:spcPct val="114000"/>
              </a:lnSpc>
              <a:spcBef>
                <a:spcPts val="0"/>
              </a:spcBef>
              <a:spcAft>
                <a:spcPts val="0"/>
              </a:spcAft>
            </a:pPr>
            <a:r>
              <a:rPr sz="1040" b="0" i="0">
                <a:solidFill>
                  <a:srgbClr val="2B3A47"/>
                </a:solidFill>
                <a:latin typeface="Arial"/>
              </a:rPr>
              <a:t>Cấu hình tài nguyên</a:t>
            </a:r>
          </a:p>
        </p:txBody>
      </p:sp>
      <p:sp>
        <p:nvSpPr>
          <p:cNvPr id="24" name="Rectangle 23"/>
          <p:cNvSpPr/>
          <p:nvPr/>
        </p:nvSpPr>
        <p:spPr>
          <a:xfrm>
            <a:off x="566928" y="3906926"/>
            <a:ext cx="5486400" cy="287731"/>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8368" y="3906926"/>
            <a:ext cx="2560320" cy="287731"/>
          </a:xfrm>
          <a:prstGeom prst="rect">
            <a:avLst/>
          </a:prstGeom>
          <a:noFill/>
        </p:spPr>
        <p:txBody>
          <a:bodyPr wrap="square" lIns="0" rIns="0" tIns="0" bIns="0" anchor="ctr">
            <a:spAutoFit/>
          </a:bodyPr>
          <a:lstStyle/>
          <a:p>
            <a:pPr algn="l">
              <a:lnSpc>
                <a:spcPct val="114000"/>
              </a:lnSpc>
              <a:spcBef>
                <a:spcPts val="0"/>
              </a:spcBef>
              <a:spcAft>
                <a:spcPts val="0"/>
              </a:spcAft>
            </a:pPr>
            <a:r>
              <a:rPr sz="1040" b="0" i="0">
                <a:solidFill>
                  <a:srgbClr val="2B3A47"/>
                </a:solidFill>
                <a:latin typeface="Arial"/>
              </a:rPr>
              <a:t>Hạ tầng / dịch vụ do CSP cung cấp</a:t>
            </a:r>
          </a:p>
        </p:txBody>
      </p:sp>
      <p:sp>
        <p:nvSpPr>
          <p:cNvPr id="26" name="TextBox 25"/>
          <p:cNvSpPr txBox="1"/>
          <p:nvPr/>
        </p:nvSpPr>
        <p:spPr>
          <a:xfrm>
            <a:off x="3401568" y="3906926"/>
            <a:ext cx="2560320" cy="287731"/>
          </a:xfrm>
          <a:prstGeom prst="rect">
            <a:avLst/>
          </a:prstGeom>
          <a:noFill/>
        </p:spPr>
        <p:txBody>
          <a:bodyPr wrap="square" lIns="0" rIns="0" tIns="0" bIns="0" anchor="ctr">
            <a:spAutoFit/>
          </a:bodyPr>
          <a:lstStyle/>
          <a:p>
            <a:pPr algn="l">
              <a:lnSpc>
                <a:spcPct val="114000"/>
              </a:lnSpc>
              <a:spcBef>
                <a:spcPts val="0"/>
              </a:spcBef>
              <a:spcAft>
                <a:spcPts val="0"/>
              </a:spcAft>
            </a:pPr>
            <a:r>
              <a:rPr sz="1040" b="0" i="0">
                <a:solidFill>
                  <a:srgbClr val="2B3A47"/>
                </a:solidFill>
                <a:latin typeface="Arial"/>
              </a:rPr>
              <a:t>Danh tính &amp; quyền truy cập</a:t>
            </a:r>
          </a:p>
        </p:txBody>
      </p:sp>
      <p:sp>
        <p:nvSpPr>
          <p:cNvPr id="27" name="Rectangle 26"/>
          <p:cNvSpPr/>
          <p:nvPr/>
        </p:nvSpPr>
        <p:spPr>
          <a:xfrm>
            <a:off x="566928" y="4194657"/>
            <a:ext cx="5486400" cy="438302"/>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58368" y="4194657"/>
            <a:ext cx="2560320" cy="438302"/>
          </a:xfrm>
          <a:prstGeom prst="rect">
            <a:avLst/>
          </a:prstGeom>
          <a:noFill/>
        </p:spPr>
        <p:txBody>
          <a:bodyPr wrap="square" lIns="0" rIns="0" tIns="0" bIns="0" anchor="ctr">
            <a:spAutoFit/>
          </a:bodyPr>
          <a:lstStyle/>
          <a:p>
            <a:pPr algn="l">
              <a:lnSpc>
                <a:spcPct val="114000"/>
              </a:lnSpc>
              <a:spcBef>
                <a:spcPts val="0"/>
              </a:spcBef>
              <a:spcAft>
                <a:spcPts val="0"/>
              </a:spcAft>
            </a:pPr>
            <a:r>
              <a:rPr sz="1040" b="0" i="0">
                <a:solidFill>
                  <a:srgbClr val="2B3A47"/>
                </a:solidFill>
                <a:latin typeface="Arial"/>
              </a:rPr>
              <a:t>Bảo mật nền tảng Cloud</a:t>
            </a:r>
          </a:p>
        </p:txBody>
      </p:sp>
      <p:sp>
        <p:nvSpPr>
          <p:cNvPr id="29" name="TextBox 28"/>
          <p:cNvSpPr txBox="1"/>
          <p:nvPr/>
        </p:nvSpPr>
        <p:spPr>
          <a:xfrm>
            <a:off x="3401568" y="4194657"/>
            <a:ext cx="2560320" cy="438302"/>
          </a:xfrm>
          <a:prstGeom prst="rect">
            <a:avLst/>
          </a:prstGeom>
          <a:noFill/>
        </p:spPr>
        <p:txBody>
          <a:bodyPr wrap="square" lIns="0" rIns="0" tIns="0" bIns="0" anchor="ctr">
            <a:spAutoFit/>
          </a:bodyPr>
          <a:lstStyle/>
          <a:p>
            <a:pPr algn="l">
              <a:lnSpc>
                <a:spcPct val="114000"/>
              </a:lnSpc>
              <a:spcBef>
                <a:spcPts val="0"/>
              </a:spcBef>
              <a:spcAft>
                <a:spcPts val="0"/>
              </a:spcAft>
            </a:pPr>
            <a:r>
              <a:rPr sz="1040" b="0" i="0">
                <a:solidFill>
                  <a:srgbClr val="2B3A47"/>
                </a:solidFill>
                <a:latin typeface="Arial"/>
              </a:rPr>
              <a:t>Dữ liệu, ứng dụng &amp; biện pháp tự triển khai</a:t>
            </a:r>
          </a:p>
        </p:txBody>
      </p:sp>
      <p:sp>
        <p:nvSpPr>
          <p:cNvPr id="30" name="Rounded Rectangle 29"/>
          <p:cNvSpPr/>
          <p:nvPr/>
        </p:nvSpPr>
        <p:spPr>
          <a:xfrm>
            <a:off x="566928" y="4760975"/>
            <a:ext cx="5486400" cy="430022"/>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566928" y="4760975"/>
            <a:ext cx="64008" cy="43002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49808" y="4879847"/>
            <a:ext cx="5157216" cy="192278"/>
          </a:xfrm>
          <a:prstGeom prst="rect">
            <a:avLst/>
          </a:prstGeom>
          <a:noFill/>
        </p:spPr>
        <p:txBody>
          <a:bodyPr wrap="square" lIns="0" rIns="0" tIns="0" bIns="0" anchor="t">
            <a:spAutoFit/>
          </a:bodyPr>
          <a:lstStyle/>
          <a:p>
            <a:pPr algn="l">
              <a:lnSpc>
                <a:spcPct val="118000"/>
              </a:lnSpc>
              <a:spcBef>
                <a:spcPts val="0"/>
              </a:spcBef>
              <a:spcAft>
                <a:spcPts val="0"/>
              </a:spcAft>
            </a:pPr>
            <a:r>
              <a:rPr sz="1100" b="0" i="0">
                <a:solidFill>
                  <a:srgbClr val="0E2D4E"/>
                </a:solidFill>
                <a:latin typeface="Arial"/>
              </a:rPr>
              <a:t>Ranh giới trách nhiệm </a:t>
            </a:r>
            <a:r>
              <a:rPr sz="1100" b="1" i="0">
                <a:solidFill>
                  <a:srgbClr val="0E2D4E"/>
                </a:solidFill>
                <a:latin typeface="Arial"/>
              </a:rPr>
              <a:t>thay đổi theo IaaS → PaaS → SaaS</a:t>
            </a:r>
            <a:r>
              <a:rPr sz="1100" b="0" i="0">
                <a:solidFill>
                  <a:srgbClr val="0E2D4E"/>
                </a:solidFill>
                <a:latin typeface="Arial"/>
              </a:rPr>
              <a:t>.</a:t>
            </a:r>
          </a:p>
        </p:txBody>
      </p:sp>
      <p:sp>
        <p:nvSpPr>
          <p:cNvPr id="33" name="Rounded Rectangle 32"/>
          <p:cNvSpPr/>
          <p:nvPr/>
        </p:nvSpPr>
        <p:spPr>
          <a:xfrm>
            <a:off x="566928" y="5337301"/>
            <a:ext cx="5486400" cy="759714"/>
          </a:xfrm>
          <a:prstGeom prst="roundRect">
            <a:avLst>
              <a:gd name="adj" fmla="val 10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566928" y="5337301"/>
            <a:ext cx="64008" cy="759714"/>
          </a:xfrm>
          <a:prstGeom prst="rect">
            <a:avLst/>
          </a:prstGeom>
          <a:solidFill>
            <a:srgbClr val="B83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49808" y="5456173"/>
            <a:ext cx="5157216" cy="521970"/>
          </a:xfrm>
          <a:prstGeom prst="rect">
            <a:avLst/>
          </a:prstGeom>
          <a:noFill/>
        </p:spPr>
        <p:txBody>
          <a:bodyPr wrap="square" lIns="0" rIns="0" tIns="0" bIns="0" anchor="t">
            <a:spAutoFit/>
          </a:bodyPr>
          <a:lstStyle/>
          <a:p>
            <a:pPr algn="l">
              <a:lnSpc>
                <a:spcPct val="118000"/>
              </a:lnSpc>
              <a:spcBef>
                <a:spcPts val="0"/>
              </a:spcBef>
              <a:spcAft>
                <a:spcPts val="0"/>
              </a:spcAft>
            </a:pPr>
            <a:r>
              <a:rPr sz="1100" b="1" i="0">
                <a:solidFill>
                  <a:srgbClr val="B8342A"/>
                </a:solidFill>
                <a:latin typeface="Arial"/>
              </a:rPr>
              <a:t>Dữ liệu bị rò rỉ — ai chịu trách nhiệm?</a:t>
            </a:r>
            <a:r>
              <a:rPr sz="1100" b="0" i="0">
                <a:solidFill>
                  <a:srgbClr val="B8342A"/>
                </a:solidFill>
                <a:latin typeface="Arial"/>
              </a:rPr>
              <a:t> Không có câu trả lời duy nhất: cần xác định </a:t>
            </a:r>
            <a:r>
              <a:rPr sz="1100" b="1" i="0">
                <a:solidFill>
                  <a:srgbClr val="B8342A"/>
                </a:solidFill>
                <a:latin typeface="Arial"/>
              </a:rPr>
              <a:t>nguyên nhân sự cố</a:t>
            </a:r>
            <a:r>
              <a:rPr sz="1100" b="0" i="0">
                <a:solidFill>
                  <a:srgbClr val="B8342A"/>
                </a:solidFill>
                <a:latin typeface="Arial"/>
              </a:rPr>
              <a:t> và </a:t>
            </a:r>
            <a:r>
              <a:rPr sz="1100" b="1" i="0">
                <a:solidFill>
                  <a:srgbClr val="B8342A"/>
                </a:solidFill>
                <a:latin typeface="Arial"/>
              </a:rPr>
              <a:t>ranh giới trách nhiệm</a:t>
            </a:r>
            <a:r>
              <a:rPr sz="1100" b="0" i="0">
                <a:solidFill>
                  <a:srgbClr val="B8342A"/>
                </a:solidFill>
                <a:latin typeface="Arial"/>
              </a:rPr>
              <a:t> của dịch vụ đang dùng.</a:t>
            </a:r>
          </a:p>
        </p:txBody>
      </p:sp>
      <p:sp>
        <p:nvSpPr>
          <p:cNvPr id="36" name="Rectangle 35"/>
          <p:cNvSpPr/>
          <p:nvPr/>
        </p:nvSpPr>
        <p:spPr>
          <a:xfrm>
            <a:off x="6345936"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64808" y="1298448"/>
            <a:ext cx="515995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3 · Mục tiêu bảo mật: CIA Triad</a:t>
            </a:r>
          </a:p>
        </p:txBody>
      </p:sp>
      <p:sp>
        <p:nvSpPr>
          <p:cNvPr id="38" name="Rounded Rectangle 37"/>
          <p:cNvSpPr/>
          <p:nvPr/>
        </p:nvSpPr>
        <p:spPr>
          <a:xfrm>
            <a:off x="6345936" y="1550543"/>
            <a:ext cx="1649882" cy="1444752"/>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6345936" y="1550543"/>
            <a:ext cx="59436" cy="144475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547104" y="1687702"/>
            <a:ext cx="1311554" cy="189484"/>
          </a:xfrm>
          <a:prstGeom prst="rect">
            <a:avLst/>
          </a:prstGeom>
          <a:noFill/>
        </p:spPr>
        <p:txBody>
          <a:bodyPr wrap="square" lIns="0" rIns="0" tIns="0" bIns="0" anchor="t">
            <a:spAutoFit/>
          </a:bodyPr>
          <a:lstStyle/>
          <a:p>
            <a:pPr algn="l">
              <a:lnSpc>
                <a:spcPct val="110000"/>
              </a:lnSpc>
              <a:spcBef>
                <a:spcPts val="0"/>
              </a:spcBef>
              <a:spcAft>
                <a:spcPts val="0"/>
              </a:spcAft>
            </a:pPr>
            <a:r>
              <a:rPr sz="1160" b="1" i="0">
                <a:solidFill>
                  <a:srgbClr val="0E2D4E"/>
                </a:solidFill>
                <a:latin typeface="Arial"/>
              </a:rPr>
              <a:t>Confidentiality</a:t>
            </a:r>
          </a:p>
        </p:txBody>
      </p:sp>
      <p:sp>
        <p:nvSpPr>
          <p:cNvPr id="41" name="TextBox 40"/>
          <p:cNvSpPr txBox="1"/>
          <p:nvPr/>
        </p:nvSpPr>
        <p:spPr>
          <a:xfrm>
            <a:off x="6547104" y="1941195"/>
            <a:ext cx="1311554" cy="495909"/>
          </a:xfrm>
          <a:prstGeom prst="rect">
            <a:avLst/>
          </a:prstGeom>
          <a:noFill/>
        </p:spPr>
        <p:txBody>
          <a:bodyPr wrap="square" lIns="0" rIns="0" tIns="0" bIns="0" anchor="t">
            <a:spAutoFit/>
          </a:bodyPr>
          <a:lstStyle/>
          <a:p>
            <a:pPr algn="l">
              <a:lnSpc>
                <a:spcPct val="116000"/>
              </a:lnSpc>
              <a:spcBef>
                <a:spcPts val="0"/>
              </a:spcBef>
              <a:spcAft>
                <a:spcPts val="0"/>
              </a:spcAft>
            </a:pPr>
            <a:r>
              <a:rPr sz="1060" b="0" i="0">
                <a:solidFill>
                  <a:srgbClr val="2B3A47"/>
                </a:solidFill>
                <a:latin typeface="Arial"/>
              </a:rPr>
              <a:t>Chỉ người được phép mới truy cập được dữ liệu.</a:t>
            </a:r>
          </a:p>
        </p:txBody>
      </p:sp>
      <p:sp>
        <p:nvSpPr>
          <p:cNvPr id="42" name="Rounded Rectangle 41"/>
          <p:cNvSpPr/>
          <p:nvPr/>
        </p:nvSpPr>
        <p:spPr>
          <a:xfrm>
            <a:off x="8160410" y="1550543"/>
            <a:ext cx="1649882" cy="1444752"/>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8160410" y="1550543"/>
            <a:ext cx="59436" cy="144475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8361578" y="1687702"/>
            <a:ext cx="1311554" cy="189484"/>
          </a:xfrm>
          <a:prstGeom prst="rect">
            <a:avLst/>
          </a:prstGeom>
          <a:noFill/>
        </p:spPr>
        <p:txBody>
          <a:bodyPr wrap="square" lIns="0" rIns="0" tIns="0" bIns="0" anchor="t">
            <a:spAutoFit/>
          </a:bodyPr>
          <a:lstStyle/>
          <a:p>
            <a:pPr algn="l">
              <a:lnSpc>
                <a:spcPct val="110000"/>
              </a:lnSpc>
              <a:spcBef>
                <a:spcPts val="0"/>
              </a:spcBef>
              <a:spcAft>
                <a:spcPts val="0"/>
              </a:spcAft>
            </a:pPr>
            <a:r>
              <a:rPr sz="1160" b="1" i="0">
                <a:solidFill>
                  <a:srgbClr val="0E2D4E"/>
                </a:solidFill>
                <a:latin typeface="Arial"/>
              </a:rPr>
              <a:t>Integrity</a:t>
            </a:r>
          </a:p>
        </p:txBody>
      </p:sp>
      <p:sp>
        <p:nvSpPr>
          <p:cNvPr id="45" name="TextBox 44"/>
          <p:cNvSpPr txBox="1"/>
          <p:nvPr/>
        </p:nvSpPr>
        <p:spPr>
          <a:xfrm>
            <a:off x="8361578" y="1941195"/>
            <a:ext cx="1311554" cy="339750"/>
          </a:xfrm>
          <a:prstGeom prst="rect">
            <a:avLst/>
          </a:prstGeom>
          <a:noFill/>
        </p:spPr>
        <p:txBody>
          <a:bodyPr wrap="square" lIns="0" rIns="0" tIns="0" bIns="0" anchor="t">
            <a:spAutoFit/>
          </a:bodyPr>
          <a:lstStyle/>
          <a:p>
            <a:pPr algn="l">
              <a:lnSpc>
                <a:spcPct val="116000"/>
              </a:lnSpc>
              <a:spcBef>
                <a:spcPts val="0"/>
              </a:spcBef>
              <a:spcAft>
                <a:spcPts val="0"/>
              </a:spcAft>
            </a:pPr>
            <a:r>
              <a:rPr sz="1060" b="0" i="0">
                <a:solidFill>
                  <a:srgbClr val="2B3A47"/>
                </a:solidFill>
                <a:latin typeface="Arial"/>
              </a:rPr>
              <a:t>Dữ liệu không bị thay đổi trái phép.</a:t>
            </a:r>
          </a:p>
        </p:txBody>
      </p:sp>
      <p:sp>
        <p:nvSpPr>
          <p:cNvPr id="46" name="Rounded Rectangle 45"/>
          <p:cNvSpPr/>
          <p:nvPr/>
        </p:nvSpPr>
        <p:spPr>
          <a:xfrm>
            <a:off x="9974884" y="1550543"/>
            <a:ext cx="1649882" cy="1444752"/>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9974884" y="1550543"/>
            <a:ext cx="59436" cy="144475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0176052" y="1687702"/>
            <a:ext cx="1311554" cy="189484"/>
          </a:xfrm>
          <a:prstGeom prst="rect">
            <a:avLst/>
          </a:prstGeom>
          <a:noFill/>
        </p:spPr>
        <p:txBody>
          <a:bodyPr wrap="square" lIns="0" rIns="0" tIns="0" bIns="0" anchor="t">
            <a:spAutoFit/>
          </a:bodyPr>
          <a:lstStyle/>
          <a:p>
            <a:pPr algn="l">
              <a:lnSpc>
                <a:spcPct val="110000"/>
              </a:lnSpc>
              <a:spcBef>
                <a:spcPts val="0"/>
              </a:spcBef>
              <a:spcAft>
                <a:spcPts val="0"/>
              </a:spcAft>
            </a:pPr>
            <a:r>
              <a:rPr sz="1160" b="1" i="0">
                <a:solidFill>
                  <a:srgbClr val="0E2D4E"/>
                </a:solidFill>
                <a:latin typeface="Arial"/>
              </a:rPr>
              <a:t>Availability</a:t>
            </a:r>
          </a:p>
        </p:txBody>
      </p:sp>
      <p:sp>
        <p:nvSpPr>
          <p:cNvPr id="49" name="TextBox 48"/>
          <p:cNvSpPr txBox="1"/>
          <p:nvPr/>
        </p:nvSpPr>
        <p:spPr>
          <a:xfrm>
            <a:off x="10176052" y="1941195"/>
            <a:ext cx="1311554" cy="495909"/>
          </a:xfrm>
          <a:prstGeom prst="rect">
            <a:avLst/>
          </a:prstGeom>
          <a:noFill/>
        </p:spPr>
        <p:txBody>
          <a:bodyPr wrap="square" lIns="0" rIns="0" tIns="0" bIns="0" anchor="t">
            <a:spAutoFit/>
          </a:bodyPr>
          <a:lstStyle/>
          <a:p>
            <a:pPr algn="l">
              <a:lnSpc>
                <a:spcPct val="116000"/>
              </a:lnSpc>
              <a:spcBef>
                <a:spcPts val="0"/>
              </a:spcBef>
              <a:spcAft>
                <a:spcPts val="0"/>
              </a:spcAft>
            </a:pPr>
            <a:r>
              <a:rPr sz="1060" b="0" i="0">
                <a:solidFill>
                  <a:srgbClr val="2B3A47"/>
                </a:solidFill>
                <a:latin typeface="Arial"/>
              </a:rPr>
              <a:t>Sẵn sàng khi người dùng hợp lệ cần dùng.</a:t>
            </a:r>
          </a:p>
        </p:txBody>
      </p:sp>
      <p:sp>
        <p:nvSpPr>
          <p:cNvPr id="50" name="Rounded Rectangle 49"/>
          <p:cNvSpPr/>
          <p:nvPr/>
        </p:nvSpPr>
        <p:spPr>
          <a:xfrm>
            <a:off x="6345936" y="3159887"/>
            <a:ext cx="5278831" cy="594868"/>
          </a:xfrm>
          <a:prstGeom prst="roundRect">
            <a:avLst>
              <a:gd name="adj" fmla="val 10000"/>
            </a:avLst>
          </a:prstGeom>
          <a:solidFill>
            <a:srgbClr val="FDF4E4"/>
          </a:solidFill>
          <a:ln w="12700">
            <a:solidFill>
              <a:srgbClr val="EBD2A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6345936" y="3159887"/>
            <a:ext cx="64008" cy="594868"/>
          </a:xfrm>
          <a:prstGeom prst="rect">
            <a:avLst/>
          </a:prstGeom>
          <a:solidFill>
            <a:srgbClr val="A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528816" y="3278759"/>
            <a:ext cx="4949647" cy="357124"/>
          </a:xfrm>
          <a:prstGeom prst="rect">
            <a:avLst/>
          </a:prstGeom>
          <a:noFill/>
        </p:spPr>
        <p:txBody>
          <a:bodyPr wrap="square" lIns="0" rIns="0" tIns="0" bIns="0" anchor="t">
            <a:spAutoFit/>
          </a:bodyPr>
          <a:lstStyle/>
          <a:p>
            <a:pPr algn="l">
              <a:lnSpc>
                <a:spcPct val="118000"/>
              </a:lnSpc>
              <a:spcBef>
                <a:spcPts val="0"/>
              </a:spcBef>
              <a:spcAft>
                <a:spcPts val="0"/>
              </a:spcAft>
            </a:pPr>
            <a:r>
              <a:rPr sz="1100" b="1" i="0">
                <a:solidFill>
                  <a:srgbClr val="A86A00"/>
                </a:solidFill>
                <a:latin typeface="Arial"/>
              </a:rPr>
              <a:t>Thách thức trong Cloud:</a:t>
            </a:r>
            <a:r>
              <a:rPr sz="1100" b="0" i="0">
                <a:solidFill>
                  <a:srgbClr val="A86A00"/>
                </a:solidFill>
                <a:latin typeface="Arial"/>
              </a:rPr>
              <a:t> bên thứ ba + truy cập qua mạng + tài nguyên dùng chung + cấu hình động → duy trì CIA khó hơn.</a:t>
            </a:r>
          </a:p>
        </p:txBody>
      </p:sp>
      <p:sp>
        <p:nvSpPr>
          <p:cNvPr id="53" name="Rounded Rectangle 52"/>
          <p:cNvSpPr/>
          <p:nvPr/>
        </p:nvSpPr>
        <p:spPr>
          <a:xfrm>
            <a:off x="6345936" y="3937635"/>
            <a:ext cx="5278831" cy="609854"/>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6345936" y="3937635"/>
            <a:ext cx="64008" cy="609854"/>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6528816" y="4056507"/>
            <a:ext cx="4949647" cy="372110"/>
          </a:xfrm>
          <a:prstGeom prst="rect">
            <a:avLst/>
          </a:prstGeom>
          <a:noFill/>
        </p:spPr>
        <p:txBody>
          <a:bodyPr wrap="square" lIns="0" rIns="0" tIns="0" bIns="0" anchor="t">
            <a:spAutoFit/>
          </a:bodyPr>
          <a:lstStyle/>
          <a:p>
            <a:pPr algn="l">
              <a:lnSpc>
                <a:spcPct val="118000"/>
              </a:lnSpc>
              <a:spcBef>
                <a:spcPts val="0"/>
              </a:spcBef>
              <a:spcAft>
                <a:spcPts val="0"/>
              </a:spcAft>
            </a:pPr>
            <a:r>
              <a:rPr sz="1150" b="0" i="0">
                <a:solidFill>
                  <a:srgbClr val="FFFFFF"/>
                </a:solidFill>
                <a:latin typeface="Arial"/>
              </a:rPr>
              <a:t>Cloud Security = </a:t>
            </a:r>
            <a:r>
              <a:rPr sz="1150" b="1" i="0">
                <a:solidFill>
                  <a:srgbClr val="FFFFFF"/>
                </a:solidFill>
                <a:latin typeface="Arial"/>
              </a:rPr>
              <a:t>bảo vệ tài nguyên Cloud</a:t>
            </a:r>
            <a:r>
              <a:rPr sz="1150" b="0" i="0">
                <a:solidFill>
                  <a:srgbClr val="FFFFFF"/>
                </a:solidFill>
                <a:latin typeface="Arial"/>
              </a:rPr>
              <a:t> + </a:t>
            </a:r>
            <a:r>
              <a:rPr sz="1150" b="1" i="0">
                <a:solidFill>
                  <a:srgbClr val="FFFFFF"/>
                </a:solidFill>
                <a:latin typeface="Arial"/>
              </a:rPr>
              <a:t>xác định đúng trách nhiệm</a:t>
            </a:r>
            <a:r>
              <a:rPr sz="1150" b="0" i="0">
                <a:solidFill>
                  <a:srgbClr val="FFFFFF"/>
                </a:solidFill>
                <a:latin typeface="Arial"/>
              </a:rPr>
              <a:t> + </a:t>
            </a:r>
            <a:r>
              <a:rPr sz="1150" b="1" i="0">
                <a:solidFill>
                  <a:srgbClr val="FFFFFF"/>
                </a:solidFill>
                <a:latin typeface="Arial"/>
              </a:rPr>
              <a:t>duy trì CIA</a:t>
            </a:r>
            <a:r>
              <a:rPr sz="1150" b="0" i="0">
                <a:solidFill>
                  <a:srgbClr val="FFFFFF"/>
                </a:solidFill>
                <a:latin typeface="Arial"/>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PHẦN 2 · BẢO VỆ DỮ LIỆU TRÊN CLOUD</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BẢO VỆ DỮ LIỆU TRÊN CLOUD</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4/18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Dữ liệu trên Cloud đi qua đâu?</a:t>
            </a:r>
          </a:p>
        </p:txBody>
      </p:sp>
      <p:sp>
        <p:nvSpPr>
          <p:cNvPr id="10" name="Rounded Rectangle 9"/>
          <p:cNvSpPr/>
          <p:nvPr/>
        </p:nvSpPr>
        <p:spPr>
          <a:xfrm>
            <a:off x="566928" y="1550543"/>
            <a:ext cx="1992111" cy="40233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40" b="1" i="0">
                <a:solidFill>
                  <a:srgbClr val="0E2D4E"/>
                </a:solidFill>
                <a:latin typeface="Arial"/>
              </a:rPr>
              <a:t>User</a:t>
            </a:r>
          </a:p>
        </p:txBody>
      </p:sp>
      <p:sp>
        <p:nvSpPr>
          <p:cNvPr id="11" name="Right Arrow 10"/>
          <p:cNvSpPr/>
          <p:nvPr/>
        </p:nvSpPr>
        <p:spPr>
          <a:xfrm>
            <a:off x="2586471" y="1683131"/>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2833359" y="1550543"/>
            <a:ext cx="1992111" cy="40233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40" b="1" i="0">
                <a:solidFill>
                  <a:srgbClr val="0E2D4E"/>
                </a:solidFill>
                <a:latin typeface="Arial"/>
              </a:rPr>
              <a:t>Network</a:t>
            </a:r>
          </a:p>
        </p:txBody>
      </p:sp>
      <p:sp>
        <p:nvSpPr>
          <p:cNvPr id="13" name="Right Arrow 12"/>
          <p:cNvSpPr/>
          <p:nvPr/>
        </p:nvSpPr>
        <p:spPr>
          <a:xfrm>
            <a:off x="4852903" y="1683131"/>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099791" y="1550543"/>
            <a:ext cx="1992111" cy="40233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40" b="1" i="0">
                <a:solidFill>
                  <a:srgbClr val="0E2D4E"/>
                </a:solidFill>
                <a:latin typeface="Arial"/>
              </a:rPr>
              <a:t>Cloud Storage</a:t>
            </a:r>
          </a:p>
        </p:txBody>
      </p:sp>
      <p:sp>
        <p:nvSpPr>
          <p:cNvPr id="15" name="Right Arrow 14"/>
          <p:cNvSpPr/>
          <p:nvPr/>
        </p:nvSpPr>
        <p:spPr>
          <a:xfrm>
            <a:off x="7119335" y="1683131"/>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7366223" y="1550543"/>
            <a:ext cx="1992111" cy="40233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40" b="1" i="0">
                <a:solidFill>
                  <a:srgbClr val="0E2D4E"/>
                </a:solidFill>
                <a:latin typeface="Arial"/>
              </a:rPr>
              <a:t>Cloud Processing</a:t>
            </a:r>
          </a:p>
        </p:txBody>
      </p:sp>
      <p:sp>
        <p:nvSpPr>
          <p:cNvPr id="17" name="Right Arrow 16"/>
          <p:cNvSpPr/>
          <p:nvPr/>
        </p:nvSpPr>
        <p:spPr>
          <a:xfrm>
            <a:off x="9385767" y="1683131"/>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9632655" y="1550543"/>
            <a:ext cx="1992111" cy="40233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40" b="1" i="0">
                <a:solidFill>
                  <a:srgbClr val="0E2D4E"/>
                </a:solidFill>
                <a:latin typeface="Arial"/>
              </a:rPr>
              <a:t>User</a:t>
            </a:r>
          </a:p>
        </p:txBody>
      </p:sp>
      <p:sp>
        <p:nvSpPr>
          <p:cNvPr id="19" name="Rounded Rectangle 18"/>
          <p:cNvSpPr/>
          <p:nvPr/>
        </p:nvSpPr>
        <p:spPr>
          <a:xfrm>
            <a:off x="566928" y="2099183"/>
            <a:ext cx="3539642" cy="1115568"/>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66928" y="2099183"/>
            <a:ext cx="59436" cy="111556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8096" y="2236343"/>
            <a:ext cx="3201314" cy="197866"/>
          </a:xfrm>
          <a:prstGeom prst="rect">
            <a:avLst/>
          </a:prstGeom>
          <a:noFill/>
        </p:spPr>
        <p:txBody>
          <a:bodyPr wrap="square" lIns="0" rIns="0" tIns="0" bIns="0" anchor="t">
            <a:spAutoFit/>
          </a:bodyPr>
          <a:lstStyle/>
          <a:p>
            <a:pPr algn="l">
              <a:lnSpc>
                <a:spcPct val="110000"/>
              </a:lnSpc>
              <a:spcBef>
                <a:spcPts val="0"/>
              </a:spcBef>
              <a:spcAft>
                <a:spcPts val="0"/>
              </a:spcAft>
            </a:pPr>
            <a:r>
              <a:rPr sz="1220" b="1" i="0">
                <a:solidFill>
                  <a:srgbClr val="0E2D4E"/>
                </a:solidFill>
                <a:latin typeface="Arial"/>
              </a:rPr>
              <a:t>Data-in-Transit</a:t>
            </a:r>
          </a:p>
        </p:txBody>
      </p:sp>
      <p:sp>
        <p:nvSpPr>
          <p:cNvPr id="22" name="TextBox 21"/>
          <p:cNvSpPr txBox="1"/>
          <p:nvPr/>
        </p:nvSpPr>
        <p:spPr>
          <a:xfrm>
            <a:off x="768096" y="2498217"/>
            <a:ext cx="3201314" cy="403250"/>
          </a:xfrm>
          <a:prstGeom prst="rect">
            <a:avLst/>
          </a:prstGeom>
          <a:noFill/>
        </p:spPr>
        <p:txBody>
          <a:bodyPr wrap="square" lIns="0" rIns="0" tIns="0" bIns="0" anchor="t">
            <a:spAutoFit/>
          </a:bodyPr>
          <a:lstStyle/>
          <a:p>
            <a:pPr algn="l">
              <a:lnSpc>
                <a:spcPct val="116000"/>
              </a:lnSpc>
              <a:spcBef>
                <a:spcPts val="0"/>
              </a:spcBef>
              <a:spcAft>
                <a:spcPts val="500"/>
              </a:spcAft>
            </a:pPr>
            <a:r>
              <a:rPr sz="1060" b="0" i="0">
                <a:solidFill>
                  <a:srgbClr val="2B3A47"/>
                </a:solidFill>
                <a:latin typeface="Arial"/>
              </a:rPr>
              <a:t>Đang truyền qua mạng — Internet / mạng riêng</a:t>
            </a:r>
          </a:p>
          <a:p>
            <a:pPr algn="l">
              <a:lnSpc>
                <a:spcPct val="116000"/>
              </a:lnSpc>
              <a:spcBef>
                <a:spcPts val="0"/>
              </a:spcBef>
              <a:spcAft>
                <a:spcPts val="0"/>
              </a:spcAft>
            </a:pPr>
            <a:r>
              <a:rPr sz="1060" b="1" i="0">
                <a:solidFill>
                  <a:srgbClr val="1F6FB2"/>
                </a:solidFill>
                <a:latin typeface="Arial"/>
              </a:rPr>
              <a:t>Nguy cơ:</a:t>
            </a:r>
            <a:r>
              <a:rPr sz="1060" b="0" i="0">
                <a:solidFill>
                  <a:srgbClr val="2B3A47"/>
                </a:solidFill>
                <a:latin typeface="Arial"/>
              </a:rPr>
              <a:t> nghe lén, can thiệp</a:t>
            </a:r>
          </a:p>
        </p:txBody>
      </p:sp>
      <p:sp>
        <p:nvSpPr>
          <p:cNvPr id="23" name="Rounded Rectangle 22"/>
          <p:cNvSpPr/>
          <p:nvPr/>
        </p:nvSpPr>
        <p:spPr>
          <a:xfrm>
            <a:off x="4326026" y="2099183"/>
            <a:ext cx="3539642" cy="1115568"/>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326026" y="2099183"/>
            <a:ext cx="59436" cy="111556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527194" y="2236343"/>
            <a:ext cx="3201314" cy="197866"/>
          </a:xfrm>
          <a:prstGeom prst="rect">
            <a:avLst/>
          </a:prstGeom>
          <a:noFill/>
        </p:spPr>
        <p:txBody>
          <a:bodyPr wrap="square" lIns="0" rIns="0" tIns="0" bIns="0" anchor="t">
            <a:spAutoFit/>
          </a:bodyPr>
          <a:lstStyle/>
          <a:p>
            <a:pPr algn="l">
              <a:lnSpc>
                <a:spcPct val="110000"/>
              </a:lnSpc>
              <a:spcBef>
                <a:spcPts val="0"/>
              </a:spcBef>
              <a:spcAft>
                <a:spcPts val="0"/>
              </a:spcAft>
            </a:pPr>
            <a:r>
              <a:rPr sz="1220" b="1" i="0">
                <a:solidFill>
                  <a:srgbClr val="0E2D4E"/>
                </a:solidFill>
                <a:latin typeface="Arial"/>
              </a:rPr>
              <a:t>Data-at-Rest</a:t>
            </a:r>
          </a:p>
        </p:txBody>
      </p:sp>
      <p:sp>
        <p:nvSpPr>
          <p:cNvPr id="26" name="TextBox 25"/>
          <p:cNvSpPr txBox="1"/>
          <p:nvPr/>
        </p:nvSpPr>
        <p:spPr>
          <a:xfrm>
            <a:off x="4527194" y="2498217"/>
            <a:ext cx="3201314" cy="403250"/>
          </a:xfrm>
          <a:prstGeom prst="rect">
            <a:avLst/>
          </a:prstGeom>
          <a:noFill/>
        </p:spPr>
        <p:txBody>
          <a:bodyPr wrap="square" lIns="0" rIns="0" tIns="0" bIns="0" anchor="t">
            <a:spAutoFit/>
          </a:bodyPr>
          <a:lstStyle/>
          <a:p>
            <a:pPr algn="l">
              <a:lnSpc>
                <a:spcPct val="116000"/>
              </a:lnSpc>
              <a:spcBef>
                <a:spcPts val="0"/>
              </a:spcBef>
              <a:spcAft>
                <a:spcPts val="500"/>
              </a:spcAft>
            </a:pPr>
            <a:r>
              <a:rPr sz="1060" b="0" i="0">
                <a:solidFill>
                  <a:srgbClr val="2B3A47"/>
                </a:solidFill>
                <a:latin typeface="Arial"/>
              </a:rPr>
              <a:t>Đang lưu trữ — database / cloud storage</a:t>
            </a:r>
          </a:p>
          <a:p>
            <a:pPr algn="l">
              <a:lnSpc>
                <a:spcPct val="116000"/>
              </a:lnSpc>
              <a:spcBef>
                <a:spcPts val="0"/>
              </a:spcBef>
              <a:spcAft>
                <a:spcPts val="0"/>
              </a:spcAft>
            </a:pPr>
            <a:r>
              <a:rPr sz="1060" b="1" i="0">
                <a:solidFill>
                  <a:srgbClr val="1F6FB2"/>
                </a:solidFill>
                <a:latin typeface="Arial"/>
              </a:rPr>
              <a:t>Nguy cơ:</a:t>
            </a:r>
            <a:r>
              <a:rPr sz="1060" b="0" i="0">
                <a:solidFill>
                  <a:srgbClr val="2B3A47"/>
                </a:solidFill>
                <a:latin typeface="Arial"/>
              </a:rPr>
              <a:t> truy cập trái phép, mất dữ liệu</a:t>
            </a:r>
          </a:p>
        </p:txBody>
      </p:sp>
      <p:sp>
        <p:nvSpPr>
          <p:cNvPr id="27" name="Rounded Rectangle 26"/>
          <p:cNvSpPr/>
          <p:nvPr/>
        </p:nvSpPr>
        <p:spPr>
          <a:xfrm>
            <a:off x="8085124" y="2099183"/>
            <a:ext cx="3539642" cy="1115568"/>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8085124" y="2099183"/>
            <a:ext cx="59436" cy="111556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286292" y="2236343"/>
            <a:ext cx="3201314" cy="197866"/>
          </a:xfrm>
          <a:prstGeom prst="rect">
            <a:avLst/>
          </a:prstGeom>
          <a:noFill/>
        </p:spPr>
        <p:txBody>
          <a:bodyPr wrap="square" lIns="0" rIns="0" tIns="0" bIns="0" anchor="t">
            <a:spAutoFit/>
          </a:bodyPr>
          <a:lstStyle/>
          <a:p>
            <a:pPr algn="l">
              <a:lnSpc>
                <a:spcPct val="110000"/>
              </a:lnSpc>
              <a:spcBef>
                <a:spcPts val="0"/>
              </a:spcBef>
              <a:spcAft>
                <a:spcPts val="0"/>
              </a:spcAft>
            </a:pPr>
            <a:r>
              <a:rPr sz="1220" b="1" i="0">
                <a:solidFill>
                  <a:srgbClr val="0E2D4E"/>
                </a:solidFill>
                <a:latin typeface="Arial"/>
              </a:rPr>
              <a:t>Data-in-Use</a:t>
            </a:r>
          </a:p>
        </p:txBody>
      </p:sp>
      <p:sp>
        <p:nvSpPr>
          <p:cNvPr id="30" name="TextBox 29"/>
          <p:cNvSpPr txBox="1"/>
          <p:nvPr/>
        </p:nvSpPr>
        <p:spPr>
          <a:xfrm>
            <a:off x="8286292" y="2498217"/>
            <a:ext cx="3201314" cy="403250"/>
          </a:xfrm>
          <a:prstGeom prst="rect">
            <a:avLst/>
          </a:prstGeom>
          <a:noFill/>
        </p:spPr>
        <p:txBody>
          <a:bodyPr wrap="square" lIns="0" rIns="0" tIns="0" bIns="0" anchor="t">
            <a:spAutoFit/>
          </a:bodyPr>
          <a:lstStyle/>
          <a:p>
            <a:pPr algn="l">
              <a:lnSpc>
                <a:spcPct val="116000"/>
              </a:lnSpc>
              <a:spcBef>
                <a:spcPts val="0"/>
              </a:spcBef>
              <a:spcAft>
                <a:spcPts val="500"/>
              </a:spcAft>
            </a:pPr>
            <a:r>
              <a:rPr sz="1060" b="0" i="0">
                <a:solidFill>
                  <a:srgbClr val="2B3A47"/>
                </a:solidFill>
                <a:latin typeface="Arial"/>
              </a:rPr>
              <a:t>Đang được xử lý — RAM / CPU</a:t>
            </a:r>
          </a:p>
          <a:p>
            <a:pPr algn="l">
              <a:lnSpc>
                <a:spcPct val="116000"/>
              </a:lnSpc>
              <a:spcBef>
                <a:spcPts val="0"/>
              </a:spcBef>
              <a:spcAft>
                <a:spcPts val="0"/>
              </a:spcAft>
            </a:pPr>
            <a:r>
              <a:rPr sz="1060" b="1" i="0">
                <a:solidFill>
                  <a:srgbClr val="1F6FB2"/>
                </a:solidFill>
                <a:latin typeface="Arial"/>
              </a:rPr>
              <a:t>Nguy cơ:</a:t>
            </a:r>
            <a:r>
              <a:rPr sz="1060" b="0" i="0">
                <a:solidFill>
                  <a:srgbClr val="2B3A47"/>
                </a:solidFill>
                <a:latin typeface="Arial"/>
              </a:rPr>
              <a:t> lộ dữ liệu khi xử lý</a:t>
            </a:r>
          </a:p>
        </p:txBody>
      </p:sp>
      <p:sp>
        <p:nvSpPr>
          <p:cNvPr id="31" name="Rectangle 30"/>
          <p:cNvSpPr/>
          <p:nvPr/>
        </p:nvSpPr>
        <p:spPr>
          <a:xfrm>
            <a:off x="566928" y="3415919"/>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85800" y="3397631"/>
            <a:ext cx="527288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Bảo vệ dữ liệu trên đường truyền</a:t>
            </a:r>
          </a:p>
        </p:txBody>
      </p:sp>
      <p:sp>
        <p:nvSpPr>
          <p:cNvPr id="33" name="Rounded Rectangle 32"/>
          <p:cNvSpPr/>
          <p:nvPr/>
        </p:nvSpPr>
        <p:spPr>
          <a:xfrm>
            <a:off x="566928" y="3649726"/>
            <a:ext cx="5391759" cy="1060704"/>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94944" y="3777742"/>
            <a:ext cx="5135727" cy="409143"/>
          </a:xfrm>
          <a:prstGeom prst="rect">
            <a:avLst/>
          </a:prstGeom>
          <a:noFill/>
        </p:spPr>
        <p:txBody>
          <a:bodyPr wrap="square" lIns="0" rIns="0" tIns="0" bIns="0" anchor="t">
            <a:spAutoFit/>
          </a:bodyPr>
          <a:lstStyle/>
          <a:p>
            <a:pPr algn="l">
              <a:lnSpc>
                <a:spcPct val="116000"/>
              </a:lnSpc>
              <a:spcBef>
                <a:spcPts val="0"/>
              </a:spcBef>
              <a:spcAft>
                <a:spcPts val="500"/>
              </a:spcAft>
            </a:pPr>
            <a:r>
              <a:rPr sz="1080" b="1" i="0">
                <a:solidFill>
                  <a:srgbClr val="1F6FB2"/>
                </a:solidFill>
                <a:latin typeface="Arial"/>
              </a:rPr>
              <a:t>Nguy cơ:</a:t>
            </a:r>
            <a:r>
              <a:rPr sz="1080" b="0" i="0">
                <a:solidFill>
                  <a:srgbClr val="2B3A47"/>
                </a:solidFill>
                <a:latin typeface="Arial"/>
              </a:rPr>
              <a:t> nghe lén · can thiệp · giả mạo</a:t>
            </a:r>
          </a:p>
          <a:p>
            <a:pPr algn="l">
              <a:lnSpc>
                <a:spcPct val="116000"/>
              </a:lnSpc>
              <a:spcBef>
                <a:spcPts val="0"/>
              </a:spcBef>
              <a:spcAft>
                <a:spcPts val="0"/>
              </a:spcAft>
            </a:pPr>
            <a:r>
              <a:rPr sz="1080" b="1" i="0">
                <a:solidFill>
                  <a:srgbClr val="1F6FB2"/>
                </a:solidFill>
                <a:latin typeface="Arial"/>
              </a:rPr>
              <a:t>Nguyên tắc:</a:t>
            </a:r>
            <a:r>
              <a:rPr sz="1080" b="0" i="0">
                <a:solidFill>
                  <a:srgbClr val="2B3A47"/>
                </a:solidFill>
                <a:latin typeface="Arial"/>
              </a:rPr>
              <a:t> dùng giao thức và thuật toán mã hóa </a:t>
            </a:r>
            <a:r>
              <a:rPr sz="1080" b="1" i="0">
                <a:solidFill>
                  <a:srgbClr val="1F6FB2"/>
                </a:solidFill>
                <a:latin typeface="Arial"/>
              </a:rPr>
              <a:t>đã được kiểm chứng</a:t>
            </a:r>
          </a:p>
        </p:txBody>
      </p:sp>
      <p:sp>
        <p:nvSpPr>
          <p:cNvPr id="35" name="Rounded Rectangle 34"/>
          <p:cNvSpPr/>
          <p:nvPr/>
        </p:nvSpPr>
        <p:spPr>
          <a:xfrm>
            <a:off x="566928" y="4838446"/>
            <a:ext cx="5391759" cy="588873"/>
          </a:xfrm>
          <a:prstGeom prst="roundRect">
            <a:avLst>
              <a:gd name="adj" fmla="val 10000"/>
            </a:avLst>
          </a:prstGeom>
          <a:solidFill>
            <a:srgbClr val="FDF4E4"/>
          </a:solidFill>
          <a:ln w="12700">
            <a:solidFill>
              <a:srgbClr val="EBD2A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566928" y="4838446"/>
            <a:ext cx="64008" cy="588873"/>
          </a:xfrm>
          <a:prstGeom prst="rect">
            <a:avLst/>
          </a:prstGeom>
          <a:solidFill>
            <a:srgbClr val="A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49808" y="4957318"/>
            <a:ext cx="5062575" cy="351129"/>
          </a:xfrm>
          <a:prstGeom prst="rect">
            <a:avLst/>
          </a:prstGeom>
          <a:noFill/>
        </p:spPr>
        <p:txBody>
          <a:bodyPr wrap="square" lIns="0" rIns="0" tIns="0" bIns="0" anchor="t">
            <a:spAutoFit/>
          </a:bodyPr>
          <a:lstStyle/>
          <a:p>
            <a:pPr algn="l">
              <a:lnSpc>
                <a:spcPct val="118000"/>
              </a:lnSpc>
              <a:spcBef>
                <a:spcPts val="0"/>
              </a:spcBef>
              <a:spcAft>
                <a:spcPts val="0"/>
              </a:spcAft>
            </a:pPr>
            <a:r>
              <a:rPr sz="1080" b="1" i="0">
                <a:solidFill>
                  <a:srgbClr val="A86A00"/>
                </a:solidFill>
                <a:latin typeface="Arial"/>
              </a:rPr>
              <a:t>Private network ≠ mặc nhiên tin cậy</a:t>
            </a:r>
            <a:r>
              <a:rPr sz="1080" b="0" i="0">
                <a:solidFill>
                  <a:srgbClr val="A86A00"/>
                </a:solidFill>
                <a:latin typeface="Arial"/>
              </a:rPr>
              <a:t> — dữ liệu cần được bảo vệ dù đi qua Internet hay mạng riêng.</a:t>
            </a:r>
          </a:p>
        </p:txBody>
      </p:sp>
      <p:sp>
        <p:nvSpPr>
          <p:cNvPr id="38" name="Rectangle 37"/>
          <p:cNvSpPr/>
          <p:nvPr/>
        </p:nvSpPr>
        <p:spPr>
          <a:xfrm>
            <a:off x="6233007" y="3415919"/>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351879" y="3397631"/>
            <a:ext cx="527288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3 · Metadata cũng có giá trị</a:t>
            </a:r>
          </a:p>
        </p:txBody>
      </p:sp>
      <p:sp>
        <p:nvSpPr>
          <p:cNvPr id="40" name="Rounded Rectangle 39"/>
          <p:cNvSpPr/>
          <p:nvPr/>
        </p:nvSpPr>
        <p:spPr>
          <a:xfrm>
            <a:off x="6233007" y="3649726"/>
            <a:ext cx="5391759" cy="1060704"/>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361023" y="3777742"/>
            <a:ext cx="5135727" cy="568248"/>
          </a:xfrm>
          <a:prstGeom prst="rect">
            <a:avLst/>
          </a:prstGeom>
          <a:noFill/>
        </p:spPr>
        <p:txBody>
          <a:bodyPr wrap="square" lIns="0" rIns="0" tIns="0" bIns="0" anchor="t">
            <a:spAutoFit/>
          </a:bodyPr>
          <a:lstStyle/>
          <a:p>
            <a:pPr algn="l">
              <a:lnSpc>
                <a:spcPct val="116000"/>
              </a:lnSpc>
              <a:spcBef>
                <a:spcPts val="0"/>
              </a:spcBef>
              <a:spcAft>
                <a:spcPts val="500"/>
              </a:spcAft>
            </a:pPr>
            <a:r>
              <a:rPr sz="1080" b="0" i="0">
                <a:solidFill>
                  <a:srgbClr val="2B3A47"/>
                </a:solidFill>
                <a:latin typeface="Arial"/>
              </a:rPr>
              <a:t>Metadata = thông tin </a:t>
            </a:r>
            <a:r>
              <a:rPr sz="1080" b="1" i="0">
                <a:solidFill>
                  <a:srgbClr val="1F6FB2"/>
                </a:solidFill>
                <a:latin typeface="Arial"/>
              </a:rPr>
              <a:t>xung quanh</a:t>
            </a:r>
            <a:r>
              <a:rPr sz="1080" b="0" i="0">
                <a:solidFill>
                  <a:srgbClr val="2B3A47"/>
                </a:solidFill>
                <a:latin typeface="Arial"/>
              </a:rPr>
              <a:t> dữ liệu: ai truy cập, khi nào, tần suất, dữ liệu nằm ở đâu, khối lượng bao nhiêu.</a:t>
            </a:r>
          </a:p>
          <a:p>
            <a:pPr algn="l">
              <a:lnSpc>
                <a:spcPct val="116000"/>
              </a:lnSpc>
              <a:spcBef>
                <a:spcPts val="0"/>
              </a:spcBef>
              <a:spcAft>
                <a:spcPts val="0"/>
              </a:spcAft>
            </a:pPr>
            <a:r>
              <a:rPr sz="1080" b="0" i="0">
                <a:solidFill>
                  <a:srgbClr val="2B3A47"/>
                </a:solidFill>
                <a:latin typeface="Arial"/>
              </a:rPr>
              <a:t>Cần biết CSP </a:t>
            </a:r>
            <a:r>
              <a:rPr sz="1080" b="1" i="0">
                <a:solidFill>
                  <a:srgbClr val="1F6FB2"/>
                </a:solidFill>
                <a:latin typeface="Arial"/>
              </a:rPr>
              <a:t>thu thập gì — bảo vệ ra sao — khách hàng kiểm soát đến đâu</a:t>
            </a:r>
            <a:r>
              <a:rPr sz="1080" b="0" i="0">
                <a:solidFill>
                  <a:srgbClr val="2B3A47"/>
                </a:solidFill>
                <a:latin typeface="Arial"/>
              </a:rPr>
              <a:t>.</a:t>
            </a:r>
          </a:p>
        </p:txBody>
      </p:sp>
      <p:sp>
        <p:nvSpPr>
          <p:cNvPr id="42" name="Rectangle 41"/>
          <p:cNvSpPr/>
          <p:nvPr/>
        </p:nvSpPr>
        <p:spPr>
          <a:xfrm>
            <a:off x="6233007" y="4856734"/>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351879" y="4838446"/>
            <a:ext cx="527288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4 · Bốn vấn đề cần kiểm soát</a:t>
            </a:r>
          </a:p>
        </p:txBody>
      </p:sp>
      <p:sp>
        <p:nvSpPr>
          <p:cNvPr id="44" name="Rounded Rectangle 43"/>
          <p:cNvSpPr/>
          <p:nvPr/>
        </p:nvSpPr>
        <p:spPr>
          <a:xfrm>
            <a:off x="6233007" y="5090541"/>
            <a:ext cx="1265643"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19" b="0" i="0">
                <a:solidFill>
                  <a:srgbClr val="0E2D4E"/>
                </a:solidFill>
                <a:latin typeface="Arial"/>
              </a:rPr>
              <a:t>Integrity</a:t>
            </a:r>
          </a:p>
        </p:txBody>
      </p:sp>
      <p:sp>
        <p:nvSpPr>
          <p:cNvPr id="45" name="Rounded Rectangle 44"/>
          <p:cNvSpPr/>
          <p:nvPr/>
        </p:nvSpPr>
        <p:spPr>
          <a:xfrm>
            <a:off x="7608379" y="5090541"/>
            <a:ext cx="1265643"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19" b="0" i="0">
                <a:solidFill>
                  <a:srgbClr val="0E2D4E"/>
                </a:solidFill>
                <a:latin typeface="Arial"/>
              </a:rPr>
              <a:t>Privacy</a:t>
            </a:r>
          </a:p>
        </p:txBody>
      </p:sp>
      <p:sp>
        <p:nvSpPr>
          <p:cNvPr id="46" name="Rounded Rectangle 45"/>
          <p:cNvSpPr/>
          <p:nvPr/>
        </p:nvSpPr>
        <p:spPr>
          <a:xfrm>
            <a:off x="8983751" y="5090541"/>
            <a:ext cx="1265643"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19" b="0" i="0">
                <a:solidFill>
                  <a:srgbClr val="0E2D4E"/>
                </a:solidFill>
                <a:latin typeface="Arial"/>
              </a:rPr>
              <a:t>Data Location</a:t>
            </a:r>
          </a:p>
        </p:txBody>
      </p:sp>
      <p:sp>
        <p:nvSpPr>
          <p:cNvPr id="47" name="Rounded Rectangle 46"/>
          <p:cNvSpPr/>
          <p:nvPr/>
        </p:nvSpPr>
        <p:spPr>
          <a:xfrm>
            <a:off x="10359123" y="5090541"/>
            <a:ext cx="1265643"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19" b="0" i="0">
                <a:solidFill>
                  <a:srgbClr val="0E2D4E"/>
                </a:solidFill>
                <a:latin typeface="Arial"/>
              </a:rPr>
              <a:t>Availability</a:t>
            </a:r>
          </a:p>
        </p:txBody>
      </p:sp>
      <p:sp>
        <p:nvSpPr>
          <p:cNvPr id="48" name="Rounded Rectangle 47"/>
          <p:cNvSpPr/>
          <p:nvPr/>
        </p:nvSpPr>
        <p:spPr>
          <a:xfrm>
            <a:off x="566928" y="5591911"/>
            <a:ext cx="11057839" cy="606856"/>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566928" y="5591911"/>
            <a:ext cx="64008" cy="606856"/>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749808" y="5710783"/>
            <a:ext cx="10728655" cy="369112"/>
          </a:xfrm>
          <a:prstGeom prst="rect">
            <a:avLst/>
          </a:prstGeom>
          <a:noFill/>
        </p:spPr>
        <p:txBody>
          <a:bodyPr wrap="square" lIns="0" rIns="0" tIns="0" bIns="0" anchor="t">
            <a:spAutoFit/>
          </a:bodyPr>
          <a:lstStyle/>
          <a:p>
            <a:pPr algn="l">
              <a:lnSpc>
                <a:spcPct val="118000"/>
              </a:lnSpc>
              <a:spcBef>
                <a:spcPts val="0"/>
              </a:spcBef>
              <a:spcAft>
                <a:spcPts val="0"/>
              </a:spcAft>
            </a:pPr>
            <a:r>
              <a:rPr sz="1140" b="1" i="0">
                <a:solidFill>
                  <a:srgbClr val="FFFFFF"/>
                </a:solidFill>
                <a:latin typeface="Arial"/>
              </a:rPr>
              <a:t>Bài toán tiếp theo:</a:t>
            </a:r>
            <a:r>
              <a:rPr sz="1140" b="0" i="0">
                <a:solidFill>
                  <a:srgbClr val="FFFFFF"/>
                </a:solidFill>
                <a:latin typeface="Arial"/>
              </a:rPr>
              <a:t> Cloud cần lưu trữ và tính toán trên dữ liệu, nhưng ta không muốn Cloud nhìn thấy dữ liệu gốc → </a:t>
            </a:r>
            <a:r>
              <a:rPr sz="1140" b="1" i="0">
                <a:solidFill>
                  <a:srgbClr val="FFFFFF"/>
                </a:solidFill>
                <a:latin typeface="Arial"/>
              </a:rPr>
              <a:t>Advanced Cryptography: ABE · FHE · Searchable Encryption</a:t>
            </a:r>
            <a:r>
              <a:rPr sz="1140" b="0" i="0">
                <a:solidFill>
                  <a:srgbClr val="FFFFFF"/>
                </a:solidFill>
                <a:latin typeface="Arial"/>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PHẦN 3 · MẬT MÃ NÂNG CAO CHO CLOUD</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MẬT MÃ NÂNG CAO CHO CLOUD</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5/18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Mã hóa truyền thống chưa đủ</a:t>
            </a:r>
          </a:p>
        </p:txBody>
      </p:sp>
      <p:sp>
        <p:nvSpPr>
          <p:cNvPr id="10" name="Rounded Rectangle 9"/>
          <p:cNvSpPr/>
          <p:nvPr/>
        </p:nvSpPr>
        <p:spPr>
          <a:xfrm>
            <a:off x="566928" y="1550543"/>
            <a:ext cx="2006742" cy="40233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20" b="1" i="0">
                <a:solidFill>
                  <a:srgbClr val="0E2D4E"/>
                </a:solidFill>
                <a:latin typeface="Arial"/>
              </a:rPr>
              <a:t>Dữ liệu gốc</a:t>
            </a:r>
          </a:p>
        </p:txBody>
      </p:sp>
      <p:sp>
        <p:nvSpPr>
          <p:cNvPr id="11" name="Right Arrow 10"/>
          <p:cNvSpPr/>
          <p:nvPr/>
        </p:nvSpPr>
        <p:spPr>
          <a:xfrm>
            <a:off x="2591958" y="1683131"/>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2829702" y="1550543"/>
            <a:ext cx="2006742" cy="40233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20" b="1" i="0">
                <a:solidFill>
                  <a:srgbClr val="0E2D4E"/>
                </a:solidFill>
                <a:latin typeface="Arial"/>
              </a:rPr>
              <a:t>Mã hóa</a:t>
            </a:r>
          </a:p>
        </p:txBody>
      </p:sp>
      <p:sp>
        <p:nvSpPr>
          <p:cNvPr id="13" name="Right Arrow 12"/>
          <p:cNvSpPr/>
          <p:nvPr/>
        </p:nvSpPr>
        <p:spPr>
          <a:xfrm>
            <a:off x="4854732" y="1683131"/>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092476" y="1550543"/>
            <a:ext cx="2006742" cy="40233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20" b="1" i="0">
                <a:solidFill>
                  <a:srgbClr val="0E2D4E"/>
                </a:solidFill>
                <a:latin typeface="Arial"/>
              </a:rPr>
              <a:t>Cloud</a:t>
            </a:r>
          </a:p>
        </p:txBody>
      </p:sp>
      <p:sp>
        <p:nvSpPr>
          <p:cNvPr id="15" name="Right Arrow 14"/>
          <p:cNvSpPr/>
          <p:nvPr/>
        </p:nvSpPr>
        <p:spPr>
          <a:xfrm>
            <a:off x="7117506" y="1683131"/>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7355250" y="1550543"/>
            <a:ext cx="2006742" cy="40233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20" b="1" i="0">
                <a:solidFill>
                  <a:srgbClr val="0E2D4E"/>
                </a:solidFill>
                <a:latin typeface="Arial"/>
              </a:rPr>
              <a:t>Giải mã</a:t>
            </a:r>
          </a:p>
        </p:txBody>
      </p:sp>
      <p:sp>
        <p:nvSpPr>
          <p:cNvPr id="17" name="Right Arrow 16"/>
          <p:cNvSpPr/>
          <p:nvPr/>
        </p:nvSpPr>
        <p:spPr>
          <a:xfrm>
            <a:off x="9380280" y="1683131"/>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9618024" y="1550543"/>
            <a:ext cx="2006742" cy="402336"/>
          </a:xfrm>
          <a:prstGeom prst="roundRect">
            <a:avLst>
              <a:gd name="adj" fmla="val 10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20" b="1" i="0">
                <a:solidFill>
                  <a:srgbClr val="B8342A"/>
                </a:solidFill>
                <a:latin typeface="Arial"/>
              </a:rPr>
              <a:t>Xử lý</a:t>
            </a:r>
          </a:p>
        </p:txBody>
      </p:sp>
      <p:sp>
        <p:nvSpPr>
          <p:cNvPr id="19" name="Rounded Rectangle 18"/>
          <p:cNvSpPr/>
          <p:nvPr/>
        </p:nvSpPr>
        <p:spPr>
          <a:xfrm>
            <a:off x="566928" y="2044319"/>
            <a:ext cx="11057839" cy="600862"/>
          </a:xfrm>
          <a:prstGeom prst="roundRect">
            <a:avLst>
              <a:gd name="adj" fmla="val 10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66928" y="2044319"/>
            <a:ext cx="64008" cy="600862"/>
          </a:xfrm>
          <a:prstGeom prst="rect">
            <a:avLst/>
          </a:prstGeom>
          <a:solidFill>
            <a:srgbClr val="B83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49808" y="2163191"/>
            <a:ext cx="10728655" cy="363118"/>
          </a:xfrm>
          <a:prstGeom prst="rect">
            <a:avLst/>
          </a:prstGeom>
          <a:noFill/>
        </p:spPr>
        <p:txBody>
          <a:bodyPr wrap="square" lIns="0" rIns="0" tIns="0" bIns="0" anchor="t">
            <a:spAutoFit/>
          </a:bodyPr>
          <a:lstStyle/>
          <a:p>
            <a:pPr algn="l">
              <a:lnSpc>
                <a:spcPct val="118000"/>
              </a:lnSpc>
              <a:spcBef>
                <a:spcPts val="0"/>
              </a:spcBef>
              <a:spcAft>
                <a:spcPts val="0"/>
              </a:spcAft>
            </a:pPr>
            <a:r>
              <a:rPr sz="1120" b="0" i="0">
                <a:solidFill>
                  <a:srgbClr val="B8342A"/>
                </a:solidFill>
                <a:latin typeface="Arial"/>
              </a:rPr>
              <a:t>Khi cần xử lý, </a:t>
            </a:r>
            <a:r>
              <a:rPr sz="1120" b="1" i="0">
                <a:solidFill>
                  <a:srgbClr val="B8342A"/>
                </a:solidFill>
                <a:latin typeface="Arial"/>
              </a:rPr>
              <a:t>bản rõ thường phải xuất hiện</a:t>
            </a:r>
            <a:r>
              <a:rPr sz="1120" b="0" i="0">
                <a:solidFill>
                  <a:srgbClr val="B8342A"/>
                </a:solidFill>
                <a:latin typeface="Arial"/>
              </a:rPr>
              <a:t> → làm sao vẫn dùng được khả năng lưu trữ, tính toán và tìm kiếm của Cloud mà </a:t>
            </a:r>
            <a:r>
              <a:rPr sz="1120" b="1" i="0">
                <a:solidFill>
                  <a:srgbClr val="B8342A"/>
                </a:solidFill>
                <a:latin typeface="Arial"/>
              </a:rPr>
              <a:t>hạn chế việc Cloud nhìn thấy dữ liệu gốc</a:t>
            </a:r>
            <a:r>
              <a:rPr sz="1120" b="0" i="0">
                <a:solidFill>
                  <a:srgbClr val="B8342A"/>
                </a:solidFill>
                <a:latin typeface="Arial"/>
              </a:rPr>
              <a:t>?</a:t>
            </a:r>
          </a:p>
        </p:txBody>
      </p:sp>
      <p:sp>
        <p:nvSpPr>
          <p:cNvPr id="22" name="Rectangle 21"/>
          <p:cNvSpPr/>
          <p:nvPr/>
        </p:nvSpPr>
        <p:spPr>
          <a:xfrm>
            <a:off x="566928" y="2882925"/>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85800" y="2864637"/>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Ba kỹ thuật — ba bài toán khác nhau</a:t>
            </a:r>
          </a:p>
        </p:txBody>
      </p:sp>
      <p:sp>
        <p:nvSpPr>
          <p:cNvPr id="24" name="Rounded Rectangle 23"/>
          <p:cNvSpPr/>
          <p:nvPr/>
        </p:nvSpPr>
        <p:spPr>
          <a:xfrm>
            <a:off x="566928" y="3116732"/>
            <a:ext cx="3527450" cy="192024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66928" y="3116732"/>
            <a:ext cx="59436" cy="19202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68096" y="3253892"/>
            <a:ext cx="3189122" cy="216027"/>
          </a:xfrm>
          <a:prstGeom prst="rect">
            <a:avLst/>
          </a:prstGeom>
          <a:noFill/>
        </p:spPr>
        <p:txBody>
          <a:bodyPr wrap="square" lIns="0" rIns="0" tIns="0" bIns="0" anchor="t">
            <a:spAutoFit/>
          </a:bodyPr>
          <a:lstStyle/>
          <a:p>
            <a:pPr algn="l">
              <a:lnSpc>
                <a:spcPct val="110000"/>
              </a:lnSpc>
              <a:spcBef>
                <a:spcPts val="0"/>
              </a:spcBef>
              <a:spcAft>
                <a:spcPts val="0"/>
              </a:spcAft>
            </a:pPr>
            <a:r>
              <a:rPr sz="1350" b="1" i="0">
                <a:solidFill>
                  <a:srgbClr val="0E2D4E"/>
                </a:solidFill>
                <a:latin typeface="Arial"/>
              </a:rPr>
              <a:t>ABE — Access</a:t>
            </a:r>
          </a:p>
        </p:txBody>
      </p:sp>
      <p:sp>
        <p:nvSpPr>
          <p:cNvPr id="27" name="TextBox 26"/>
          <p:cNvSpPr txBox="1"/>
          <p:nvPr/>
        </p:nvSpPr>
        <p:spPr>
          <a:xfrm>
            <a:off x="768096" y="3533927"/>
            <a:ext cx="3189122" cy="949960"/>
          </a:xfrm>
          <a:prstGeom prst="rect">
            <a:avLst/>
          </a:prstGeom>
          <a:noFill/>
        </p:spPr>
        <p:txBody>
          <a:bodyPr wrap="square" lIns="0" rIns="0" tIns="0" bIns="0" anchor="t">
            <a:spAutoFit/>
          </a:bodyPr>
          <a:lstStyle/>
          <a:p>
            <a:pPr algn="l">
              <a:lnSpc>
                <a:spcPct val="116000"/>
              </a:lnSpc>
              <a:spcBef>
                <a:spcPts val="0"/>
              </a:spcBef>
              <a:spcAft>
                <a:spcPts val="500"/>
              </a:spcAft>
            </a:pPr>
            <a:r>
              <a:rPr sz="1080" b="1" i="0">
                <a:solidFill>
                  <a:srgbClr val="1F6FB2"/>
                </a:solidFill>
                <a:latin typeface="Arial"/>
              </a:rPr>
              <a:t>Bài toán:</a:t>
            </a:r>
            <a:r>
              <a:rPr sz="1080" b="0" i="0">
                <a:solidFill>
                  <a:srgbClr val="2B3A47"/>
                </a:solidFill>
                <a:latin typeface="Arial"/>
              </a:rPr>
              <a:t> ai được phép truy cập?</a:t>
            </a:r>
          </a:p>
          <a:p>
            <a:pPr algn="l">
              <a:lnSpc>
                <a:spcPct val="116000"/>
              </a:lnSpc>
              <a:spcBef>
                <a:spcPts val="0"/>
              </a:spcBef>
              <a:spcAft>
                <a:spcPts val="500"/>
              </a:spcAft>
            </a:pPr>
            <a:r>
              <a:rPr sz="1080" b="1" i="0">
                <a:solidFill>
                  <a:srgbClr val="1F6FB2"/>
                </a:solidFill>
                <a:latin typeface="Arial"/>
              </a:rPr>
              <a:t>Ý tưởng:</a:t>
            </a:r>
            <a:r>
              <a:rPr sz="1080" b="0" i="0">
                <a:solidFill>
                  <a:srgbClr val="2B3A47"/>
                </a:solidFill>
                <a:latin typeface="Arial"/>
              </a:rPr>
              <a:t> kiểm soát quyền theo </a:t>
            </a:r>
            <a:r>
              <a:rPr sz="1080" b="1" i="0">
                <a:solidFill>
                  <a:srgbClr val="1F6FB2"/>
                </a:solidFill>
                <a:latin typeface="Arial"/>
              </a:rPr>
              <a:t>thuộc tính</a:t>
            </a:r>
            <a:r>
              <a:rPr sz="1080" b="0" i="0">
                <a:solidFill>
                  <a:srgbClr val="2B3A47"/>
                </a:solidFill>
                <a:latin typeface="Arial"/>
              </a:rPr>
              <a:t> thay vì danh tính.</a:t>
            </a:r>
          </a:p>
          <a:p>
            <a:pPr algn="l">
              <a:lnSpc>
                <a:spcPct val="116000"/>
              </a:lnSpc>
              <a:spcBef>
                <a:spcPts val="0"/>
              </a:spcBef>
              <a:spcAft>
                <a:spcPts val="0"/>
              </a:spcAft>
            </a:pPr>
            <a:r>
              <a:rPr sz="1080" b="1" i="0">
                <a:solidFill>
                  <a:srgbClr val="1F6FB2"/>
                </a:solidFill>
                <a:latin typeface="Arial"/>
              </a:rPr>
              <a:t>CP-ABE:</a:t>
            </a:r>
            <a:r>
              <a:rPr sz="1080" b="0" i="0">
                <a:solidFill>
                  <a:srgbClr val="2B3A47"/>
                </a:solidFill>
                <a:latin typeface="Arial"/>
              </a:rPr>
              <a:t> policy gắn ciphertext · </a:t>
            </a:r>
            <a:r>
              <a:rPr sz="1080" b="1" i="0">
                <a:solidFill>
                  <a:srgbClr val="1F6FB2"/>
                </a:solidFill>
                <a:latin typeface="Arial"/>
              </a:rPr>
              <a:t>KP-ABE:</a:t>
            </a:r>
            <a:r>
              <a:rPr sz="1080" b="0" i="0">
                <a:solidFill>
                  <a:srgbClr val="2B3A47"/>
                </a:solidFill>
                <a:latin typeface="Arial"/>
              </a:rPr>
              <a:t> policy gắn khóa.</a:t>
            </a:r>
          </a:p>
        </p:txBody>
      </p:sp>
      <p:sp>
        <p:nvSpPr>
          <p:cNvPr id="28" name="Rounded Rectangle 27"/>
          <p:cNvSpPr/>
          <p:nvPr/>
        </p:nvSpPr>
        <p:spPr>
          <a:xfrm>
            <a:off x="4332122" y="3116732"/>
            <a:ext cx="3527450" cy="192024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32122" y="3116732"/>
            <a:ext cx="59436" cy="19202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533290" y="3253892"/>
            <a:ext cx="3189122" cy="216027"/>
          </a:xfrm>
          <a:prstGeom prst="rect">
            <a:avLst/>
          </a:prstGeom>
          <a:noFill/>
        </p:spPr>
        <p:txBody>
          <a:bodyPr wrap="square" lIns="0" rIns="0" tIns="0" bIns="0" anchor="t">
            <a:spAutoFit/>
          </a:bodyPr>
          <a:lstStyle/>
          <a:p>
            <a:pPr algn="l">
              <a:lnSpc>
                <a:spcPct val="110000"/>
              </a:lnSpc>
              <a:spcBef>
                <a:spcPts val="0"/>
              </a:spcBef>
              <a:spcAft>
                <a:spcPts val="0"/>
              </a:spcAft>
            </a:pPr>
            <a:r>
              <a:rPr sz="1350" b="1" i="0">
                <a:solidFill>
                  <a:srgbClr val="0E2D4E"/>
                </a:solidFill>
                <a:latin typeface="Arial"/>
              </a:rPr>
              <a:t>FHE — Compute</a:t>
            </a:r>
          </a:p>
        </p:txBody>
      </p:sp>
      <p:sp>
        <p:nvSpPr>
          <p:cNvPr id="31" name="TextBox 30"/>
          <p:cNvSpPr txBox="1"/>
          <p:nvPr/>
        </p:nvSpPr>
        <p:spPr>
          <a:xfrm>
            <a:off x="4533290" y="3533927"/>
            <a:ext cx="3189122" cy="790854"/>
          </a:xfrm>
          <a:prstGeom prst="rect">
            <a:avLst/>
          </a:prstGeom>
          <a:noFill/>
        </p:spPr>
        <p:txBody>
          <a:bodyPr wrap="square" lIns="0" rIns="0" tIns="0" bIns="0" anchor="t">
            <a:spAutoFit/>
          </a:bodyPr>
          <a:lstStyle/>
          <a:p>
            <a:pPr algn="l">
              <a:lnSpc>
                <a:spcPct val="116000"/>
              </a:lnSpc>
              <a:spcBef>
                <a:spcPts val="0"/>
              </a:spcBef>
              <a:spcAft>
                <a:spcPts val="500"/>
              </a:spcAft>
            </a:pPr>
            <a:r>
              <a:rPr sz="1080" b="1" i="0">
                <a:solidFill>
                  <a:srgbClr val="1F6FB2"/>
                </a:solidFill>
                <a:latin typeface="Arial"/>
              </a:rPr>
              <a:t>Bài toán:</a:t>
            </a:r>
            <a:r>
              <a:rPr sz="1080" b="0" i="0">
                <a:solidFill>
                  <a:srgbClr val="2B3A47"/>
                </a:solidFill>
                <a:latin typeface="Arial"/>
              </a:rPr>
              <a:t> Cloud tính toán mà không thấy dữ liệu?</a:t>
            </a:r>
          </a:p>
          <a:p>
            <a:pPr algn="l">
              <a:lnSpc>
                <a:spcPct val="116000"/>
              </a:lnSpc>
              <a:spcBef>
                <a:spcPts val="0"/>
              </a:spcBef>
              <a:spcAft>
                <a:spcPts val="500"/>
              </a:spcAft>
            </a:pPr>
            <a:r>
              <a:rPr sz="1080" b="1" i="0">
                <a:solidFill>
                  <a:srgbClr val="1F6FB2"/>
                </a:solidFill>
                <a:latin typeface="Arial"/>
              </a:rPr>
              <a:t>Ý tưởng:</a:t>
            </a:r>
            <a:r>
              <a:rPr sz="1080" b="0" i="0">
                <a:solidFill>
                  <a:srgbClr val="2B3A47"/>
                </a:solidFill>
                <a:latin typeface="Arial"/>
              </a:rPr>
              <a:t> tính trực tiếp trên </a:t>
            </a:r>
            <a:r>
              <a:rPr sz="1080" b="1" i="0">
                <a:solidFill>
                  <a:srgbClr val="1F6FB2"/>
                </a:solidFill>
                <a:latin typeface="Arial"/>
              </a:rPr>
              <a:t>ciphertext</a:t>
            </a:r>
            <a:r>
              <a:rPr sz="1080" b="0" i="0">
                <a:solidFill>
                  <a:srgbClr val="2B3A47"/>
                </a:solidFill>
                <a:latin typeface="Arial"/>
              </a:rPr>
              <a:t>.</a:t>
            </a:r>
          </a:p>
          <a:p>
            <a:pPr algn="l">
              <a:lnSpc>
                <a:spcPct val="116000"/>
              </a:lnSpc>
              <a:spcBef>
                <a:spcPts val="0"/>
              </a:spcBef>
              <a:spcAft>
                <a:spcPts val="0"/>
              </a:spcAft>
            </a:pPr>
            <a:r>
              <a:rPr sz="1080" b="0" i="0">
                <a:solidFill>
                  <a:srgbClr val="2B3A47"/>
                </a:solidFill>
                <a:latin typeface="Arial"/>
              </a:rPr>
              <a:t>Người dùng giữ </a:t>
            </a:r>
            <a:r>
              <a:rPr sz="1080" b="1" i="0">
                <a:solidFill>
                  <a:srgbClr val="1F6FB2"/>
                </a:solidFill>
                <a:latin typeface="Arial"/>
              </a:rPr>
              <a:t>quyền giải mã</a:t>
            </a:r>
            <a:r>
              <a:rPr sz="1080" b="0" i="0">
                <a:solidFill>
                  <a:srgbClr val="2B3A47"/>
                </a:solidFill>
                <a:latin typeface="Arial"/>
              </a:rPr>
              <a:t> kết quả.</a:t>
            </a:r>
          </a:p>
        </p:txBody>
      </p:sp>
      <p:sp>
        <p:nvSpPr>
          <p:cNvPr id="32" name="Rounded Rectangle 31"/>
          <p:cNvSpPr/>
          <p:nvPr/>
        </p:nvSpPr>
        <p:spPr>
          <a:xfrm>
            <a:off x="8097316" y="3116732"/>
            <a:ext cx="3527450" cy="192024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8097316" y="3116732"/>
            <a:ext cx="59436" cy="19202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298484" y="3253892"/>
            <a:ext cx="3189122" cy="216027"/>
          </a:xfrm>
          <a:prstGeom prst="rect">
            <a:avLst/>
          </a:prstGeom>
          <a:noFill/>
        </p:spPr>
        <p:txBody>
          <a:bodyPr wrap="square" lIns="0" rIns="0" tIns="0" bIns="0" anchor="t">
            <a:spAutoFit/>
          </a:bodyPr>
          <a:lstStyle/>
          <a:p>
            <a:pPr algn="l">
              <a:lnSpc>
                <a:spcPct val="110000"/>
              </a:lnSpc>
              <a:spcBef>
                <a:spcPts val="0"/>
              </a:spcBef>
              <a:spcAft>
                <a:spcPts val="0"/>
              </a:spcAft>
            </a:pPr>
            <a:r>
              <a:rPr sz="1350" b="1" i="0">
                <a:solidFill>
                  <a:srgbClr val="0E2D4E"/>
                </a:solidFill>
                <a:latin typeface="Arial"/>
              </a:rPr>
              <a:t>SE — Search</a:t>
            </a:r>
          </a:p>
        </p:txBody>
      </p:sp>
      <p:sp>
        <p:nvSpPr>
          <p:cNvPr id="35" name="TextBox 34"/>
          <p:cNvSpPr txBox="1"/>
          <p:nvPr/>
        </p:nvSpPr>
        <p:spPr>
          <a:xfrm>
            <a:off x="8298484" y="3533927"/>
            <a:ext cx="3189122" cy="949960"/>
          </a:xfrm>
          <a:prstGeom prst="rect">
            <a:avLst/>
          </a:prstGeom>
          <a:noFill/>
        </p:spPr>
        <p:txBody>
          <a:bodyPr wrap="square" lIns="0" rIns="0" tIns="0" bIns="0" anchor="t">
            <a:spAutoFit/>
          </a:bodyPr>
          <a:lstStyle/>
          <a:p>
            <a:pPr algn="l">
              <a:lnSpc>
                <a:spcPct val="116000"/>
              </a:lnSpc>
              <a:spcBef>
                <a:spcPts val="0"/>
              </a:spcBef>
              <a:spcAft>
                <a:spcPts val="500"/>
              </a:spcAft>
            </a:pPr>
            <a:r>
              <a:rPr sz="1080" b="1" i="0">
                <a:solidFill>
                  <a:srgbClr val="1F6FB2"/>
                </a:solidFill>
                <a:latin typeface="Arial"/>
              </a:rPr>
              <a:t>Bài toán:</a:t>
            </a:r>
            <a:r>
              <a:rPr sz="1080" b="0" i="0">
                <a:solidFill>
                  <a:srgbClr val="2B3A47"/>
                </a:solidFill>
                <a:latin typeface="Arial"/>
              </a:rPr>
              <a:t> tìm kiếm mà không giải mã toàn bộ?</a:t>
            </a:r>
          </a:p>
          <a:p>
            <a:pPr algn="l">
              <a:lnSpc>
                <a:spcPct val="116000"/>
              </a:lnSpc>
              <a:spcBef>
                <a:spcPts val="0"/>
              </a:spcBef>
              <a:spcAft>
                <a:spcPts val="500"/>
              </a:spcAft>
            </a:pPr>
            <a:r>
              <a:rPr sz="1080" b="1" i="0">
                <a:solidFill>
                  <a:srgbClr val="1F6FB2"/>
                </a:solidFill>
                <a:latin typeface="Arial"/>
              </a:rPr>
              <a:t>Ý tưởng:</a:t>
            </a:r>
            <a:r>
              <a:rPr sz="1080" b="0" i="0">
                <a:solidFill>
                  <a:srgbClr val="2B3A47"/>
                </a:solidFill>
                <a:latin typeface="Arial"/>
              </a:rPr>
              <a:t> truy vấn qua </a:t>
            </a:r>
            <a:r>
              <a:rPr sz="1080" b="1" i="0">
                <a:solidFill>
                  <a:srgbClr val="1F6FB2"/>
                </a:solidFill>
                <a:latin typeface="Arial"/>
              </a:rPr>
              <a:t>chỉ mục từ khóa / trapdoor</a:t>
            </a:r>
            <a:r>
              <a:rPr sz="1080" b="0" i="0">
                <a:solidFill>
                  <a:srgbClr val="2B3A47"/>
                </a:solidFill>
                <a:latin typeface="Arial"/>
              </a:rPr>
              <a:t>.</a:t>
            </a:r>
          </a:p>
          <a:p>
            <a:pPr algn="l">
              <a:lnSpc>
                <a:spcPct val="116000"/>
              </a:lnSpc>
              <a:spcBef>
                <a:spcPts val="0"/>
              </a:spcBef>
              <a:spcAft>
                <a:spcPts val="0"/>
              </a:spcAft>
            </a:pPr>
            <a:r>
              <a:rPr sz="1080" b="0" i="0">
                <a:solidFill>
                  <a:srgbClr val="2B3A47"/>
                </a:solidFill>
                <a:latin typeface="Arial"/>
              </a:rPr>
              <a:t>Ví dụ: tìm email chứa </a:t>
            </a:r>
            <a:r>
              <a:rPr sz="1080" b="1" i="0">
                <a:solidFill>
                  <a:srgbClr val="1F6FB2"/>
                </a:solidFill>
                <a:latin typeface="Arial"/>
              </a:rPr>
              <a:t>“Urgent”</a:t>
            </a:r>
            <a:r>
              <a:rPr sz="1080" b="0" i="0">
                <a:solidFill>
                  <a:srgbClr val="2B3A47"/>
                </a:solidFill>
                <a:latin typeface="Arial"/>
              </a:rPr>
              <a:t> trong kho đã mã hóa.</a:t>
            </a:r>
          </a:p>
        </p:txBody>
      </p:sp>
      <p:sp>
        <p:nvSpPr>
          <p:cNvPr id="36" name="Rounded Rectangle 35"/>
          <p:cNvSpPr/>
          <p:nvPr/>
        </p:nvSpPr>
        <p:spPr>
          <a:xfrm>
            <a:off x="566928" y="5238140"/>
            <a:ext cx="11057839" cy="437514"/>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566928" y="5238140"/>
            <a:ext cx="64008" cy="437514"/>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49808" y="5357012"/>
            <a:ext cx="10728655" cy="199770"/>
          </a:xfrm>
          <a:prstGeom prst="rect">
            <a:avLst/>
          </a:prstGeom>
          <a:noFill/>
        </p:spPr>
        <p:txBody>
          <a:bodyPr wrap="square" lIns="0" rIns="0" tIns="0" bIns="0" anchor="t">
            <a:spAutoFit/>
          </a:bodyPr>
          <a:lstStyle/>
          <a:p>
            <a:pPr algn="l">
              <a:lnSpc>
                <a:spcPct val="118000"/>
              </a:lnSpc>
              <a:spcBef>
                <a:spcPts val="0"/>
              </a:spcBef>
              <a:spcAft>
                <a:spcPts val="0"/>
              </a:spcAft>
            </a:pPr>
            <a:r>
              <a:rPr sz="1150" b="1" i="0">
                <a:solidFill>
                  <a:srgbClr val="FFFFFF"/>
                </a:solidFill>
                <a:latin typeface="Arial"/>
              </a:rPr>
              <a:t>ABE → Access · FHE → Compute · SE → Search</a:t>
            </a:r>
            <a:r>
              <a:rPr sz="1150" b="0" i="0">
                <a:solidFill>
                  <a:srgbClr val="FFFFFF"/>
                </a:solidFill>
                <a:latin typeface="Arial"/>
              </a:rPr>
              <a:t> — ba nhu cầu khác nhau trong cùng bài toán bảo vệ dữ liệu trên Cloud.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PHẦN 3 · MẬT MÃ NÂNG CAO CHO CLOUD</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ABE — MÃ HÓA DỰA TRÊN THUỘC TÍNH</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6/18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ABE giải quyết bài toán gì?</a:t>
            </a:r>
          </a:p>
        </p:txBody>
      </p:sp>
      <p:sp>
        <p:nvSpPr>
          <p:cNvPr id="10" name="Rounded Rectangle 9"/>
          <p:cNvSpPr/>
          <p:nvPr/>
        </p:nvSpPr>
        <p:spPr>
          <a:xfrm>
            <a:off x="566928" y="1550543"/>
            <a:ext cx="5373471" cy="768096"/>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94944" y="1678559"/>
            <a:ext cx="5117439" cy="348589"/>
          </a:xfrm>
          <a:prstGeom prst="rect">
            <a:avLst/>
          </a:prstGeom>
          <a:noFill/>
        </p:spPr>
        <p:txBody>
          <a:bodyPr wrap="square" lIns="0" rIns="0" tIns="0" bIns="0" anchor="t">
            <a:spAutoFit/>
          </a:bodyPr>
          <a:lstStyle/>
          <a:p>
            <a:pPr algn="l">
              <a:lnSpc>
                <a:spcPct val="116000"/>
              </a:lnSpc>
              <a:spcBef>
                <a:spcPts val="0"/>
              </a:spcBef>
              <a:spcAft>
                <a:spcPts val="0"/>
              </a:spcAft>
            </a:pPr>
            <a:r>
              <a:rPr sz="1090" b="0" i="0">
                <a:solidFill>
                  <a:srgbClr val="2B3A47"/>
                </a:solidFill>
                <a:latin typeface="Arial"/>
              </a:rPr>
              <a:t>Cấp quyền theo </a:t>
            </a:r>
            <a:r>
              <a:rPr sz="1090" b="1" i="0">
                <a:solidFill>
                  <a:srgbClr val="1F6FB2"/>
                </a:solidFill>
                <a:latin typeface="Arial"/>
              </a:rPr>
              <a:t>thuộc tính</a:t>
            </a:r>
            <a:r>
              <a:rPr sz="1090" b="0" i="0">
                <a:solidFill>
                  <a:srgbClr val="2B3A47"/>
                </a:solidFill>
                <a:latin typeface="Arial"/>
              </a:rPr>
              <a:t> thay vì danh tính cá nhân — chính sách được viết trên các thuộc tính của người dùng.</a:t>
            </a:r>
          </a:p>
        </p:txBody>
      </p:sp>
      <p:sp>
        <p:nvSpPr>
          <p:cNvPr id="12" name="Rounded Rectangle 11"/>
          <p:cNvSpPr/>
          <p:nvPr/>
        </p:nvSpPr>
        <p:spPr>
          <a:xfrm>
            <a:off x="566928" y="2464943"/>
            <a:ext cx="1693621"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Doctor</a:t>
            </a:r>
          </a:p>
        </p:txBody>
      </p:sp>
      <p:sp>
        <p:nvSpPr>
          <p:cNvPr id="13" name="Rounded Rectangle 12"/>
          <p:cNvSpPr/>
          <p:nvPr/>
        </p:nvSpPr>
        <p:spPr>
          <a:xfrm>
            <a:off x="2406853" y="2464943"/>
            <a:ext cx="1693621"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Cardiology</a:t>
            </a:r>
          </a:p>
        </p:txBody>
      </p:sp>
      <p:sp>
        <p:nvSpPr>
          <p:cNvPr id="14" name="Rounded Rectangle 13"/>
          <p:cNvSpPr/>
          <p:nvPr/>
        </p:nvSpPr>
        <p:spPr>
          <a:xfrm>
            <a:off x="4246778" y="2464943"/>
            <a:ext cx="1693621"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80" b="0" i="0">
                <a:solidFill>
                  <a:srgbClr val="0E2D4E"/>
                </a:solidFill>
                <a:latin typeface="Arial"/>
              </a:rPr>
              <a:t>Hospital A</a:t>
            </a:r>
          </a:p>
        </p:txBody>
      </p:sp>
      <p:sp>
        <p:nvSpPr>
          <p:cNvPr id="15" name="Rounded Rectangle 14"/>
          <p:cNvSpPr/>
          <p:nvPr/>
        </p:nvSpPr>
        <p:spPr>
          <a:xfrm>
            <a:off x="566928" y="2922143"/>
            <a:ext cx="5373471" cy="40233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0E2D4E"/>
                </a:solidFill>
                <a:latin typeface="Arial"/>
              </a:rPr>
              <a:t>Access Policy</a:t>
            </a:r>
          </a:p>
          <a:p>
            <a:pPr algn="ctr">
              <a:lnSpc>
                <a:spcPct val="106000"/>
              </a:lnSpc>
              <a:spcBef>
                <a:spcPts val="200"/>
              </a:spcBef>
              <a:spcAft>
                <a:spcPts val="0"/>
              </a:spcAft>
            </a:pPr>
            <a:r>
              <a:rPr sz="920" b="0" i="0">
                <a:solidFill>
                  <a:srgbClr val="64788A"/>
                </a:solidFill>
                <a:latin typeface="Arial"/>
              </a:rPr>
              <a:t>Doctor AND Cardiology AND Hospital A</a:t>
            </a:r>
          </a:p>
        </p:txBody>
      </p:sp>
      <p:sp>
        <p:nvSpPr>
          <p:cNvPr id="16" name="Rounded Rectangle 15"/>
          <p:cNvSpPr/>
          <p:nvPr/>
        </p:nvSpPr>
        <p:spPr>
          <a:xfrm>
            <a:off x="566928" y="3470783"/>
            <a:ext cx="2595295" cy="708609"/>
          </a:xfrm>
          <a:prstGeom prst="roundRect">
            <a:avLst>
              <a:gd name="adj" fmla="val 6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04088" y="3607943"/>
            <a:ext cx="2320975" cy="186690"/>
          </a:xfrm>
          <a:prstGeom prst="rect">
            <a:avLst/>
          </a:prstGeom>
          <a:noFill/>
        </p:spPr>
        <p:txBody>
          <a:bodyPr wrap="square" lIns="0" rIns="0" tIns="0" bIns="0" anchor="t">
            <a:spAutoFit/>
          </a:bodyPr>
          <a:lstStyle/>
          <a:p>
            <a:pPr algn="l">
              <a:lnSpc>
                <a:spcPct val="110000"/>
              </a:lnSpc>
              <a:spcBef>
                <a:spcPts val="0"/>
              </a:spcBef>
              <a:spcAft>
                <a:spcPts val="0"/>
              </a:spcAft>
            </a:pPr>
            <a:r>
              <a:rPr sz="1140" b="1" i="0">
                <a:solidFill>
                  <a:srgbClr val="1B7A57"/>
                </a:solidFill>
                <a:latin typeface="Arial"/>
              </a:rPr>
              <a:t>Thỏa mãn policy</a:t>
            </a:r>
          </a:p>
        </p:txBody>
      </p:sp>
      <p:sp>
        <p:nvSpPr>
          <p:cNvPr id="18" name="TextBox 17"/>
          <p:cNvSpPr txBox="1"/>
          <p:nvPr/>
        </p:nvSpPr>
        <p:spPr>
          <a:xfrm>
            <a:off x="704088" y="3858641"/>
            <a:ext cx="2320975" cy="183591"/>
          </a:xfrm>
          <a:prstGeom prst="rect">
            <a:avLst/>
          </a:prstGeom>
          <a:noFill/>
        </p:spPr>
        <p:txBody>
          <a:bodyPr wrap="square" lIns="0" rIns="0" tIns="0" bIns="0" anchor="t">
            <a:spAutoFit/>
          </a:bodyPr>
          <a:lstStyle/>
          <a:p>
            <a:pPr algn="l">
              <a:lnSpc>
                <a:spcPct val="116000"/>
              </a:lnSpc>
              <a:spcBef>
                <a:spcPts val="0"/>
              </a:spcBef>
              <a:spcAft>
                <a:spcPts val="0"/>
              </a:spcAft>
            </a:pPr>
            <a:r>
              <a:rPr sz="1060" b="0" i="0">
                <a:solidFill>
                  <a:srgbClr val="2B3A47"/>
                </a:solidFill>
                <a:latin typeface="Arial"/>
              </a:rPr>
              <a:t>→ Giải mã </a:t>
            </a:r>
            <a:r>
              <a:rPr sz="1060" b="1" i="0">
                <a:solidFill>
                  <a:srgbClr val="1B7A57"/>
                </a:solidFill>
                <a:latin typeface="Arial"/>
              </a:rPr>
              <a:t>thành công</a:t>
            </a:r>
          </a:p>
        </p:txBody>
      </p:sp>
      <p:sp>
        <p:nvSpPr>
          <p:cNvPr id="19" name="Rounded Rectangle 18"/>
          <p:cNvSpPr/>
          <p:nvPr/>
        </p:nvSpPr>
        <p:spPr>
          <a:xfrm>
            <a:off x="3345103" y="3470783"/>
            <a:ext cx="2595295" cy="708609"/>
          </a:xfrm>
          <a:prstGeom prst="roundRect">
            <a:avLst>
              <a:gd name="adj" fmla="val 6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82263" y="3607943"/>
            <a:ext cx="2320975" cy="186690"/>
          </a:xfrm>
          <a:prstGeom prst="rect">
            <a:avLst/>
          </a:prstGeom>
          <a:noFill/>
        </p:spPr>
        <p:txBody>
          <a:bodyPr wrap="square" lIns="0" rIns="0" tIns="0" bIns="0" anchor="t">
            <a:spAutoFit/>
          </a:bodyPr>
          <a:lstStyle/>
          <a:p>
            <a:pPr algn="l">
              <a:lnSpc>
                <a:spcPct val="110000"/>
              </a:lnSpc>
              <a:spcBef>
                <a:spcPts val="0"/>
              </a:spcBef>
              <a:spcAft>
                <a:spcPts val="0"/>
              </a:spcAft>
            </a:pPr>
            <a:r>
              <a:rPr sz="1140" b="1" i="0">
                <a:solidFill>
                  <a:srgbClr val="B8342A"/>
                </a:solidFill>
                <a:latin typeface="Arial"/>
              </a:rPr>
              <a:t>Không thỏa mãn</a:t>
            </a:r>
          </a:p>
        </p:txBody>
      </p:sp>
      <p:sp>
        <p:nvSpPr>
          <p:cNvPr id="21" name="TextBox 20"/>
          <p:cNvSpPr txBox="1"/>
          <p:nvPr/>
        </p:nvSpPr>
        <p:spPr>
          <a:xfrm>
            <a:off x="3482263" y="3858641"/>
            <a:ext cx="2320975" cy="183591"/>
          </a:xfrm>
          <a:prstGeom prst="rect">
            <a:avLst/>
          </a:prstGeom>
          <a:noFill/>
        </p:spPr>
        <p:txBody>
          <a:bodyPr wrap="square" lIns="0" rIns="0" tIns="0" bIns="0" anchor="t">
            <a:spAutoFit/>
          </a:bodyPr>
          <a:lstStyle/>
          <a:p>
            <a:pPr algn="l">
              <a:lnSpc>
                <a:spcPct val="116000"/>
              </a:lnSpc>
              <a:spcBef>
                <a:spcPts val="0"/>
              </a:spcBef>
              <a:spcAft>
                <a:spcPts val="0"/>
              </a:spcAft>
            </a:pPr>
            <a:r>
              <a:rPr sz="1060" b="0" i="0">
                <a:solidFill>
                  <a:srgbClr val="2B3A47"/>
                </a:solidFill>
                <a:latin typeface="Arial"/>
              </a:rPr>
              <a:t>→ Giải mã </a:t>
            </a:r>
            <a:r>
              <a:rPr sz="1060" b="1" i="0">
                <a:solidFill>
                  <a:srgbClr val="B8342A"/>
                </a:solidFill>
                <a:latin typeface="Arial"/>
              </a:rPr>
              <a:t>thất bại</a:t>
            </a:r>
          </a:p>
        </p:txBody>
      </p:sp>
      <p:sp>
        <p:nvSpPr>
          <p:cNvPr id="22" name="Rounded Rectangle 21"/>
          <p:cNvSpPr/>
          <p:nvPr/>
        </p:nvSpPr>
        <p:spPr>
          <a:xfrm>
            <a:off x="566928" y="4325696"/>
            <a:ext cx="5373471" cy="591870"/>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566928" y="4325696"/>
            <a:ext cx="64008" cy="59187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9808" y="4444568"/>
            <a:ext cx="5044287" cy="354126"/>
          </a:xfrm>
          <a:prstGeom prst="rect">
            <a:avLst/>
          </a:prstGeom>
          <a:noFill/>
        </p:spPr>
        <p:txBody>
          <a:bodyPr wrap="square" lIns="0" rIns="0" tIns="0" bIns="0" anchor="t">
            <a:spAutoFit/>
          </a:bodyPr>
          <a:lstStyle/>
          <a:p>
            <a:pPr algn="l">
              <a:lnSpc>
                <a:spcPct val="118000"/>
              </a:lnSpc>
              <a:spcBef>
                <a:spcPts val="0"/>
              </a:spcBef>
              <a:spcAft>
                <a:spcPts val="0"/>
              </a:spcAft>
            </a:pPr>
            <a:r>
              <a:rPr sz="1090" b="0" i="0">
                <a:solidFill>
                  <a:srgbClr val="0E2D4E"/>
                </a:solidFill>
                <a:latin typeface="Arial"/>
              </a:rPr>
              <a:t>Giải mã thành công khi </a:t>
            </a:r>
            <a:r>
              <a:rPr sz="1090" b="1" i="0">
                <a:solidFill>
                  <a:srgbClr val="0E2D4E"/>
                </a:solidFill>
                <a:latin typeface="Arial"/>
              </a:rPr>
              <a:t>tập thuộc tính của người dùng thỏa mãn Access Policy</a:t>
            </a:r>
            <a:r>
              <a:rPr sz="1090" b="0" i="0">
                <a:solidFill>
                  <a:srgbClr val="0E2D4E"/>
                </a:solidFill>
                <a:latin typeface="Arial"/>
              </a:rPr>
              <a:t> — không nhất thiết khớp hoàn toàn.</a:t>
            </a:r>
          </a:p>
        </p:txBody>
      </p:sp>
      <p:sp>
        <p:nvSpPr>
          <p:cNvPr id="25" name="Rectangle 24"/>
          <p:cNvSpPr/>
          <p:nvPr/>
        </p:nvSpPr>
        <p:spPr>
          <a:xfrm>
            <a:off x="6251295"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70167" y="1298448"/>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CP-ABE vs. KP-ABE</a:t>
            </a:r>
          </a:p>
        </p:txBody>
      </p:sp>
      <p:sp>
        <p:nvSpPr>
          <p:cNvPr id="27" name="Rectangle 26"/>
          <p:cNvSpPr/>
          <p:nvPr/>
        </p:nvSpPr>
        <p:spPr>
          <a:xfrm>
            <a:off x="6251295" y="1550543"/>
            <a:ext cx="5373471" cy="294386"/>
          </a:xfrm>
          <a:prstGeom prst="rect">
            <a:avLst/>
          </a:prstGeom>
          <a:solidFill>
            <a:srgbClr val="0E2D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342735" y="1550543"/>
            <a:ext cx="1374648" cy="294386"/>
          </a:xfrm>
          <a:prstGeom prst="rect">
            <a:avLst/>
          </a:prstGeom>
          <a:noFill/>
        </p:spPr>
        <p:txBody>
          <a:bodyPr wrap="square" lIns="0" rIns="0" tIns="0" bIns="0" anchor="ctr">
            <a:spAutoFit/>
          </a:bodyPr>
          <a:lstStyle/>
          <a:p>
            <a:pPr algn="l">
              <a:lnSpc>
                <a:spcPct val="110000"/>
              </a:lnSpc>
              <a:spcBef>
                <a:spcPts val="0"/>
              </a:spcBef>
              <a:spcAft>
                <a:spcPts val="0"/>
              </a:spcAft>
            </a:pPr>
          </a:p>
        </p:txBody>
      </p:sp>
      <p:sp>
        <p:nvSpPr>
          <p:cNvPr id="29" name="TextBox 28"/>
          <p:cNvSpPr txBox="1"/>
          <p:nvPr/>
        </p:nvSpPr>
        <p:spPr>
          <a:xfrm>
            <a:off x="7900263" y="1550543"/>
            <a:ext cx="1530400"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CP-ABE</a:t>
            </a:r>
          </a:p>
        </p:txBody>
      </p:sp>
      <p:sp>
        <p:nvSpPr>
          <p:cNvPr id="30" name="TextBox 29"/>
          <p:cNvSpPr txBox="1"/>
          <p:nvPr/>
        </p:nvSpPr>
        <p:spPr>
          <a:xfrm>
            <a:off x="9613544" y="1550543"/>
            <a:ext cx="1919782"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KP-ABE</a:t>
            </a:r>
          </a:p>
        </p:txBody>
      </p:sp>
      <p:sp>
        <p:nvSpPr>
          <p:cNvPr id="31" name="Rectangle 30"/>
          <p:cNvSpPr/>
          <p:nvPr/>
        </p:nvSpPr>
        <p:spPr>
          <a:xfrm>
            <a:off x="6251295" y="1844929"/>
            <a:ext cx="5373471" cy="284835"/>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342735" y="1844929"/>
            <a:ext cx="1374648" cy="284835"/>
          </a:xfrm>
          <a:prstGeom prst="rect">
            <a:avLst/>
          </a:prstGeom>
          <a:noFill/>
        </p:spPr>
        <p:txBody>
          <a:bodyPr wrap="square" lIns="0" rIns="0" tIns="0" bIns="0" anchor="ctr">
            <a:spAutoFit/>
          </a:bodyPr>
          <a:lstStyle/>
          <a:p>
            <a:pPr algn="l">
              <a:lnSpc>
                <a:spcPct val="114000"/>
              </a:lnSpc>
              <a:spcBef>
                <a:spcPts val="0"/>
              </a:spcBef>
              <a:spcAft>
                <a:spcPts val="0"/>
              </a:spcAft>
            </a:pPr>
            <a:r>
              <a:rPr sz="1019" b="1" i="0">
                <a:solidFill>
                  <a:srgbClr val="0E2D4E"/>
                </a:solidFill>
                <a:latin typeface="Arial"/>
              </a:rPr>
              <a:t>Policy nằm ở</a:t>
            </a:r>
          </a:p>
        </p:txBody>
      </p:sp>
      <p:sp>
        <p:nvSpPr>
          <p:cNvPr id="33" name="TextBox 32"/>
          <p:cNvSpPr txBox="1"/>
          <p:nvPr/>
        </p:nvSpPr>
        <p:spPr>
          <a:xfrm>
            <a:off x="7900263" y="1844929"/>
            <a:ext cx="1530400" cy="284835"/>
          </a:xfrm>
          <a:prstGeom prst="rect">
            <a:avLst/>
          </a:prstGeom>
          <a:noFill/>
        </p:spPr>
        <p:txBody>
          <a:bodyPr wrap="square" lIns="0" rIns="0" tIns="0" bIns="0" anchor="ctr">
            <a:spAutoFit/>
          </a:bodyPr>
          <a:lstStyle/>
          <a:p>
            <a:pPr algn="l">
              <a:lnSpc>
                <a:spcPct val="114000"/>
              </a:lnSpc>
              <a:spcBef>
                <a:spcPts val="0"/>
              </a:spcBef>
              <a:spcAft>
                <a:spcPts val="0"/>
              </a:spcAft>
            </a:pPr>
            <a:r>
              <a:rPr sz="1019" b="0" i="0">
                <a:solidFill>
                  <a:srgbClr val="2B3A47"/>
                </a:solidFill>
                <a:latin typeface="Arial"/>
              </a:rPr>
              <a:t>Ciphertext</a:t>
            </a:r>
          </a:p>
        </p:txBody>
      </p:sp>
      <p:sp>
        <p:nvSpPr>
          <p:cNvPr id="34" name="TextBox 33"/>
          <p:cNvSpPr txBox="1"/>
          <p:nvPr/>
        </p:nvSpPr>
        <p:spPr>
          <a:xfrm>
            <a:off x="9613544" y="1844929"/>
            <a:ext cx="1919782" cy="284835"/>
          </a:xfrm>
          <a:prstGeom prst="rect">
            <a:avLst/>
          </a:prstGeom>
          <a:noFill/>
        </p:spPr>
        <p:txBody>
          <a:bodyPr wrap="square" lIns="0" rIns="0" tIns="0" bIns="0" anchor="ctr">
            <a:spAutoFit/>
          </a:bodyPr>
          <a:lstStyle/>
          <a:p>
            <a:pPr algn="l">
              <a:lnSpc>
                <a:spcPct val="114000"/>
              </a:lnSpc>
              <a:spcBef>
                <a:spcPts val="0"/>
              </a:spcBef>
              <a:spcAft>
                <a:spcPts val="0"/>
              </a:spcAft>
            </a:pPr>
            <a:r>
              <a:rPr sz="1019" b="0" i="0">
                <a:solidFill>
                  <a:srgbClr val="2B3A47"/>
                </a:solidFill>
                <a:latin typeface="Arial"/>
              </a:rPr>
              <a:t>User Secret Key</a:t>
            </a:r>
          </a:p>
        </p:txBody>
      </p:sp>
      <p:sp>
        <p:nvSpPr>
          <p:cNvPr id="35" name="Rectangle 34"/>
          <p:cNvSpPr/>
          <p:nvPr/>
        </p:nvSpPr>
        <p:spPr>
          <a:xfrm>
            <a:off x="6251295" y="2129764"/>
            <a:ext cx="5373471" cy="284835"/>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342735" y="2129764"/>
            <a:ext cx="1374648" cy="284835"/>
          </a:xfrm>
          <a:prstGeom prst="rect">
            <a:avLst/>
          </a:prstGeom>
          <a:noFill/>
        </p:spPr>
        <p:txBody>
          <a:bodyPr wrap="square" lIns="0" rIns="0" tIns="0" bIns="0" anchor="ctr">
            <a:spAutoFit/>
          </a:bodyPr>
          <a:lstStyle/>
          <a:p>
            <a:pPr algn="l">
              <a:lnSpc>
                <a:spcPct val="114000"/>
              </a:lnSpc>
              <a:spcBef>
                <a:spcPts val="0"/>
              </a:spcBef>
              <a:spcAft>
                <a:spcPts val="0"/>
              </a:spcAft>
            </a:pPr>
            <a:r>
              <a:rPr sz="1019" b="1" i="0">
                <a:solidFill>
                  <a:srgbClr val="0E2D4E"/>
                </a:solidFill>
                <a:latin typeface="Arial"/>
              </a:rPr>
              <a:t>Attributes nằm ở</a:t>
            </a:r>
          </a:p>
        </p:txBody>
      </p:sp>
      <p:sp>
        <p:nvSpPr>
          <p:cNvPr id="37" name="TextBox 36"/>
          <p:cNvSpPr txBox="1"/>
          <p:nvPr/>
        </p:nvSpPr>
        <p:spPr>
          <a:xfrm>
            <a:off x="7900263" y="2129764"/>
            <a:ext cx="1530400" cy="284835"/>
          </a:xfrm>
          <a:prstGeom prst="rect">
            <a:avLst/>
          </a:prstGeom>
          <a:noFill/>
        </p:spPr>
        <p:txBody>
          <a:bodyPr wrap="square" lIns="0" rIns="0" tIns="0" bIns="0" anchor="ctr">
            <a:spAutoFit/>
          </a:bodyPr>
          <a:lstStyle/>
          <a:p>
            <a:pPr algn="l">
              <a:lnSpc>
                <a:spcPct val="114000"/>
              </a:lnSpc>
              <a:spcBef>
                <a:spcPts val="0"/>
              </a:spcBef>
              <a:spcAft>
                <a:spcPts val="0"/>
              </a:spcAft>
            </a:pPr>
            <a:r>
              <a:rPr sz="1019" b="0" i="0">
                <a:solidFill>
                  <a:srgbClr val="2B3A47"/>
                </a:solidFill>
                <a:latin typeface="Arial"/>
              </a:rPr>
              <a:t>User Secret Key</a:t>
            </a:r>
          </a:p>
        </p:txBody>
      </p:sp>
      <p:sp>
        <p:nvSpPr>
          <p:cNvPr id="38" name="TextBox 37"/>
          <p:cNvSpPr txBox="1"/>
          <p:nvPr/>
        </p:nvSpPr>
        <p:spPr>
          <a:xfrm>
            <a:off x="9613544" y="2129764"/>
            <a:ext cx="1919782" cy="284835"/>
          </a:xfrm>
          <a:prstGeom prst="rect">
            <a:avLst/>
          </a:prstGeom>
          <a:noFill/>
        </p:spPr>
        <p:txBody>
          <a:bodyPr wrap="square" lIns="0" rIns="0" tIns="0" bIns="0" anchor="ctr">
            <a:spAutoFit/>
          </a:bodyPr>
          <a:lstStyle/>
          <a:p>
            <a:pPr algn="l">
              <a:lnSpc>
                <a:spcPct val="114000"/>
              </a:lnSpc>
              <a:spcBef>
                <a:spcPts val="0"/>
              </a:spcBef>
              <a:spcAft>
                <a:spcPts val="0"/>
              </a:spcAft>
            </a:pPr>
            <a:r>
              <a:rPr sz="1019" b="0" i="0">
                <a:solidFill>
                  <a:srgbClr val="2B3A47"/>
                </a:solidFill>
                <a:latin typeface="Arial"/>
              </a:rPr>
              <a:t>Ciphertext</a:t>
            </a:r>
          </a:p>
        </p:txBody>
      </p:sp>
      <p:sp>
        <p:nvSpPr>
          <p:cNvPr id="39" name="Rectangle 38"/>
          <p:cNvSpPr/>
          <p:nvPr/>
        </p:nvSpPr>
        <p:spPr>
          <a:xfrm>
            <a:off x="6251295" y="2414600"/>
            <a:ext cx="5373471" cy="284835"/>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342735" y="2414600"/>
            <a:ext cx="1374648" cy="284835"/>
          </a:xfrm>
          <a:prstGeom prst="rect">
            <a:avLst/>
          </a:prstGeom>
          <a:noFill/>
        </p:spPr>
        <p:txBody>
          <a:bodyPr wrap="square" lIns="0" rIns="0" tIns="0" bIns="0" anchor="ctr">
            <a:spAutoFit/>
          </a:bodyPr>
          <a:lstStyle/>
          <a:p>
            <a:pPr algn="l">
              <a:lnSpc>
                <a:spcPct val="114000"/>
              </a:lnSpc>
              <a:spcBef>
                <a:spcPts val="0"/>
              </a:spcBef>
              <a:spcAft>
                <a:spcPts val="0"/>
              </a:spcAft>
            </a:pPr>
            <a:r>
              <a:rPr sz="1019" b="1" i="0">
                <a:solidFill>
                  <a:srgbClr val="0E2D4E"/>
                </a:solidFill>
                <a:latin typeface="Arial"/>
              </a:rPr>
              <a:t>Ai quyết định policy</a:t>
            </a:r>
          </a:p>
        </p:txBody>
      </p:sp>
      <p:sp>
        <p:nvSpPr>
          <p:cNvPr id="41" name="TextBox 40"/>
          <p:cNvSpPr txBox="1"/>
          <p:nvPr/>
        </p:nvSpPr>
        <p:spPr>
          <a:xfrm>
            <a:off x="7900263" y="2414600"/>
            <a:ext cx="1530400" cy="284835"/>
          </a:xfrm>
          <a:prstGeom prst="rect">
            <a:avLst/>
          </a:prstGeom>
          <a:noFill/>
        </p:spPr>
        <p:txBody>
          <a:bodyPr wrap="square" lIns="0" rIns="0" tIns="0" bIns="0" anchor="ctr">
            <a:spAutoFit/>
          </a:bodyPr>
          <a:lstStyle/>
          <a:p>
            <a:pPr algn="l">
              <a:lnSpc>
                <a:spcPct val="114000"/>
              </a:lnSpc>
              <a:spcBef>
                <a:spcPts val="0"/>
              </a:spcBef>
              <a:spcAft>
                <a:spcPts val="0"/>
              </a:spcAft>
            </a:pPr>
            <a:r>
              <a:rPr sz="1019" b="0" i="0">
                <a:solidFill>
                  <a:srgbClr val="2B3A47"/>
                </a:solidFill>
                <a:latin typeface="Arial"/>
              </a:rPr>
              <a:t>Bên mã hóa dữ liệu</a:t>
            </a:r>
          </a:p>
        </p:txBody>
      </p:sp>
      <p:sp>
        <p:nvSpPr>
          <p:cNvPr id="42" name="TextBox 41"/>
          <p:cNvSpPr txBox="1"/>
          <p:nvPr/>
        </p:nvSpPr>
        <p:spPr>
          <a:xfrm>
            <a:off x="9613544" y="2414600"/>
            <a:ext cx="1919782" cy="284835"/>
          </a:xfrm>
          <a:prstGeom prst="rect">
            <a:avLst/>
          </a:prstGeom>
          <a:noFill/>
        </p:spPr>
        <p:txBody>
          <a:bodyPr wrap="square" lIns="0" rIns="0" tIns="0" bIns="0" anchor="ctr">
            <a:spAutoFit/>
          </a:bodyPr>
          <a:lstStyle/>
          <a:p>
            <a:pPr algn="l">
              <a:lnSpc>
                <a:spcPct val="114000"/>
              </a:lnSpc>
              <a:spcBef>
                <a:spcPts val="0"/>
              </a:spcBef>
              <a:spcAft>
                <a:spcPts val="0"/>
              </a:spcAft>
            </a:pPr>
            <a:r>
              <a:rPr sz="1019" b="0" i="0">
                <a:solidFill>
                  <a:srgbClr val="2B3A47"/>
                </a:solidFill>
                <a:latin typeface="Arial"/>
              </a:rPr>
              <a:t>Cơ quan cấp khóa</a:t>
            </a:r>
          </a:p>
        </p:txBody>
      </p:sp>
      <p:sp>
        <p:nvSpPr>
          <p:cNvPr id="43" name="Rectangle 42"/>
          <p:cNvSpPr/>
          <p:nvPr/>
        </p:nvSpPr>
        <p:spPr>
          <a:xfrm>
            <a:off x="6251295" y="2699435"/>
            <a:ext cx="5373471" cy="432511"/>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342735" y="2699435"/>
            <a:ext cx="1374648" cy="432511"/>
          </a:xfrm>
          <a:prstGeom prst="rect">
            <a:avLst/>
          </a:prstGeom>
          <a:noFill/>
        </p:spPr>
        <p:txBody>
          <a:bodyPr wrap="square" lIns="0" rIns="0" tIns="0" bIns="0" anchor="ctr">
            <a:spAutoFit/>
          </a:bodyPr>
          <a:lstStyle/>
          <a:p>
            <a:pPr algn="l">
              <a:lnSpc>
                <a:spcPct val="114000"/>
              </a:lnSpc>
              <a:spcBef>
                <a:spcPts val="0"/>
              </a:spcBef>
              <a:spcAft>
                <a:spcPts val="0"/>
              </a:spcAft>
            </a:pPr>
            <a:r>
              <a:rPr sz="1019" b="1" i="0">
                <a:solidFill>
                  <a:srgbClr val="0E2D4E"/>
                </a:solidFill>
                <a:latin typeface="Arial"/>
              </a:rPr>
              <a:t>Câu hỏi trực quan</a:t>
            </a:r>
          </a:p>
        </p:txBody>
      </p:sp>
      <p:sp>
        <p:nvSpPr>
          <p:cNvPr id="45" name="TextBox 44"/>
          <p:cNvSpPr txBox="1"/>
          <p:nvPr/>
        </p:nvSpPr>
        <p:spPr>
          <a:xfrm>
            <a:off x="7900263" y="2699435"/>
            <a:ext cx="1530400" cy="432511"/>
          </a:xfrm>
          <a:prstGeom prst="rect">
            <a:avLst/>
          </a:prstGeom>
          <a:noFill/>
        </p:spPr>
        <p:txBody>
          <a:bodyPr wrap="square" lIns="0" rIns="0" tIns="0" bIns="0" anchor="ctr">
            <a:spAutoFit/>
          </a:bodyPr>
          <a:lstStyle/>
          <a:p>
            <a:pPr algn="l">
              <a:lnSpc>
                <a:spcPct val="114000"/>
              </a:lnSpc>
              <a:spcBef>
                <a:spcPts val="0"/>
              </a:spcBef>
              <a:spcAft>
                <a:spcPts val="0"/>
              </a:spcAft>
            </a:pPr>
            <a:r>
              <a:rPr sz="1019" b="0" i="0">
                <a:solidFill>
                  <a:srgbClr val="2B3A47"/>
                </a:solidFill>
                <a:latin typeface="Arial"/>
              </a:rPr>
              <a:t>“Dữ liệu này cho ai?”</a:t>
            </a:r>
          </a:p>
        </p:txBody>
      </p:sp>
      <p:sp>
        <p:nvSpPr>
          <p:cNvPr id="46" name="TextBox 45"/>
          <p:cNvSpPr txBox="1"/>
          <p:nvPr/>
        </p:nvSpPr>
        <p:spPr>
          <a:xfrm>
            <a:off x="9613544" y="2699435"/>
            <a:ext cx="1919782" cy="432511"/>
          </a:xfrm>
          <a:prstGeom prst="rect">
            <a:avLst/>
          </a:prstGeom>
          <a:noFill/>
        </p:spPr>
        <p:txBody>
          <a:bodyPr wrap="square" lIns="0" rIns="0" tIns="0" bIns="0" anchor="ctr">
            <a:spAutoFit/>
          </a:bodyPr>
          <a:lstStyle/>
          <a:p>
            <a:pPr algn="l">
              <a:lnSpc>
                <a:spcPct val="114000"/>
              </a:lnSpc>
              <a:spcBef>
                <a:spcPts val="0"/>
              </a:spcBef>
              <a:spcAft>
                <a:spcPts val="0"/>
              </a:spcAft>
            </a:pPr>
            <a:r>
              <a:rPr sz="1019" b="0" i="0">
                <a:solidFill>
                  <a:srgbClr val="2B3A47"/>
                </a:solidFill>
                <a:latin typeface="Arial"/>
              </a:rPr>
              <a:t>“Người này xem được loại dữ liệu nào?”</a:t>
            </a:r>
          </a:p>
        </p:txBody>
      </p:sp>
      <p:sp>
        <p:nvSpPr>
          <p:cNvPr id="47" name="Rounded Rectangle 46"/>
          <p:cNvSpPr/>
          <p:nvPr/>
        </p:nvSpPr>
        <p:spPr>
          <a:xfrm>
            <a:off x="6251295" y="3259963"/>
            <a:ext cx="5373471" cy="430022"/>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6251295" y="3259963"/>
            <a:ext cx="64008" cy="43002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434175" y="3378835"/>
            <a:ext cx="5044287" cy="192278"/>
          </a:xfrm>
          <a:prstGeom prst="rect">
            <a:avLst/>
          </a:prstGeom>
          <a:noFill/>
        </p:spPr>
        <p:txBody>
          <a:bodyPr wrap="square" lIns="0" rIns="0" tIns="0" bIns="0" anchor="t">
            <a:spAutoFit/>
          </a:bodyPr>
          <a:lstStyle/>
          <a:p>
            <a:pPr algn="l">
              <a:lnSpc>
                <a:spcPct val="118000"/>
              </a:lnSpc>
              <a:spcBef>
                <a:spcPts val="0"/>
              </a:spcBef>
              <a:spcAft>
                <a:spcPts val="0"/>
              </a:spcAft>
            </a:pPr>
            <a:r>
              <a:rPr sz="1100" b="1" i="0">
                <a:solidFill>
                  <a:srgbClr val="0E2D4E"/>
                </a:solidFill>
                <a:latin typeface="Arial"/>
              </a:rPr>
              <a:t>CP-ABE: Policy → Ciphertext</a:t>
            </a:r>
            <a:r>
              <a:rPr sz="1100" b="0" i="0">
                <a:solidFill>
                  <a:srgbClr val="0E2D4E"/>
                </a:solidFill>
                <a:latin typeface="Arial"/>
              </a:rPr>
              <a:t>     </a:t>
            </a:r>
            <a:r>
              <a:rPr sz="1100" b="1" i="0">
                <a:solidFill>
                  <a:srgbClr val="0E2D4E"/>
                </a:solidFill>
                <a:latin typeface="Arial"/>
              </a:rPr>
              <a:t>KP-ABE: Policy → Key</a:t>
            </a:r>
          </a:p>
        </p:txBody>
      </p:sp>
      <p:sp>
        <p:nvSpPr>
          <p:cNvPr id="50" name="Rectangle 49"/>
          <p:cNvSpPr/>
          <p:nvPr/>
        </p:nvSpPr>
        <p:spPr>
          <a:xfrm>
            <a:off x="6251295" y="3891153"/>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370167" y="3872865"/>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3 · Cơ chế ABE — bốn bước</a:t>
            </a:r>
          </a:p>
        </p:txBody>
      </p:sp>
      <p:sp>
        <p:nvSpPr>
          <p:cNvPr id="52" name="Rectangle 51"/>
          <p:cNvSpPr/>
          <p:nvPr/>
        </p:nvSpPr>
        <p:spPr>
          <a:xfrm>
            <a:off x="6251295" y="4124960"/>
            <a:ext cx="5373471" cy="287731"/>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6342735" y="4124960"/>
            <a:ext cx="1608277" cy="287731"/>
          </a:xfrm>
          <a:prstGeom prst="rect">
            <a:avLst/>
          </a:prstGeom>
          <a:noFill/>
        </p:spPr>
        <p:txBody>
          <a:bodyPr wrap="square" lIns="0" rIns="0" tIns="0" bIns="0" anchor="ctr">
            <a:spAutoFit/>
          </a:bodyPr>
          <a:lstStyle/>
          <a:p>
            <a:pPr algn="l">
              <a:lnSpc>
                <a:spcPct val="114000"/>
              </a:lnSpc>
              <a:spcBef>
                <a:spcPts val="0"/>
              </a:spcBef>
              <a:spcAft>
                <a:spcPts val="0"/>
              </a:spcAft>
            </a:pPr>
            <a:r>
              <a:rPr sz="1040" b="1" i="0">
                <a:solidFill>
                  <a:srgbClr val="0E2D4E"/>
                </a:solidFill>
                <a:latin typeface="Arial"/>
              </a:rPr>
              <a:t>① Setup</a:t>
            </a:r>
          </a:p>
        </p:txBody>
      </p:sp>
      <p:sp>
        <p:nvSpPr>
          <p:cNvPr id="54" name="TextBox 53"/>
          <p:cNvSpPr txBox="1"/>
          <p:nvPr/>
        </p:nvSpPr>
        <p:spPr>
          <a:xfrm>
            <a:off x="8133892" y="4124960"/>
            <a:ext cx="3399434" cy="287731"/>
          </a:xfrm>
          <a:prstGeom prst="rect">
            <a:avLst/>
          </a:prstGeom>
          <a:noFill/>
        </p:spPr>
        <p:txBody>
          <a:bodyPr wrap="square" lIns="0" rIns="0" tIns="0" bIns="0" anchor="ctr">
            <a:spAutoFit/>
          </a:bodyPr>
          <a:lstStyle/>
          <a:p>
            <a:pPr algn="l">
              <a:lnSpc>
                <a:spcPct val="114000"/>
              </a:lnSpc>
              <a:spcBef>
                <a:spcPts val="0"/>
              </a:spcBef>
              <a:spcAft>
                <a:spcPts val="0"/>
              </a:spcAft>
            </a:pPr>
            <a:r>
              <a:rPr sz="1040" b="0" i="0">
                <a:solidFill>
                  <a:srgbClr val="2B3A47"/>
                </a:solidFill>
                <a:latin typeface="Arial"/>
              </a:rPr>
              <a:t>Tạo tham số hệ thống &amp; khóa công khai</a:t>
            </a:r>
          </a:p>
        </p:txBody>
      </p:sp>
      <p:sp>
        <p:nvSpPr>
          <p:cNvPr id="55" name="Rectangle 54"/>
          <p:cNvSpPr/>
          <p:nvPr/>
        </p:nvSpPr>
        <p:spPr>
          <a:xfrm>
            <a:off x="6251295" y="4412691"/>
            <a:ext cx="5373471" cy="287731"/>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6342735" y="4412691"/>
            <a:ext cx="1608277" cy="287731"/>
          </a:xfrm>
          <a:prstGeom prst="rect">
            <a:avLst/>
          </a:prstGeom>
          <a:noFill/>
        </p:spPr>
        <p:txBody>
          <a:bodyPr wrap="square" lIns="0" rIns="0" tIns="0" bIns="0" anchor="ctr">
            <a:spAutoFit/>
          </a:bodyPr>
          <a:lstStyle/>
          <a:p>
            <a:pPr algn="l">
              <a:lnSpc>
                <a:spcPct val="114000"/>
              </a:lnSpc>
              <a:spcBef>
                <a:spcPts val="0"/>
              </a:spcBef>
              <a:spcAft>
                <a:spcPts val="0"/>
              </a:spcAft>
            </a:pPr>
            <a:r>
              <a:rPr sz="1040" b="1" i="0">
                <a:solidFill>
                  <a:srgbClr val="0E2D4E"/>
                </a:solidFill>
                <a:latin typeface="Arial"/>
              </a:rPr>
              <a:t>② Key Generation</a:t>
            </a:r>
          </a:p>
        </p:txBody>
      </p:sp>
      <p:sp>
        <p:nvSpPr>
          <p:cNvPr id="57" name="TextBox 56"/>
          <p:cNvSpPr txBox="1"/>
          <p:nvPr/>
        </p:nvSpPr>
        <p:spPr>
          <a:xfrm>
            <a:off x="8133892" y="4412691"/>
            <a:ext cx="3399434" cy="287731"/>
          </a:xfrm>
          <a:prstGeom prst="rect">
            <a:avLst/>
          </a:prstGeom>
          <a:noFill/>
        </p:spPr>
        <p:txBody>
          <a:bodyPr wrap="square" lIns="0" rIns="0" tIns="0" bIns="0" anchor="ctr">
            <a:spAutoFit/>
          </a:bodyPr>
          <a:lstStyle/>
          <a:p>
            <a:pPr algn="l">
              <a:lnSpc>
                <a:spcPct val="114000"/>
              </a:lnSpc>
              <a:spcBef>
                <a:spcPts val="0"/>
              </a:spcBef>
              <a:spcAft>
                <a:spcPts val="0"/>
              </a:spcAft>
            </a:pPr>
            <a:r>
              <a:rPr sz="1040" b="0" i="0">
                <a:solidFill>
                  <a:srgbClr val="2B3A47"/>
                </a:solidFill>
                <a:latin typeface="Arial"/>
              </a:rPr>
              <a:t>Cấp secret key gắn thuộc tính / policy</a:t>
            </a:r>
          </a:p>
        </p:txBody>
      </p:sp>
      <p:sp>
        <p:nvSpPr>
          <p:cNvPr id="58" name="Rectangle 57"/>
          <p:cNvSpPr/>
          <p:nvPr/>
        </p:nvSpPr>
        <p:spPr>
          <a:xfrm>
            <a:off x="6251295" y="4700422"/>
            <a:ext cx="5373471" cy="287731"/>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6342735" y="4700422"/>
            <a:ext cx="1608277" cy="287731"/>
          </a:xfrm>
          <a:prstGeom prst="rect">
            <a:avLst/>
          </a:prstGeom>
          <a:noFill/>
        </p:spPr>
        <p:txBody>
          <a:bodyPr wrap="square" lIns="0" rIns="0" tIns="0" bIns="0" anchor="ctr">
            <a:spAutoFit/>
          </a:bodyPr>
          <a:lstStyle/>
          <a:p>
            <a:pPr algn="l">
              <a:lnSpc>
                <a:spcPct val="114000"/>
              </a:lnSpc>
              <a:spcBef>
                <a:spcPts val="0"/>
              </a:spcBef>
              <a:spcAft>
                <a:spcPts val="0"/>
              </a:spcAft>
            </a:pPr>
            <a:r>
              <a:rPr sz="1040" b="1" i="0">
                <a:solidFill>
                  <a:srgbClr val="0E2D4E"/>
                </a:solidFill>
                <a:latin typeface="Arial"/>
              </a:rPr>
              <a:t>③ Encryption</a:t>
            </a:r>
          </a:p>
        </p:txBody>
      </p:sp>
      <p:sp>
        <p:nvSpPr>
          <p:cNvPr id="60" name="TextBox 59"/>
          <p:cNvSpPr txBox="1"/>
          <p:nvPr/>
        </p:nvSpPr>
        <p:spPr>
          <a:xfrm>
            <a:off x="8133892" y="4700422"/>
            <a:ext cx="3399434" cy="287731"/>
          </a:xfrm>
          <a:prstGeom prst="rect">
            <a:avLst/>
          </a:prstGeom>
          <a:noFill/>
        </p:spPr>
        <p:txBody>
          <a:bodyPr wrap="square" lIns="0" rIns="0" tIns="0" bIns="0" anchor="ctr">
            <a:spAutoFit/>
          </a:bodyPr>
          <a:lstStyle/>
          <a:p>
            <a:pPr algn="l">
              <a:lnSpc>
                <a:spcPct val="114000"/>
              </a:lnSpc>
              <a:spcBef>
                <a:spcPts val="0"/>
              </a:spcBef>
              <a:spcAft>
                <a:spcPts val="0"/>
              </a:spcAft>
            </a:pPr>
            <a:r>
              <a:rPr sz="1040" b="0" i="0">
                <a:solidFill>
                  <a:srgbClr val="2B3A47"/>
                </a:solidFill>
                <a:latin typeface="Arial"/>
              </a:rPr>
              <a:t>Mã hóa dữ liệu kèm policy / thuộc tính</a:t>
            </a:r>
          </a:p>
        </p:txBody>
      </p:sp>
      <p:sp>
        <p:nvSpPr>
          <p:cNvPr id="61" name="Rectangle 60"/>
          <p:cNvSpPr/>
          <p:nvPr/>
        </p:nvSpPr>
        <p:spPr>
          <a:xfrm>
            <a:off x="6251295" y="4988153"/>
            <a:ext cx="5373471" cy="287731"/>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6342735" y="4988153"/>
            <a:ext cx="1608277" cy="287731"/>
          </a:xfrm>
          <a:prstGeom prst="rect">
            <a:avLst/>
          </a:prstGeom>
          <a:noFill/>
        </p:spPr>
        <p:txBody>
          <a:bodyPr wrap="square" lIns="0" rIns="0" tIns="0" bIns="0" anchor="ctr">
            <a:spAutoFit/>
          </a:bodyPr>
          <a:lstStyle/>
          <a:p>
            <a:pPr algn="l">
              <a:lnSpc>
                <a:spcPct val="114000"/>
              </a:lnSpc>
              <a:spcBef>
                <a:spcPts val="0"/>
              </a:spcBef>
              <a:spcAft>
                <a:spcPts val="0"/>
              </a:spcAft>
            </a:pPr>
            <a:r>
              <a:rPr sz="1040" b="1" i="0">
                <a:solidFill>
                  <a:srgbClr val="0E2D4E"/>
                </a:solidFill>
                <a:latin typeface="Arial"/>
              </a:rPr>
              <a:t>④ Decryption</a:t>
            </a:r>
          </a:p>
        </p:txBody>
      </p:sp>
      <p:sp>
        <p:nvSpPr>
          <p:cNvPr id="63" name="TextBox 62"/>
          <p:cNvSpPr txBox="1"/>
          <p:nvPr/>
        </p:nvSpPr>
        <p:spPr>
          <a:xfrm>
            <a:off x="8133892" y="4988153"/>
            <a:ext cx="3399434" cy="287731"/>
          </a:xfrm>
          <a:prstGeom prst="rect">
            <a:avLst/>
          </a:prstGeom>
          <a:noFill/>
        </p:spPr>
        <p:txBody>
          <a:bodyPr wrap="square" lIns="0" rIns="0" tIns="0" bIns="0" anchor="ctr">
            <a:spAutoFit/>
          </a:bodyPr>
          <a:lstStyle/>
          <a:p>
            <a:pPr algn="l">
              <a:lnSpc>
                <a:spcPct val="114000"/>
              </a:lnSpc>
              <a:spcBef>
                <a:spcPts val="0"/>
              </a:spcBef>
              <a:spcAft>
                <a:spcPts val="0"/>
              </a:spcAft>
            </a:pPr>
            <a:r>
              <a:rPr sz="1040" b="0" i="0">
                <a:solidFill>
                  <a:srgbClr val="2B3A47"/>
                </a:solidFill>
                <a:latin typeface="Arial"/>
              </a:rPr>
              <a:t>Đối chiếu thuộc tính của người dùng với policy</a:t>
            </a:r>
          </a:p>
        </p:txBody>
      </p:sp>
      <p:sp>
        <p:nvSpPr>
          <p:cNvPr id="64" name="Rounded Rectangle 63"/>
          <p:cNvSpPr/>
          <p:nvPr/>
        </p:nvSpPr>
        <p:spPr>
          <a:xfrm>
            <a:off x="566928" y="5367324"/>
            <a:ext cx="11057839" cy="600862"/>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Rectangle 64"/>
          <p:cNvSpPr/>
          <p:nvPr/>
        </p:nvSpPr>
        <p:spPr>
          <a:xfrm>
            <a:off x="566928" y="5367324"/>
            <a:ext cx="64008" cy="600862"/>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749808" y="5486196"/>
            <a:ext cx="10728655" cy="363118"/>
          </a:xfrm>
          <a:prstGeom prst="rect">
            <a:avLst/>
          </a:prstGeom>
          <a:noFill/>
        </p:spPr>
        <p:txBody>
          <a:bodyPr wrap="square" lIns="0" rIns="0" tIns="0" bIns="0" anchor="t">
            <a:spAutoFit/>
          </a:bodyPr>
          <a:lstStyle/>
          <a:p>
            <a:pPr algn="l">
              <a:lnSpc>
                <a:spcPct val="118000"/>
              </a:lnSpc>
              <a:spcBef>
                <a:spcPts val="0"/>
              </a:spcBef>
              <a:spcAft>
                <a:spcPts val="0"/>
              </a:spcAft>
            </a:pPr>
            <a:r>
              <a:rPr sz="1120" b="0" i="0">
                <a:solidFill>
                  <a:srgbClr val="FFFFFF"/>
                </a:solidFill>
                <a:latin typeface="Arial"/>
              </a:rPr>
              <a:t>ABE biến quyền truy cập thành </a:t>
            </a:r>
            <a:r>
              <a:rPr sz="1120" b="1" i="0">
                <a:solidFill>
                  <a:srgbClr val="FFFFFF"/>
                </a:solidFill>
                <a:latin typeface="Arial"/>
              </a:rPr>
              <a:t>bài toán về thuộc tính và chính sách</a:t>
            </a:r>
            <a:r>
              <a:rPr sz="1120" b="0" i="0">
                <a:solidFill>
                  <a:srgbClr val="FFFFFF"/>
                </a:solidFill>
                <a:latin typeface="Arial"/>
              </a:rPr>
              <a:t>: </a:t>
            </a:r>
            <a:r>
              <a:rPr sz="1120" b="1" i="0">
                <a:solidFill>
                  <a:srgbClr val="FFFFFF"/>
                </a:solidFill>
                <a:latin typeface="Arial"/>
              </a:rPr>
              <a:t>CP-ABE</a:t>
            </a:r>
            <a:r>
              <a:rPr sz="1120" b="0" i="0">
                <a:solidFill>
                  <a:srgbClr val="FFFFFF"/>
                </a:solidFill>
                <a:latin typeface="Arial"/>
              </a:rPr>
              <a:t> — người mã hóa quyết định ai đọc được; </a:t>
            </a:r>
            <a:r>
              <a:rPr sz="1120" b="1" i="0">
                <a:solidFill>
                  <a:srgbClr val="FFFFFF"/>
                </a:solidFill>
                <a:latin typeface="Arial"/>
              </a:rPr>
              <a:t>KP-ABE</a:t>
            </a:r>
            <a:r>
              <a:rPr sz="1120" b="0" i="0">
                <a:solidFill>
                  <a:srgbClr val="FFFFFF"/>
                </a:solidFill>
                <a:latin typeface="Arial"/>
              </a:rPr>
              <a:t> — chính sách trong khóa quyết định đọc được loại dữ liệu nào.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PHẦN 3 · MẬT MÃ NÂNG CAO CHO CLOUD</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KP-ABE PHI TẬP TRUNG &amp; CHỨNG MINH BẢO MẬT</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7/18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Từ KP-ABE cơ bản → phi tập trung</a:t>
            </a:r>
          </a:p>
        </p:txBody>
      </p:sp>
      <p:sp>
        <p:nvSpPr>
          <p:cNvPr id="10" name="Rounded Rectangle 9"/>
          <p:cNvSpPr/>
          <p:nvPr/>
        </p:nvSpPr>
        <p:spPr>
          <a:xfrm>
            <a:off x="566928" y="1550543"/>
            <a:ext cx="5373471" cy="950976"/>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94944" y="1678559"/>
            <a:ext cx="5117439" cy="348589"/>
          </a:xfrm>
          <a:prstGeom prst="rect">
            <a:avLst/>
          </a:prstGeom>
          <a:noFill/>
        </p:spPr>
        <p:txBody>
          <a:bodyPr wrap="square" lIns="0" rIns="0" tIns="0" bIns="0" anchor="t">
            <a:spAutoFit/>
          </a:bodyPr>
          <a:lstStyle/>
          <a:p>
            <a:pPr algn="l">
              <a:lnSpc>
                <a:spcPct val="116000"/>
              </a:lnSpc>
              <a:spcBef>
                <a:spcPts val="0"/>
              </a:spcBef>
              <a:spcAft>
                <a:spcPts val="0"/>
              </a:spcAft>
            </a:pPr>
            <a:r>
              <a:rPr sz="1090" b="1" i="0">
                <a:solidFill>
                  <a:srgbClr val="1F6FB2"/>
                </a:solidFill>
                <a:latin typeface="Arial"/>
              </a:rPr>
              <a:t>Bài toán:</a:t>
            </a:r>
            <a:r>
              <a:rPr sz="1090" b="0" i="0">
                <a:solidFill>
                  <a:srgbClr val="2B3A47"/>
                </a:solidFill>
                <a:latin typeface="Arial"/>
              </a:rPr>
              <a:t> nhiều </a:t>
            </a:r>
            <a:r>
              <a:rPr sz="1090" b="1" i="0">
                <a:solidFill>
                  <a:srgbClr val="1F6FB2"/>
                </a:solidFill>
                <a:latin typeface="Arial"/>
              </a:rPr>
              <a:t>Attribute Authority (AA)</a:t>
            </a:r>
            <a:r>
              <a:rPr sz="1090" b="0" i="0">
                <a:solidFill>
                  <a:srgbClr val="2B3A47"/>
                </a:solidFill>
                <a:latin typeface="Arial"/>
              </a:rPr>
              <a:t> thuộc các tổ chức khác nhau — quản lý khóa thế nào mà </a:t>
            </a:r>
            <a:r>
              <a:rPr sz="1090" b="1" i="0">
                <a:solidFill>
                  <a:srgbClr val="1F6FB2"/>
                </a:solidFill>
                <a:latin typeface="Arial"/>
              </a:rPr>
              <a:t>không phụ thuộc một cơ quan trung tâm</a:t>
            </a:r>
            <a:r>
              <a:rPr sz="1090" b="0" i="0">
                <a:solidFill>
                  <a:srgbClr val="2B3A47"/>
                </a:solidFill>
                <a:latin typeface="Arial"/>
              </a:rPr>
              <a:t>?</a:t>
            </a:r>
          </a:p>
        </p:txBody>
      </p:sp>
      <p:sp>
        <p:nvSpPr>
          <p:cNvPr id="12" name="Rounded Rectangle 11"/>
          <p:cNvSpPr/>
          <p:nvPr/>
        </p:nvSpPr>
        <p:spPr>
          <a:xfrm>
            <a:off x="566928" y="2647823"/>
            <a:ext cx="1693621" cy="841248"/>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04088" y="2784983"/>
            <a:ext cx="1419301" cy="186690"/>
          </a:xfrm>
          <a:prstGeom prst="rect">
            <a:avLst/>
          </a:prstGeom>
          <a:noFill/>
        </p:spPr>
        <p:txBody>
          <a:bodyPr wrap="square" lIns="0" rIns="0" tIns="0" bIns="0" anchor="t">
            <a:spAutoFit/>
          </a:bodyPr>
          <a:lstStyle/>
          <a:p>
            <a:pPr algn="l">
              <a:lnSpc>
                <a:spcPct val="110000"/>
              </a:lnSpc>
              <a:spcBef>
                <a:spcPts val="0"/>
              </a:spcBef>
              <a:spcAft>
                <a:spcPts val="0"/>
              </a:spcAft>
            </a:pPr>
            <a:r>
              <a:rPr sz="1140" b="1" i="0">
                <a:solidFill>
                  <a:srgbClr val="0E2D4E"/>
                </a:solidFill>
                <a:latin typeface="Arial"/>
              </a:rPr>
              <a:t>AA₁</a:t>
            </a:r>
          </a:p>
        </p:txBody>
      </p:sp>
      <p:sp>
        <p:nvSpPr>
          <p:cNvPr id="14" name="TextBox 13"/>
          <p:cNvSpPr txBox="1"/>
          <p:nvPr/>
        </p:nvSpPr>
        <p:spPr>
          <a:xfrm>
            <a:off x="704088" y="3035681"/>
            <a:ext cx="1419301" cy="174751"/>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2B3A47"/>
                </a:solidFill>
                <a:latin typeface="Arial"/>
              </a:rPr>
              <a:t>Thuộc tính tổ chức 1</a:t>
            </a:r>
          </a:p>
        </p:txBody>
      </p:sp>
      <p:sp>
        <p:nvSpPr>
          <p:cNvPr id="15" name="Rounded Rectangle 14"/>
          <p:cNvSpPr/>
          <p:nvPr/>
        </p:nvSpPr>
        <p:spPr>
          <a:xfrm>
            <a:off x="2406853" y="2647823"/>
            <a:ext cx="1693621" cy="841248"/>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544013" y="2784983"/>
            <a:ext cx="1419301" cy="186690"/>
          </a:xfrm>
          <a:prstGeom prst="rect">
            <a:avLst/>
          </a:prstGeom>
          <a:noFill/>
        </p:spPr>
        <p:txBody>
          <a:bodyPr wrap="square" lIns="0" rIns="0" tIns="0" bIns="0" anchor="t">
            <a:spAutoFit/>
          </a:bodyPr>
          <a:lstStyle/>
          <a:p>
            <a:pPr algn="l">
              <a:lnSpc>
                <a:spcPct val="110000"/>
              </a:lnSpc>
              <a:spcBef>
                <a:spcPts val="0"/>
              </a:spcBef>
              <a:spcAft>
                <a:spcPts val="0"/>
              </a:spcAft>
            </a:pPr>
            <a:r>
              <a:rPr sz="1140" b="1" i="0">
                <a:solidFill>
                  <a:srgbClr val="0E2D4E"/>
                </a:solidFill>
                <a:latin typeface="Arial"/>
              </a:rPr>
              <a:t>AA₂</a:t>
            </a:r>
          </a:p>
        </p:txBody>
      </p:sp>
      <p:sp>
        <p:nvSpPr>
          <p:cNvPr id="17" name="TextBox 16"/>
          <p:cNvSpPr txBox="1"/>
          <p:nvPr/>
        </p:nvSpPr>
        <p:spPr>
          <a:xfrm>
            <a:off x="2544013" y="3035681"/>
            <a:ext cx="1419301" cy="174751"/>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2B3A47"/>
                </a:solidFill>
                <a:latin typeface="Arial"/>
              </a:rPr>
              <a:t>Thuộc tính tổ chức 2</a:t>
            </a:r>
          </a:p>
        </p:txBody>
      </p:sp>
      <p:sp>
        <p:nvSpPr>
          <p:cNvPr id="18" name="Rounded Rectangle 17"/>
          <p:cNvSpPr/>
          <p:nvPr/>
        </p:nvSpPr>
        <p:spPr>
          <a:xfrm>
            <a:off x="4246778" y="2647823"/>
            <a:ext cx="1693621" cy="841248"/>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383938" y="2784983"/>
            <a:ext cx="1419301" cy="186690"/>
          </a:xfrm>
          <a:prstGeom prst="rect">
            <a:avLst/>
          </a:prstGeom>
          <a:noFill/>
        </p:spPr>
        <p:txBody>
          <a:bodyPr wrap="square" lIns="0" rIns="0" tIns="0" bIns="0" anchor="t">
            <a:spAutoFit/>
          </a:bodyPr>
          <a:lstStyle/>
          <a:p>
            <a:pPr algn="l">
              <a:lnSpc>
                <a:spcPct val="110000"/>
              </a:lnSpc>
              <a:spcBef>
                <a:spcPts val="0"/>
              </a:spcBef>
              <a:spcAft>
                <a:spcPts val="0"/>
              </a:spcAft>
            </a:pPr>
            <a:r>
              <a:rPr sz="1140" b="1" i="0">
                <a:solidFill>
                  <a:srgbClr val="0E2D4E"/>
                </a:solidFill>
                <a:latin typeface="Arial"/>
              </a:rPr>
              <a:t>AA₃</a:t>
            </a:r>
          </a:p>
        </p:txBody>
      </p:sp>
      <p:sp>
        <p:nvSpPr>
          <p:cNvPr id="20" name="TextBox 19"/>
          <p:cNvSpPr txBox="1"/>
          <p:nvPr/>
        </p:nvSpPr>
        <p:spPr>
          <a:xfrm>
            <a:off x="4383938" y="3035681"/>
            <a:ext cx="1419301" cy="174751"/>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2B3A47"/>
                </a:solidFill>
                <a:latin typeface="Arial"/>
              </a:rPr>
              <a:t>Thuộc tính tổ chức 3</a:t>
            </a:r>
          </a:p>
        </p:txBody>
      </p:sp>
      <p:sp>
        <p:nvSpPr>
          <p:cNvPr id="21" name="Rounded Rectangle 20"/>
          <p:cNvSpPr/>
          <p:nvPr/>
        </p:nvSpPr>
        <p:spPr>
          <a:xfrm>
            <a:off x="566928" y="3635375"/>
            <a:ext cx="5373471" cy="40233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0E2D4E"/>
                </a:solidFill>
                <a:latin typeface="Arial"/>
              </a:rPr>
              <a:t>Người dùng nhận thành phần khóa từ nhiều AA</a:t>
            </a:r>
          </a:p>
        </p:txBody>
      </p:sp>
      <p:sp>
        <p:nvSpPr>
          <p:cNvPr id="22" name="Rounded Rectangle 21"/>
          <p:cNvSpPr/>
          <p:nvPr/>
        </p:nvSpPr>
        <p:spPr>
          <a:xfrm>
            <a:off x="566928" y="4184015"/>
            <a:ext cx="5373471" cy="896112"/>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94944" y="4308373"/>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60" b="1" i="0">
                <a:solidFill>
                  <a:srgbClr val="1F6FB2"/>
                </a:solidFill>
                <a:latin typeface="Arial"/>
              </a:rPr>
              <a:t>•</a:t>
            </a:r>
          </a:p>
        </p:txBody>
      </p:sp>
      <p:sp>
        <p:nvSpPr>
          <p:cNvPr id="24" name="TextBox 23"/>
          <p:cNvSpPr txBox="1"/>
          <p:nvPr/>
        </p:nvSpPr>
        <p:spPr>
          <a:xfrm>
            <a:off x="832104" y="4312031"/>
            <a:ext cx="4980279" cy="183591"/>
          </a:xfrm>
          <a:prstGeom prst="rect">
            <a:avLst/>
          </a:prstGeom>
          <a:noFill/>
        </p:spPr>
        <p:txBody>
          <a:bodyPr wrap="square" lIns="0" rIns="0" tIns="0" bIns="0" anchor="t">
            <a:spAutoFit/>
          </a:bodyPr>
          <a:lstStyle/>
          <a:p>
            <a:pPr algn="l">
              <a:lnSpc>
                <a:spcPct val="116000"/>
              </a:lnSpc>
              <a:spcBef>
                <a:spcPts val="0"/>
              </a:spcBef>
              <a:spcAft>
                <a:spcPts val="0"/>
              </a:spcAft>
            </a:pPr>
            <a:r>
              <a:rPr sz="1060" b="0" i="0">
                <a:solidFill>
                  <a:srgbClr val="2B3A47"/>
                </a:solidFill>
                <a:latin typeface="Arial"/>
              </a:rPr>
              <a:t>Mỗi AA quản lý một tập thuộc tính riêng.</a:t>
            </a:r>
          </a:p>
        </p:txBody>
      </p:sp>
      <p:sp>
        <p:nvSpPr>
          <p:cNvPr id="25" name="TextBox 24"/>
          <p:cNvSpPr txBox="1"/>
          <p:nvPr/>
        </p:nvSpPr>
        <p:spPr>
          <a:xfrm>
            <a:off x="694944" y="4555464"/>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60" b="1" i="0">
                <a:solidFill>
                  <a:srgbClr val="1F6FB2"/>
                </a:solidFill>
                <a:latin typeface="Arial"/>
              </a:rPr>
              <a:t>•</a:t>
            </a:r>
          </a:p>
        </p:txBody>
      </p:sp>
      <p:sp>
        <p:nvSpPr>
          <p:cNvPr id="26" name="TextBox 25"/>
          <p:cNvSpPr txBox="1"/>
          <p:nvPr/>
        </p:nvSpPr>
        <p:spPr>
          <a:xfrm>
            <a:off x="832104" y="4559122"/>
            <a:ext cx="4980279" cy="183591"/>
          </a:xfrm>
          <a:prstGeom prst="rect">
            <a:avLst/>
          </a:prstGeom>
          <a:noFill/>
        </p:spPr>
        <p:txBody>
          <a:bodyPr wrap="square" lIns="0" rIns="0" tIns="0" bIns="0" anchor="t">
            <a:spAutoFit/>
          </a:bodyPr>
          <a:lstStyle/>
          <a:p>
            <a:pPr algn="l">
              <a:lnSpc>
                <a:spcPct val="116000"/>
              </a:lnSpc>
              <a:spcBef>
                <a:spcPts val="0"/>
              </a:spcBef>
              <a:spcAft>
                <a:spcPts val="0"/>
              </a:spcAft>
            </a:pPr>
            <a:r>
              <a:rPr sz="1060" b="0" i="0">
                <a:solidFill>
                  <a:srgbClr val="2B3A47"/>
                </a:solidFill>
                <a:latin typeface="Arial"/>
              </a:rPr>
              <a:t>AA có thể </a:t>
            </a:r>
            <a:r>
              <a:rPr sz="1060" b="1" i="0">
                <a:solidFill>
                  <a:srgbClr val="1F6FB2"/>
                </a:solidFill>
                <a:latin typeface="Arial"/>
              </a:rPr>
              <a:t>tham gia / rời hệ thống</a:t>
            </a:r>
            <a:r>
              <a:rPr sz="1060" b="0" i="0">
                <a:solidFill>
                  <a:srgbClr val="2B3A47"/>
                </a:solidFill>
                <a:latin typeface="Arial"/>
              </a:rPr>
              <a:t> mà không phải thiết lập lại toàn bộ.</a:t>
            </a:r>
          </a:p>
        </p:txBody>
      </p:sp>
      <p:sp>
        <p:nvSpPr>
          <p:cNvPr id="27" name="Rounded Rectangle 26"/>
          <p:cNvSpPr/>
          <p:nvPr/>
        </p:nvSpPr>
        <p:spPr>
          <a:xfrm>
            <a:off x="566928" y="5208143"/>
            <a:ext cx="5373471" cy="428523"/>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566928" y="5208143"/>
            <a:ext cx="64008" cy="428523"/>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49808" y="5327015"/>
            <a:ext cx="5044287" cy="190779"/>
          </a:xfrm>
          <a:prstGeom prst="rect">
            <a:avLst/>
          </a:prstGeom>
          <a:noFill/>
        </p:spPr>
        <p:txBody>
          <a:bodyPr wrap="square" lIns="0" rIns="0" tIns="0" bIns="0" anchor="t">
            <a:spAutoFit/>
          </a:bodyPr>
          <a:lstStyle/>
          <a:p>
            <a:pPr algn="l">
              <a:lnSpc>
                <a:spcPct val="118000"/>
              </a:lnSpc>
              <a:spcBef>
                <a:spcPts val="0"/>
              </a:spcBef>
              <a:spcAft>
                <a:spcPts val="0"/>
              </a:spcAft>
            </a:pPr>
            <a:r>
              <a:rPr sz="1090" b="0" i="0">
                <a:solidFill>
                  <a:srgbClr val="0E2D4E"/>
                </a:solidFill>
                <a:latin typeface="Arial"/>
              </a:rPr>
              <a:t>Không còn </a:t>
            </a:r>
            <a:r>
              <a:rPr sz="1090" b="1" i="0">
                <a:solidFill>
                  <a:srgbClr val="0E2D4E"/>
                </a:solidFill>
                <a:latin typeface="Arial"/>
              </a:rPr>
              <a:t>một Authority duy nhất</a:t>
            </a:r>
            <a:r>
              <a:rPr sz="1090" b="0" i="0">
                <a:solidFill>
                  <a:srgbClr val="0E2D4E"/>
                </a:solidFill>
                <a:latin typeface="Arial"/>
              </a:rPr>
              <a:t> quyết định toàn bộ quyền truy cập.</a:t>
            </a:r>
          </a:p>
        </p:txBody>
      </p:sp>
      <p:sp>
        <p:nvSpPr>
          <p:cNvPr id="30" name="Rectangle 29"/>
          <p:cNvSpPr/>
          <p:nvPr/>
        </p:nvSpPr>
        <p:spPr>
          <a:xfrm>
            <a:off x="6251295"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70167" y="1298448"/>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Năm thành phần của lược đồ</a:t>
            </a:r>
          </a:p>
        </p:txBody>
      </p:sp>
      <p:sp>
        <p:nvSpPr>
          <p:cNvPr id="32" name="Rectangle 31"/>
          <p:cNvSpPr/>
          <p:nvPr/>
        </p:nvSpPr>
        <p:spPr>
          <a:xfrm>
            <a:off x="6251295" y="1550543"/>
            <a:ext cx="5373471" cy="286283"/>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342735" y="1550543"/>
            <a:ext cx="1569339"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1" i="0">
                <a:solidFill>
                  <a:srgbClr val="0E2D4E"/>
                </a:solidFill>
                <a:latin typeface="Arial"/>
              </a:rPr>
              <a:t>① Global Setup</a:t>
            </a:r>
          </a:p>
        </p:txBody>
      </p:sp>
      <p:sp>
        <p:nvSpPr>
          <p:cNvPr id="34" name="TextBox 33"/>
          <p:cNvSpPr txBox="1"/>
          <p:nvPr/>
        </p:nvSpPr>
        <p:spPr>
          <a:xfrm>
            <a:off x="8094954" y="1550543"/>
            <a:ext cx="3438372"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Tạo tham số hệ thống dùng chung</a:t>
            </a:r>
          </a:p>
        </p:txBody>
      </p:sp>
      <p:sp>
        <p:nvSpPr>
          <p:cNvPr id="35" name="Rectangle 34"/>
          <p:cNvSpPr/>
          <p:nvPr/>
        </p:nvSpPr>
        <p:spPr>
          <a:xfrm>
            <a:off x="6251295" y="1836826"/>
            <a:ext cx="5373471" cy="286283"/>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342735" y="1836826"/>
            <a:ext cx="1569339"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1" i="0">
                <a:solidFill>
                  <a:srgbClr val="0E2D4E"/>
                </a:solidFill>
                <a:latin typeface="Arial"/>
              </a:rPr>
              <a:t>② Authority Setup</a:t>
            </a:r>
          </a:p>
        </p:txBody>
      </p:sp>
      <p:sp>
        <p:nvSpPr>
          <p:cNvPr id="37" name="TextBox 36"/>
          <p:cNvSpPr txBox="1"/>
          <p:nvPr/>
        </p:nvSpPr>
        <p:spPr>
          <a:xfrm>
            <a:off x="8094954" y="1836826"/>
            <a:ext cx="3438372"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Mỗi AA tạo khóa cho thuộc tính mình quản lý</a:t>
            </a:r>
          </a:p>
        </p:txBody>
      </p:sp>
      <p:sp>
        <p:nvSpPr>
          <p:cNvPr id="38" name="Rectangle 37"/>
          <p:cNvSpPr/>
          <p:nvPr/>
        </p:nvSpPr>
        <p:spPr>
          <a:xfrm>
            <a:off x="6251295" y="2123109"/>
            <a:ext cx="5373471" cy="286283"/>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342735" y="2123109"/>
            <a:ext cx="1569339"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1" i="0">
                <a:solidFill>
                  <a:srgbClr val="0E2D4E"/>
                </a:solidFill>
                <a:latin typeface="Arial"/>
              </a:rPr>
              <a:t>③ Key Issuing</a:t>
            </a:r>
          </a:p>
        </p:txBody>
      </p:sp>
      <p:sp>
        <p:nvSpPr>
          <p:cNvPr id="40" name="TextBox 39"/>
          <p:cNvSpPr txBox="1"/>
          <p:nvPr/>
        </p:nvSpPr>
        <p:spPr>
          <a:xfrm>
            <a:off x="8094954" y="2123109"/>
            <a:ext cx="3438372"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Người dùng nhận thành phần khóa từ các AA</a:t>
            </a:r>
          </a:p>
        </p:txBody>
      </p:sp>
      <p:sp>
        <p:nvSpPr>
          <p:cNvPr id="41" name="Rectangle 40"/>
          <p:cNvSpPr/>
          <p:nvPr/>
        </p:nvSpPr>
        <p:spPr>
          <a:xfrm>
            <a:off x="6251295" y="2409393"/>
            <a:ext cx="5373471" cy="286283"/>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342735" y="2409393"/>
            <a:ext cx="1569339"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1" i="0">
                <a:solidFill>
                  <a:srgbClr val="0E2D4E"/>
                </a:solidFill>
                <a:latin typeface="Arial"/>
              </a:rPr>
              <a:t>④ Encryption</a:t>
            </a:r>
          </a:p>
        </p:txBody>
      </p:sp>
      <p:sp>
        <p:nvSpPr>
          <p:cNvPr id="43" name="TextBox 42"/>
          <p:cNvSpPr txBox="1"/>
          <p:nvPr/>
        </p:nvSpPr>
        <p:spPr>
          <a:xfrm>
            <a:off x="8094954" y="2409393"/>
            <a:ext cx="3438372"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Mã hóa dữ liệu kèm tập thuộc tính mô tả</a:t>
            </a:r>
          </a:p>
        </p:txBody>
      </p:sp>
      <p:sp>
        <p:nvSpPr>
          <p:cNvPr id="44" name="Rectangle 43"/>
          <p:cNvSpPr/>
          <p:nvPr/>
        </p:nvSpPr>
        <p:spPr>
          <a:xfrm>
            <a:off x="6251295" y="2695676"/>
            <a:ext cx="5373471" cy="286283"/>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342735" y="2695676"/>
            <a:ext cx="1569339"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1" i="0">
                <a:solidFill>
                  <a:srgbClr val="0E2D4E"/>
                </a:solidFill>
                <a:latin typeface="Arial"/>
              </a:rPr>
              <a:t>⑤ Decryption</a:t>
            </a:r>
          </a:p>
        </p:txBody>
      </p:sp>
      <p:sp>
        <p:nvSpPr>
          <p:cNvPr id="46" name="TextBox 45"/>
          <p:cNvSpPr txBox="1"/>
          <p:nvPr/>
        </p:nvSpPr>
        <p:spPr>
          <a:xfrm>
            <a:off x="8094954" y="2695676"/>
            <a:ext cx="3438372"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Ghép các thành phần khóa; thỏa policy → giải mã</a:t>
            </a:r>
          </a:p>
        </p:txBody>
      </p:sp>
      <p:sp>
        <p:nvSpPr>
          <p:cNvPr id="47" name="Rectangle 46"/>
          <p:cNvSpPr/>
          <p:nvPr/>
        </p:nvSpPr>
        <p:spPr>
          <a:xfrm>
            <a:off x="6251295" y="3183127"/>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370167" y="3164839"/>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3 · Security Game — chứng minh an toàn</a:t>
            </a:r>
          </a:p>
        </p:txBody>
      </p:sp>
      <p:sp>
        <p:nvSpPr>
          <p:cNvPr id="49" name="Rounded Rectangle 48"/>
          <p:cNvSpPr/>
          <p:nvPr/>
        </p:nvSpPr>
        <p:spPr>
          <a:xfrm>
            <a:off x="6251295" y="3416934"/>
            <a:ext cx="1247355" cy="71323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00" b="1" i="0">
                <a:solidFill>
                  <a:srgbClr val="0E2D4E"/>
                </a:solidFill>
                <a:latin typeface="Arial"/>
              </a:rPr>
              <a:t>① Key Queries</a:t>
            </a:r>
          </a:p>
          <a:p>
            <a:pPr algn="ctr">
              <a:lnSpc>
                <a:spcPct val="106000"/>
              </a:lnSpc>
              <a:spcBef>
                <a:spcPts val="200"/>
              </a:spcBef>
              <a:spcAft>
                <a:spcPts val="0"/>
              </a:spcAft>
            </a:pPr>
            <a:r>
              <a:rPr sz="840" b="0" i="0">
                <a:solidFill>
                  <a:srgbClr val="64788A"/>
                </a:solidFill>
                <a:latin typeface="Arial"/>
              </a:rPr>
              <a:t>Xin khóa hợp lệ</a:t>
            </a:r>
          </a:p>
        </p:txBody>
      </p:sp>
      <p:sp>
        <p:nvSpPr>
          <p:cNvPr id="50" name="Right Arrow 49"/>
          <p:cNvSpPr/>
          <p:nvPr/>
        </p:nvSpPr>
        <p:spPr>
          <a:xfrm>
            <a:off x="7452931" y="3704970"/>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ounded Rectangle 50"/>
          <p:cNvSpPr/>
          <p:nvPr/>
        </p:nvSpPr>
        <p:spPr>
          <a:xfrm>
            <a:off x="7626667" y="3416934"/>
            <a:ext cx="1247355" cy="71323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00" b="1" i="0">
                <a:solidFill>
                  <a:srgbClr val="0E2D4E"/>
                </a:solidFill>
                <a:latin typeface="Arial"/>
              </a:rPr>
              <a:t>② Challenge</a:t>
            </a:r>
          </a:p>
          <a:p>
            <a:pPr algn="ctr">
              <a:lnSpc>
                <a:spcPct val="106000"/>
              </a:lnSpc>
              <a:spcBef>
                <a:spcPts val="200"/>
              </a:spcBef>
              <a:spcAft>
                <a:spcPts val="0"/>
              </a:spcAft>
            </a:pPr>
            <a:r>
              <a:rPr sz="840" b="0" i="0">
                <a:solidFill>
                  <a:srgbClr val="64788A"/>
                </a:solidFill>
                <a:latin typeface="Arial"/>
              </a:rPr>
              <a:t>Chọn m₀, m₁ → mã hóa một trong hai</a:t>
            </a:r>
          </a:p>
        </p:txBody>
      </p:sp>
      <p:sp>
        <p:nvSpPr>
          <p:cNvPr id="52" name="Right Arrow 51"/>
          <p:cNvSpPr/>
          <p:nvPr/>
        </p:nvSpPr>
        <p:spPr>
          <a:xfrm>
            <a:off x="8828303" y="3704970"/>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ounded Rectangle 52"/>
          <p:cNvSpPr/>
          <p:nvPr/>
        </p:nvSpPr>
        <p:spPr>
          <a:xfrm>
            <a:off x="9002039" y="3416934"/>
            <a:ext cx="1247355" cy="71323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00" b="1" i="0">
                <a:solidFill>
                  <a:srgbClr val="0E2D4E"/>
                </a:solidFill>
                <a:latin typeface="Arial"/>
              </a:rPr>
              <a:t>③ More Queries</a:t>
            </a:r>
          </a:p>
          <a:p>
            <a:pPr algn="ctr">
              <a:lnSpc>
                <a:spcPct val="106000"/>
              </a:lnSpc>
              <a:spcBef>
                <a:spcPts val="200"/>
              </a:spcBef>
              <a:spcAft>
                <a:spcPts val="0"/>
              </a:spcAft>
            </a:pPr>
            <a:r>
              <a:rPr sz="840" b="0" i="0">
                <a:solidFill>
                  <a:srgbClr val="64788A"/>
                </a:solidFill>
                <a:latin typeface="Arial"/>
              </a:rPr>
              <a:t>Không vi phạm policy</a:t>
            </a:r>
          </a:p>
        </p:txBody>
      </p:sp>
      <p:sp>
        <p:nvSpPr>
          <p:cNvPr id="54" name="Right Arrow 53"/>
          <p:cNvSpPr/>
          <p:nvPr/>
        </p:nvSpPr>
        <p:spPr>
          <a:xfrm>
            <a:off x="10203675" y="3704970"/>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ounded Rectangle 54"/>
          <p:cNvSpPr/>
          <p:nvPr/>
        </p:nvSpPr>
        <p:spPr>
          <a:xfrm>
            <a:off x="10377411" y="3416934"/>
            <a:ext cx="1247355" cy="71323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00" b="1" i="0">
                <a:solidFill>
                  <a:srgbClr val="0E2D4E"/>
                </a:solidFill>
                <a:latin typeface="Arial"/>
              </a:rPr>
              <a:t>④ Guess</a:t>
            </a:r>
          </a:p>
          <a:p>
            <a:pPr algn="ctr">
              <a:lnSpc>
                <a:spcPct val="106000"/>
              </a:lnSpc>
              <a:spcBef>
                <a:spcPts val="200"/>
              </a:spcBef>
              <a:spcAft>
                <a:spcPts val="0"/>
              </a:spcAft>
            </a:pPr>
            <a:r>
              <a:rPr sz="840" b="0" i="0">
                <a:solidFill>
                  <a:srgbClr val="64788A"/>
                </a:solidFill>
                <a:latin typeface="Arial"/>
              </a:rPr>
              <a:t>Đoán b′ = 0 hay 1</a:t>
            </a:r>
          </a:p>
        </p:txBody>
      </p:sp>
      <p:sp>
        <p:nvSpPr>
          <p:cNvPr id="56" name="Rounded Rectangle 55"/>
          <p:cNvSpPr/>
          <p:nvPr/>
        </p:nvSpPr>
        <p:spPr>
          <a:xfrm>
            <a:off x="6251295" y="4276471"/>
            <a:ext cx="5373471" cy="591870"/>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6251295" y="4276471"/>
            <a:ext cx="64008" cy="59187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6434175" y="4395343"/>
            <a:ext cx="5044287" cy="354126"/>
          </a:xfrm>
          <a:prstGeom prst="rect">
            <a:avLst/>
          </a:prstGeom>
          <a:noFill/>
        </p:spPr>
        <p:txBody>
          <a:bodyPr wrap="square" lIns="0" rIns="0" tIns="0" bIns="0" anchor="t">
            <a:spAutoFit/>
          </a:bodyPr>
          <a:lstStyle/>
          <a:p>
            <a:pPr algn="l">
              <a:lnSpc>
                <a:spcPct val="118000"/>
              </a:lnSpc>
              <a:spcBef>
                <a:spcPts val="0"/>
              </a:spcBef>
              <a:spcAft>
                <a:spcPts val="0"/>
              </a:spcAft>
            </a:pPr>
            <a:r>
              <a:rPr sz="1090" b="0" i="0">
                <a:solidFill>
                  <a:srgbClr val="0E2D4E"/>
                </a:solidFill>
                <a:latin typeface="Arial"/>
              </a:rPr>
              <a:t>Nếu Adversary </a:t>
            </a:r>
            <a:r>
              <a:rPr sz="1090" b="1" i="0">
                <a:solidFill>
                  <a:srgbClr val="0E2D4E"/>
                </a:solidFill>
                <a:latin typeface="Arial"/>
              </a:rPr>
              <a:t>không đạt lợi thế đáng kể</a:t>
            </a:r>
            <a:r>
              <a:rPr sz="1090" b="0" i="0">
                <a:solidFill>
                  <a:srgbClr val="0E2D4E"/>
                </a:solidFill>
                <a:latin typeface="Arial"/>
              </a:rPr>
              <a:t>: Pr[b′ = b] ≈ 1/2 → lược đồ đạt </a:t>
            </a:r>
            <a:r>
              <a:rPr sz="1090" b="1" i="0">
                <a:solidFill>
                  <a:srgbClr val="0E2D4E"/>
                </a:solidFill>
                <a:latin typeface="Arial"/>
              </a:rPr>
              <a:t>Selective-ID Security</a:t>
            </a:r>
            <a:r>
              <a:rPr sz="1090" b="0" i="0">
                <a:solidFill>
                  <a:srgbClr val="0E2D4E"/>
                </a:solidFill>
                <a:latin typeface="Arial"/>
              </a:rPr>
              <a:t> trong mô hình đang xét.</a:t>
            </a:r>
          </a:p>
        </p:txBody>
      </p:sp>
      <p:sp>
        <p:nvSpPr>
          <p:cNvPr id="59" name="Rounded Rectangle 58"/>
          <p:cNvSpPr/>
          <p:nvPr/>
        </p:nvSpPr>
        <p:spPr>
          <a:xfrm>
            <a:off x="566928" y="5728106"/>
            <a:ext cx="11057839" cy="433019"/>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566928" y="5728106"/>
            <a:ext cx="64008" cy="433019"/>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749808" y="5846978"/>
            <a:ext cx="10728655" cy="195275"/>
          </a:xfrm>
          <a:prstGeom prst="rect">
            <a:avLst/>
          </a:prstGeom>
          <a:noFill/>
        </p:spPr>
        <p:txBody>
          <a:bodyPr wrap="square" lIns="0" rIns="0" tIns="0" bIns="0" anchor="t">
            <a:spAutoFit/>
          </a:bodyPr>
          <a:lstStyle/>
          <a:p>
            <a:pPr algn="l">
              <a:lnSpc>
                <a:spcPct val="118000"/>
              </a:lnSpc>
              <a:spcBef>
                <a:spcPts val="0"/>
              </a:spcBef>
              <a:spcAft>
                <a:spcPts val="0"/>
              </a:spcAft>
            </a:pPr>
            <a:r>
              <a:rPr sz="1120" b="0" i="0">
                <a:solidFill>
                  <a:srgbClr val="FFFFFF"/>
                </a:solidFill>
                <a:latin typeface="Arial"/>
              </a:rPr>
              <a:t>KP-ABE phi tập trung giải quyết bài toán </a:t>
            </a:r>
            <a:r>
              <a:rPr sz="1120" b="1" i="0">
                <a:solidFill>
                  <a:srgbClr val="FFFFFF"/>
                </a:solidFill>
                <a:latin typeface="Arial"/>
              </a:rPr>
              <a:t>nhiều Authority</a:t>
            </a:r>
            <a:r>
              <a:rPr sz="1120" b="0" i="0">
                <a:solidFill>
                  <a:srgbClr val="FFFFFF"/>
                </a:solidFill>
                <a:latin typeface="Arial"/>
              </a:rPr>
              <a:t>; Security Game cho ta cách </a:t>
            </a:r>
            <a:r>
              <a:rPr sz="1120" b="1" i="0">
                <a:solidFill>
                  <a:srgbClr val="FFFFFF"/>
                </a:solidFill>
                <a:latin typeface="Arial"/>
              </a:rPr>
              <a:t>hình thức hóa</a:t>
            </a:r>
            <a:r>
              <a:rPr sz="1120" b="0" i="0">
                <a:solidFill>
                  <a:srgbClr val="FFFFFF"/>
                </a:solidFill>
                <a:latin typeface="Arial"/>
              </a:rPr>
              <a:t> để kiểm chứng độ an toàn.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PHẦN 3 · MẬT MÃ NÂNG CAO CHO CLOUD</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FHE — TÍNH TOÁN TRÊN DỮ LIỆU MÃ HÓA</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8/18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FHE giải quyết bài toán gì?</a:t>
            </a:r>
          </a:p>
        </p:txBody>
      </p:sp>
      <p:sp>
        <p:nvSpPr>
          <p:cNvPr id="10" name="TextBox 9"/>
          <p:cNvSpPr txBox="1"/>
          <p:nvPr/>
        </p:nvSpPr>
        <p:spPr>
          <a:xfrm>
            <a:off x="585216" y="1550543"/>
            <a:ext cx="5373471" cy="186537"/>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B8342A"/>
                </a:solidFill>
                <a:latin typeface="Arial"/>
              </a:rPr>
              <a:t>Mã hóa thông thường</a:t>
            </a:r>
          </a:p>
        </p:txBody>
      </p:sp>
      <p:sp>
        <p:nvSpPr>
          <p:cNvPr id="11" name="TextBox 10"/>
          <p:cNvSpPr txBox="1"/>
          <p:nvPr/>
        </p:nvSpPr>
        <p:spPr>
          <a:xfrm>
            <a:off x="6269583" y="1550543"/>
            <a:ext cx="5373471" cy="186537"/>
          </a:xfrm>
          <a:prstGeom prst="rect">
            <a:avLst/>
          </a:prstGeom>
          <a:noFill/>
        </p:spPr>
        <p:txBody>
          <a:bodyPr wrap="square" lIns="0" rIns="0" tIns="0" bIns="0" anchor="t">
            <a:spAutoFit/>
          </a:bodyPr>
          <a:lstStyle/>
          <a:p>
            <a:pPr algn="l">
              <a:lnSpc>
                <a:spcPct val="116000"/>
              </a:lnSpc>
              <a:spcBef>
                <a:spcPts val="0"/>
              </a:spcBef>
              <a:spcAft>
                <a:spcPts val="0"/>
              </a:spcAft>
            </a:pPr>
            <a:r>
              <a:rPr sz="1080" b="1" i="0">
                <a:solidFill>
                  <a:srgbClr val="1B7A57"/>
                </a:solidFill>
                <a:latin typeface="Arial"/>
              </a:rPr>
              <a:t>Với FHE</a:t>
            </a:r>
          </a:p>
        </p:txBody>
      </p:sp>
      <p:sp>
        <p:nvSpPr>
          <p:cNvPr id="12" name="Rounded Rectangle 11"/>
          <p:cNvSpPr/>
          <p:nvPr/>
        </p:nvSpPr>
        <p:spPr>
          <a:xfrm>
            <a:off x="566928" y="1788287"/>
            <a:ext cx="1219923" cy="384048"/>
          </a:xfrm>
          <a:prstGeom prst="roundRect">
            <a:avLst>
              <a:gd name="adj" fmla="val 10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19" b="1" i="0">
                <a:solidFill>
                  <a:srgbClr val="B8342A"/>
                </a:solidFill>
                <a:latin typeface="Arial"/>
              </a:rPr>
              <a:t>Encrypt</a:t>
            </a:r>
          </a:p>
        </p:txBody>
      </p:sp>
      <p:sp>
        <p:nvSpPr>
          <p:cNvPr id="13" name="Right Arrow 12"/>
          <p:cNvSpPr/>
          <p:nvPr/>
        </p:nvSpPr>
        <p:spPr>
          <a:xfrm>
            <a:off x="1759419" y="1911731"/>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1951443" y="1788287"/>
            <a:ext cx="1219923" cy="384048"/>
          </a:xfrm>
          <a:prstGeom prst="roundRect">
            <a:avLst>
              <a:gd name="adj" fmla="val 10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19" b="1" i="0">
                <a:solidFill>
                  <a:srgbClr val="B8342A"/>
                </a:solidFill>
                <a:latin typeface="Arial"/>
              </a:rPr>
              <a:t>Cloud</a:t>
            </a:r>
          </a:p>
        </p:txBody>
      </p:sp>
      <p:sp>
        <p:nvSpPr>
          <p:cNvPr id="15" name="Right Arrow 14"/>
          <p:cNvSpPr/>
          <p:nvPr/>
        </p:nvSpPr>
        <p:spPr>
          <a:xfrm>
            <a:off x="3143935" y="1911731"/>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3335959" y="1788287"/>
            <a:ext cx="1219923" cy="384048"/>
          </a:xfrm>
          <a:prstGeom prst="roundRect">
            <a:avLst>
              <a:gd name="adj" fmla="val 10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19" b="1" i="0">
                <a:solidFill>
                  <a:srgbClr val="B8342A"/>
                </a:solidFill>
                <a:latin typeface="Arial"/>
              </a:rPr>
              <a:t>Decrypt</a:t>
            </a:r>
          </a:p>
        </p:txBody>
      </p:sp>
      <p:sp>
        <p:nvSpPr>
          <p:cNvPr id="17" name="Right Arrow 16"/>
          <p:cNvSpPr/>
          <p:nvPr/>
        </p:nvSpPr>
        <p:spPr>
          <a:xfrm>
            <a:off x="4528451" y="1911731"/>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4720475" y="1788287"/>
            <a:ext cx="1219923" cy="384048"/>
          </a:xfrm>
          <a:prstGeom prst="roundRect">
            <a:avLst>
              <a:gd name="adj" fmla="val 10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19" b="1" i="0">
                <a:solidFill>
                  <a:srgbClr val="B8342A"/>
                </a:solidFill>
                <a:latin typeface="Arial"/>
              </a:rPr>
              <a:t>Compute</a:t>
            </a:r>
          </a:p>
        </p:txBody>
      </p:sp>
      <p:sp>
        <p:nvSpPr>
          <p:cNvPr id="19" name="Rounded Rectangle 18"/>
          <p:cNvSpPr/>
          <p:nvPr/>
        </p:nvSpPr>
        <p:spPr>
          <a:xfrm>
            <a:off x="6251295" y="1788287"/>
            <a:ext cx="1681429" cy="384048"/>
          </a:xfrm>
          <a:prstGeom prst="roundRect">
            <a:avLst>
              <a:gd name="adj" fmla="val 10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19" b="1" i="0">
                <a:solidFill>
                  <a:srgbClr val="1B7A57"/>
                </a:solidFill>
                <a:latin typeface="Arial"/>
              </a:rPr>
              <a:t>Encrypt</a:t>
            </a:r>
          </a:p>
        </p:txBody>
      </p:sp>
      <p:sp>
        <p:nvSpPr>
          <p:cNvPr id="20" name="Right Arrow 19"/>
          <p:cNvSpPr/>
          <p:nvPr/>
        </p:nvSpPr>
        <p:spPr>
          <a:xfrm>
            <a:off x="7905292" y="1911731"/>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8097316" y="1788287"/>
            <a:ext cx="1681429" cy="384048"/>
          </a:xfrm>
          <a:prstGeom prst="roundRect">
            <a:avLst>
              <a:gd name="adj" fmla="val 10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19" b="1" i="0">
                <a:solidFill>
                  <a:srgbClr val="1B7A57"/>
                </a:solidFill>
                <a:latin typeface="Arial"/>
              </a:rPr>
              <a:t>Compute trên ciphertext</a:t>
            </a:r>
          </a:p>
        </p:txBody>
      </p:sp>
      <p:sp>
        <p:nvSpPr>
          <p:cNvPr id="22" name="Right Arrow 21"/>
          <p:cNvSpPr/>
          <p:nvPr/>
        </p:nvSpPr>
        <p:spPr>
          <a:xfrm>
            <a:off x="9751314" y="1911731"/>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9943338" y="1788287"/>
            <a:ext cx="1681429" cy="384048"/>
          </a:xfrm>
          <a:prstGeom prst="roundRect">
            <a:avLst>
              <a:gd name="adj" fmla="val 10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19" b="1" i="0">
                <a:solidFill>
                  <a:srgbClr val="1B7A57"/>
                </a:solidFill>
                <a:latin typeface="Arial"/>
              </a:rPr>
              <a:t>Decrypt</a:t>
            </a:r>
          </a:p>
        </p:txBody>
      </p:sp>
      <p:sp>
        <p:nvSpPr>
          <p:cNvPr id="24" name="Rounded Rectangle 23"/>
          <p:cNvSpPr/>
          <p:nvPr/>
        </p:nvSpPr>
        <p:spPr>
          <a:xfrm>
            <a:off x="566928" y="2318639"/>
            <a:ext cx="11057839" cy="430022"/>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66928" y="2318639"/>
            <a:ext cx="64008" cy="43002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49808" y="2437511"/>
            <a:ext cx="10728655" cy="192278"/>
          </a:xfrm>
          <a:prstGeom prst="rect">
            <a:avLst/>
          </a:prstGeom>
          <a:noFill/>
        </p:spPr>
        <p:txBody>
          <a:bodyPr wrap="square" lIns="0" rIns="0" tIns="0" bIns="0" anchor="t">
            <a:spAutoFit/>
          </a:bodyPr>
          <a:lstStyle/>
          <a:p>
            <a:pPr algn="l">
              <a:lnSpc>
                <a:spcPct val="118000"/>
              </a:lnSpc>
              <a:spcBef>
                <a:spcPts val="0"/>
              </a:spcBef>
              <a:spcAft>
                <a:spcPts val="0"/>
              </a:spcAft>
            </a:pPr>
            <a:r>
              <a:rPr sz="1100" b="1" i="0">
                <a:solidFill>
                  <a:srgbClr val="0E2D4E"/>
                </a:solidFill>
                <a:latin typeface="Arial"/>
              </a:rPr>
              <a:t>Nguyên lý cốt lõi:   Dec( Eval( E(m), f ) ) = f(m)</a:t>
            </a:r>
            <a:r>
              <a:rPr sz="1100" b="0" i="0">
                <a:solidFill>
                  <a:srgbClr val="0E2D4E"/>
                </a:solidFill>
                <a:latin typeface="Arial"/>
              </a:rPr>
              <a:t>   — tính toán trên bản mã cho kết quả tương ứng với tính toán trên bản rõ.</a:t>
            </a:r>
          </a:p>
        </p:txBody>
      </p:sp>
      <p:sp>
        <p:nvSpPr>
          <p:cNvPr id="27" name="Rectangle 26"/>
          <p:cNvSpPr/>
          <p:nvPr/>
        </p:nvSpPr>
        <p:spPr>
          <a:xfrm>
            <a:off x="566928" y="2968117"/>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85800" y="2949829"/>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Kiến trúc triển khai</a:t>
            </a:r>
          </a:p>
        </p:txBody>
      </p:sp>
      <p:sp>
        <p:nvSpPr>
          <p:cNvPr id="29" name="Rectangle 28"/>
          <p:cNvSpPr/>
          <p:nvPr/>
        </p:nvSpPr>
        <p:spPr>
          <a:xfrm>
            <a:off x="566928" y="3201924"/>
            <a:ext cx="5373471" cy="294386"/>
          </a:xfrm>
          <a:prstGeom prst="rect">
            <a:avLst/>
          </a:prstGeom>
          <a:solidFill>
            <a:srgbClr val="0E2D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8368" y="3201924"/>
            <a:ext cx="1686153"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Thành phần</a:t>
            </a:r>
          </a:p>
        </p:txBody>
      </p:sp>
      <p:sp>
        <p:nvSpPr>
          <p:cNvPr id="31" name="TextBox 30"/>
          <p:cNvSpPr txBox="1"/>
          <p:nvPr/>
        </p:nvSpPr>
        <p:spPr>
          <a:xfrm>
            <a:off x="2527401" y="3201924"/>
            <a:ext cx="3321558"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Vai trò</a:t>
            </a:r>
          </a:p>
        </p:txBody>
      </p:sp>
      <p:sp>
        <p:nvSpPr>
          <p:cNvPr id="32" name="Rectangle 31"/>
          <p:cNvSpPr/>
          <p:nvPr/>
        </p:nvSpPr>
        <p:spPr>
          <a:xfrm>
            <a:off x="566928" y="3496310"/>
            <a:ext cx="5373471" cy="283387"/>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58368" y="3496310"/>
            <a:ext cx="1686153" cy="283387"/>
          </a:xfrm>
          <a:prstGeom prst="rect">
            <a:avLst/>
          </a:prstGeom>
          <a:noFill/>
        </p:spPr>
        <p:txBody>
          <a:bodyPr wrap="square" lIns="0" rIns="0" tIns="0" bIns="0" anchor="ctr">
            <a:spAutoFit/>
          </a:bodyPr>
          <a:lstStyle/>
          <a:p>
            <a:pPr algn="l">
              <a:lnSpc>
                <a:spcPct val="114000"/>
              </a:lnSpc>
              <a:spcBef>
                <a:spcPts val="0"/>
              </a:spcBef>
              <a:spcAft>
                <a:spcPts val="0"/>
              </a:spcAft>
            </a:pPr>
            <a:r>
              <a:rPr sz="1010" b="1" i="0">
                <a:solidFill>
                  <a:srgbClr val="0E2D4E"/>
                </a:solidFill>
                <a:latin typeface="Arial"/>
              </a:rPr>
              <a:t>User</a:t>
            </a:r>
          </a:p>
        </p:txBody>
      </p:sp>
      <p:sp>
        <p:nvSpPr>
          <p:cNvPr id="34" name="TextBox 33"/>
          <p:cNvSpPr txBox="1"/>
          <p:nvPr/>
        </p:nvSpPr>
        <p:spPr>
          <a:xfrm>
            <a:off x="2527401" y="3496310"/>
            <a:ext cx="3321558" cy="283387"/>
          </a:xfrm>
          <a:prstGeom prst="rect">
            <a:avLst/>
          </a:prstGeom>
          <a:noFill/>
        </p:spPr>
        <p:txBody>
          <a:bodyPr wrap="square" lIns="0" rIns="0" tIns="0" bIns="0" anchor="ctr">
            <a:spAutoFit/>
          </a:bodyPr>
          <a:lstStyle/>
          <a:p>
            <a:pPr algn="l">
              <a:lnSpc>
                <a:spcPct val="114000"/>
              </a:lnSpc>
              <a:spcBef>
                <a:spcPts val="0"/>
              </a:spcBef>
              <a:spcAft>
                <a:spcPts val="0"/>
              </a:spcAft>
            </a:pPr>
            <a:r>
              <a:rPr sz="1010" b="0" i="0">
                <a:solidFill>
                  <a:srgbClr val="2B3A47"/>
                </a:solidFill>
                <a:latin typeface="Arial"/>
              </a:rPr>
              <a:t>Sở hữu dữ liệu — mã hóa và giải mã kết quả</a:t>
            </a:r>
          </a:p>
        </p:txBody>
      </p:sp>
      <p:sp>
        <p:nvSpPr>
          <p:cNvPr id="35" name="Rectangle 34"/>
          <p:cNvSpPr/>
          <p:nvPr/>
        </p:nvSpPr>
        <p:spPr>
          <a:xfrm>
            <a:off x="566928" y="3779697"/>
            <a:ext cx="5373471" cy="283387"/>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58368" y="3779697"/>
            <a:ext cx="1686153" cy="283387"/>
          </a:xfrm>
          <a:prstGeom prst="rect">
            <a:avLst/>
          </a:prstGeom>
          <a:noFill/>
        </p:spPr>
        <p:txBody>
          <a:bodyPr wrap="square" lIns="0" rIns="0" tIns="0" bIns="0" anchor="ctr">
            <a:spAutoFit/>
          </a:bodyPr>
          <a:lstStyle/>
          <a:p>
            <a:pPr algn="l">
              <a:lnSpc>
                <a:spcPct val="114000"/>
              </a:lnSpc>
              <a:spcBef>
                <a:spcPts val="0"/>
              </a:spcBef>
              <a:spcAft>
                <a:spcPts val="0"/>
              </a:spcAft>
            </a:pPr>
            <a:r>
              <a:rPr sz="1010" b="1" i="0">
                <a:solidFill>
                  <a:srgbClr val="0E2D4E"/>
                </a:solidFill>
                <a:latin typeface="Arial"/>
              </a:rPr>
              <a:t>HC Node</a:t>
            </a:r>
          </a:p>
        </p:txBody>
      </p:sp>
      <p:sp>
        <p:nvSpPr>
          <p:cNvPr id="37" name="TextBox 36"/>
          <p:cNvSpPr txBox="1"/>
          <p:nvPr/>
        </p:nvSpPr>
        <p:spPr>
          <a:xfrm>
            <a:off x="2527401" y="3779697"/>
            <a:ext cx="3321558" cy="283387"/>
          </a:xfrm>
          <a:prstGeom prst="rect">
            <a:avLst/>
          </a:prstGeom>
          <a:noFill/>
        </p:spPr>
        <p:txBody>
          <a:bodyPr wrap="square" lIns="0" rIns="0" tIns="0" bIns="0" anchor="ctr">
            <a:spAutoFit/>
          </a:bodyPr>
          <a:lstStyle/>
          <a:p>
            <a:pPr algn="l">
              <a:lnSpc>
                <a:spcPct val="114000"/>
              </a:lnSpc>
              <a:spcBef>
                <a:spcPts val="0"/>
              </a:spcBef>
              <a:spcAft>
                <a:spcPts val="0"/>
              </a:spcAft>
            </a:pPr>
            <a:r>
              <a:rPr sz="1010" b="0" i="0">
                <a:solidFill>
                  <a:srgbClr val="2B3A47"/>
                </a:solidFill>
                <a:latin typeface="Arial"/>
              </a:rPr>
              <a:t>Thực hiện phép toán đồng cấu trên ciphertext</a:t>
            </a:r>
          </a:p>
        </p:txBody>
      </p:sp>
      <p:sp>
        <p:nvSpPr>
          <p:cNvPr id="38" name="Rectangle 37"/>
          <p:cNvSpPr/>
          <p:nvPr/>
        </p:nvSpPr>
        <p:spPr>
          <a:xfrm>
            <a:off x="566928" y="4063085"/>
            <a:ext cx="5373471" cy="283387"/>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58368" y="4063085"/>
            <a:ext cx="1686153" cy="283387"/>
          </a:xfrm>
          <a:prstGeom prst="rect">
            <a:avLst/>
          </a:prstGeom>
          <a:noFill/>
        </p:spPr>
        <p:txBody>
          <a:bodyPr wrap="square" lIns="0" rIns="0" tIns="0" bIns="0" anchor="ctr">
            <a:spAutoFit/>
          </a:bodyPr>
          <a:lstStyle/>
          <a:p>
            <a:pPr algn="l">
              <a:lnSpc>
                <a:spcPct val="114000"/>
              </a:lnSpc>
              <a:spcBef>
                <a:spcPts val="0"/>
              </a:spcBef>
              <a:spcAft>
                <a:spcPts val="0"/>
              </a:spcAft>
            </a:pPr>
            <a:r>
              <a:rPr sz="1010" b="1" i="0">
                <a:solidFill>
                  <a:srgbClr val="0E2D4E"/>
                </a:solidFill>
                <a:latin typeface="Arial"/>
              </a:rPr>
              <a:t>Bootstrapping Node</a:t>
            </a:r>
          </a:p>
        </p:txBody>
      </p:sp>
      <p:sp>
        <p:nvSpPr>
          <p:cNvPr id="40" name="TextBox 39"/>
          <p:cNvSpPr txBox="1"/>
          <p:nvPr/>
        </p:nvSpPr>
        <p:spPr>
          <a:xfrm>
            <a:off x="2527401" y="4063085"/>
            <a:ext cx="3321558" cy="283387"/>
          </a:xfrm>
          <a:prstGeom prst="rect">
            <a:avLst/>
          </a:prstGeom>
          <a:noFill/>
        </p:spPr>
        <p:txBody>
          <a:bodyPr wrap="square" lIns="0" rIns="0" tIns="0" bIns="0" anchor="ctr">
            <a:spAutoFit/>
          </a:bodyPr>
          <a:lstStyle/>
          <a:p>
            <a:pPr algn="l">
              <a:lnSpc>
                <a:spcPct val="114000"/>
              </a:lnSpc>
              <a:spcBef>
                <a:spcPts val="0"/>
              </a:spcBef>
              <a:spcAft>
                <a:spcPts val="0"/>
              </a:spcAft>
            </a:pPr>
            <a:r>
              <a:rPr sz="1010" b="0" i="0">
                <a:solidFill>
                  <a:srgbClr val="2B3A47"/>
                </a:solidFill>
                <a:latin typeface="Arial"/>
              </a:rPr>
              <a:t>Làm mới ciphertext khi nhiễu tăng cao</a:t>
            </a:r>
          </a:p>
        </p:txBody>
      </p:sp>
      <p:sp>
        <p:nvSpPr>
          <p:cNvPr id="41" name="Rounded Rectangle 40"/>
          <p:cNvSpPr/>
          <p:nvPr/>
        </p:nvSpPr>
        <p:spPr>
          <a:xfrm>
            <a:off x="566928" y="4474489"/>
            <a:ext cx="5373471" cy="576884"/>
          </a:xfrm>
          <a:prstGeom prst="roundRect">
            <a:avLst>
              <a:gd name="adj" fmla="val 10000"/>
            </a:avLst>
          </a:prstGeom>
          <a:solidFill>
            <a:srgbClr val="FDF4E4"/>
          </a:solidFill>
          <a:ln w="12700">
            <a:solidFill>
              <a:srgbClr val="EBD2A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566928" y="4474489"/>
            <a:ext cx="64008" cy="576884"/>
          </a:xfrm>
          <a:prstGeom prst="rect">
            <a:avLst/>
          </a:prstGeom>
          <a:solidFill>
            <a:srgbClr val="A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49808" y="4593361"/>
            <a:ext cx="5044287" cy="339140"/>
          </a:xfrm>
          <a:prstGeom prst="rect">
            <a:avLst/>
          </a:prstGeom>
          <a:noFill/>
        </p:spPr>
        <p:txBody>
          <a:bodyPr wrap="square" lIns="0" rIns="0" tIns="0" bIns="0" anchor="t">
            <a:spAutoFit/>
          </a:bodyPr>
          <a:lstStyle/>
          <a:p>
            <a:pPr algn="l">
              <a:lnSpc>
                <a:spcPct val="118000"/>
              </a:lnSpc>
              <a:spcBef>
                <a:spcPts val="0"/>
              </a:spcBef>
              <a:spcAft>
                <a:spcPts val="0"/>
              </a:spcAft>
            </a:pPr>
            <a:r>
              <a:rPr sz="1040" b="0" i="0">
                <a:solidFill>
                  <a:srgbClr val="A86A00"/>
                </a:solidFill>
                <a:latin typeface="Arial"/>
              </a:rPr>
              <a:t>Secure Enclave / Remote Attestation thuộc </a:t>
            </a:r>
            <a:r>
              <a:rPr sz="1040" b="1" i="0">
                <a:solidFill>
                  <a:srgbClr val="A86A00"/>
                </a:solidFill>
                <a:latin typeface="Arial"/>
              </a:rPr>
              <a:t>kiến trúc triển khai cụ thể</a:t>
            </a:r>
            <a:r>
              <a:rPr sz="1040" b="0" i="0">
                <a:solidFill>
                  <a:srgbClr val="A86A00"/>
                </a:solidFill>
                <a:latin typeface="Arial"/>
              </a:rPr>
              <a:t>, không bắt buộc với mọi hệ thống FHE.</a:t>
            </a:r>
          </a:p>
        </p:txBody>
      </p:sp>
      <p:sp>
        <p:nvSpPr>
          <p:cNvPr id="44" name="Rectangle 43"/>
          <p:cNvSpPr/>
          <p:nvPr/>
        </p:nvSpPr>
        <p:spPr>
          <a:xfrm>
            <a:off x="6251295" y="2968117"/>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370167" y="2949829"/>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3 · Luồng xử lý &amp; bài toán nhiễu</a:t>
            </a:r>
          </a:p>
        </p:txBody>
      </p:sp>
      <p:sp>
        <p:nvSpPr>
          <p:cNvPr id="46" name="Rounded Rectangle 45"/>
          <p:cNvSpPr/>
          <p:nvPr/>
        </p:nvSpPr>
        <p:spPr>
          <a:xfrm>
            <a:off x="6571335" y="3201924"/>
            <a:ext cx="4733391" cy="292608"/>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10" b="0" i="0">
                <a:solidFill>
                  <a:srgbClr val="0E2D4E"/>
                </a:solidFill>
                <a:latin typeface="Arial"/>
              </a:rPr>
              <a:t>User: mã hóa dữ liệu</a:t>
            </a:r>
          </a:p>
        </p:txBody>
      </p:sp>
      <p:sp>
        <p:nvSpPr>
          <p:cNvPr id="47" name="Down Arrow 46"/>
          <p:cNvSpPr/>
          <p:nvPr/>
        </p:nvSpPr>
        <p:spPr>
          <a:xfrm>
            <a:off x="8869451" y="3503676"/>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6571335" y="3613404"/>
            <a:ext cx="4733391" cy="292608"/>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10" b="0" i="0">
                <a:solidFill>
                  <a:srgbClr val="0E2D4E"/>
                </a:solidFill>
                <a:latin typeface="Arial"/>
              </a:rPr>
              <a:t>HC Node: tính trên ciphertext (noise ↑)</a:t>
            </a:r>
          </a:p>
        </p:txBody>
      </p:sp>
      <p:sp>
        <p:nvSpPr>
          <p:cNvPr id="49" name="Down Arrow 48"/>
          <p:cNvSpPr/>
          <p:nvPr/>
        </p:nvSpPr>
        <p:spPr>
          <a:xfrm>
            <a:off x="8869451" y="3915156"/>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6571335" y="4024884"/>
            <a:ext cx="4733391" cy="292608"/>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10" b="0" i="0">
                <a:solidFill>
                  <a:srgbClr val="0E2D4E"/>
                </a:solidFill>
                <a:latin typeface="Arial"/>
              </a:rPr>
              <a:t>Bootstrapping: làm mới ciphertext</a:t>
            </a:r>
          </a:p>
        </p:txBody>
      </p:sp>
      <p:sp>
        <p:nvSpPr>
          <p:cNvPr id="51" name="Down Arrow 50"/>
          <p:cNvSpPr/>
          <p:nvPr/>
        </p:nvSpPr>
        <p:spPr>
          <a:xfrm>
            <a:off x="8869451" y="4326636"/>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ed Rectangle 51"/>
          <p:cNvSpPr/>
          <p:nvPr/>
        </p:nvSpPr>
        <p:spPr>
          <a:xfrm>
            <a:off x="6571335" y="4436364"/>
            <a:ext cx="4733391" cy="292608"/>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10" b="0" i="0">
                <a:solidFill>
                  <a:srgbClr val="0E2D4E"/>
                </a:solidFill>
                <a:latin typeface="Arial"/>
              </a:rPr>
              <a:t>HC Node: tiếp tục tính toán</a:t>
            </a:r>
          </a:p>
        </p:txBody>
      </p:sp>
      <p:sp>
        <p:nvSpPr>
          <p:cNvPr id="53" name="Down Arrow 52"/>
          <p:cNvSpPr/>
          <p:nvPr/>
        </p:nvSpPr>
        <p:spPr>
          <a:xfrm>
            <a:off x="8869451" y="4738116"/>
            <a:ext cx="137160" cy="100584"/>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ounded Rectangle 53"/>
          <p:cNvSpPr/>
          <p:nvPr/>
        </p:nvSpPr>
        <p:spPr>
          <a:xfrm>
            <a:off x="6571335" y="4847844"/>
            <a:ext cx="4733391" cy="292608"/>
          </a:xfrm>
          <a:prstGeom prst="roundRect">
            <a:avLst>
              <a:gd name="adj" fmla="val 14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10" b="0" i="0">
                <a:solidFill>
                  <a:srgbClr val="1B7A57"/>
                </a:solidFill>
                <a:latin typeface="Arial"/>
              </a:rPr>
              <a:t>User: giải mã → kết quả</a:t>
            </a:r>
          </a:p>
        </p:txBody>
      </p:sp>
      <p:sp>
        <p:nvSpPr>
          <p:cNvPr id="55" name="Rounded Rectangle 54"/>
          <p:cNvSpPr/>
          <p:nvPr/>
        </p:nvSpPr>
        <p:spPr>
          <a:xfrm>
            <a:off x="6251295" y="5250180"/>
            <a:ext cx="5373471" cy="576884"/>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6251295" y="5250180"/>
            <a:ext cx="64008" cy="57688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434175" y="5369052"/>
            <a:ext cx="5044287" cy="339140"/>
          </a:xfrm>
          <a:prstGeom prst="rect">
            <a:avLst/>
          </a:prstGeom>
          <a:noFill/>
        </p:spPr>
        <p:txBody>
          <a:bodyPr wrap="square" lIns="0" rIns="0" tIns="0" bIns="0" anchor="t">
            <a:spAutoFit/>
          </a:bodyPr>
          <a:lstStyle/>
          <a:p>
            <a:pPr algn="l">
              <a:lnSpc>
                <a:spcPct val="118000"/>
              </a:lnSpc>
              <a:spcBef>
                <a:spcPts val="0"/>
              </a:spcBef>
              <a:spcAft>
                <a:spcPts val="0"/>
              </a:spcAft>
            </a:pPr>
            <a:r>
              <a:rPr sz="1040" b="0" i="0">
                <a:solidFill>
                  <a:srgbClr val="0E2D4E"/>
                </a:solidFill>
                <a:latin typeface="Arial"/>
              </a:rPr>
              <a:t>Mỗi phép toán làm </a:t>
            </a:r>
            <a:r>
              <a:rPr sz="1040" b="1" i="0">
                <a:solidFill>
                  <a:srgbClr val="0E2D4E"/>
                </a:solidFill>
                <a:latin typeface="Arial"/>
              </a:rPr>
              <a:t>nhiễu tăng</a:t>
            </a:r>
            <a:r>
              <a:rPr sz="1040" b="0" i="0">
                <a:solidFill>
                  <a:srgbClr val="0E2D4E"/>
                </a:solidFill>
                <a:latin typeface="Arial"/>
              </a:rPr>
              <a:t>; vượt ngưỡng → không giải mã đúng. </a:t>
            </a:r>
            <a:r>
              <a:rPr sz="1040" b="1" i="0">
                <a:solidFill>
                  <a:srgbClr val="0E2D4E"/>
                </a:solidFill>
                <a:latin typeface="Arial"/>
              </a:rPr>
              <a:t>Bootstrapping = làm mới ciphertext để tính tiếp.</a:t>
            </a:r>
          </a:p>
        </p:txBody>
      </p:sp>
      <p:sp>
        <p:nvSpPr>
          <p:cNvPr id="58" name="Rounded Rectangle 57"/>
          <p:cNvSpPr/>
          <p:nvPr/>
        </p:nvSpPr>
        <p:spPr>
          <a:xfrm>
            <a:off x="566928" y="5973368"/>
            <a:ext cx="11057839" cy="433019"/>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566928" y="5973368"/>
            <a:ext cx="64008" cy="433019"/>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749808" y="6092240"/>
            <a:ext cx="10728655" cy="195275"/>
          </a:xfrm>
          <a:prstGeom prst="rect">
            <a:avLst/>
          </a:prstGeom>
          <a:noFill/>
        </p:spPr>
        <p:txBody>
          <a:bodyPr wrap="square" lIns="0" rIns="0" tIns="0" bIns="0" anchor="t">
            <a:spAutoFit/>
          </a:bodyPr>
          <a:lstStyle/>
          <a:p>
            <a:pPr algn="l">
              <a:lnSpc>
                <a:spcPct val="118000"/>
              </a:lnSpc>
              <a:spcBef>
                <a:spcPts val="0"/>
              </a:spcBef>
              <a:spcAft>
                <a:spcPts val="0"/>
              </a:spcAft>
            </a:pPr>
            <a:r>
              <a:rPr sz="1120" b="1" i="0">
                <a:solidFill>
                  <a:srgbClr val="FFFFFF"/>
                </a:solidFill>
                <a:latin typeface="Arial"/>
              </a:rPr>
              <a:t>ABE:</a:t>
            </a:r>
            <a:r>
              <a:rPr sz="1120" b="0" i="0">
                <a:solidFill>
                  <a:srgbClr val="FFFFFF"/>
                </a:solidFill>
                <a:latin typeface="Arial"/>
              </a:rPr>
              <a:t> ai được truy cập?     </a:t>
            </a:r>
            <a:r>
              <a:rPr sz="1120" b="1" i="0">
                <a:solidFill>
                  <a:srgbClr val="FFFFFF"/>
                </a:solidFill>
                <a:latin typeface="Arial"/>
              </a:rPr>
              <a:t>FHE:</a:t>
            </a:r>
            <a:r>
              <a:rPr sz="1120" b="0" i="0">
                <a:solidFill>
                  <a:srgbClr val="FFFFFF"/>
                </a:solidFill>
                <a:latin typeface="Arial"/>
              </a:rPr>
              <a:t> Cloud tính toán được gì mà không nhìn thấy dữ liệu?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PHẦN 3 · MẬT MÃ NÂNG CAO CHO CLOUD</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FHE — TÍNH TOÁN THUÊ NGOÀI &amp; ỨNG DỤNG Y TẾ</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9/18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Tính toán thuê ngoài — ví dụ 5 + 10</a:t>
            </a:r>
          </a:p>
        </p:txBody>
      </p:sp>
      <p:sp>
        <p:nvSpPr>
          <p:cNvPr id="10" name="Rounded Rectangle 9"/>
          <p:cNvSpPr/>
          <p:nvPr/>
        </p:nvSpPr>
        <p:spPr>
          <a:xfrm>
            <a:off x="566928" y="1550543"/>
            <a:ext cx="2021372" cy="731520"/>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00" b="1" i="0">
                <a:solidFill>
                  <a:srgbClr val="0E2D4E"/>
                </a:solidFill>
                <a:latin typeface="Arial"/>
              </a:rPr>
              <a:t>Doanh nghiệp B</a:t>
            </a:r>
          </a:p>
          <a:p>
            <a:pPr algn="ctr">
              <a:lnSpc>
                <a:spcPct val="106000"/>
              </a:lnSpc>
              <a:spcBef>
                <a:spcPts val="200"/>
              </a:spcBef>
              <a:spcAft>
                <a:spcPts val="0"/>
              </a:spcAft>
            </a:pPr>
            <a:r>
              <a:rPr sz="940" b="0" i="0">
                <a:solidFill>
                  <a:srgbClr val="64788A"/>
                </a:solidFill>
                <a:latin typeface="Arial"/>
              </a:rPr>
              <a:t>Dữ liệu gốc: 5 , 10</a:t>
            </a:r>
          </a:p>
        </p:txBody>
      </p:sp>
      <p:sp>
        <p:nvSpPr>
          <p:cNvPr id="11" name="Right Arrow 10"/>
          <p:cNvSpPr/>
          <p:nvPr/>
        </p:nvSpPr>
        <p:spPr>
          <a:xfrm>
            <a:off x="2597444" y="1847722"/>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2826044" y="1550543"/>
            <a:ext cx="2021372" cy="731520"/>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00" b="1" i="0">
                <a:solidFill>
                  <a:srgbClr val="0E2D4E"/>
                </a:solidFill>
                <a:latin typeface="Arial"/>
              </a:rPr>
              <a:t>① Encrypt</a:t>
            </a:r>
          </a:p>
          <a:p>
            <a:pPr algn="ctr">
              <a:lnSpc>
                <a:spcPct val="106000"/>
              </a:lnSpc>
              <a:spcBef>
                <a:spcPts val="200"/>
              </a:spcBef>
              <a:spcAft>
                <a:spcPts val="0"/>
              </a:spcAft>
            </a:pPr>
            <a:r>
              <a:rPr sz="940" b="0" i="0">
                <a:solidFill>
                  <a:srgbClr val="64788A"/>
                </a:solidFill>
                <a:latin typeface="Arial"/>
              </a:rPr>
              <a:t>Enc(5), Enc(10)</a:t>
            </a:r>
          </a:p>
        </p:txBody>
      </p:sp>
      <p:sp>
        <p:nvSpPr>
          <p:cNvPr id="13" name="Right Arrow 12"/>
          <p:cNvSpPr/>
          <p:nvPr/>
        </p:nvSpPr>
        <p:spPr>
          <a:xfrm>
            <a:off x="4856561" y="1847722"/>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085161" y="1550543"/>
            <a:ext cx="2021372" cy="731520"/>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00" b="1" i="0">
                <a:solidFill>
                  <a:srgbClr val="0E2D4E"/>
                </a:solidFill>
                <a:latin typeface="Arial"/>
              </a:rPr>
              <a:t>② Cloud</a:t>
            </a:r>
          </a:p>
          <a:p>
            <a:pPr algn="ctr">
              <a:lnSpc>
                <a:spcPct val="106000"/>
              </a:lnSpc>
              <a:spcBef>
                <a:spcPts val="200"/>
              </a:spcBef>
              <a:spcAft>
                <a:spcPts val="0"/>
              </a:spcAft>
            </a:pPr>
            <a:r>
              <a:rPr sz="940" b="0" i="0">
                <a:solidFill>
                  <a:srgbClr val="64788A"/>
                </a:solidFill>
                <a:latin typeface="Arial"/>
              </a:rPr>
              <a:t>Tính trên ciphertext</a:t>
            </a:r>
          </a:p>
        </p:txBody>
      </p:sp>
      <p:sp>
        <p:nvSpPr>
          <p:cNvPr id="15" name="Right Arrow 14"/>
          <p:cNvSpPr/>
          <p:nvPr/>
        </p:nvSpPr>
        <p:spPr>
          <a:xfrm>
            <a:off x="7115677" y="1847722"/>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7344277" y="1550543"/>
            <a:ext cx="2021372" cy="731520"/>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00" b="1" i="0">
                <a:solidFill>
                  <a:srgbClr val="0E2D4E"/>
                </a:solidFill>
                <a:latin typeface="Arial"/>
              </a:rPr>
              <a:t>Enc(5 + 10)</a:t>
            </a:r>
          </a:p>
          <a:p>
            <a:pPr algn="ctr">
              <a:lnSpc>
                <a:spcPct val="106000"/>
              </a:lnSpc>
              <a:spcBef>
                <a:spcPts val="200"/>
              </a:spcBef>
              <a:spcAft>
                <a:spcPts val="0"/>
              </a:spcAft>
            </a:pPr>
            <a:r>
              <a:rPr sz="940" b="0" i="0">
                <a:solidFill>
                  <a:srgbClr val="64788A"/>
                </a:solidFill>
                <a:latin typeface="Arial"/>
              </a:rPr>
              <a:t>Kết quả vẫn mã hóa</a:t>
            </a:r>
          </a:p>
        </p:txBody>
      </p:sp>
      <p:sp>
        <p:nvSpPr>
          <p:cNvPr id="17" name="Right Arrow 16"/>
          <p:cNvSpPr/>
          <p:nvPr/>
        </p:nvSpPr>
        <p:spPr>
          <a:xfrm>
            <a:off x="9374794" y="1847722"/>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9603394" y="1550543"/>
            <a:ext cx="2021372" cy="731520"/>
          </a:xfrm>
          <a:prstGeom prst="roundRect">
            <a:avLst>
              <a:gd name="adj" fmla="val 10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00" b="1" i="0">
                <a:solidFill>
                  <a:srgbClr val="1B7A57"/>
                </a:solidFill>
                <a:latin typeface="Arial"/>
              </a:rPr>
              <a:t>③ Decrypt</a:t>
            </a:r>
          </a:p>
          <a:p>
            <a:pPr algn="ctr">
              <a:lnSpc>
                <a:spcPct val="106000"/>
              </a:lnSpc>
              <a:spcBef>
                <a:spcPts val="200"/>
              </a:spcBef>
              <a:spcAft>
                <a:spcPts val="0"/>
              </a:spcAft>
            </a:pPr>
            <a:r>
              <a:rPr sz="940" b="0" i="0">
                <a:solidFill>
                  <a:srgbClr val="64788A"/>
                </a:solidFill>
                <a:latin typeface="Arial"/>
              </a:rPr>
              <a:t>Kết quả: 15</a:t>
            </a:r>
          </a:p>
        </p:txBody>
      </p:sp>
      <p:sp>
        <p:nvSpPr>
          <p:cNvPr id="19" name="Rounded Rectangle 18"/>
          <p:cNvSpPr/>
          <p:nvPr/>
        </p:nvSpPr>
        <p:spPr>
          <a:xfrm>
            <a:off x="566928" y="2446655"/>
            <a:ext cx="3539642" cy="859536"/>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04088" y="2583815"/>
            <a:ext cx="3265322" cy="192278"/>
          </a:xfrm>
          <a:prstGeom prst="rect">
            <a:avLst/>
          </a:prstGeom>
          <a:noFill/>
        </p:spPr>
        <p:txBody>
          <a:bodyPr wrap="square" lIns="0" rIns="0" tIns="0" bIns="0" anchor="t">
            <a:spAutoFit/>
          </a:bodyPr>
          <a:lstStyle/>
          <a:p>
            <a:pPr algn="l">
              <a:lnSpc>
                <a:spcPct val="110000"/>
              </a:lnSpc>
              <a:spcBef>
                <a:spcPts val="0"/>
              </a:spcBef>
              <a:spcAft>
                <a:spcPts val="0"/>
              </a:spcAft>
            </a:pPr>
            <a:r>
              <a:rPr sz="1180" b="1" i="0">
                <a:solidFill>
                  <a:srgbClr val="0E2D4E"/>
                </a:solidFill>
                <a:latin typeface="Arial"/>
              </a:rPr>
              <a:t>Cloud biết</a:t>
            </a:r>
          </a:p>
        </p:txBody>
      </p:sp>
      <p:sp>
        <p:nvSpPr>
          <p:cNvPr id="21" name="TextBox 20"/>
          <p:cNvSpPr txBox="1"/>
          <p:nvPr/>
        </p:nvSpPr>
        <p:spPr>
          <a:xfrm>
            <a:off x="704088" y="2840101"/>
            <a:ext cx="3265322" cy="183591"/>
          </a:xfrm>
          <a:prstGeom prst="rect">
            <a:avLst/>
          </a:prstGeom>
          <a:noFill/>
        </p:spPr>
        <p:txBody>
          <a:bodyPr wrap="square" lIns="0" rIns="0" tIns="0" bIns="0" anchor="t">
            <a:spAutoFit/>
          </a:bodyPr>
          <a:lstStyle/>
          <a:p>
            <a:pPr algn="l">
              <a:lnSpc>
                <a:spcPct val="116000"/>
              </a:lnSpc>
              <a:spcBef>
                <a:spcPts val="0"/>
              </a:spcBef>
              <a:spcAft>
                <a:spcPts val="0"/>
              </a:spcAft>
            </a:pPr>
            <a:r>
              <a:rPr sz="1060" b="0" i="0">
                <a:solidFill>
                  <a:srgbClr val="2B3A47"/>
                </a:solidFill>
                <a:latin typeface="Arial"/>
              </a:rPr>
              <a:t>Ciphertext + phép tính cần thực hiện</a:t>
            </a:r>
          </a:p>
        </p:txBody>
      </p:sp>
      <p:sp>
        <p:nvSpPr>
          <p:cNvPr id="22" name="Rounded Rectangle 21"/>
          <p:cNvSpPr/>
          <p:nvPr/>
        </p:nvSpPr>
        <p:spPr>
          <a:xfrm>
            <a:off x="4326026" y="2446655"/>
            <a:ext cx="3539642" cy="859536"/>
          </a:xfrm>
          <a:prstGeom prst="roundRect">
            <a:avLst>
              <a:gd name="adj" fmla="val 6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463186" y="2583815"/>
            <a:ext cx="3265322" cy="192278"/>
          </a:xfrm>
          <a:prstGeom prst="rect">
            <a:avLst/>
          </a:prstGeom>
          <a:noFill/>
        </p:spPr>
        <p:txBody>
          <a:bodyPr wrap="square" lIns="0" rIns="0" tIns="0" bIns="0" anchor="t">
            <a:spAutoFit/>
          </a:bodyPr>
          <a:lstStyle/>
          <a:p>
            <a:pPr algn="l">
              <a:lnSpc>
                <a:spcPct val="110000"/>
              </a:lnSpc>
              <a:spcBef>
                <a:spcPts val="0"/>
              </a:spcBef>
              <a:spcAft>
                <a:spcPts val="0"/>
              </a:spcAft>
            </a:pPr>
            <a:r>
              <a:rPr sz="1180" b="1" i="0">
                <a:solidFill>
                  <a:srgbClr val="B8342A"/>
                </a:solidFill>
                <a:latin typeface="Arial"/>
              </a:rPr>
              <a:t>Cloud không cần biết</a:t>
            </a:r>
          </a:p>
        </p:txBody>
      </p:sp>
      <p:sp>
        <p:nvSpPr>
          <p:cNvPr id="24" name="TextBox 23"/>
          <p:cNvSpPr txBox="1"/>
          <p:nvPr/>
        </p:nvSpPr>
        <p:spPr>
          <a:xfrm>
            <a:off x="4463186" y="2840101"/>
            <a:ext cx="3265322" cy="183591"/>
          </a:xfrm>
          <a:prstGeom prst="rect">
            <a:avLst/>
          </a:prstGeom>
          <a:noFill/>
        </p:spPr>
        <p:txBody>
          <a:bodyPr wrap="square" lIns="0" rIns="0" tIns="0" bIns="0" anchor="t">
            <a:spAutoFit/>
          </a:bodyPr>
          <a:lstStyle/>
          <a:p>
            <a:pPr algn="l">
              <a:lnSpc>
                <a:spcPct val="116000"/>
              </a:lnSpc>
              <a:spcBef>
                <a:spcPts val="0"/>
              </a:spcBef>
              <a:spcAft>
                <a:spcPts val="0"/>
              </a:spcAft>
            </a:pPr>
            <a:r>
              <a:rPr sz="1060" b="0" i="0">
                <a:solidFill>
                  <a:srgbClr val="2B3A47"/>
                </a:solidFill>
                <a:latin typeface="Arial"/>
              </a:rPr>
              <a:t>Dữ liệu gốc 5 , 10</a:t>
            </a:r>
          </a:p>
        </p:txBody>
      </p:sp>
      <p:sp>
        <p:nvSpPr>
          <p:cNvPr id="25" name="Rounded Rectangle 24"/>
          <p:cNvSpPr/>
          <p:nvPr/>
        </p:nvSpPr>
        <p:spPr>
          <a:xfrm>
            <a:off x="8085124" y="2446655"/>
            <a:ext cx="3539642" cy="859536"/>
          </a:xfrm>
          <a:prstGeom prst="roundRect">
            <a:avLst>
              <a:gd name="adj" fmla="val 6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222284" y="2583815"/>
            <a:ext cx="3265322" cy="192278"/>
          </a:xfrm>
          <a:prstGeom prst="rect">
            <a:avLst/>
          </a:prstGeom>
          <a:noFill/>
        </p:spPr>
        <p:txBody>
          <a:bodyPr wrap="square" lIns="0" rIns="0" tIns="0" bIns="0" anchor="t">
            <a:spAutoFit/>
          </a:bodyPr>
          <a:lstStyle/>
          <a:p>
            <a:pPr algn="l">
              <a:lnSpc>
                <a:spcPct val="110000"/>
              </a:lnSpc>
              <a:spcBef>
                <a:spcPts val="0"/>
              </a:spcBef>
              <a:spcAft>
                <a:spcPts val="0"/>
              </a:spcAft>
            </a:pPr>
            <a:r>
              <a:rPr sz="1180" b="1" i="0">
                <a:solidFill>
                  <a:srgbClr val="1B7A57"/>
                </a:solidFill>
                <a:latin typeface="Arial"/>
              </a:rPr>
              <a:t>User biết</a:t>
            </a:r>
          </a:p>
        </p:txBody>
      </p:sp>
      <p:sp>
        <p:nvSpPr>
          <p:cNvPr id="27" name="TextBox 26"/>
          <p:cNvSpPr txBox="1"/>
          <p:nvPr/>
        </p:nvSpPr>
        <p:spPr>
          <a:xfrm>
            <a:off x="8222284" y="2840101"/>
            <a:ext cx="3265322" cy="183591"/>
          </a:xfrm>
          <a:prstGeom prst="rect">
            <a:avLst/>
          </a:prstGeom>
          <a:noFill/>
        </p:spPr>
        <p:txBody>
          <a:bodyPr wrap="square" lIns="0" rIns="0" tIns="0" bIns="0" anchor="t">
            <a:spAutoFit/>
          </a:bodyPr>
          <a:lstStyle/>
          <a:p>
            <a:pPr algn="l">
              <a:lnSpc>
                <a:spcPct val="116000"/>
              </a:lnSpc>
              <a:spcBef>
                <a:spcPts val="0"/>
              </a:spcBef>
              <a:spcAft>
                <a:spcPts val="0"/>
              </a:spcAft>
            </a:pPr>
            <a:r>
              <a:rPr sz="1060" b="0" i="0">
                <a:solidFill>
                  <a:srgbClr val="2B3A47"/>
                </a:solidFill>
                <a:latin typeface="Arial"/>
              </a:rPr>
              <a:t>Dữ liệu gốc + kết quả sau giải mã</a:t>
            </a:r>
          </a:p>
        </p:txBody>
      </p:sp>
      <p:sp>
        <p:nvSpPr>
          <p:cNvPr id="28" name="Rectangle 27"/>
          <p:cNvSpPr/>
          <p:nvPr/>
        </p:nvSpPr>
        <p:spPr>
          <a:xfrm>
            <a:off x="566928" y="3525647"/>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85800" y="3507359"/>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Ứng dụng: phân tích dữ liệu y tế</a:t>
            </a:r>
          </a:p>
        </p:txBody>
      </p:sp>
      <p:sp>
        <p:nvSpPr>
          <p:cNvPr id="30" name="Rounded Rectangle 29"/>
          <p:cNvSpPr/>
          <p:nvPr/>
        </p:nvSpPr>
        <p:spPr>
          <a:xfrm>
            <a:off x="566928" y="3759454"/>
            <a:ext cx="5373471" cy="969264"/>
          </a:xfrm>
          <a:prstGeom prst="roundRect">
            <a:avLst>
              <a:gd name="adj" fmla="val 6000"/>
            </a:avLst>
          </a:prstGeom>
          <a:solidFill>
            <a:srgbClr val="FDF4E4"/>
          </a:solidFill>
          <a:ln w="12700">
            <a:solidFill>
              <a:srgbClr val="EBD2A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94944" y="3887470"/>
            <a:ext cx="5117439" cy="348589"/>
          </a:xfrm>
          <a:prstGeom prst="rect">
            <a:avLst/>
          </a:prstGeom>
          <a:noFill/>
        </p:spPr>
        <p:txBody>
          <a:bodyPr wrap="square" lIns="0" rIns="0" tIns="0" bIns="0" anchor="t">
            <a:spAutoFit/>
          </a:bodyPr>
          <a:lstStyle/>
          <a:p>
            <a:pPr algn="l">
              <a:lnSpc>
                <a:spcPct val="116000"/>
              </a:lnSpc>
              <a:spcBef>
                <a:spcPts val="0"/>
              </a:spcBef>
              <a:spcAft>
                <a:spcPts val="0"/>
              </a:spcAft>
            </a:pPr>
            <a:r>
              <a:rPr sz="1090" b="1" i="0">
                <a:solidFill>
                  <a:srgbClr val="A86A00"/>
                </a:solidFill>
                <a:latin typeface="Arial"/>
              </a:rPr>
              <a:t>Mâu thuẫn:</a:t>
            </a:r>
            <a:r>
              <a:rPr sz="1090" b="0" i="0">
                <a:solidFill>
                  <a:srgbClr val="2B3A47"/>
                </a:solidFill>
                <a:latin typeface="Arial"/>
              </a:rPr>
              <a:t> dữ liệu càng chi tiết → phân tích càng hữu ích, nhưng càng nhạy cảm → yêu cầu bảo vệ càng cao.</a:t>
            </a:r>
          </a:p>
        </p:txBody>
      </p:sp>
      <p:sp>
        <p:nvSpPr>
          <p:cNvPr id="32" name="Rounded Rectangle 31"/>
          <p:cNvSpPr/>
          <p:nvPr/>
        </p:nvSpPr>
        <p:spPr>
          <a:xfrm>
            <a:off x="566928" y="4856734"/>
            <a:ext cx="5373471" cy="591870"/>
          </a:xfrm>
          <a:prstGeom prst="roundRect">
            <a:avLst>
              <a:gd name="adj" fmla="val 10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566928" y="4856734"/>
            <a:ext cx="64008" cy="591870"/>
          </a:xfrm>
          <a:prstGeom prst="rect">
            <a:avLst/>
          </a:prstGeom>
          <a:solidFill>
            <a:srgbClr val="1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49808" y="4975606"/>
            <a:ext cx="5044287" cy="354126"/>
          </a:xfrm>
          <a:prstGeom prst="rect">
            <a:avLst/>
          </a:prstGeom>
          <a:noFill/>
        </p:spPr>
        <p:txBody>
          <a:bodyPr wrap="square" lIns="0" rIns="0" tIns="0" bIns="0" anchor="t">
            <a:spAutoFit/>
          </a:bodyPr>
          <a:lstStyle/>
          <a:p>
            <a:pPr algn="l">
              <a:lnSpc>
                <a:spcPct val="118000"/>
              </a:lnSpc>
              <a:spcBef>
                <a:spcPts val="0"/>
              </a:spcBef>
              <a:spcAft>
                <a:spcPts val="0"/>
              </a:spcAft>
            </a:pPr>
            <a:r>
              <a:rPr sz="1090" b="0" i="0">
                <a:solidFill>
                  <a:srgbClr val="1B7A57"/>
                </a:solidFill>
                <a:latin typeface="Arial"/>
              </a:rPr>
              <a:t>Cloud cung cấp </a:t>
            </a:r>
            <a:r>
              <a:rPr sz="1090" b="1" i="0">
                <a:solidFill>
                  <a:srgbClr val="1B7A57"/>
                </a:solidFill>
                <a:latin typeface="Arial"/>
              </a:rPr>
              <a:t>năng lực tính toán</a:t>
            </a:r>
            <a:r>
              <a:rPr sz="1090" b="0" i="0">
                <a:solidFill>
                  <a:srgbClr val="1B7A57"/>
                </a:solidFill>
                <a:latin typeface="Arial"/>
              </a:rPr>
              <a:t>, dữ liệu bệnh nhân </a:t>
            </a:r>
            <a:r>
              <a:rPr sz="1090" b="1" i="0">
                <a:solidFill>
                  <a:srgbClr val="1B7A57"/>
                </a:solidFill>
                <a:latin typeface="Arial"/>
              </a:rPr>
              <a:t>vẫn ở dạng mã hóa</a:t>
            </a:r>
            <a:r>
              <a:rPr sz="1090" b="0" i="0">
                <a:solidFill>
                  <a:srgbClr val="1B7A57"/>
                </a:solidFill>
                <a:latin typeface="Arial"/>
              </a:rPr>
              <a:t> trong suốt quá trình xử lý.</a:t>
            </a:r>
          </a:p>
        </p:txBody>
      </p:sp>
      <p:sp>
        <p:nvSpPr>
          <p:cNvPr id="35" name="Rectangle 34"/>
          <p:cNvSpPr/>
          <p:nvPr/>
        </p:nvSpPr>
        <p:spPr>
          <a:xfrm>
            <a:off x="6251295" y="3525647"/>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370167" y="3507359"/>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Luồng xử lý với FHE</a:t>
            </a:r>
          </a:p>
        </p:txBody>
      </p:sp>
      <p:sp>
        <p:nvSpPr>
          <p:cNvPr id="37" name="Rounded Rectangle 36"/>
          <p:cNvSpPr/>
          <p:nvPr/>
        </p:nvSpPr>
        <p:spPr>
          <a:xfrm>
            <a:off x="6251295" y="3759454"/>
            <a:ext cx="1669237" cy="85953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60" b="1" i="0">
                <a:solidFill>
                  <a:srgbClr val="0E2D4E"/>
                </a:solidFill>
                <a:latin typeface="Arial"/>
              </a:rPr>
              <a:t>Bệnh viện</a:t>
            </a:r>
          </a:p>
          <a:p>
            <a:pPr algn="ctr">
              <a:lnSpc>
                <a:spcPct val="106000"/>
              </a:lnSpc>
              <a:spcBef>
                <a:spcPts val="200"/>
              </a:spcBef>
              <a:spcAft>
                <a:spcPts val="0"/>
              </a:spcAft>
            </a:pPr>
            <a:r>
              <a:rPr sz="900" b="0" i="0">
                <a:solidFill>
                  <a:srgbClr val="64788A"/>
                </a:solidFill>
                <a:latin typeface="Arial"/>
              </a:rPr>
              <a:t>Mã hóa dữ liệu y tế</a:t>
            </a:r>
          </a:p>
        </p:txBody>
      </p:sp>
      <p:sp>
        <p:nvSpPr>
          <p:cNvPr id="38" name="Right Arrow 37"/>
          <p:cNvSpPr/>
          <p:nvPr/>
        </p:nvSpPr>
        <p:spPr>
          <a:xfrm>
            <a:off x="7902244" y="4120642"/>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8103412" y="3759454"/>
            <a:ext cx="1669237" cy="859536"/>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60" b="1" i="0">
                <a:solidFill>
                  <a:srgbClr val="0E2D4E"/>
                </a:solidFill>
                <a:latin typeface="Arial"/>
              </a:rPr>
              <a:t>Cloud</a:t>
            </a:r>
          </a:p>
          <a:p>
            <a:pPr algn="ctr">
              <a:lnSpc>
                <a:spcPct val="106000"/>
              </a:lnSpc>
              <a:spcBef>
                <a:spcPts val="200"/>
              </a:spcBef>
              <a:spcAft>
                <a:spcPts val="0"/>
              </a:spcAft>
            </a:pPr>
            <a:r>
              <a:rPr sz="900" b="0" i="0">
                <a:solidFill>
                  <a:srgbClr val="64788A"/>
                </a:solidFill>
                <a:latin typeface="Arial"/>
              </a:rPr>
              <a:t>Phân tích trên ciphertext</a:t>
            </a:r>
          </a:p>
        </p:txBody>
      </p:sp>
      <p:sp>
        <p:nvSpPr>
          <p:cNvPr id="40" name="Right Arrow 39"/>
          <p:cNvSpPr/>
          <p:nvPr/>
        </p:nvSpPr>
        <p:spPr>
          <a:xfrm>
            <a:off x="9754362" y="4120642"/>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ounded Rectangle 40"/>
          <p:cNvSpPr/>
          <p:nvPr/>
        </p:nvSpPr>
        <p:spPr>
          <a:xfrm>
            <a:off x="9955530" y="3759454"/>
            <a:ext cx="1669237" cy="859536"/>
          </a:xfrm>
          <a:prstGeom prst="roundRect">
            <a:avLst>
              <a:gd name="adj" fmla="val 10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60" b="1" i="0">
                <a:solidFill>
                  <a:srgbClr val="1B7A57"/>
                </a:solidFill>
                <a:latin typeface="Arial"/>
              </a:rPr>
              <a:t>Bệnh viện</a:t>
            </a:r>
          </a:p>
          <a:p>
            <a:pPr algn="ctr">
              <a:lnSpc>
                <a:spcPct val="106000"/>
              </a:lnSpc>
              <a:spcBef>
                <a:spcPts val="200"/>
              </a:spcBef>
              <a:spcAft>
                <a:spcPts val="0"/>
              </a:spcAft>
            </a:pPr>
            <a:r>
              <a:rPr sz="900" b="0" i="0">
                <a:solidFill>
                  <a:srgbClr val="64788A"/>
                </a:solidFill>
                <a:latin typeface="Arial"/>
              </a:rPr>
              <a:t>Giải mã kết quả</a:t>
            </a:r>
          </a:p>
        </p:txBody>
      </p:sp>
      <p:sp>
        <p:nvSpPr>
          <p:cNvPr id="42" name="Rounded Rectangle 41"/>
          <p:cNvSpPr/>
          <p:nvPr/>
        </p:nvSpPr>
        <p:spPr>
          <a:xfrm>
            <a:off x="566928" y="5631484"/>
            <a:ext cx="11057839" cy="433019"/>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566928" y="5631484"/>
            <a:ext cx="64008" cy="433019"/>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49808" y="5750356"/>
            <a:ext cx="10728655" cy="195275"/>
          </a:xfrm>
          <a:prstGeom prst="rect">
            <a:avLst/>
          </a:prstGeom>
          <a:noFill/>
        </p:spPr>
        <p:txBody>
          <a:bodyPr wrap="square" lIns="0" rIns="0" tIns="0" bIns="0" anchor="t">
            <a:spAutoFit/>
          </a:bodyPr>
          <a:lstStyle/>
          <a:p>
            <a:pPr algn="l">
              <a:lnSpc>
                <a:spcPct val="118000"/>
              </a:lnSpc>
              <a:spcBef>
                <a:spcPts val="0"/>
              </a:spcBef>
              <a:spcAft>
                <a:spcPts val="0"/>
              </a:spcAft>
            </a:pPr>
            <a:r>
              <a:rPr sz="1120" b="1" i="0">
                <a:solidFill>
                  <a:srgbClr val="FFFFFF"/>
                </a:solidFill>
                <a:latin typeface="Arial"/>
              </a:rPr>
              <a:t>FHE tách “quyền tính toán” khỏi “quyền nhìn thấy dữ liệu”.</a:t>
            </a:r>
            <a:r>
              <a:rPr sz="1120" b="0" i="0">
                <a:solidFill>
                  <a:srgbClr val="FFFFFF"/>
                </a:solidFill>
                <a:latin typeface="Arial"/>
              </a:rPr>
              <a:t> Vậy Cloud </a:t>
            </a:r>
            <a:r>
              <a:rPr sz="1120" b="1" i="0">
                <a:solidFill>
                  <a:srgbClr val="FFFFFF"/>
                </a:solidFill>
                <a:latin typeface="Arial"/>
              </a:rPr>
              <a:t>tìm kiếm</a:t>
            </a:r>
            <a:r>
              <a:rPr sz="1120" b="0" i="0">
                <a:solidFill>
                  <a:srgbClr val="FFFFFF"/>
                </a:solidFill>
                <a:latin typeface="Arial"/>
              </a:rPr>
              <a:t> thế nào khi không đọc được nội dung? → </a:t>
            </a:r>
            <a:r>
              <a:rPr sz="1120" b="1" i="0">
                <a:solidFill>
                  <a:srgbClr val="FFFFFF"/>
                </a:solidFill>
                <a:latin typeface="Arial"/>
              </a:rPr>
              <a:t>Searchable Encryption</a:t>
            </a:r>
            <a:r>
              <a:rPr sz="1120" b="0" i="0">
                <a:solidFill>
                  <a:srgbClr val="FFFFFF"/>
                </a:solidFill>
                <a:latin typeface="Arial"/>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PHẦN 3 · MẬT MÃ NÂNG CAO CHO CLOUD</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100" b="1" i="0">
                <a:solidFill>
                  <a:srgbClr val="0E2D4E"/>
                </a:solidFill>
                <a:latin typeface="Arial"/>
              </a:rPr>
              <a:t>SEARCHABLE ENCRYPTION — TÌM KIẾM TRÊN DỮ LIỆU MÃ HÓA</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10/18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Bài toán: mã hóa rồi thì tìm kiếm thế nào?</a:t>
            </a:r>
          </a:p>
        </p:txBody>
      </p:sp>
      <p:sp>
        <p:nvSpPr>
          <p:cNvPr id="10" name="Rounded Rectangle 9"/>
          <p:cNvSpPr/>
          <p:nvPr/>
        </p:nvSpPr>
        <p:spPr>
          <a:xfrm>
            <a:off x="566928" y="1550543"/>
            <a:ext cx="11057839" cy="600862"/>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1550543"/>
            <a:ext cx="64008" cy="60086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49808" y="1669414"/>
            <a:ext cx="10728655" cy="363118"/>
          </a:xfrm>
          <a:prstGeom prst="rect">
            <a:avLst/>
          </a:prstGeom>
          <a:noFill/>
        </p:spPr>
        <p:txBody>
          <a:bodyPr wrap="square" lIns="0" rIns="0" tIns="0" bIns="0" anchor="t">
            <a:spAutoFit/>
          </a:bodyPr>
          <a:lstStyle/>
          <a:p>
            <a:pPr algn="l">
              <a:lnSpc>
                <a:spcPct val="118000"/>
              </a:lnSpc>
              <a:spcBef>
                <a:spcPts val="0"/>
              </a:spcBef>
              <a:spcAft>
                <a:spcPts val="0"/>
              </a:spcAft>
            </a:pPr>
            <a:r>
              <a:rPr sz="1120" b="0" i="0">
                <a:solidFill>
                  <a:srgbClr val="0E2D4E"/>
                </a:solidFill>
                <a:latin typeface="Arial"/>
              </a:rPr>
              <a:t>Mã hóa thông thường bảo vệ nội dung nhưng khiến Cloud </a:t>
            </a:r>
            <a:r>
              <a:rPr sz="1120" b="1" i="0">
                <a:solidFill>
                  <a:srgbClr val="0E2D4E"/>
                </a:solidFill>
                <a:latin typeface="Arial"/>
              </a:rPr>
              <a:t>không thể tìm kiếm trực tiếp</a:t>
            </a:r>
            <a:r>
              <a:rPr sz="1120" b="0" i="0">
                <a:solidFill>
                  <a:srgbClr val="0E2D4E"/>
                </a:solidFill>
                <a:latin typeface="Arial"/>
              </a:rPr>
              <a:t>. </a:t>
            </a:r>
            <a:r>
              <a:rPr sz="1120" b="1" i="0">
                <a:solidFill>
                  <a:srgbClr val="0E2D4E"/>
                </a:solidFill>
                <a:latin typeface="Arial"/>
              </a:rPr>
              <a:t>Searchable Encryption</a:t>
            </a:r>
            <a:r>
              <a:rPr sz="1120" b="0" i="0">
                <a:solidFill>
                  <a:srgbClr val="0E2D4E"/>
                </a:solidFill>
                <a:latin typeface="Arial"/>
              </a:rPr>
              <a:t> cho phép truy vấn theo </a:t>
            </a:r>
            <a:r>
              <a:rPr sz="1120" b="1" i="0">
                <a:solidFill>
                  <a:srgbClr val="0E2D4E"/>
                </a:solidFill>
                <a:latin typeface="Arial"/>
              </a:rPr>
              <a:t>từ khóa</a:t>
            </a:r>
            <a:r>
              <a:rPr sz="1120" b="0" i="0">
                <a:solidFill>
                  <a:srgbClr val="0E2D4E"/>
                </a:solidFill>
                <a:latin typeface="Arial"/>
              </a:rPr>
              <a:t> mà không cần công khai nội dung gốc.</a:t>
            </a:r>
          </a:p>
        </p:txBody>
      </p:sp>
      <p:sp>
        <p:nvSpPr>
          <p:cNvPr id="13" name="Rectangle 12"/>
          <p:cNvSpPr/>
          <p:nvPr/>
        </p:nvSpPr>
        <p:spPr>
          <a:xfrm>
            <a:off x="566928" y="2370861"/>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5800" y="2352573"/>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Cơ chế: bốn bước</a:t>
            </a:r>
          </a:p>
        </p:txBody>
      </p:sp>
      <p:sp>
        <p:nvSpPr>
          <p:cNvPr id="15" name="Rounded Rectangle 14"/>
          <p:cNvSpPr/>
          <p:nvPr/>
        </p:nvSpPr>
        <p:spPr>
          <a:xfrm>
            <a:off x="566928" y="2604668"/>
            <a:ext cx="2627299" cy="969264"/>
          </a:xfrm>
          <a:prstGeom prst="roundRect">
            <a:avLst>
              <a:gd name="adj" fmla="val 8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685800" y="2723540"/>
            <a:ext cx="274320" cy="27432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Bef>
                <a:spcPts val="0"/>
              </a:spcBef>
              <a:spcAft>
                <a:spcPts val="0"/>
              </a:spcAft>
            </a:pPr>
            <a:r>
              <a:rPr sz="890" b="1" i="0">
                <a:solidFill>
                  <a:srgbClr val="FFFFFF"/>
                </a:solidFill>
                <a:latin typeface="Arial"/>
              </a:rPr>
              <a:t>1</a:t>
            </a:r>
          </a:p>
        </p:txBody>
      </p:sp>
      <p:sp>
        <p:nvSpPr>
          <p:cNvPr id="17" name="TextBox 16"/>
          <p:cNvSpPr txBox="1"/>
          <p:nvPr/>
        </p:nvSpPr>
        <p:spPr>
          <a:xfrm>
            <a:off x="1051560" y="2723540"/>
            <a:ext cx="2023795" cy="731520"/>
          </a:xfrm>
          <a:prstGeom prst="rect">
            <a:avLst/>
          </a:prstGeom>
          <a:noFill/>
        </p:spPr>
        <p:txBody>
          <a:bodyPr wrap="square" lIns="0" rIns="0" tIns="0" bIns="0" anchor="t">
            <a:spAutoFit/>
          </a:bodyPr>
          <a:lstStyle/>
          <a:p>
            <a:pPr algn="l">
              <a:lnSpc>
                <a:spcPct val="108000"/>
              </a:lnSpc>
              <a:spcBef>
                <a:spcPts val="0"/>
              </a:spcBef>
              <a:spcAft>
                <a:spcPts val="0"/>
              </a:spcAft>
            </a:pPr>
            <a:r>
              <a:rPr sz="1040" b="1" i="0">
                <a:solidFill>
                  <a:srgbClr val="0E2D4E"/>
                </a:solidFill>
                <a:latin typeface="Arial"/>
              </a:rPr>
              <a:t>Mã hóa</a:t>
            </a:r>
          </a:p>
          <a:p>
            <a:pPr algn="l">
              <a:lnSpc>
                <a:spcPct val="110000"/>
              </a:lnSpc>
              <a:spcBef>
                <a:spcPts val="300"/>
              </a:spcBef>
              <a:spcAft>
                <a:spcPts val="0"/>
              </a:spcAft>
            </a:pPr>
            <a:r>
              <a:rPr sz="900" b="0" i="0">
                <a:solidFill>
                  <a:srgbClr val="2B3A47"/>
                </a:solidFill>
                <a:latin typeface="Arial"/>
              </a:rPr>
              <a:t>Chủ sở hữu mã hóa tài liệu &amp; xây chỉ mục từ khóa</a:t>
            </a:r>
          </a:p>
        </p:txBody>
      </p:sp>
      <p:sp>
        <p:nvSpPr>
          <p:cNvPr id="18" name="Rounded Rectangle 17"/>
          <p:cNvSpPr/>
          <p:nvPr/>
        </p:nvSpPr>
        <p:spPr>
          <a:xfrm>
            <a:off x="3377107" y="2604668"/>
            <a:ext cx="2627299" cy="969264"/>
          </a:xfrm>
          <a:prstGeom prst="roundRect">
            <a:avLst>
              <a:gd name="adj" fmla="val 8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495979" y="2723540"/>
            <a:ext cx="274320" cy="27432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Bef>
                <a:spcPts val="0"/>
              </a:spcBef>
              <a:spcAft>
                <a:spcPts val="0"/>
              </a:spcAft>
            </a:pPr>
            <a:r>
              <a:rPr sz="890" b="1" i="0">
                <a:solidFill>
                  <a:srgbClr val="FFFFFF"/>
                </a:solidFill>
                <a:latin typeface="Arial"/>
              </a:rPr>
              <a:t>2</a:t>
            </a:r>
          </a:p>
        </p:txBody>
      </p:sp>
      <p:sp>
        <p:nvSpPr>
          <p:cNvPr id="20" name="TextBox 19"/>
          <p:cNvSpPr txBox="1"/>
          <p:nvPr/>
        </p:nvSpPr>
        <p:spPr>
          <a:xfrm>
            <a:off x="3861739" y="2723540"/>
            <a:ext cx="2023795" cy="731520"/>
          </a:xfrm>
          <a:prstGeom prst="rect">
            <a:avLst/>
          </a:prstGeom>
          <a:noFill/>
        </p:spPr>
        <p:txBody>
          <a:bodyPr wrap="square" lIns="0" rIns="0" tIns="0" bIns="0" anchor="t">
            <a:spAutoFit/>
          </a:bodyPr>
          <a:lstStyle/>
          <a:p>
            <a:pPr algn="l">
              <a:lnSpc>
                <a:spcPct val="108000"/>
              </a:lnSpc>
              <a:spcBef>
                <a:spcPts val="0"/>
              </a:spcBef>
              <a:spcAft>
                <a:spcPts val="0"/>
              </a:spcAft>
            </a:pPr>
            <a:r>
              <a:rPr sz="1040" b="1" i="0">
                <a:solidFill>
                  <a:srgbClr val="0E2D4E"/>
                </a:solidFill>
                <a:latin typeface="Arial"/>
              </a:rPr>
              <a:t>Tạo truy vấn</a:t>
            </a:r>
          </a:p>
          <a:p>
            <a:pPr algn="l">
              <a:lnSpc>
                <a:spcPct val="110000"/>
              </a:lnSpc>
              <a:spcBef>
                <a:spcPts val="300"/>
              </a:spcBef>
              <a:spcAft>
                <a:spcPts val="0"/>
              </a:spcAft>
            </a:pPr>
            <a:r>
              <a:rPr sz="900" b="0" i="0">
                <a:solidFill>
                  <a:srgbClr val="2B3A47"/>
                </a:solidFill>
                <a:latin typeface="Arial"/>
              </a:rPr>
              <a:t>Người dùng sinh </a:t>
            </a:r>
            <a:r>
              <a:rPr sz="900" b="1" i="0">
                <a:solidFill>
                  <a:srgbClr val="1F6FB2"/>
                </a:solidFill>
                <a:latin typeface="Arial"/>
              </a:rPr>
              <a:t>trapdoor</a:t>
            </a:r>
            <a:r>
              <a:rPr sz="900" b="0" i="0">
                <a:solidFill>
                  <a:srgbClr val="2B3A47"/>
                </a:solidFill>
                <a:latin typeface="Arial"/>
              </a:rPr>
              <a:t> cho từ khóa</a:t>
            </a:r>
          </a:p>
        </p:txBody>
      </p:sp>
      <p:sp>
        <p:nvSpPr>
          <p:cNvPr id="21" name="Rounded Rectangle 20"/>
          <p:cNvSpPr/>
          <p:nvPr/>
        </p:nvSpPr>
        <p:spPr>
          <a:xfrm>
            <a:off x="6187287" y="2604668"/>
            <a:ext cx="2627299" cy="969264"/>
          </a:xfrm>
          <a:prstGeom prst="roundRect">
            <a:avLst>
              <a:gd name="adj" fmla="val 8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6306159" y="2723540"/>
            <a:ext cx="274320" cy="27432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Bef>
                <a:spcPts val="0"/>
              </a:spcBef>
              <a:spcAft>
                <a:spcPts val="0"/>
              </a:spcAft>
            </a:pPr>
            <a:r>
              <a:rPr sz="890" b="1" i="0">
                <a:solidFill>
                  <a:srgbClr val="FFFFFF"/>
                </a:solidFill>
                <a:latin typeface="Arial"/>
              </a:rPr>
              <a:t>3</a:t>
            </a:r>
          </a:p>
        </p:txBody>
      </p:sp>
      <p:sp>
        <p:nvSpPr>
          <p:cNvPr id="23" name="TextBox 22"/>
          <p:cNvSpPr txBox="1"/>
          <p:nvPr/>
        </p:nvSpPr>
        <p:spPr>
          <a:xfrm>
            <a:off x="6671919" y="2723540"/>
            <a:ext cx="2023795" cy="731520"/>
          </a:xfrm>
          <a:prstGeom prst="rect">
            <a:avLst/>
          </a:prstGeom>
          <a:noFill/>
        </p:spPr>
        <p:txBody>
          <a:bodyPr wrap="square" lIns="0" rIns="0" tIns="0" bIns="0" anchor="t">
            <a:spAutoFit/>
          </a:bodyPr>
          <a:lstStyle/>
          <a:p>
            <a:pPr algn="l">
              <a:lnSpc>
                <a:spcPct val="108000"/>
              </a:lnSpc>
              <a:spcBef>
                <a:spcPts val="0"/>
              </a:spcBef>
              <a:spcAft>
                <a:spcPts val="0"/>
              </a:spcAft>
            </a:pPr>
            <a:r>
              <a:rPr sz="1040" b="1" i="0">
                <a:solidFill>
                  <a:srgbClr val="0E2D4E"/>
                </a:solidFill>
                <a:latin typeface="Arial"/>
              </a:rPr>
              <a:t>Đối sánh</a:t>
            </a:r>
          </a:p>
          <a:p>
            <a:pPr algn="l">
              <a:lnSpc>
                <a:spcPct val="110000"/>
              </a:lnSpc>
              <a:spcBef>
                <a:spcPts val="300"/>
              </a:spcBef>
              <a:spcAft>
                <a:spcPts val="0"/>
              </a:spcAft>
            </a:pPr>
            <a:r>
              <a:rPr sz="900" b="0" i="0">
                <a:solidFill>
                  <a:srgbClr val="2B3A47"/>
                </a:solidFill>
                <a:latin typeface="Arial"/>
              </a:rPr>
              <a:t>Cloud so khớp trapdoor với chỉ mục</a:t>
            </a:r>
          </a:p>
        </p:txBody>
      </p:sp>
      <p:sp>
        <p:nvSpPr>
          <p:cNvPr id="24" name="Rounded Rectangle 23"/>
          <p:cNvSpPr/>
          <p:nvPr/>
        </p:nvSpPr>
        <p:spPr>
          <a:xfrm>
            <a:off x="8997467" y="2604668"/>
            <a:ext cx="2627299" cy="969264"/>
          </a:xfrm>
          <a:prstGeom prst="roundRect">
            <a:avLst>
              <a:gd name="adj" fmla="val 8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9116339" y="2723540"/>
            <a:ext cx="274320" cy="27432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Bef>
                <a:spcPts val="0"/>
              </a:spcBef>
              <a:spcAft>
                <a:spcPts val="0"/>
              </a:spcAft>
            </a:pPr>
            <a:r>
              <a:rPr sz="890" b="1" i="0">
                <a:solidFill>
                  <a:srgbClr val="FFFFFF"/>
                </a:solidFill>
                <a:latin typeface="Arial"/>
              </a:rPr>
              <a:t>4</a:t>
            </a:r>
          </a:p>
        </p:txBody>
      </p:sp>
      <p:sp>
        <p:nvSpPr>
          <p:cNvPr id="26" name="TextBox 25"/>
          <p:cNvSpPr txBox="1"/>
          <p:nvPr/>
        </p:nvSpPr>
        <p:spPr>
          <a:xfrm>
            <a:off x="9482099" y="2723540"/>
            <a:ext cx="2023795" cy="731520"/>
          </a:xfrm>
          <a:prstGeom prst="rect">
            <a:avLst/>
          </a:prstGeom>
          <a:noFill/>
        </p:spPr>
        <p:txBody>
          <a:bodyPr wrap="square" lIns="0" rIns="0" tIns="0" bIns="0" anchor="t">
            <a:spAutoFit/>
          </a:bodyPr>
          <a:lstStyle/>
          <a:p>
            <a:pPr algn="l">
              <a:lnSpc>
                <a:spcPct val="108000"/>
              </a:lnSpc>
              <a:spcBef>
                <a:spcPts val="0"/>
              </a:spcBef>
              <a:spcAft>
                <a:spcPts val="0"/>
              </a:spcAft>
            </a:pPr>
            <a:r>
              <a:rPr sz="1040" b="1" i="0">
                <a:solidFill>
                  <a:srgbClr val="0E2D4E"/>
                </a:solidFill>
                <a:latin typeface="Arial"/>
              </a:rPr>
              <a:t>Trả kết quả</a:t>
            </a:r>
          </a:p>
          <a:p>
            <a:pPr algn="l">
              <a:lnSpc>
                <a:spcPct val="110000"/>
              </a:lnSpc>
              <a:spcBef>
                <a:spcPts val="300"/>
              </a:spcBef>
              <a:spcAft>
                <a:spcPts val="0"/>
              </a:spcAft>
            </a:pPr>
            <a:r>
              <a:rPr sz="900" b="0" i="0">
                <a:solidFill>
                  <a:srgbClr val="2B3A47"/>
                </a:solidFill>
                <a:latin typeface="Arial"/>
              </a:rPr>
              <a:t>Trả tài liệu phù hợp để giải mã theo quyền</a:t>
            </a:r>
          </a:p>
        </p:txBody>
      </p:sp>
      <p:sp>
        <p:nvSpPr>
          <p:cNvPr id="27" name="Rectangle 26"/>
          <p:cNvSpPr/>
          <p:nvPr/>
        </p:nvSpPr>
        <p:spPr>
          <a:xfrm>
            <a:off x="566928" y="3793388"/>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85800" y="3775100"/>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3 · Ví dụ: tìm email chứa “Urgent”</a:t>
            </a:r>
          </a:p>
        </p:txBody>
      </p:sp>
      <p:sp>
        <p:nvSpPr>
          <p:cNvPr id="29" name="Rounded Rectangle 28"/>
          <p:cNvSpPr/>
          <p:nvPr/>
        </p:nvSpPr>
        <p:spPr>
          <a:xfrm>
            <a:off x="978408" y="4027195"/>
            <a:ext cx="4550511" cy="292608"/>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19" b="0" i="0">
                <a:solidFill>
                  <a:srgbClr val="0E2D4E"/>
                </a:solidFill>
                <a:latin typeface="Arial"/>
              </a:rPr>
              <a:t>Email đã mã hóa + chỉ mục từ khóa</a:t>
            </a:r>
          </a:p>
        </p:txBody>
      </p:sp>
      <p:sp>
        <p:nvSpPr>
          <p:cNvPr id="30" name="Down Arrow 29"/>
          <p:cNvSpPr/>
          <p:nvPr/>
        </p:nvSpPr>
        <p:spPr>
          <a:xfrm>
            <a:off x="3185083" y="4333519"/>
            <a:ext cx="137160" cy="118872"/>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978408" y="4466107"/>
            <a:ext cx="4550511" cy="292608"/>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19" b="0" i="0">
                <a:solidFill>
                  <a:srgbClr val="0E2D4E"/>
                </a:solidFill>
                <a:latin typeface="Arial"/>
              </a:rPr>
              <a:t>Trapdoor: “Urgent”</a:t>
            </a:r>
          </a:p>
        </p:txBody>
      </p:sp>
      <p:sp>
        <p:nvSpPr>
          <p:cNvPr id="32" name="Down Arrow 31"/>
          <p:cNvSpPr/>
          <p:nvPr/>
        </p:nvSpPr>
        <p:spPr>
          <a:xfrm>
            <a:off x="3185083" y="4772431"/>
            <a:ext cx="137160" cy="118872"/>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78408" y="4905019"/>
            <a:ext cx="4550511" cy="292608"/>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19" b="0" i="0">
                <a:solidFill>
                  <a:srgbClr val="0E2D4E"/>
                </a:solidFill>
                <a:latin typeface="Arial"/>
              </a:rPr>
              <a:t>Cloud đối sánh chỉ mục</a:t>
            </a:r>
          </a:p>
        </p:txBody>
      </p:sp>
      <p:sp>
        <p:nvSpPr>
          <p:cNvPr id="34" name="Down Arrow 33"/>
          <p:cNvSpPr/>
          <p:nvPr/>
        </p:nvSpPr>
        <p:spPr>
          <a:xfrm>
            <a:off x="3185083" y="5211343"/>
            <a:ext cx="137160" cy="118872"/>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978408" y="5343931"/>
            <a:ext cx="4550511" cy="292608"/>
          </a:xfrm>
          <a:prstGeom prst="roundRect">
            <a:avLst>
              <a:gd name="adj" fmla="val 14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19" b="0" i="0">
                <a:solidFill>
                  <a:srgbClr val="1B7A57"/>
                </a:solidFill>
                <a:latin typeface="Arial"/>
              </a:rPr>
              <a:t>Trả về email phù hợp</a:t>
            </a:r>
          </a:p>
        </p:txBody>
      </p:sp>
      <p:sp>
        <p:nvSpPr>
          <p:cNvPr id="36" name="Rectangle 35"/>
          <p:cNvSpPr/>
          <p:nvPr/>
        </p:nvSpPr>
        <p:spPr>
          <a:xfrm>
            <a:off x="6251295" y="3793388"/>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370167" y="3775100"/>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Hai hướng triển khai phổ biến</a:t>
            </a:r>
          </a:p>
        </p:txBody>
      </p:sp>
      <p:sp>
        <p:nvSpPr>
          <p:cNvPr id="38" name="Rounded Rectangle 37"/>
          <p:cNvSpPr/>
          <p:nvPr/>
        </p:nvSpPr>
        <p:spPr>
          <a:xfrm>
            <a:off x="6251295" y="4027195"/>
            <a:ext cx="2595295" cy="1078382"/>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388455" y="4164355"/>
            <a:ext cx="2320975" cy="189484"/>
          </a:xfrm>
          <a:prstGeom prst="rect">
            <a:avLst/>
          </a:prstGeom>
          <a:noFill/>
        </p:spPr>
        <p:txBody>
          <a:bodyPr wrap="square" lIns="0" rIns="0" tIns="0" bIns="0" anchor="t">
            <a:spAutoFit/>
          </a:bodyPr>
          <a:lstStyle/>
          <a:p>
            <a:pPr algn="l">
              <a:lnSpc>
                <a:spcPct val="110000"/>
              </a:lnSpc>
              <a:spcBef>
                <a:spcPts val="0"/>
              </a:spcBef>
              <a:spcAft>
                <a:spcPts val="0"/>
              </a:spcAft>
            </a:pPr>
            <a:r>
              <a:rPr sz="1160" b="1" i="0">
                <a:solidFill>
                  <a:srgbClr val="0E2D4E"/>
                </a:solidFill>
                <a:latin typeface="Arial"/>
              </a:rPr>
              <a:t>Symmetric-key SE</a:t>
            </a:r>
          </a:p>
        </p:txBody>
      </p:sp>
      <p:sp>
        <p:nvSpPr>
          <p:cNvPr id="40" name="TextBox 39"/>
          <p:cNvSpPr txBox="1"/>
          <p:nvPr/>
        </p:nvSpPr>
        <p:spPr>
          <a:xfrm>
            <a:off x="6388455" y="4417847"/>
            <a:ext cx="2320975" cy="397357"/>
          </a:xfrm>
          <a:prstGeom prst="rect">
            <a:avLst/>
          </a:prstGeom>
          <a:noFill/>
        </p:spPr>
        <p:txBody>
          <a:bodyPr wrap="square" lIns="0" rIns="0" tIns="0" bIns="0" anchor="t">
            <a:spAutoFit/>
          </a:bodyPr>
          <a:lstStyle/>
          <a:p>
            <a:pPr algn="l">
              <a:lnSpc>
                <a:spcPct val="116000"/>
              </a:lnSpc>
              <a:spcBef>
                <a:spcPts val="0"/>
              </a:spcBef>
              <a:spcAft>
                <a:spcPts val="500"/>
              </a:spcAft>
            </a:pPr>
            <a:r>
              <a:rPr sz="1040" b="0" i="0">
                <a:solidFill>
                  <a:srgbClr val="2B3A47"/>
                </a:solidFill>
                <a:latin typeface="Arial"/>
              </a:rPr>
              <a:t>Khóa đối xứng + chỉ mục từ khóa</a:t>
            </a:r>
          </a:p>
          <a:p>
            <a:pPr algn="l">
              <a:lnSpc>
                <a:spcPct val="116000"/>
              </a:lnSpc>
              <a:spcBef>
                <a:spcPts val="0"/>
              </a:spcBef>
              <a:spcAft>
                <a:spcPts val="0"/>
              </a:spcAft>
            </a:pPr>
            <a:r>
              <a:rPr sz="1040" b="0" i="0">
                <a:solidFill>
                  <a:srgbClr val="2B3A47"/>
                </a:solidFill>
                <a:latin typeface="Arial"/>
              </a:rPr>
              <a:t>Hướng tới </a:t>
            </a:r>
            <a:r>
              <a:rPr sz="1040" b="1" i="0">
                <a:solidFill>
                  <a:srgbClr val="1F6FB2"/>
                </a:solidFill>
                <a:latin typeface="Arial"/>
              </a:rPr>
              <a:t>hiệu năng tìm kiếm cao</a:t>
            </a:r>
          </a:p>
        </p:txBody>
      </p:sp>
      <p:sp>
        <p:nvSpPr>
          <p:cNvPr id="41" name="Rounded Rectangle 40"/>
          <p:cNvSpPr/>
          <p:nvPr/>
        </p:nvSpPr>
        <p:spPr>
          <a:xfrm>
            <a:off x="9029471" y="4027195"/>
            <a:ext cx="2595295" cy="1078382"/>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166631" y="4164355"/>
            <a:ext cx="2320975" cy="189484"/>
          </a:xfrm>
          <a:prstGeom prst="rect">
            <a:avLst/>
          </a:prstGeom>
          <a:noFill/>
        </p:spPr>
        <p:txBody>
          <a:bodyPr wrap="square" lIns="0" rIns="0" tIns="0" bIns="0" anchor="t">
            <a:spAutoFit/>
          </a:bodyPr>
          <a:lstStyle/>
          <a:p>
            <a:pPr algn="l">
              <a:lnSpc>
                <a:spcPct val="110000"/>
              </a:lnSpc>
              <a:spcBef>
                <a:spcPts val="0"/>
              </a:spcBef>
              <a:spcAft>
                <a:spcPts val="0"/>
              </a:spcAft>
            </a:pPr>
            <a:r>
              <a:rPr sz="1160" b="1" i="0">
                <a:solidFill>
                  <a:srgbClr val="0E2D4E"/>
                </a:solidFill>
                <a:latin typeface="Arial"/>
              </a:rPr>
              <a:t>PEKS</a:t>
            </a:r>
          </a:p>
        </p:txBody>
      </p:sp>
      <p:sp>
        <p:nvSpPr>
          <p:cNvPr id="43" name="TextBox 42"/>
          <p:cNvSpPr txBox="1"/>
          <p:nvPr/>
        </p:nvSpPr>
        <p:spPr>
          <a:xfrm>
            <a:off x="9166631" y="4417847"/>
            <a:ext cx="2320975" cy="550570"/>
          </a:xfrm>
          <a:prstGeom prst="rect">
            <a:avLst/>
          </a:prstGeom>
          <a:noFill/>
        </p:spPr>
        <p:txBody>
          <a:bodyPr wrap="square" lIns="0" rIns="0" tIns="0" bIns="0" anchor="t">
            <a:spAutoFit/>
          </a:bodyPr>
          <a:lstStyle/>
          <a:p>
            <a:pPr algn="l">
              <a:lnSpc>
                <a:spcPct val="116000"/>
              </a:lnSpc>
              <a:spcBef>
                <a:spcPts val="0"/>
              </a:spcBef>
              <a:spcAft>
                <a:spcPts val="500"/>
              </a:spcAft>
            </a:pPr>
            <a:r>
              <a:rPr sz="1040" b="0" i="0">
                <a:solidFill>
                  <a:srgbClr val="2B3A47"/>
                </a:solidFill>
                <a:latin typeface="Arial"/>
              </a:rPr>
              <a:t>Public Key Encryption with Keyword Search</a:t>
            </a:r>
          </a:p>
          <a:p>
            <a:pPr algn="l">
              <a:lnSpc>
                <a:spcPct val="116000"/>
              </a:lnSpc>
              <a:spcBef>
                <a:spcPts val="0"/>
              </a:spcBef>
              <a:spcAft>
                <a:spcPts val="0"/>
              </a:spcAft>
            </a:pPr>
            <a:r>
              <a:rPr sz="1040" b="0" i="0">
                <a:solidFill>
                  <a:srgbClr val="2B3A47"/>
                </a:solidFill>
                <a:latin typeface="Arial"/>
              </a:rPr>
              <a:t>Tìm kiếm bằng </a:t>
            </a:r>
            <a:r>
              <a:rPr sz="1040" b="1" i="0">
                <a:solidFill>
                  <a:srgbClr val="1F6FB2"/>
                </a:solidFill>
                <a:latin typeface="Arial"/>
              </a:rPr>
              <a:t>khóa công khai</a:t>
            </a:r>
          </a:p>
        </p:txBody>
      </p:sp>
      <p:sp>
        <p:nvSpPr>
          <p:cNvPr id="44" name="Rounded Rectangle 43"/>
          <p:cNvSpPr/>
          <p:nvPr/>
        </p:nvSpPr>
        <p:spPr>
          <a:xfrm>
            <a:off x="6251295" y="5251881"/>
            <a:ext cx="5373471" cy="591870"/>
          </a:xfrm>
          <a:prstGeom prst="roundRect">
            <a:avLst>
              <a:gd name="adj" fmla="val 10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251295" y="5251881"/>
            <a:ext cx="64008" cy="591870"/>
          </a:xfrm>
          <a:prstGeom prst="rect">
            <a:avLst/>
          </a:prstGeom>
          <a:solidFill>
            <a:srgbClr val="1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434175" y="5370753"/>
            <a:ext cx="5044287" cy="354126"/>
          </a:xfrm>
          <a:prstGeom prst="rect">
            <a:avLst/>
          </a:prstGeom>
          <a:noFill/>
        </p:spPr>
        <p:txBody>
          <a:bodyPr wrap="square" lIns="0" rIns="0" tIns="0" bIns="0" anchor="t">
            <a:spAutoFit/>
          </a:bodyPr>
          <a:lstStyle/>
          <a:p>
            <a:pPr algn="l">
              <a:lnSpc>
                <a:spcPct val="118000"/>
              </a:lnSpc>
              <a:spcBef>
                <a:spcPts val="0"/>
              </a:spcBef>
              <a:spcAft>
                <a:spcPts val="0"/>
              </a:spcAft>
            </a:pPr>
            <a:r>
              <a:rPr sz="1090" b="0" i="0">
                <a:solidFill>
                  <a:srgbClr val="1B7A57"/>
                </a:solidFill>
                <a:latin typeface="Arial"/>
              </a:rPr>
              <a:t>Cloud xác định được </a:t>
            </a:r>
            <a:r>
              <a:rPr sz="1090" b="1" i="0">
                <a:solidFill>
                  <a:srgbClr val="1B7A57"/>
                </a:solidFill>
                <a:latin typeface="Arial"/>
              </a:rPr>
              <a:t>tài liệu nào phù hợp truy vấn</a:t>
            </a:r>
            <a:r>
              <a:rPr sz="1090" b="0" i="0">
                <a:solidFill>
                  <a:srgbClr val="1B7A57"/>
                </a:solidFill>
                <a:latin typeface="Arial"/>
              </a:rPr>
              <a:t> mà không cần biết nội dung đầy đủ.</a:t>
            </a:r>
          </a:p>
        </p:txBody>
      </p:sp>
      <p:sp>
        <p:nvSpPr>
          <p:cNvPr id="47" name="Rounded Rectangle 46"/>
          <p:cNvSpPr/>
          <p:nvPr/>
        </p:nvSpPr>
        <p:spPr>
          <a:xfrm>
            <a:off x="566928" y="5935192"/>
            <a:ext cx="11057839" cy="436016"/>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566928" y="5935192"/>
            <a:ext cx="64008" cy="436016"/>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749808" y="6054064"/>
            <a:ext cx="10728655" cy="198272"/>
          </a:xfrm>
          <a:prstGeom prst="rect">
            <a:avLst/>
          </a:prstGeom>
          <a:noFill/>
        </p:spPr>
        <p:txBody>
          <a:bodyPr wrap="square" lIns="0" rIns="0" tIns="0" bIns="0" anchor="t">
            <a:spAutoFit/>
          </a:bodyPr>
          <a:lstStyle/>
          <a:p>
            <a:pPr algn="l">
              <a:lnSpc>
                <a:spcPct val="118000"/>
              </a:lnSpc>
              <a:spcBef>
                <a:spcPts val="0"/>
              </a:spcBef>
              <a:spcAft>
                <a:spcPts val="0"/>
              </a:spcAft>
            </a:pPr>
            <a:r>
              <a:rPr sz="1140" b="0" i="0">
                <a:solidFill>
                  <a:srgbClr val="FFFFFF"/>
                </a:solidFill>
                <a:latin typeface="Arial"/>
              </a:rPr>
              <a:t>Kết phần 3 — </a:t>
            </a:r>
            <a:r>
              <a:rPr sz="1140" b="1" i="0">
                <a:solidFill>
                  <a:srgbClr val="FFFFFF"/>
                </a:solidFill>
                <a:latin typeface="Arial"/>
              </a:rPr>
              <a:t>ABE → kiểm soát truy cập</a:t>
            </a:r>
            <a:r>
              <a:rPr sz="1140" b="0" i="0">
                <a:solidFill>
                  <a:srgbClr val="FFFFFF"/>
                </a:solidFill>
                <a:latin typeface="Arial"/>
              </a:rPr>
              <a:t> · </a:t>
            </a:r>
            <a:r>
              <a:rPr sz="1140" b="1" i="0">
                <a:solidFill>
                  <a:srgbClr val="FFFFFF"/>
                </a:solidFill>
                <a:latin typeface="Arial"/>
              </a:rPr>
              <a:t>FHE → tính toán trên dữ liệu mã hóa</a:t>
            </a:r>
            <a:r>
              <a:rPr sz="1140" b="0" i="0">
                <a:solidFill>
                  <a:srgbClr val="FFFFFF"/>
                </a:solidFill>
                <a:latin typeface="Arial"/>
              </a:rPr>
              <a:t> · </a:t>
            </a:r>
            <a:r>
              <a:rPr sz="1140" b="1" i="0">
                <a:solidFill>
                  <a:srgbClr val="FFFFFF"/>
                </a:solidFill>
                <a:latin typeface="Arial"/>
              </a:rPr>
              <a:t>SE → tìm kiếm trên dữ liệu mã hóa</a:t>
            </a:r>
            <a:r>
              <a:rPr sz="1140" b="0" i="0">
                <a:solidFill>
                  <a:srgbClr val="FFFFFF"/>
                </a:solidFill>
                <a:latin typeface="Arial"/>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PHẦN 4 · BẢO VỆ HẠ TẦNG &amp; VÙNG TIN CẬY</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BẢO VỆ HẠ TẦNG &amp; VÙNG TIN CẬY</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11/18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2807208"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Zoom out: từ dữ liệu đến hạ tầng</a:t>
            </a:r>
          </a:p>
        </p:txBody>
      </p:sp>
      <p:sp>
        <p:nvSpPr>
          <p:cNvPr id="10" name="Rounded Rectangle 9"/>
          <p:cNvSpPr/>
          <p:nvPr/>
        </p:nvSpPr>
        <p:spPr>
          <a:xfrm>
            <a:off x="566928" y="1550543"/>
            <a:ext cx="2926080" cy="457200"/>
          </a:xfrm>
          <a:prstGeom prst="roundRect">
            <a:avLst>
              <a:gd name="adj" fmla="val 12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4000"/>
              </a:lnSpc>
              <a:spcBef>
                <a:spcPts val="0"/>
              </a:spcBef>
              <a:spcAft>
                <a:spcPts val="0"/>
              </a:spcAft>
            </a:pPr>
            <a:r>
              <a:rPr sz="1120" b="1" i="0">
                <a:solidFill>
                  <a:srgbClr val="0E2D4E"/>
                </a:solidFill>
                <a:latin typeface="Arial"/>
              </a:rPr>
              <a:t>DATA</a:t>
            </a:r>
          </a:p>
        </p:txBody>
      </p:sp>
      <p:sp>
        <p:nvSpPr>
          <p:cNvPr id="11" name="Rounded Rectangle 10"/>
          <p:cNvSpPr/>
          <p:nvPr/>
        </p:nvSpPr>
        <p:spPr>
          <a:xfrm>
            <a:off x="566928" y="2126615"/>
            <a:ext cx="2926080" cy="457200"/>
          </a:xfrm>
          <a:prstGeom prst="roundRect">
            <a:avLst>
              <a:gd name="adj" fmla="val 12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4000"/>
              </a:lnSpc>
              <a:spcBef>
                <a:spcPts val="0"/>
              </a:spcBef>
              <a:spcAft>
                <a:spcPts val="0"/>
              </a:spcAft>
            </a:pPr>
            <a:r>
              <a:rPr sz="1120" b="1" i="0">
                <a:solidFill>
                  <a:srgbClr val="0E2D4E"/>
                </a:solidFill>
                <a:latin typeface="Arial"/>
              </a:rPr>
              <a:t>NETWORK</a:t>
            </a:r>
          </a:p>
        </p:txBody>
      </p:sp>
      <p:sp>
        <p:nvSpPr>
          <p:cNvPr id="12" name="Rounded Rectangle 11"/>
          <p:cNvSpPr/>
          <p:nvPr/>
        </p:nvSpPr>
        <p:spPr>
          <a:xfrm>
            <a:off x="566928" y="2702686"/>
            <a:ext cx="2926080" cy="457200"/>
          </a:xfrm>
          <a:prstGeom prst="roundRect">
            <a:avLst>
              <a:gd name="adj" fmla="val 12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4000"/>
              </a:lnSpc>
              <a:spcBef>
                <a:spcPts val="0"/>
              </a:spcBef>
              <a:spcAft>
                <a:spcPts val="0"/>
              </a:spcAft>
            </a:pPr>
            <a:r>
              <a:rPr sz="1120" b="1" i="0">
                <a:solidFill>
                  <a:srgbClr val="0E2D4E"/>
                </a:solidFill>
                <a:latin typeface="Arial"/>
              </a:rPr>
              <a:t>IDENTITY &amp; ACCESS</a:t>
            </a:r>
          </a:p>
        </p:txBody>
      </p:sp>
      <p:sp>
        <p:nvSpPr>
          <p:cNvPr id="13" name="Rounded Rectangle 12"/>
          <p:cNvSpPr/>
          <p:nvPr/>
        </p:nvSpPr>
        <p:spPr>
          <a:xfrm>
            <a:off x="566928" y="3278758"/>
            <a:ext cx="2926080" cy="457200"/>
          </a:xfrm>
          <a:prstGeom prst="roundRect">
            <a:avLst>
              <a:gd name="adj" fmla="val 12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4000"/>
              </a:lnSpc>
              <a:spcBef>
                <a:spcPts val="0"/>
              </a:spcBef>
              <a:spcAft>
                <a:spcPts val="0"/>
              </a:spcAft>
            </a:pPr>
            <a:r>
              <a:rPr sz="1120" b="1" i="0">
                <a:solidFill>
                  <a:srgbClr val="0E2D4E"/>
                </a:solidFill>
                <a:latin typeface="Arial"/>
              </a:rPr>
              <a:t>HOST / VM</a:t>
            </a:r>
          </a:p>
        </p:txBody>
      </p:sp>
      <p:sp>
        <p:nvSpPr>
          <p:cNvPr id="14" name="Rounded Rectangle 13"/>
          <p:cNvSpPr/>
          <p:nvPr/>
        </p:nvSpPr>
        <p:spPr>
          <a:xfrm>
            <a:off x="566928" y="3882263"/>
            <a:ext cx="2926080" cy="750722"/>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66928" y="3882263"/>
            <a:ext cx="64008" cy="75072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49808" y="4001134"/>
            <a:ext cx="2596896" cy="512978"/>
          </a:xfrm>
          <a:prstGeom prst="rect">
            <a:avLst/>
          </a:prstGeom>
          <a:noFill/>
        </p:spPr>
        <p:txBody>
          <a:bodyPr wrap="square" lIns="0" rIns="0" tIns="0" bIns="0" anchor="t">
            <a:spAutoFit/>
          </a:bodyPr>
          <a:lstStyle/>
          <a:p>
            <a:pPr algn="l">
              <a:lnSpc>
                <a:spcPct val="118000"/>
              </a:lnSpc>
              <a:spcBef>
                <a:spcPts val="0"/>
              </a:spcBef>
              <a:spcAft>
                <a:spcPts val="0"/>
              </a:spcAft>
            </a:pPr>
            <a:r>
              <a:rPr sz="1080" b="0" i="0">
                <a:solidFill>
                  <a:srgbClr val="0E2D4E"/>
                </a:solidFill>
                <a:latin typeface="Arial"/>
              </a:rPr>
              <a:t>Bảo mật Cloud không chỉ bảo vệ dữ liệu mà còn bảo vệ </a:t>
            </a:r>
            <a:r>
              <a:rPr sz="1080" b="1" i="0">
                <a:solidFill>
                  <a:srgbClr val="0E2D4E"/>
                </a:solidFill>
                <a:latin typeface="Arial"/>
              </a:rPr>
              <a:t>môi trường lưu trữ và xử lý</a:t>
            </a:r>
            <a:r>
              <a:rPr sz="1080" b="0" i="0">
                <a:solidFill>
                  <a:srgbClr val="0E2D4E"/>
                </a:solidFill>
                <a:latin typeface="Arial"/>
              </a:rPr>
              <a:t> dữ liệu.</a:t>
            </a:r>
          </a:p>
        </p:txBody>
      </p:sp>
      <p:sp>
        <p:nvSpPr>
          <p:cNvPr id="17" name="Rectangle 16"/>
          <p:cNvSpPr/>
          <p:nvPr/>
        </p:nvSpPr>
        <p:spPr>
          <a:xfrm>
            <a:off x="3785616"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904488" y="1298448"/>
            <a:ext cx="772027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Private Cloud vs. Public Cloud</a:t>
            </a:r>
          </a:p>
        </p:txBody>
      </p:sp>
      <p:sp>
        <p:nvSpPr>
          <p:cNvPr id="19" name="Rectangle 18"/>
          <p:cNvSpPr/>
          <p:nvPr/>
        </p:nvSpPr>
        <p:spPr>
          <a:xfrm>
            <a:off x="3785616" y="1550543"/>
            <a:ext cx="7839151" cy="294386"/>
          </a:xfrm>
          <a:prstGeom prst="rect">
            <a:avLst/>
          </a:prstGeom>
          <a:solidFill>
            <a:srgbClr val="0E2D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77056" y="1550543"/>
            <a:ext cx="3736695"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Private Cloud</a:t>
            </a:r>
          </a:p>
        </p:txBody>
      </p:sp>
      <p:sp>
        <p:nvSpPr>
          <p:cNvPr id="21" name="TextBox 20"/>
          <p:cNvSpPr txBox="1"/>
          <p:nvPr/>
        </p:nvSpPr>
        <p:spPr>
          <a:xfrm>
            <a:off x="7796631" y="1550543"/>
            <a:ext cx="3736695"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Public Cloud</a:t>
            </a:r>
          </a:p>
        </p:txBody>
      </p:sp>
      <p:sp>
        <p:nvSpPr>
          <p:cNvPr id="22" name="Rectangle 21"/>
          <p:cNvSpPr/>
          <p:nvPr/>
        </p:nvSpPr>
        <p:spPr>
          <a:xfrm>
            <a:off x="3785616" y="1844929"/>
            <a:ext cx="7839151" cy="286283"/>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877056" y="1844929"/>
            <a:ext cx="3736695"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Mạng được tổ chức &amp; kiểm soát tập trung hơn</a:t>
            </a:r>
          </a:p>
        </p:txBody>
      </p:sp>
      <p:sp>
        <p:nvSpPr>
          <p:cNvPr id="24" name="TextBox 23"/>
          <p:cNvSpPr txBox="1"/>
          <p:nvPr/>
        </p:nvSpPr>
        <p:spPr>
          <a:xfrm>
            <a:off x="7796631" y="1844929"/>
            <a:ext cx="3736695"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Tài nguyên cung cấp qua hạ tầng của CSP</a:t>
            </a:r>
          </a:p>
        </p:txBody>
      </p:sp>
      <p:sp>
        <p:nvSpPr>
          <p:cNvPr id="25" name="Rectangle 24"/>
          <p:cNvSpPr/>
          <p:nvPr/>
        </p:nvSpPr>
        <p:spPr>
          <a:xfrm>
            <a:off x="3785616" y="2131212"/>
            <a:ext cx="7839151" cy="286283"/>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877056" y="2131212"/>
            <a:ext cx="3736695"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Dùng được các cơ chế kiểm soát mạng nội bộ quen thuộc</a:t>
            </a:r>
          </a:p>
        </p:txBody>
      </p:sp>
      <p:sp>
        <p:nvSpPr>
          <p:cNvPr id="27" name="TextBox 26"/>
          <p:cNvSpPr txBox="1"/>
          <p:nvPr/>
        </p:nvSpPr>
        <p:spPr>
          <a:xfrm>
            <a:off x="7796631" y="2131212"/>
            <a:ext cx="3736695"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Phụ thuộc nhiều hơn vào cấu hình &amp; dịch vụ của CSP</a:t>
            </a:r>
          </a:p>
        </p:txBody>
      </p:sp>
      <p:sp>
        <p:nvSpPr>
          <p:cNvPr id="28" name="Rectangle 27"/>
          <p:cNvSpPr/>
          <p:nvPr/>
        </p:nvSpPr>
        <p:spPr>
          <a:xfrm>
            <a:off x="3785616" y="2417495"/>
            <a:ext cx="7839151" cy="435406"/>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877056" y="2417495"/>
            <a:ext cx="3736695" cy="435406"/>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Vẫn phải đối phó cấu hình sai, truy cập trái phép, insider threat</a:t>
            </a:r>
          </a:p>
        </p:txBody>
      </p:sp>
      <p:sp>
        <p:nvSpPr>
          <p:cNvPr id="30" name="TextBox 29"/>
          <p:cNvSpPr txBox="1"/>
          <p:nvPr/>
        </p:nvSpPr>
        <p:spPr>
          <a:xfrm>
            <a:off x="7796631" y="2417495"/>
            <a:ext cx="3736695" cy="435406"/>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Tăng phụ thuộc vào kết nối mạng &amp; cấu hình tài nguyên</a:t>
            </a:r>
          </a:p>
        </p:txBody>
      </p:sp>
      <p:sp>
        <p:nvSpPr>
          <p:cNvPr id="31" name="Rounded Rectangle 30"/>
          <p:cNvSpPr/>
          <p:nvPr/>
        </p:nvSpPr>
        <p:spPr>
          <a:xfrm>
            <a:off x="3785616" y="2999206"/>
            <a:ext cx="1850059" cy="932688"/>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922776" y="3136366"/>
            <a:ext cx="1575739" cy="178308"/>
          </a:xfrm>
          <a:prstGeom prst="rect">
            <a:avLst/>
          </a:prstGeom>
          <a:noFill/>
        </p:spPr>
        <p:txBody>
          <a:bodyPr wrap="square" lIns="0" rIns="0" tIns="0" bIns="0" anchor="t">
            <a:spAutoFit/>
          </a:bodyPr>
          <a:lstStyle/>
          <a:p>
            <a:pPr algn="l">
              <a:lnSpc>
                <a:spcPct val="110000"/>
              </a:lnSpc>
              <a:spcBef>
                <a:spcPts val="0"/>
              </a:spcBef>
              <a:spcAft>
                <a:spcPts val="0"/>
              </a:spcAft>
            </a:pPr>
            <a:r>
              <a:rPr sz="1080" b="1" i="0">
                <a:solidFill>
                  <a:srgbClr val="0E2D4E"/>
                </a:solidFill>
                <a:latin typeface="Arial"/>
              </a:rPr>
              <a:t>Network Exposure</a:t>
            </a:r>
          </a:p>
        </p:txBody>
      </p:sp>
      <p:sp>
        <p:nvSpPr>
          <p:cNvPr id="33" name="TextBox 32"/>
          <p:cNvSpPr txBox="1"/>
          <p:nvPr/>
        </p:nvSpPr>
        <p:spPr>
          <a:xfrm>
            <a:off x="3922776" y="3378682"/>
            <a:ext cx="1575739" cy="322072"/>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2B3A47"/>
                </a:solidFill>
                <a:latin typeface="Arial"/>
              </a:rPr>
              <a:t>Tài nguyên có thể truy cập qua Internet</a:t>
            </a:r>
          </a:p>
        </p:txBody>
      </p:sp>
      <p:sp>
        <p:nvSpPr>
          <p:cNvPr id="34" name="Rounded Rectangle 33"/>
          <p:cNvSpPr/>
          <p:nvPr/>
        </p:nvSpPr>
        <p:spPr>
          <a:xfrm>
            <a:off x="5781979" y="2999206"/>
            <a:ext cx="1850059" cy="932688"/>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919139" y="3136366"/>
            <a:ext cx="1575739" cy="178308"/>
          </a:xfrm>
          <a:prstGeom prst="rect">
            <a:avLst/>
          </a:prstGeom>
          <a:noFill/>
        </p:spPr>
        <p:txBody>
          <a:bodyPr wrap="square" lIns="0" rIns="0" tIns="0" bIns="0" anchor="t">
            <a:spAutoFit/>
          </a:bodyPr>
          <a:lstStyle/>
          <a:p>
            <a:pPr algn="l">
              <a:lnSpc>
                <a:spcPct val="110000"/>
              </a:lnSpc>
              <a:spcBef>
                <a:spcPts val="0"/>
              </a:spcBef>
              <a:spcAft>
                <a:spcPts val="0"/>
              </a:spcAft>
            </a:pPr>
            <a:r>
              <a:rPr sz="1080" b="1" i="0">
                <a:solidFill>
                  <a:srgbClr val="0E2D4E"/>
                </a:solidFill>
                <a:latin typeface="Arial"/>
              </a:rPr>
              <a:t>Misconfiguration</a:t>
            </a:r>
          </a:p>
        </p:txBody>
      </p:sp>
      <p:sp>
        <p:nvSpPr>
          <p:cNvPr id="36" name="TextBox 35"/>
          <p:cNvSpPr txBox="1"/>
          <p:nvPr/>
        </p:nvSpPr>
        <p:spPr>
          <a:xfrm>
            <a:off x="5919139" y="3378682"/>
            <a:ext cx="1575739" cy="322072"/>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2B3A47"/>
                </a:solidFill>
                <a:latin typeface="Arial"/>
              </a:rPr>
              <a:t>Cấu hình sai mở rộng phạm vi truy cập</a:t>
            </a:r>
          </a:p>
        </p:txBody>
      </p:sp>
      <p:sp>
        <p:nvSpPr>
          <p:cNvPr id="37" name="Rounded Rectangle 36"/>
          <p:cNvSpPr/>
          <p:nvPr/>
        </p:nvSpPr>
        <p:spPr>
          <a:xfrm>
            <a:off x="7778343" y="2999206"/>
            <a:ext cx="1850059" cy="932688"/>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915503" y="3136366"/>
            <a:ext cx="1575739" cy="178308"/>
          </a:xfrm>
          <a:prstGeom prst="rect">
            <a:avLst/>
          </a:prstGeom>
          <a:noFill/>
        </p:spPr>
        <p:txBody>
          <a:bodyPr wrap="square" lIns="0" rIns="0" tIns="0" bIns="0" anchor="t">
            <a:spAutoFit/>
          </a:bodyPr>
          <a:lstStyle/>
          <a:p>
            <a:pPr algn="l">
              <a:lnSpc>
                <a:spcPct val="110000"/>
              </a:lnSpc>
              <a:spcBef>
                <a:spcPts val="0"/>
              </a:spcBef>
              <a:spcAft>
                <a:spcPts val="0"/>
              </a:spcAft>
            </a:pPr>
            <a:r>
              <a:rPr sz="1080" b="1" i="0">
                <a:solidFill>
                  <a:srgbClr val="0E2D4E"/>
                </a:solidFill>
                <a:latin typeface="Arial"/>
              </a:rPr>
              <a:t>Visibility</a:t>
            </a:r>
          </a:p>
        </p:txBody>
      </p:sp>
      <p:sp>
        <p:nvSpPr>
          <p:cNvPr id="39" name="TextBox 38"/>
          <p:cNvSpPr txBox="1"/>
          <p:nvPr/>
        </p:nvSpPr>
        <p:spPr>
          <a:xfrm>
            <a:off x="7915503" y="3378682"/>
            <a:ext cx="1575739" cy="322072"/>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2B3A47"/>
                </a:solidFill>
                <a:latin typeface="Arial"/>
              </a:rPr>
              <a:t>Quan sát phụ thuộc công cụ của CSP</a:t>
            </a:r>
          </a:p>
        </p:txBody>
      </p:sp>
      <p:sp>
        <p:nvSpPr>
          <p:cNvPr id="40" name="Rounded Rectangle 39"/>
          <p:cNvSpPr/>
          <p:nvPr/>
        </p:nvSpPr>
        <p:spPr>
          <a:xfrm>
            <a:off x="9774707" y="2999206"/>
            <a:ext cx="1850059" cy="932688"/>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911867" y="3136366"/>
            <a:ext cx="1575739" cy="178308"/>
          </a:xfrm>
          <a:prstGeom prst="rect">
            <a:avLst/>
          </a:prstGeom>
          <a:noFill/>
        </p:spPr>
        <p:txBody>
          <a:bodyPr wrap="square" lIns="0" rIns="0" tIns="0" bIns="0" anchor="t">
            <a:spAutoFit/>
          </a:bodyPr>
          <a:lstStyle/>
          <a:p>
            <a:pPr algn="l">
              <a:lnSpc>
                <a:spcPct val="110000"/>
              </a:lnSpc>
              <a:spcBef>
                <a:spcPts val="0"/>
              </a:spcBef>
              <a:spcAft>
                <a:spcPts val="0"/>
              </a:spcAft>
            </a:pPr>
            <a:r>
              <a:rPr sz="1080" b="1" i="0">
                <a:solidFill>
                  <a:srgbClr val="0E2D4E"/>
                </a:solidFill>
                <a:latin typeface="Arial"/>
              </a:rPr>
              <a:t>Availability</a:t>
            </a:r>
          </a:p>
        </p:txBody>
      </p:sp>
      <p:sp>
        <p:nvSpPr>
          <p:cNvPr id="42" name="TextBox 41"/>
          <p:cNvSpPr txBox="1"/>
          <p:nvPr/>
        </p:nvSpPr>
        <p:spPr>
          <a:xfrm>
            <a:off x="9911867" y="3378682"/>
            <a:ext cx="1575739" cy="322072"/>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2B3A47"/>
                </a:solidFill>
                <a:latin typeface="Arial"/>
              </a:rPr>
              <a:t>Phụ thuộc kết nối &amp; hạ tầng bên ngoài</a:t>
            </a:r>
          </a:p>
        </p:txBody>
      </p:sp>
      <p:sp>
        <p:nvSpPr>
          <p:cNvPr id="43" name="Rounded Rectangle 42"/>
          <p:cNvSpPr/>
          <p:nvPr/>
        </p:nvSpPr>
        <p:spPr>
          <a:xfrm>
            <a:off x="3785616" y="4078198"/>
            <a:ext cx="7839151" cy="427024"/>
          </a:xfrm>
          <a:prstGeom prst="roundRect">
            <a:avLst>
              <a:gd name="adj" fmla="val 10000"/>
            </a:avLst>
          </a:prstGeom>
          <a:solidFill>
            <a:srgbClr val="FDF4E4"/>
          </a:solidFill>
          <a:ln w="12700">
            <a:solidFill>
              <a:srgbClr val="EBD2A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3785616" y="4078198"/>
            <a:ext cx="64008" cy="427024"/>
          </a:xfrm>
          <a:prstGeom prst="rect">
            <a:avLst/>
          </a:prstGeom>
          <a:solidFill>
            <a:srgbClr val="A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968496" y="4197070"/>
            <a:ext cx="7509967" cy="189280"/>
          </a:xfrm>
          <a:prstGeom prst="rect">
            <a:avLst/>
          </a:prstGeom>
          <a:noFill/>
        </p:spPr>
        <p:txBody>
          <a:bodyPr wrap="square" lIns="0" rIns="0" tIns="0" bIns="0" anchor="t">
            <a:spAutoFit/>
          </a:bodyPr>
          <a:lstStyle/>
          <a:p>
            <a:pPr algn="l">
              <a:lnSpc>
                <a:spcPct val="118000"/>
              </a:lnSpc>
              <a:spcBef>
                <a:spcPts val="0"/>
              </a:spcBef>
              <a:spcAft>
                <a:spcPts val="0"/>
              </a:spcAft>
            </a:pPr>
            <a:r>
              <a:rPr sz="1080" b="1" i="0">
                <a:solidFill>
                  <a:srgbClr val="A86A00"/>
                </a:solidFill>
                <a:latin typeface="Arial"/>
              </a:rPr>
              <a:t>Public Cloud ≠ không an toàn</a:t>
            </a:r>
            <a:r>
              <a:rPr sz="1080" b="0" i="0">
                <a:solidFill>
                  <a:srgbClr val="A86A00"/>
                </a:solidFill>
                <a:latin typeface="Arial"/>
              </a:rPr>
              <a:t> — vấn đề nằm ở cách </a:t>
            </a:r>
            <a:r>
              <a:rPr sz="1080" b="1" i="0">
                <a:solidFill>
                  <a:srgbClr val="A86A00"/>
                </a:solidFill>
                <a:latin typeface="Arial"/>
              </a:rPr>
              <a:t>thiết kế, cấu hình và kiểm soát</a:t>
            </a:r>
            <a:r>
              <a:rPr sz="1080" b="0" i="0">
                <a:solidFill>
                  <a:srgbClr val="A86A00"/>
                </a:solidFill>
                <a:latin typeface="Arial"/>
              </a:rPr>
              <a:t>.</a:t>
            </a:r>
          </a:p>
        </p:txBody>
      </p:sp>
      <p:sp>
        <p:nvSpPr>
          <p:cNvPr id="46" name="Rectangle 45"/>
          <p:cNvSpPr/>
          <p:nvPr/>
        </p:nvSpPr>
        <p:spPr>
          <a:xfrm>
            <a:off x="566928" y="4834153"/>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85800" y="4815865"/>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3 · Trust Zones: giới hạn phạm vi của một sự cố</a:t>
            </a:r>
          </a:p>
        </p:txBody>
      </p:sp>
      <p:sp>
        <p:nvSpPr>
          <p:cNvPr id="48" name="Rounded Rectangle 47"/>
          <p:cNvSpPr/>
          <p:nvPr/>
        </p:nvSpPr>
        <p:spPr>
          <a:xfrm>
            <a:off x="566928" y="5067960"/>
            <a:ext cx="2021372" cy="43891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00" b="1" i="0">
                <a:solidFill>
                  <a:srgbClr val="0E2D4E"/>
                </a:solidFill>
                <a:latin typeface="Arial"/>
              </a:rPr>
              <a:t>Users</a:t>
            </a:r>
          </a:p>
        </p:txBody>
      </p:sp>
      <p:sp>
        <p:nvSpPr>
          <p:cNvPr id="49" name="Right Arrow 48"/>
          <p:cNvSpPr/>
          <p:nvPr/>
        </p:nvSpPr>
        <p:spPr>
          <a:xfrm>
            <a:off x="2597444" y="5218836"/>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2826044" y="5067960"/>
            <a:ext cx="2021372" cy="43891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00" b="1" i="0">
                <a:solidFill>
                  <a:srgbClr val="0E2D4E"/>
                </a:solidFill>
                <a:latin typeface="Arial"/>
              </a:rPr>
              <a:t>Zone A</a:t>
            </a:r>
          </a:p>
        </p:txBody>
      </p:sp>
      <p:sp>
        <p:nvSpPr>
          <p:cNvPr id="51" name="Right Arrow 50"/>
          <p:cNvSpPr/>
          <p:nvPr/>
        </p:nvSpPr>
        <p:spPr>
          <a:xfrm>
            <a:off x="4856561" y="5218836"/>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ed Rectangle 51"/>
          <p:cNvSpPr/>
          <p:nvPr/>
        </p:nvSpPr>
        <p:spPr>
          <a:xfrm>
            <a:off x="5085161" y="5067960"/>
            <a:ext cx="2021372" cy="43891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00" b="1" i="0">
                <a:solidFill>
                  <a:srgbClr val="0E2D4E"/>
                </a:solidFill>
                <a:latin typeface="Arial"/>
              </a:rPr>
              <a:t>Zone B</a:t>
            </a:r>
          </a:p>
        </p:txBody>
      </p:sp>
      <p:sp>
        <p:nvSpPr>
          <p:cNvPr id="53" name="Right Arrow 52"/>
          <p:cNvSpPr/>
          <p:nvPr/>
        </p:nvSpPr>
        <p:spPr>
          <a:xfrm>
            <a:off x="7115677" y="5218836"/>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ounded Rectangle 53"/>
          <p:cNvSpPr/>
          <p:nvPr/>
        </p:nvSpPr>
        <p:spPr>
          <a:xfrm>
            <a:off x="7344277" y="5067960"/>
            <a:ext cx="2021372" cy="43891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00" b="1" i="0">
                <a:solidFill>
                  <a:srgbClr val="0E2D4E"/>
                </a:solidFill>
                <a:latin typeface="Arial"/>
              </a:rPr>
              <a:t>Zone C</a:t>
            </a:r>
          </a:p>
        </p:txBody>
      </p:sp>
      <p:sp>
        <p:nvSpPr>
          <p:cNvPr id="55" name="Right Arrow 54"/>
          <p:cNvSpPr/>
          <p:nvPr/>
        </p:nvSpPr>
        <p:spPr>
          <a:xfrm>
            <a:off x="9374794" y="5218836"/>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9603394" y="5067960"/>
            <a:ext cx="2021372" cy="438912"/>
          </a:xfrm>
          <a:prstGeom prst="roundRect">
            <a:avLst>
              <a:gd name="adj" fmla="val 10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100" b="1" i="0">
                <a:solidFill>
                  <a:srgbClr val="B8342A"/>
                </a:solidFill>
                <a:latin typeface="Arial"/>
              </a:rPr>
              <a:t>Critical Resources</a:t>
            </a:r>
          </a:p>
        </p:txBody>
      </p:sp>
      <p:sp>
        <p:nvSpPr>
          <p:cNvPr id="57" name="Rounded Rectangle 56"/>
          <p:cNvSpPr/>
          <p:nvPr/>
        </p:nvSpPr>
        <p:spPr>
          <a:xfrm>
            <a:off x="566928" y="5598312"/>
            <a:ext cx="11057839" cy="594868"/>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566928" y="5598312"/>
            <a:ext cx="64008" cy="594868"/>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749808" y="5717184"/>
            <a:ext cx="10728655" cy="357124"/>
          </a:xfrm>
          <a:prstGeom prst="rect">
            <a:avLst/>
          </a:prstGeom>
          <a:noFill/>
        </p:spPr>
        <p:txBody>
          <a:bodyPr wrap="square" lIns="0" rIns="0" tIns="0" bIns="0" anchor="t">
            <a:spAutoFit/>
          </a:bodyPr>
          <a:lstStyle/>
          <a:p>
            <a:pPr algn="l">
              <a:lnSpc>
                <a:spcPct val="118000"/>
              </a:lnSpc>
              <a:spcBef>
                <a:spcPts val="0"/>
              </a:spcBef>
              <a:spcAft>
                <a:spcPts val="0"/>
              </a:spcAft>
            </a:pPr>
            <a:r>
              <a:rPr sz="1100" b="1" i="0">
                <a:solidFill>
                  <a:srgbClr val="FFFFFF"/>
                </a:solidFill>
                <a:latin typeface="Arial"/>
              </a:rPr>
              <a:t>Trust Zone = Network Segmentation + IAM.</a:t>
            </a:r>
            <a:r>
              <a:rPr sz="1100" b="0" i="0">
                <a:solidFill>
                  <a:srgbClr val="FFFFFF"/>
                </a:solidFill>
                <a:latin typeface="Arial"/>
              </a:rPr>
              <a:t> Mỗi vùng có quyền truy cập, chính sách mạng và giám sát riêng → chặn chuỗi </a:t>
            </a:r>
            <a:r>
              <a:rPr sz="1100" b="1" i="0">
                <a:solidFill>
                  <a:srgbClr val="FFFFFF"/>
                </a:solidFill>
                <a:latin typeface="Arial"/>
              </a:rPr>
              <a:t>Initial Access → Lateral Movement → Critical Resources</a:t>
            </a:r>
            <a:r>
              <a:rPr sz="1100" b="0" i="0">
                <a:solidFill>
                  <a:srgbClr val="FFFFFF"/>
                </a:solidFill>
                <a:latin typeface="Arial"/>
              </a:rPr>
              <a:t>. Không mặc nhiên tin tưởng chỉ vì một thành phần đang nằm bên trong mạng.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PHẦN 5 · BẢO MẬT ỨNG DỤNG &amp; MÁY CHỦ</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IaaS / PaaS / SaaS — RANH GIỚI TRÁCH NHIỆM</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12/18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Cùng là Cloud — trách nhiệm không giống nhau</a:t>
            </a:r>
          </a:p>
        </p:txBody>
      </p:sp>
      <p:sp>
        <p:nvSpPr>
          <p:cNvPr id="10" name="Rectangle 9"/>
          <p:cNvSpPr/>
          <p:nvPr/>
        </p:nvSpPr>
        <p:spPr>
          <a:xfrm>
            <a:off x="566928" y="1550543"/>
            <a:ext cx="11057839" cy="294386"/>
          </a:xfrm>
          <a:prstGeom prst="rect">
            <a:avLst/>
          </a:prstGeom>
          <a:solidFill>
            <a:srgbClr val="0E2D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8368" y="1550543"/>
            <a:ext cx="2028687" cy="294386"/>
          </a:xfrm>
          <a:prstGeom prst="rect">
            <a:avLst/>
          </a:prstGeom>
          <a:noFill/>
        </p:spPr>
        <p:txBody>
          <a:bodyPr wrap="square" lIns="0" rIns="0" tIns="0" bIns="0" anchor="ctr">
            <a:spAutoFit/>
          </a:bodyPr>
          <a:lstStyle/>
          <a:p>
            <a:pPr algn="l">
              <a:lnSpc>
                <a:spcPct val="110000"/>
              </a:lnSpc>
              <a:spcBef>
                <a:spcPts val="0"/>
              </a:spcBef>
              <a:spcAft>
                <a:spcPts val="0"/>
              </a:spcAft>
            </a:pPr>
          </a:p>
        </p:txBody>
      </p:sp>
      <p:sp>
        <p:nvSpPr>
          <p:cNvPr id="12" name="TextBox 11"/>
          <p:cNvSpPr txBox="1"/>
          <p:nvPr/>
        </p:nvSpPr>
        <p:spPr>
          <a:xfrm>
            <a:off x="2869935" y="1550543"/>
            <a:ext cx="2802736"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IaaS</a:t>
            </a:r>
          </a:p>
        </p:txBody>
      </p:sp>
      <p:sp>
        <p:nvSpPr>
          <p:cNvPr id="13" name="TextBox 12"/>
          <p:cNvSpPr txBox="1"/>
          <p:nvPr/>
        </p:nvSpPr>
        <p:spPr>
          <a:xfrm>
            <a:off x="5855552" y="1550543"/>
            <a:ext cx="2802736"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PaaS</a:t>
            </a:r>
          </a:p>
        </p:txBody>
      </p:sp>
      <p:sp>
        <p:nvSpPr>
          <p:cNvPr id="14" name="TextBox 13"/>
          <p:cNvSpPr txBox="1"/>
          <p:nvPr/>
        </p:nvSpPr>
        <p:spPr>
          <a:xfrm>
            <a:off x="8841169" y="1550543"/>
            <a:ext cx="2692158"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SaaS</a:t>
            </a:r>
          </a:p>
        </p:txBody>
      </p:sp>
      <p:sp>
        <p:nvSpPr>
          <p:cNvPr id="15" name="Rectangle 14"/>
          <p:cNvSpPr/>
          <p:nvPr/>
        </p:nvSpPr>
        <p:spPr>
          <a:xfrm>
            <a:off x="566928" y="1844929"/>
            <a:ext cx="11057839" cy="423824"/>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8368" y="1844929"/>
            <a:ext cx="2028687" cy="423824"/>
          </a:xfrm>
          <a:prstGeom prst="rect">
            <a:avLst/>
          </a:prstGeom>
          <a:noFill/>
        </p:spPr>
        <p:txBody>
          <a:bodyPr wrap="square" lIns="0" rIns="0" tIns="0" bIns="0" anchor="ctr">
            <a:spAutoFit/>
          </a:bodyPr>
          <a:lstStyle/>
          <a:p>
            <a:pPr algn="l">
              <a:lnSpc>
                <a:spcPct val="114000"/>
              </a:lnSpc>
              <a:spcBef>
                <a:spcPts val="0"/>
              </a:spcBef>
              <a:spcAft>
                <a:spcPts val="0"/>
              </a:spcAft>
            </a:pPr>
            <a:r>
              <a:rPr sz="990" b="1" i="0">
                <a:solidFill>
                  <a:srgbClr val="0E2D4E"/>
                </a:solidFill>
                <a:latin typeface="Arial"/>
              </a:rPr>
              <a:t>CSP chịu trách nhiệm</a:t>
            </a:r>
          </a:p>
        </p:txBody>
      </p:sp>
      <p:sp>
        <p:nvSpPr>
          <p:cNvPr id="17" name="TextBox 16"/>
          <p:cNvSpPr txBox="1"/>
          <p:nvPr/>
        </p:nvSpPr>
        <p:spPr>
          <a:xfrm>
            <a:off x="2869935" y="1844929"/>
            <a:ext cx="2802736" cy="423824"/>
          </a:xfrm>
          <a:prstGeom prst="rect">
            <a:avLst/>
          </a:prstGeom>
          <a:noFill/>
        </p:spPr>
        <p:txBody>
          <a:bodyPr wrap="square" lIns="0" rIns="0" tIns="0" bIns="0" anchor="ctr">
            <a:spAutoFit/>
          </a:bodyPr>
          <a:lstStyle/>
          <a:p>
            <a:pPr algn="l">
              <a:lnSpc>
                <a:spcPct val="114000"/>
              </a:lnSpc>
              <a:spcBef>
                <a:spcPts val="0"/>
              </a:spcBef>
              <a:spcAft>
                <a:spcPts val="0"/>
              </a:spcAft>
            </a:pPr>
            <a:r>
              <a:rPr sz="990" b="0" i="0">
                <a:solidFill>
                  <a:srgbClr val="2B3A47"/>
                </a:solidFill>
                <a:latin typeface="Arial"/>
              </a:rPr>
              <a:t>Data center, phần cứng, mạng, hypervisor</a:t>
            </a:r>
          </a:p>
        </p:txBody>
      </p:sp>
      <p:sp>
        <p:nvSpPr>
          <p:cNvPr id="18" name="TextBox 17"/>
          <p:cNvSpPr txBox="1"/>
          <p:nvPr/>
        </p:nvSpPr>
        <p:spPr>
          <a:xfrm>
            <a:off x="5855552" y="1844929"/>
            <a:ext cx="2802736" cy="423824"/>
          </a:xfrm>
          <a:prstGeom prst="rect">
            <a:avLst/>
          </a:prstGeom>
          <a:noFill/>
        </p:spPr>
        <p:txBody>
          <a:bodyPr wrap="square" lIns="0" rIns="0" tIns="0" bIns="0" anchor="ctr">
            <a:spAutoFit/>
          </a:bodyPr>
          <a:lstStyle/>
          <a:p>
            <a:pPr algn="l">
              <a:lnSpc>
                <a:spcPct val="114000"/>
              </a:lnSpc>
              <a:spcBef>
                <a:spcPts val="0"/>
              </a:spcBef>
              <a:spcAft>
                <a:spcPts val="0"/>
              </a:spcAft>
            </a:pPr>
            <a:r>
              <a:rPr sz="990" b="0" i="0">
                <a:solidFill>
                  <a:srgbClr val="2B3A47"/>
                </a:solidFill>
                <a:latin typeface="Arial"/>
              </a:rPr>
              <a:t>IaaS + OS / runtime / middleware của nền tảng</a:t>
            </a:r>
          </a:p>
        </p:txBody>
      </p:sp>
      <p:sp>
        <p:nvSpPr>
          <p:cNvPr id="19" name="TextBox 18"/>
          <p:cNvSpPr txBox="1"/>
          <p:nvPr/>
        </p:nvSpPr>
        <p:spPr>
          <a:xfrm>
            <a:off x="8841169" y="1844929"/>
            <a:ext cx="2692158" cy="423824"/>
          </a:xfrm>
          <a:prstGeom prst="rect">
            <a:avLst/>
          </a:prstGeom>
          <a:noFill/>
        </p:spPr>
        <p:txBody>
          <a:bodyPr wrap="square" lIns="0" rIns="0" tIns="0" bIns="0" anchor="ctr">
            <a:spAutoFit/>
          </a:bodyPr>
          <a:lstStyle/>
          <a:p>
            <a:pPr algn="l">
              <a:lnSpc>
                <a:spcPct val="114000"/>
              </a:lnSpc>
              <a:spcBef>
                <a:spcPts val="0"/>
              </a:spcBef>
              <a:spcAft>
                <a:spcPts val="0"/>
              </a:spcAft>
            </a:pPr>
            <a:r>
              <a:rPr sz="990" b="0" i="0">
                <a:solidFill>
                  <a:srgbClr val="2B3A47"/>
                </a:solidFill>
                <a:latin typeface="Arial"/>
              </a:rPr>
              <a:t>Hạ tầng + nền tảng + ứng dụng</a:t>
            </a:r>
          </a:p>
        </p:txBody>
      </p:sp>
      <p:sp>
        <p:nvSpPr>
          <p:cNvPr id="20" name="Rectangle 19"/>
          <p:cNvSpPr/>
          <p:nvPr/>
        </p:nvSpPr>
        <p:spPr>
          <a:xfrm>
            <a:off x="566928" y="2268753"/>
            <a:ext cx="11057839" cy="423824"/>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8368" y="2268753"/>
            <a:ext cx="2028687" cy="423824"/>
          </a:xfrm>
          <a:prstGeom prst="rect">
            <a:avLst/>
          </a:prstGeom>
          <a:noFill/>
        </p:spPr>
        <p:txBody>
          <a:bodyPr wrap="square" lIns="0" rIns="0" tIns="0" bIns="0" anchor="ctr">
            <a:spAutoFit/>
          </a:bodyPr>
          <a:lstStyle/>
          <a:p>
            <a:pPr algn="l">
              <a:lnSpc>
                <a:spcPct val="114000"/>
              </a:lnSpc>
              <a:spcBef>
                <a:spcPts val="0"/>
              </a:spcBef>
              <a:spcAft>
                <a:spcPts val="0"/>
              </a:spcAft>
            </a:pPr>
            <a:r>
              <a:rPr sz="990" b="1" i="0">
                <a:solidFill>
                  <a:srgbClr val="0E2D4E"/>
                </a:solidFill>
                <a:latin typeface="Arial"/>
              </a:rPr>
              <a:t>Khách hàng chịu trách nhiệm</a:t>
            </a:r>
          </a:p>
        </p:txBody>
      </p:sp>
      <p:sp>
        <p:nvSpPr>
          <p:cNvPr id="22" name="TextBox 21"/>
          <p:cNvSpPr txBox="1"/>
          <p:nvPr/>
        </p:nvSpPr>
        <p:spPr>
          <a:xfrm>
            <a:off x="2869935" y="2268753"/>
            <a:ext cx="2802736" cy="423824"/>
          </a:xfrm>
          <a:prstGeom prst="rect">
            <a:avLst/>
          </a:prstGeom>
          <a:noFill/>
        </p:spPr>
        <p:txBody>
          <a:bodyPr wrap="square" lIns="0" rIns="0" tIns="0" bIns="0" anchor="ctr">
            <a:spAutoFit/>
          </a:bodyPr>
          <a:lstStyle/>
          <a:p>
            <a:pPr algn="l">
              <a:lnSpc>
                <a:spcPct val="114000"/>
              </a:lnSpc>
              <a:spcBef>
                <a:spcPts val="0"/>
              </a:spcBef>
              <a:spcAft>
                <a:spcPts val="0"/>
              </a:spcAft>
            </a:pPr>
            <a:r>
              <a:rPr sz="990" b="0" i="0">
                <a:solidFill>
                  <a:srgbClr val="2B3A47"/>
                </a:solidFill>
                <a:latin typeface="Arial"/>
              </a:rPr>
              <a:t>OS, cấu hình mạng, ứng dụng, dữ liệu, IAM</a:t>
            </a:r>
          </a:p>
        </p:txBody>
      </p:sp>
      <p:sp>
        <p:nvSpPr>
          <p:cNvPr id="23" name="TextBox 22"/>
          <p:cNvSpPr txBox="1"/>
          <p:nvPr/>
        </p:nvSpPr>
        <p:spPr>
          <a:xfrm>
            <a:off x="5855552" y="2268753"/>
            <a:ext cx="2802736" cy="423824"/>
          </a:xfrm>
          <a:prstGeom prst="rect">
            <a:avLst/>
          </a:prstGeom>
          <a:noFill/>
        </p:spPr>
        <p:txBody>
          <a:bodyPr wrap="square" lIns="0" rIns="0" tIns="0" bIns="0" anchor="ctr">
            <a:spAutoFit/>
          </a:bodyPr>
          <a:lstStyle/>
          <a:p>
            <a:pPr algn="l">
              <a:lnSpc>
                <a:spcPct val="114000"/>
              </a:lnSpc>
              <a:spcBef>
                <a:spcPts val="0"/>
              </a:spcBef>
              <a:spcAft>
                <a:spcPts val="0"/>
              </a:spcAft>
            </a:pPr>
            <a:r>
              <a:rPr sz="990" b="0" i="0">
                <a:solidFill>
                  <a:srgbClr val="2B3A47"/>
                </a:solidFill>
                <a:latin typeface="Arial"/>
              </a:rPr>
              <a:t>Mã nguồn, dữ liệu, IAM &amp; cấu hình ứng dụng</a:t>
            </a:r>
          </a:p>
        </p:txBody>
      </p:sp>
      <p:sp>
        <p:nvSpPr>
          <p:cNvPr id="24" name="TextBox 23"/>
          <p:cNvSpPr txBox="1"/>
          <p:nvPr/>
        </p:nvSpPr>
        <p:spPr>
          <a:xfrm>
            <a:off x="8841169" y="2268753"/>
            <a:ext cx="2692158" cy="423824"/>
          </a:xfrm>
          <a:prstGeom prst="rect">
            <a:avLst/>
          </a:prstGeom>
          <a:noFill/>
        </p:spPr>
        <p:txBody>
          <a:bodyPr wrap="square" lIns="0" rIns="0" tIns="0" bIns="0" anchor="ctr">
            <a:spAutoFit/>
          </a:bodyPr>
          <a:lstStyle/>
          <a:p>
            <a:pPr algn="l">
              <a:lnSpc>
                <a:spcPct val="114000"/>
              </a:lnSpc>
              <a:spcBef>
                <a:spcPts val="0"/>
              </a:spcBef>
              <a:spcAft>
                <a:spcPts val="0"/>
              </a:spcAft>
            </a:pPr>
            <a:r>
              <a:rPr sz="990" b="0" i="0">
                <a:solidFill>
                  <a:srgbClr val="2B3A47"/>
                </a:solidFill>
                <a:latin typeface="Arial"/>
              </a:rPr>
              <a:t>Dữ liệu, người dùng, IAM &amp; cấu hình dịch vụ</a:t>
            </a:r>
          </a:p>
        </p:txBody>
      </p:sp>
      <p:sp>
        <p:nvSpPr>
          <p:cNvPr id="25" name="Rectangle 24"/>
          <p:cNvSpPr/>
          <p:nvPr/>
        </p:nvSpPr>
        <p:spPr>
          <a:xfrm>
            <a:off x="566928" y="2692577"/>
            <a:ext cx="11057839" cy="423824"/>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8368" y="2692577"/>
            <a:ext cx="2028687" cy="423824"/>
          </a:xfrm>
          <a:prstGeom prst="rect">
            <a:avLst/>
          </a:prstGeom>
          <a:noFill/>
        </p:spPr>
        <p:txBody>
          <a:bodyPr wrap="square" lIns="0" rIns="0" tIns="0" bIns="0" anchor="ctr">
            <a:spAutoFit/>
          </a:bodyPr>
          <a:lstStyle/>
          <a:p>
            <a:pPr algn="l">
              <a:lnSpc>
                <a:spcPct val="114000"/>
              </a:lnSpc>
              <a:spcBef>
                <a:spcPts val="0"/>
              </a:spcBef>
              <a:spcAft>
                <a:spcPts val="0"/>
              </a:spcAft>
            </a:pPr>
            <a:r>
              <a:rPr sz="990" b="1" i="0">
                <a:solidFill>
                  <a:srgbClr val="0E2D4E"/>
                </a:solidFill>
                <a:latin typeface="Arial"/>
              </a:rPr>
              <a:t>Mức kiểm soát &amp; điểm cần chú ý</a:t>
            </a:r>
          </a:p>
        </p:txBody>
      </p:sp>
      <p:sp>
        <p:nvSpPr>
          <p:cNvPr id="27" name="TextBox 26"/>
          <p:cNvSpPr txBox="1"/>
          <p:nvPr/>
        </p:nvSpPr>
        <p:spPr>
          <a:xfrm>
            <a:off x="2869935" y="2692577"/>
            <a:ext cx="2802736" cy="423824"/>
          </a:xfrm>
          <a:prstGeom prst="rect">
            <a:avLst/>
          </a:prstGeom>
          <a:noFill/>
        </p:spPr>
        <p:txBody>
          <a:bodyPr wrap="square" lIns="0" rIns="0" tIns="0" bIns="0" anchor="ctr">
            <a:spAutoFit/>
          </a:bodyPr>
          <a:lstStyle/>
          <a:p>
            <a:pPr algn="l">
              <a:lnSpc>
                <a:spcPct val="114000"/>
              </a:lnSpc>
              <a:spcBef>
                <a:spcPts val="0"/>
              </a:spcBef>
              <a:spcAft>
                <a:spcPts val="0"/>
              </a:spcAft>
            </a:pPr>
            <a:r>
              <a:rPr sz="990" b="0" i="0">
                <a:solidFill>
                  <a:srgbClr val="2B3A47"/>
                </a:solidFill>
                <a:latin typeface="Arial"/>
              </a:rPr>
              <a:t>Kiểm soát cao — VM &amp; OS Security</a:t>
            </a:r>
          </a:p>
        </p:txBody>
      </p:sp>
      <p:sp>
        <p:nvSpPr>
          <p:cNvPr id="28" name="TextBox 27"/>
          <p:cNvSpPr txBox="1"/>
          <p:nvPr/>
        </p:nvSpPr>
        <p:spPr>
          <a:xfrm>
            <a:off x="5855552" y="2692577"/>
            <a:ext cx="2802736" cy="423824"/>
          </a:xfrm>
          <a:prstGeom prst="rect">
            <a:avLst/>
          </a:prstGeom>
          <a:noFill/>
        </p:spPr>
        <p:txBody>
          <a:bodyPr wrap="square" lIns="0" rIns="0" tIns="0" bIns="0" anchor="ctr">
            <a:spAutoFit/>
          </a:bodyPr>
          <a:lstStyle/>
          <a:p>
            <a:pPr algn="l">
              <a:lnSpc>
                <a:spcPct val="114000"/>
              </a:lnSpc>
              <a:spcBef>
                <a:spcPts val="0"/>
              </a:spcBef>
              <a:spcAft>
                <a:spcPts val="0"/>
              </a:spcAft>
            </a:pPr>
            <a:r>
              <a:rPr sz="990" b="0" i="0">
                <a:solidFill>
                  <a:srgbClr val="2B3A47"/>
                </a:solidFill>
                <a:latin typeface="Arial"/>
              </a:rPr>
              <a:t>Kiểm soát trung bình — Application Security</a:t>
            </a:r>
          </a:p>
        </p:txBody>
      </p:sp>
      <p:sp>
        <p:nvSpPr>
          <p:cNvPr id="29" name="TextBox 28"/>
          <p:cNvSpPr txBox="1"/>
          <p:nvPr/>
        </p:nvSpPr>
        <p:spPr>
          <a:xfrm>
            <a:off x="8841169" y="2692577"/>
            <a:ext cx="2692158" cy="423824"/>
          </a:xfrm>
          <a:prstGeom prst="rect">
            <a:avLst/>
          </a:prstGeom>
          <a:noFill/>
        </p:spPr>
        <p:txBody>
          <a:bodyPr wrap="square" lIns="0" rIns="0" tIns="0" bIns="0" anchor="ctr">
            <a:spAutoFit/>
          </a:bodyPr>
          <a:lstStyle/>
          <a:p>
            <a:pPr algn="l">
              <a:lnSpc>
                <a:spcPct val="114000"/>
              </a:lnSpc>
              <a:spcBef>
                <a:spcPts val="0"/>
              </a:spcBef>
              <a:spcAft>
                <a:spcPts val="0"/>
              </a:spcAft>
            </a:pPr>
            <a:r>
              <a:rPr sz="990" b="0" i="0">
                <a:solidFill>
                  <a:srgbClr val="2B3A47"/>
                </a:solidFill>
                <a:latin typeface="Arial"/>
              </a:rPr>
              <a:t>Kiểm soát thấp hơn — Identity &amp; Access Control</a:t>
            </a:r>
          </a:p>
        </p:txBody>
      </p:sp>
      <p:sp>
        <p:nvSpPr>
          <p:cNvPr id="30" name="Rounded Rectangle 29"/>
          <p:cNvSpPr/>
          <p:nvPr/>
        </p:nvSpPr>
        <p:spPr>
          <a:xfrm>
            <a:off x="566928" y="3207842"/>
            <a:ext cx="11057839" cy="430022"/>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566928" y="3207842"/>
            <a:ext cx="64008" cy="43002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49808" y="3326714"/>
            <a:ext cx="10728655" cy="192278"/>
          </a:xfrm>
          <a:prstGeom prst="rect">
            <a:avLst/>
          </a:prstGeom>
          <a:noFill/>
        </p:spPr>
        <p:txBody>
          <a:bodyPr wrap="square" lIns="0" rIns="0" tIns="0" bIns="0" anchor="t">
            <a:spAutoFit/>
          </a:bodyPr>
          <a:lstStyle/>
          <a:p>
            <a:pPr algn="l">
              <a:lnSpc>
                <a:spcPct val="118000"/>
              </a:lnSpc>
              <a:spcBef>
                <a:spcPts val="0"/>
              </a:spcBef>
              <a:spcAft>
                <a:spcPts val="0"/>
              </a:spcAft>
            </a:pPr>
            <a:r>
              <a:rPr sz="1100" b="0" i="0">
                <a:solidFill>
                  <a:srgbClr val="0E2D4E"/>
                </a:solidFill>
                <a:latin typeface="Arial"/>
              </a:rPr>
              <a:t>Dịch vụ ở </a:t>
            </a:r>
            <a:r>
              <a:rPr sz="1100" b="1" i="0">
                <a:solidFill>
                  <a:srgbClr val="0E2D4E"/>
                </a:solidFill>
                <a:latin typeface="Arial"/>
              </a:rPr>
              <a:t>tầng càng cao</a:t>
            </a:r>
            <a:r>
              <a:rPr sz="1100" b="0" i="0">
                <a:solidFill>
                  <a:srgbClr val="0E2D4E"/>
                </a:solidFill>
                <a:latin typeface="Arial"/>
              </a:rPr>
              <a:t>, CSP đảm nhận càng nhiều — nhưng khách hàng </a:t>
            </a:r>
            <a:r>
              <a:rPr sz="1100" b="1" i="0">
                <a:solidFill>
                  <a:srgbClr val="0E2D4E"/>
                </a:solidFill>
                <a:latin typeface="Arial"/>
              </a:rPr>
              <a:t>vẫn phải quản lý phần trách nhiệm của mình</a:t>
            </a:r>
            <a:r>
              <a:rPr sz="1100" b="0" i="0">
                <a:solidFill>
                  <a:srgbClr val="0E2D4E"/>
                </a:solidFill>
                <a:latin typeface="Arial"/>
              </a:rPr>
              <a:t>.</a:t>
            </a:r>
          </a:p>
        </p:txBody>
      </p:sp>
      <p:sp>
        <p:nvSpPr>
          <p:cNvPr id="33" name="Rectangle 32"/>
          <p:cNvSpPr/>
          <p:nvPr/>
        </p:nvSpPr>
        <p:spPr>
          <a:xfrm>
            <a:off x="566928" y="3857320"/>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85800" y="3839032"/>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Từ Network-centric → Identity-centric</a:t>
            </a:r>
          </a:p>
        </p:txBody>
      </p:sp>
      <p:sp>
        <p:nvSpPr>
          <p:cNvPr id="35" name="Rounded Rectangle 34"/>
          <p:cNvSpPr/>
          <p:nvPr/>
        </p:nvSpPr>
        <p:spPr>
          <a:xfrm>
            <a:off x="566928" y="4091127"/>
            <a:ext cx="2595295" cy="1066749"/>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04088" y="4228287"/>
            <a:ext cx="2320975" cy="186690"/>
          </a:xfrm>
          <a:prstGeom prst="rect">
            <a:avLst/>
          </a:prstGeom>
          <a:noFill/>
        </p:spPr>
        <p:txBody>
          <a:bodyPr wrap="square" lIns="0" rIns="0" tIns="0" bIns="0" anchor="t">
            <a:spAutoFit/>
          </a:bodyPr>
          <a:lstStyle/>
          <a:p>
            <a:pPr algn="l">
              <a:lnSpc>
                <a:spcPct val="110000"/>
              </a:lnSpc>
              <a:spcBef>
                <a:spcPts val="0"/>
              </a:spcBef>
              <a:spcAft>
                <a:spcPts val="0"/>
              </a:spcAft>
            </a:pPr>
            <a:r>
              <a:rPr sz="1140" b="1" i="0">
                <a:solidFill>
                  <a:srgbClr val="0E2D4E"/>
                </a:solidFill>
                <a:latin typeface="Arial"/>
              </a:rPr>
              <a:t>Truyền thống</a:t>
            </a:r>
          </a:p>
        </p:txBody>
      </p:sp>
      <p:sp>
        <p:nvSpPr>
          <p:cNvPr id="37" name="TextBox 36"/>
          <p:cNvSpPr txBox="1"/>
          <p:nvPr/>
        </p:nvSpPr>
        <p:spPr>
          <a:xfrm>
            <a:off x="704088" y="4478985"/>
            <a:ext cx="2320975" cy="391464"/>
          </a:xfrm>
          <a:prstGeom prst="rect">
            <a:avLst/>
          </a:prstGeom>
          <a:noFill/>
        </p:spPr>
        <p:txBody>
          <a:bodyPr wrap="square" lIns="0" rIns="0" tIns="0" bIns="0" anchor="t">
            <a:spAutoFit/>
          </a:bodyPr>
          <a:lstStyle/>
          <a:p>
            <a:pPr algn="l">
              <a:lnSpc>
                <a:spcPct val="116000"/>
              </a:lnSpc>
              <a:spcBef>
                <a:spcPts val="0"/>
              </a:spcBef>
              <a:spcAft>
                <a:spcPts val="500"/>
              </a:spcAft>
            </a:pPr>
            <a:r>
              <a:rPr sz="1019" b="1" i="0">
                <a:solidFill>
                  <a:srgbClr val="1F6FB2"/>
                </a:solidFill>
                <a:latin typeface="Arial"/>
              </a:rPr>
              <a:t>“Bạn kết nối từ đâu?”</a:t>
            </a:r>
          </a:p>
          <a:p>
            <a:pPr algn="l">
              <a:lnSpc>
                <a:spcPct val="116000"/>
              </a:lnSpc>
              <a:spcBef>
                <a:spcPts val="0"/>
              </a:spcBef>
              <a:spcAft>
                <a:spcPts val="0"/>
              </a:spcAft>
            </a:pPr>
            <a:r>
              <a:rPr sz="1019" b="0" i="0">
                <a:solidFill>
                  <a:srgbClr val="2B3A47"/>
                </a:solidFill>
                <a:latin typeface="Arial"/>
              </a:rPr>
              <a:t>IP · firewall · network perimeter</a:t>
            </a:r>
          </a:p>
        </p:txBody>
      </p:sp>
      <p:sp>
        <p:nvSpPr>
          <p:cNvPr id="38" name="Rounded Rectangle 37"/>
          <p:cNvSpPr/>
          <p:nvPr/>
        </p:nvSpPr>
        <p:spPr>
          <a:xfrm>
            <a:off x="3345103" y="4091127"/>
            <a:ext cx="2595295" cy="1066749"/>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482263" y="4228287"/>
            <a:ext cx="2320975" cy="186690"/>
          </a:xfrm>
          <a:prstGeom prst="rect">
            <a:avLst/>
          </a:prstGeom>
          <a:noFill/>
        </p:spPr>
        <p:txBody>
          <a:bodyPr wrap="square" lIns="0" rIns="0" tIns="0" bIns="0" anchor="t">
            <a:spAutoFit/>
          </a:bodyPr>
          <a:lstStyle/>
          <a:p>
            <a:pPr algn="l">
              <a:lnSpc>
                <a:spcPct val="110000"/>
              </a:lnSpc>
              <a:spcBef>
                <a:spcPts val="0"/>
              </a:spcBef>
              <a:spcAft>
                <a:spcPts val="0"/>
              </a:spcAft>
            </a:pPr>
            <a:r>
              <a:rPr sz="1140" b="1" i="0">
                <a:solidFill>
                  <a:srgbClr val="0E2D4E"/>
                </a:solidFill>
                <a:latin typeface="Arial"/>
              </a:rPr>
              <a:t>Trên Cloud</a:t>
            </a:r>
          </a:p>
        </p:txBody>
      </p:sp>
      <p:sp>
        <p:nvSpPr>
          <p:cNvPr id="40" name="TextBox 39"/>
          <p:cNvSpPr txBox="1"/>
          <p:nvPr/>
        </p:nvSpPr>
        <p:spPr>
          <a:xfrm>
            <a:off x="3482263" y="4478985"/>
            <a:ext cx="2320975" cy="541731"/>
          </a:xfrm>
          <a:prstGeom prst="rect">
            <a:avLst/>
          </a:prstGeom>
          <a:noFill/>
        </p:spPr>
        <p:txBody>
          <a:bodyPr wrap="square" lIns="0" rIns="0" tIns="0" bIns="0" anchor="t">
            <a:spAutoFit/>
          </a:bodyPr>
          <a:lstStyle/>
          <a:p>
            <a:pPr algn="l">
              <a:lnSpc>
                <a:spcPct val="116000"/>
              </a:lnSpc>
              <a:spcBef>
                <a:spcPts val="0"/>
              </a:spcBef>
              <a:spcAft>
                <a:spcPts val="500"/>
              </a:spcAft>
            </a:pPr>
            <a:r>
              <a:rPr sz="1019" b="1" i="0">
                <a:solidFill>
                  <a:srgbClr val="1F6FB2"/>
                </a:solidFill>
                <a:latin typeface="Arial"/>
              </a:rPr>
              <a:t>“Bạn là ai, được phép làm gì?”</a:t>
            </a:r>
          </a:p>
          <a:p>
            <a:pPr algn="l">
              <a:lnSpc>
                <a:spcPct val="116000"/>
              </a:lnSpc>
              <a:spcBef>
                <a:spcPts val="0"/>
              </a:spcBef>
              <a:spcAft>
                <a:spcPts val="0"/>
              </a:spcAft>
            </a:pPr>
            <a:r>
              <a:rPr sz="1019" b="0" i="0">
                <a:solidFill>
                  <a:srgbClr val="2B3A47"/>
                </a:solidFill>
                <a:latin typeface="Arial"/>
              </a:rPr>
              <a:t>Identity · authentication · authorization</a:t>
            </a:r>
          </a:p>
        </p:txBody>
      </p:sp>
      <p:sp>
        <p:nvSpPr>
          <p:cNvPr id="41" name="Rounded Rectangle 40"/>
          <p:cNvSpPr/>
          <p:nvPr/>
        </p:nvSpPr>
        <p:spPr>
          <a:xfrm>
            <a:off x="566928" y="5285892"/>
            <a:ext cx="5373471" cy="582879"/>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566928" y="5285892"/>
            <a:ext cx="64008" cy="582879"/>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49808" y="5404764"/>
            <a:ext cx="5044287" cy="345135"/>
          </a:xfrm>
          <a:prstGeom prst="rect">
            <a:avLst/>
          </a:prstGeom>
          <a:noFill/>
        </p:spPr>
        <p:txBody>
          <a:bodyPr wrap="square" lIns="0" rIns="0" tIns="0" bIns="0" anchor="t">
            <a:spAutoFit/>
          </a:bodyPr>
          <a:lstStyle/>
          <a:p>
            <a:pPr algn="l">
              <a:lnSpc>
                <a:spcPct val="118000"/>
              </a:lnSpc>
              <a:spcBef>
                <a:spcPts val="0"/>
              </a:spcBef>
              <a:spcAft>
                <a:spcPts val="0"/>
              </a:spcAft>
            </a:pPr>
            <a:r>
              <a:rPr sz="1060" b="0" i="0">
                <a:solidFill>
                  <a:srgbClr val="0E2D4E"/>
                </a:solidFill>
                <a:latin typeface="Arial"/>
              </a:rPr>
              <a:t>IAM trở thành </a:t>
            </a:r>
            <a:r>
              <a:rPr sz="1060" b="1" i="0">
                <a:solidFill>
                  <a:srgbClr val="0E2D4E"/>
                </a:solidFill>
                <a:latin typeface="Arial"/>
              </a:rPr>
              <a:t>lớp kiểm soát trung tâm</a:t>
            </a:r>
            <a:r>
              <a:rPr sz="1060" b="0" i="0">
                <a:solidFill>
                  <a:srgbClr val="0E2D4E"/>
                </a:solidFill>
                <a:latin typeface="Arial"/>
              </a:rPr>
              <a:t> khi người dùng, thiết bị và dịch vụ truy cập từ nhiều vị trí.</a:t>
            </a:r>
          </a:p>
        </p:txBody>
      </p:sp>
      <p:sp>
        <p:nvSpPr>
          <p:cNvPr id="44" name="Rectangle 43"/>
          <p:cNvSpPr/>
          <p:nvPr/>
        </p:nvSpPr>
        <p:spPr>
          <a:xfrm>
            <a:off x="6251295" y="3857320"/>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370167" y="3839032"/>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3 · Quyền truy cập phải đủ fine-grained</a:t>
            </a:r>
          </a:p>
        </p:txBody>
      </p:sp>
      <p:sp>
        <p:nvSpPr>
          <p:cNvPr id="46" name="Rounded Rectangle 45"/>
          <p:cNvSpPr/>
          <p:nvPr/>
        </p:nvSpPr>
        <p:spPr>
          <a:xfrm>
            <a:off x="6251295" y="4091127"/>
            <a:ext cx="1247355" cy="53035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19" b="1" i="0">
                <a:solidFill>
                  <a:srgbClr val="0E2D4E"/>
                </a:solidFill>
                <a:latin typeface="Arial"/>
              </a:rPr>
              <a:t>Ai?</a:t>
            </a:r>
          </a:p>
          <a:p>
            <a:pPr algn="ctr">
              <a:lnSpc>
                <a:spcPct val="106000"/>
              </a:lnSpc>
              <a:spcBef>
                <a:spcPts val="200"/>
              </a:spcBef>
              <a:spcAft>
                <a:spcPts val="0"/>
              </a:spcAft>
            </a:pPr>
            <a:r>
              <a:rPr sz="860" b="0" i="0">
                <a:solidFill>
                  <a:srgbClr val="64788A"/>
                </a:solidFill>
                <a:latin typeface="Arial"/>
              </a:rPr>
              <a:t>Identity</a:t>
            </a:r>
          </a:p>
        </p:txBody>
      </p:sp>
      <p:sp>
        <p:nvSpPr>
          <p:cNvPr id="47" name="Right Arrow 46"/>
          <p:cNvSpPr/>
          <p:nvPr/>
        </p:nvSpPr>
        <p:spPr>
          <a:xfrm>
            <a:off x="7452931" y="4287723"/>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7626667" y="4091127"/>
            <a:ext cx="1247355" cy="53035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19" b="1" i="0">
                <a:solidFill>
                  <a:srgbClr val="0E2D4E"/>
                </a:solidFill>
                <a:latin typeface="Arial"/>
              </a:rPr>
              <a:t>Được làm gì?</a:t>
            </a:r>
          </a:p>
          <a:p>
            <a:pPr algn="ctr">
              <a:lnSpc>
                <a:spcPct val="106000"/>
              </a:lnSpc>
              <a:spcBef>
                <a:spcPts val="200"/>
              </a:spcBef>
              <a:spcAft>
                <a:spcPts val="0"/>
              </a:spcAft>
            </a:pPr>
            <a:r>
              <a:rPr sz="860" b="0" i="0">
                <a:solidFill>
                  <a:srgbClr val="64788A"/>
                </a:solidFill>
                <a:latin typeface="Arial"/>
              </a:rPr>
              <a:t>Permission</a:t>
            </a:r>
          </a:p>
        </p:txBody>
      </p:sp>
      <p:sp>
        <p:nvSpPr>
          <p:cNvPr id="49" name="Right Arrow 48"/>
          <p:cNvSpPr/>
          <p:nvPr/>
        </p:nvSpPr>
        <p:spPr>
          <a:xfrm>
            <a:off x="8828303" y="4287723"/>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9002039" y="4091127"/>
            <a:ext cx="1247355" cy="53035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19" b="1" i="0">
                <a:solidFill>
                  <a:srgbClr val="0E2D4E"/>
                </a:solidFill>
                <a:latin typeface="Arial"/>
              </a:rPr>
              <a:t>Tài nguyên nào?</a:t>
            </a:r>
          </a:p>
          <a:p>
            <a:pPr algn="ctr">
              <a:lnSpc>
                <a:spcPct val="106000"/>
              </a:lnSpc>
              <a:spcBef>
                <a:spcPts val="200"/>
              </a:spcBef>
              <a:spcAft>
                <a:spcPts val="0"/>
              </a:spcAft>
            </a:pPr>
            <a:r>
              <a:rPr sz="860" b="0" i="0">
                <a:solidFill>
                  <a:srgbClr val="64788A"/>
                </a:solidFill>
                <a:latin typeface="Arial"/>
              </a:rPr>
              <a:t>Resource</a:t>
            </a:r>
          </a:p>
        </p:txBody>
      </p:sp>
      <p:sp>
        <p:nvSpPr>
          <p:cNvPr id="51" name="Right Arrow 50"/>
          <p:cNvSpPr/>
          <p:nvPr/>
        </p:nvSpPr>
        <p:spPr>
          <a:xfrm>
            <a:off x="10203675" y="4287723"/>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ed Rectangle 51"/>
          <p:cNvSpPr/>
          <p:nvPr/>
        </p:nvSpPr>
        <p:spPr>
          <a:xfrm>
            <a:off x="10377411" y="4091127"/>
            <a:ext cx="1247355" cy="53035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19" b="1" i="0">
                <a:solidFill>
                  <a:srgbClr val="0E2D4E"/>
                </a:solidFill>
                <a:latin typeface="Arial"/>
              </a:rPr>
              <a:t>Điều kiện nào?</a:t>
            </a:r>
          </a:p>
          <a:p>
            <a:pPr algn="ctr">
              <a:lnSpc>
                <a:spcPct val="106000"/>
              </a:lnSpc>
              <a:spcBef>
                <a:spcPts val="200"/>
              </a:spcBef>
              <a:spcAft>
                <a:spcPts val="0"/>
              </a:spcAft>
            </a:pPr>
            <a:r>
              <a:rPr sz="860" b="0" i="0">
                <a:solidFill>
                  <a:srgbClr val="64788A"/>
                </a:solidFill>
                <a:latin typeface="Arial"/>
              </a:rPr>
              <a:t>Context</a:t>
            </a:r>
          </a:p>
        </p:txBody>
      </p:sp>
      <p:sp>
        <p:nvSpPr>
          <p:cNvPr id="53" name="Rounded Rectangle 52"/>
          <p:cNvSpPr/>
          <p:nvPr/>
        </p:nvSpPr>
        <p:spPr>
          <a:xfrm>
            <a:off x="6251295" y="4749495"/>
            <a:ext cx="5373471" cy="588873"/>
          </a:xfrm>
          <a:prstGeom prst="roundRect">
            <a:avLst>
              <a:gd name="adj" fmla="val 10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6251295" y="4749495"/>
            <a:ext cx="64008" cy="588873"/>
          </a:xfrm>
          <a:prstGeom prst="rect">
            <a:avLst/>
          </a:prstGeom>
          <a:solidFill>
            <a:srgbClr val="B83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6434175" y="4868367"/>
            <a:ext cx="5044287" cy="351129"/>
          </a:xfrm>
          <a:prstGeom prst="rect">
            <a:avLst/>
          </a:prstGeom>
          <a:noFill/>
        </p:spPr>
        <p:txBody>
          <a:bodyPr wrap="square" lIns="0" rIns="0" tIns="0" bIns="0" anchor="t">
            <a:spAutoFit/>
          </a:bodyPr>
          <a:lstStyle/>
          <a:p>
            <a:pPr algn="l">
              <a:lnSpc>
                <a:spcPct val="118000"/>
              </a:lnSpc>
              <a:spcBef>
                <a:spcPts val="0"/>
              </a:spcBef>
              <a:spcAft>
                <a:spcPts val="0"/>
              </a:spcAft>
            </a:pPr>
            <a:r>
              <a:rPr sz="1080" b="1" i="0">
                <a:solidFill>
                  <a:srgbClr val="B8342A"/>
                </a:solidFill>
                <a:latin typeface="Arial"/>
              </a:rPr>
              <a:t>Mục tiêu:</a:t>
            </a:r>
            <a:r>
              <a:rPr sz="1080" b="0" i="0">
                <a:solidFill>
                  <a:srgbClr val="B8342A"/>
                </a:solidFill>
                <a:latin typeface="Arial"/>
              </a:rPr>
              <a:t> đúng quyền — đúng tài nguyên — đúng thời điểm. Thu hồi quyền một tài nguyên </a:t>
            </a:r>
            <a:r>
              <a:rPr sz="1080" b="1" i="0">
                <a:solidFill>
                  <a:srgbClr val="B8342A"/>
                </a:solidFill>
                <a:latin typeface="Arial"/>
              </a:rPr>
              <a:t>không đồng nghĩa</a:t>
            </a:r>
            <a:r>
              <a:rPr sz="1080" b="0" i="0">
                <a:solidFill>
                  <a:srgbClr val="B8342A"/>
                </a:solidFill>
                <a:latin typeface="Arial"/>
              </a:rPr>
              <a:t> mọi tài nguyên liên quan cũng bị thu hồi.</a:t>
            </a:r>
          </a:p>
        </p:txBody>
      </p:sp>
      <p:sp>
        <p:nvSpPr>
          <p:cNvPr id="56" name="Rounded Rectangle 55"/>
          <p:cNvSpPr/>
          <p:nvPr/>
        </p:nvSpPr>
        <p:spPr>
          <a:xfrm>
            <a:off x="566928" y="5960211"/>
            <a:ext cx="11057839" cy="427024"/>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566928" y="5960211"/>
            <a:ext cx="64008" cy="427024"/>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749808" y="6079083"/>
            <a:ext cx="10728655" cy="189280"/>
          </a:xfrm>
          <a:prstGeom prst="rect">
            <a:avLst/>
          </a:prstGeom>
          <a:noFill/>
        </p:spPr>
        <p:txBody>
          <a:bodyPr wrap="square" lIns="0" rIns="0" tIns="0" bIns="0" anchor="t">
            <a:spAutoFit/>
          </a:bodyPr>
          <a:lstStyle/>
          <a:p>
            <a:pPr algn="l">
              <a:lnSpc>
                <a:spcPct val="118000"/>
              </a:lnSpc>
              <a:spcBef>
                <a:spcPts val="0"/>
              </a:spcBef>
              <a:spcAft>
                <a:spcPts val="0"/>
              </a:spcAft>
            </a:pPr>
            <a:r>
              <a:rPr sz="1080" b="1" i="0">
                <a:solidFill>
                  <a:srgbClr val="FFFFFF"/>
                </a:solidFill>
                <a:latin typeface="Arial"/>
              </a:rPr>
              <a:t>IaaS → nhiều quyền kiểm soát hơn → nhiều trách nhiệm hơn:</a:t>
            </a:r>
            <a:r>
              <a:rPr sz="1080" b="0" i="0">
                <a:solidFill>
                  <a:srgbClr val="FFFFFF"/>
                </a:solidFill>
                <a:latin typeface="Arial"/>
              </a:rPr>
              <a:t> cấu hình → gia cố → bảo vệ khóa → firewall → logging → audit.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PHẦN 5 · BẢO MẬT ỨNG DỤNG &amp; MÁY CHỦ</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BẢO MẬT ỨNG DỤNG PaaS</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13/18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PaaS: ai chịu trách nhiệm bảo mật?</a:t>
            </a:r>
          </a:p>
        </p:txBody>
      </p:sp>
      <p:sp>
        <p:nvSpPr>
          <p:cNvPr id="10" name="Rectangle 9"/>
          <p:cNvSpPr/>
          <p:nvPr/>
        </p:nvSpPr>
        <p:spPr>
          <a:xfrm>
            <a:off x="566928" y="1550543"/>
            <a:ext cx="5373471" cy="294386"/>
          </a:xfrm>
          <a:prstGeom prst="rect">
            <a:avLst/>
          </a:prstGeom>
          <a:solidFill>
            <a:srgbClr val="0E2D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8368" y="1550543"/>
            <a:ext cx="2503855"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CSP quản lý</a:t>
            </a:r>
          </a:p>
        </p:txBody>
      </p:sp>
      <p:sp>
        <p:nvSpPr>
          <p:cNvPr id="12" name="TextBox 11"/>
          <p:cNvSpPr txBox="1"/>
          <p:nvPr/>
        </p:nvSpPr>
        <p:spPr>
          <a:xfrm>
            <a:off x="3345103" y="1550543"/>
            <a:ext cx="2503855"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Khách hàng quản lý</a:t>
            </a:r>
          </a:p>
        </p:txBody>
      </p:sp>
      <p:sp>
        <p:nvSpPr>
          <p:cNvPr id="13" name="Rectangle 12"/>
          <p:cNvSpPr/>
          <p:nvPr/>
        </p:nvSpPr>
        <p:spPr>
          <a:xfrm>
            <a:off x="566928" y="1844929"/>
            <a:ext cx="5373471" cy="283387"/>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8368" y="1844929"/>
            <a:ext cx="2503855" cy="283387"/>
          </a:xfrm>
          <a:prstGeom prst="rect">
            <a:avLst/>
          </a:prstGeom>
          <a:noFill/>
        </p:spPr>
        <p:txBody>
          <a:bodyPr wrap="square" lIns="0" rIns="0" tIns="0" bIns="0" anchor="ctr">
            <a:spAutoFit/>
          </a:bodyPr>
          <a:lstStyle/>
          <a:p>
            <a:pPr algn="l">
              <a:lnSpc>
                <a:spcPct val="114000"/>
              </a:lnSpc>
              <a:spcBef>
                <a:spcPts val="0"/>
              </a:spcBef>
              <a:spcAft>
                <a:spcPts val="0"/>
              </a:spcAft>
            </a:pPr>
            <a:r>
              <a:rPr sz="1010" b="0" i="0">
                <a:solidFill>
                  <a:srgbClr val="2B3A47"/>
                </a:solidFill>
                <a:latin typeface="Arial"/>
              </a:rPr>
              <a:t>Hạ tầng &amp; nền tảng dịch vụ</a:t>
            </a:r>
          </a:p>
        </p:txBody>
      </p:sp>
      <p:sp>
        <p:nvSpPr>
          <p:cNvPr id="15" name="TextBox 14"/>
          <p:cNvSpPr txBox="1"/>
          <p:nvPr/>
        </p:nvSpPr>
        <p:spPr>
          <a:xfrm>
            <a:off x="3345103" y="1844929"/>
            <a:ext cx="2503855" cy="283387"/>
          </a:xfrm>
          <a:prstGeom prst="rect">
            <a:avLst/>
          </a:prstGeom>
          <a:noFill/>
        </p:spPr>
        <p:txBody>
          <a:bodyPr wrap="square" lIns="0" rIns="0" tIns="0" bIns="0" anchor="ctr">
            <a:spAutoFit/>
          </a:bodyPr>
          <a:lstStyle/>
          <a:p>
            <a:pPr algn="l">
              <a:lnSpc>
                <a:spcPct val="114000"/>
              </a:lnSpc>
              <a:spcBef>
                <a:spcPts val="0"/>
              </a:spcBef>
              <a:spcAft>
                <a:spcPts val="0"/>
              </a:spcAft>
            </a:pPr>
            <a:r>
              <a:rPr sz="1010" b="0" i="0">
                <a:solidFill>
                  <a:srgbClr val="2B3A47"/>
                </a:solidFill>
                <a:latin typeface="Arial"/>
              </a:rPr>
              <a:t>Mã nguồn ứng dụng</a:t>
            </a:r>
          </a:p>
        </p:txBody>
      </p:sp>
      <p:sp>
        <p:nvSpPr>
          <p:cNvPr id="16" name="Rectangle 15"/>
          <p:cNvSpPr/>
          <p:nvPr/>
        </p:nvSpPr>
        <p:spPr>
          <a:xfrm>
            <a:off x="566928" y="2128316"/>
            <a:ext cx="5373471" cy="283387"/>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2128316"/>
            <a:ext cx="2503855" cy="283387"/>
          </a:xfrm>
          <a:prstGeom prst="rect">
            <a:avLst/>
          </a:prstGeom>
          <a:noFill/>
        </p:spPr>
        <p:txBody>
          <a:bodyPr wrap="square" lIns="0" rIns="0" tIns="0" bIns="0" anchor="ctr">
            <a:spAutoFit/>
          </a:bodyPr>
          <a:lstStyle/>
          <a:p>
            <a:pPr algn="l">
              <a:lnSpc>
                <a:spcPct val="114000"/>
              </a:lnSpc>
              <a:spcBef>
                <a:spcPts val="0"/>
              </a:spcBef>
              <a:spcAft>
                <a:spcPts val="0"/>
              </a:spcAft>
            </a:pPr>
            <a:r>
              <a:rPr sz="1010" b="0" i="0">
                <a:solidFill>
                  <a:srgbClr val="2B3A47"/>
                </a:solidFill>
                <a:latin typeface="Arial"/>
              </a:rPr>
              <a:t>Runtime thuộc phạm vi dịch vụ</a:t>
            </a:r>
          </a:p>
        </p:txBody>
      </p:sp>
      <p:sp>
        <p:nvSpPr>
          <p:cNvPr id="18" name="TextBox 17"/>
          <p:cNvSpPr txBox="1"/>
          <p:nvPr/>
        </p:nvSpPr>
        <p:spPr>
          <a:xfrm>
            <a:off x="3345103" y="2128316"/>
            <a:ext cx="2503855" cy="283387"/>
          </a:xfrm>
          <a:prstGeom prst="rect">
            <a:avLst/>
          </a:prstGeom>
          <a:noFill/>
        </p:spPr>
        <p:txBody>
          <a:bodyPr wrap="square" lIns="0" rIns="0" tIns="0" bIns="0" anchor="ctr">
            <a:spAutoFit/>
          </a:bodyPr>
          <a:lstStyle/>
          <a:p>
            <a:pPr algn="l">
              <a:lnSpc>
                <a:spcPct val="114000"/>
              </a:lnSpc>
              <a:spcBef>
                <a:spcPts val="0"/>
              </a:spcBef>
              <a:spcAft>
                <a:spcPts val="0"/>
              </a:spcAft>
            </a:pPr>
            <a:r>
              <a:rPr sz="1010" b="0" i="0">
                <a:solidFill>
                  <a:srgbClr val="2B3A47"/>
                </a:solidFill>
                <a:latin typeface="Arial"/>
              </a:rPr>
              <a:t>Dữ liệu &amp; cấu hình ứng dụng</a:t>
            </a:r>
          </a:p>
        </p:txBody>
      </p:sp>
      <p:sp>
        <p:nvSpPr>
          <p:cNvPr id="19" name="Rectangle 18"/>
          <p:cNvSpPr/>
          <p:nvPr/>
        </p:nvSpPr>
        <p:spPr>
          <a:xfrm>
            <a:off x="566928" y="2411704"/>
            <a:ext cx="5373471" cy="283387"/>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8368" y="2411704"/>
            <a:ext cx="2503855" cy="283387"/>
          </a:xfrm>
          <a:prstGeom prst="rect">
            <a:avLst/>
          </a:prstGeom>
          <a:noFill/>
        </p:spPr>
        <p:txBody>
          <a:bodyPr wrap="square" lIns="0" rIns="0" tIns="0" bIns="0" anchor="ctr">
            <a:spAutoFit/>
          </a:bodyPr>
          <a:lstStyle/>
          <a:p>
            <a:pPr algn="l">
              <a:lnSpc>
                <a:spcPct val="114000"/>
              </a:lnSpc>
              <a:spcBef>
                <a:spcPts val="0"/>
              </a:spcBef>
              <a:spcAft>
                <a:spcPts val="0"/>
              </a:spcAft>
            </a:pPr>
            <a:r>
              <a:rPr sz="1010" b="0" i="0">
                <a:solidFill>
                  <a:srgbClr val="2B3A47"/>
                </a:solidFill>
                <a:latin typeface="Arial"/>
              </a:rPr>
              <a:t>Vá lỗi / bảo vệ nền tảng</a:t>
            </a:r>
          </a:p>
        </p:txBody>
      </p:sp>
      <p:sp>
        <p:nvSpPr>
          <p:cNvPr id="21" name="TextBox 20"/>
          <p:cNvSpPr txBox="1"/>
          <p:nvPr/>
        </p:nvSpPr>
        <p:spPr>
          <a:xfrm>
            <a:off x="3345103" y="2411704"/>
            <a:ext cx="2503855" cy="283387"/>
          </a:xfrm>
          <a:prstGeom prst="rect">
            <a:avLst/>
          </a:prstGeom>
          <a:noFill/>
        </p:spPr>
        <p:txBody>
          <a:bodyPr wrap="square" lIns="0" rIns="0" tIns="0" bIns="0" anchor="ctr">
            <a:spAutoFit/>
          </a:bodyPr>
          <a:lstStyle/>
          <a:p>
            <a:pPr algn="l">
              <a:lnSpc>
                <a:spcPct val="114000"/>
              </a:lnSpc>
              <a:spcBef>
                <a:spcPts val="0"/>
              </a:spcBef>
              <a:spcAft>
                <a:spcPts val="0"/>
              </a:spcAft>
            </a:pPr>
            <a:r>
              <a:rPr sz="1010" b="0" i="0">
                <a:solidFill>
                  <a:srgbClr val="2B3A47"/>
                </a:solidFill>
                <a:latin typeface="Arial"/>
              </a:rPr>
              <a:t>Dependency &amp; thư viện</a:t>
            </a:r>
          </a:p>
        </p:txBody>
      </p:sp>
      <p:sp>
        <p:nvSpPr>
          <p:cNvPr id="22" name="Rectangle 21"/>
          <p:cNvSpPr/>
          <p:nvPr/>
        </p:nvSpPr>
        <p:spPr>
          <a:xfrm>
            <a:off x="566928" y="2695092"/>
            <a:ext cx="5373471" cy="283387"/>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8368" y="2695092"/>
            <a:ext cx="2503855" cy="283387"/>
          </a:xfrm>
          <a:prstGeom prst="rect">
            <a:avLst/>
          </a:prstGeom>
          <a:noFill/>
        </p:spPr>
        <p:txBody>
          <a:bodyPr wrap="square" lIns="0" rIns="0" tIns="0" bIns="0" anchor="ctr">
            <a:spAutoFit/>
          </a:bodyPr>
          <a:lstStyle/>
          <a:p>
            <a:pPr algn="l">
              <a:lnSpc>
                <a:spcPct val="114000"/>
              </a:lnSpc>
              <a:spcBef>
                <a:spcPts val="0"/>
              </a:spcBef>
              <a:spcAft>
                <a:spcPts val="0"/>
              </a:spcAft>
            </a:pPr>
            <a:r>
              <a:rPr sz="1010" b="0" i="0">
                <a:solidFill>
                  <a:srgbClr val="2B3A47"/>
                </a:solidFill>
                <a:latin typeface="Arial"/>
              </a:rPr>
              <a:t>Tính sẵn sàng theo SLA</a:t>
            </a:r>
          </a:p>
        </p:txBody>
      </p:sp>
      <p:sp>
        <p:nvSpPr>
          <p:cNvPr id="24" name="TextBox 23"/>
          <p:cNvSpPr txBox="1"/>
          <p:nvPr/>
        </p:nvSpPr>
        <p:spPr>
          <a:xfrm>
            <a:off x="3345103" y="2695092"/>
            <a:ext cx="2503855" cy="283387"/>
          </a:xfrm>
          <a:prstGeom prst="rect">
            <a:avLst/>
          </a:prstGeom>
          <a:noFill/>
        </p:spPr>
        <p:txBody>
          <a:bodyPr wrap="square" lIns="0" rIns="0" tIns="0" bIns="0" anchor="ctr">
            <a:spAutoFit/>
          </a:bodyPr>
          <a:lstStyle/>
          <a:p>
            <a:pPr algn="l">
              <a:lnSpc>
                <a:spcPct val="114000"/>
              </a:lnSpc>
              <a:spcBef>
                <a:spcPts val="0"/>
              </a:spcBef>
              <a:spcAft>
                <a:spcPts val="0"/>
              </a:spcAft>
            </a:pPr>
            <a:r>
              <a:rPr sz="1010" b="0" i="0">
                <a:solidFill>
                  <a:srgbClr val="2B3A47"/>
                </a:solidFill>
                <a:latin typeface="Arial"/>
              </a:rPr>
              <a:t>Quyền truy cập &amp; tài khoản ứng dụng</a:t>
            </a:r>
          </a:p>
        </p:txBody>
      </p:sp>
      <p:sp>
        <p:nvSpPr>
          <p:cNvPr id="25" name="Rounded Rectangle 24"/>
          <p:cNvSpPr/>
          <p:nvPr/>
        </p:nvSpPr>
        <p:spPr>
          <a:xfrm>
            <a:off x="566928" y="3106496"/>
            <a:ext cx="5373471" cy="427024"/>
          </a:xfrm>
          <a:prstGeom prst="roundRect">
            <a:avLst>
              <a:gd name="adj" fmla="val 10000"/>
            </a:avLst>
          </a:prstGeom>
          <a:solidFill>
            <a:srgbClr val="FDF4E4"/>
          </a:solidFill>
          <a:ln w="12700">
            <a:solidFill>
              <a:srgbClr val="EBD2A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566928" y="3106496"/>
            <a:ext cx="64008" cy="427024"/>
          </a:xfrm>
          <a:prstGeom prst="rect">
            <a:avLst/>
          </a:prstGeom>
          <a:solidFill>
            <a:srgbClr val="A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49808" y="3225368"/>
            <a:ext cx="5044287" cy="189280"/>
          </a:xfrm>
          <a:prstGeom prst="rect">
            <a:avLst/>
          </a:prstGeom>
          <a:noFill/>
        </p:spPr>
        <p:txBody>
          <a:bodyPr wrap="square" lIns="0" rIns="0" tIns="0" bIns="0" anchor="t">
            <a:spAutoFit/>
          </a:bodyPr>
          <a:lstStyle/>
          <a:p>
            <a:pPr algn="l">
              <a:lnSpc>
                <a:spcPct val="118000"/>
              </a:lnSpc>
              <a:spcBef>
                <a:spcPts val="0"/>
              </a:spcBef>
              <a:spcAft>
                <a:spcPts val="0"/>
              </a:spcAft>
            </a:pPr>
            <a:r>
              <a:rPr sz="1080" b="0" i="0">
                <a:solidFill>
                  <a:srgbClr val="A86A00"/>
                </a:solidFill>
                <a:latin typeface="Arial"/>
              </a:rPr>
              <a:t>Ranh giới trách nhiệm </a:t>
            </a:r>
            <a:r>
              <a:rPr sz="1080" b="1" i="0">
                <a:solidFill>
                  <a:srgbClr val="A86A00"/>
                </a:solidFill>
                <a:latin typeface="Arial"/>
              </a:rPr>
              <a:t>phụ thuộc dịch vụ PaaS cụ thể</a:t>
            </a:r>
            <a:r>
              <a:rPr sz="1080" b="0" i="0">
                <a:solidFill>
                  <a:srgbClr val="A86A00"/>
                </a:solidFill>
                <a:latin typeface="Arial"/>
              </a:rPr>
              <a:t> và cách triển khai.</a:t>
            </a:r>
          </a:p>
        </p:txBody>
      </p:sp>
      <p:sp>
        <p:nvSpPr>
          <p:cNvPr id="28" name="Rectangle 27"/>
          <p:cNvSpPr/>
          <p:nvPr/>
        </p:nvSpPr>
        <p:spPr>
          <a:xfrm>
            <a:off x="566928" y="3734688"/>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85800" y="3716401"/>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3 · Kiểm soát đúng ranh giới</a:t>
            </a:r>
          </a:p>
        </p:txBody>
      </p:sp>
      <p:sp>
        <p:nvSpPr>
          <p:cNvPr id="30" name="Rounded Rectangle 29"/>
          <p:cNvSpPr/>
          <p:nvPr/>
        </p:nvSpPr>
        <p:spPr>
          <a:xfrm>
            <a:off x="566928" y="3968496"/>
            <a:ext cx="5373471" cy="365760"/>
          </a:xfrm>
          <a:prstGeom prst="roundRect">
            <a:avLst>
              <a:gd name="adj" fmla="val 12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4000"/>
              </a:lnSpc>
              <a:spcBef>
                <a:spcPts val="0"/>
              </a:spcBef>
              <a:spcAft>
                <a:spcPts val="0"/>
              </a:spcAft>
            </a:pPr>
            <a:r>
              <a:rPr sz="1050" b="1" i="0">
                <a:solidFill>
                  <a:srgbClr val="0E2D4E"/>
                </a:solidFill>
                <a:latin typeface="Arial"/>
              </a:rPr>
              <a:t>Infrastructure → Platform → Runtime</a:t>
            </a:r>
          </a:p>
          <a:p>
            <a:pPr algn="ctr">
              <a:lnSpc>
                <a:spcPct val="104000"/>
              </a:lnSpc>
              <a:spcBef>
                <a:spcPts val="100"/>
              </a:spcBef>
              <a:spcAft>
                <a:spcPts val="0"/>
              </a:spcAft>
            </a:pPr>
            <a:r>
              <a:rPr sz="869" b="0" i="0">
                <a:solidFill>
                  <a:srgbClr val="64788A"/>
                </a:solidFill>
                <a:latin typeface="Arial"/>
              </a:rPr>
              <a:t>CSP quản lý</a:t>
            </a:r>
          </a:p>
        </p:txBody>
      </p:sp>
      <p:sp>
        <p:nvSpPr>
          <p:cNvPr id="31" name="Rounded Rectangle 30"/>
          <p:cNvSpPr/>
          <p:nvPr/>
        </p:nvSpPr>
        <p:spPr>
          <a:xfrm>
            <a:off x="566928" y="4416552"/>
            <a:ext cx="5373471" cy="365760"/>
          </a:xfrm>
          <a:prstGeom prst="roundRect">
            <a:avLst>
              <a:gd name="adj" fmla="val 12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4000"/>
              </a:lnSpc>
              <a:spcBef>
                <a:spcPts val="0"/>
              </a:spcBef>
              <a:spcAft>
                <a:spcPts val="0"/>
              </a:spcAft>
            </a:pPr>
            <a:r>
              <a:rPr sz="1050" b="1" i="0">
                <a:solidFill>
                  <a:srgbClr val="0E2D4E"/>
                </a:solidFill>
                <a:latin typeface="Arial"/>
              </a:rPr>
              <a:t>Application</a:t>
            </a:r>
          </a:p>
          <a:p>
            <a:pPr algn="ctr">
              <a:lnSpc>
                <a:spcPct val="104000"/>
              </a:lnSpc>
              <a:spcBef>
                <a:spcPts val="100"/>
              </a:spcBef>
              <a:spcAft>
                <a:spcPts val="0"/>
              </a:spcAft>
            </a:pPr>
            <a:r>
              <a:rPr sz="869" b="0" i="0">
                <a:solidFill>
                  <a:srgbClr val="64788A"/>
                </a:solidFill>
                <a:latin typeface="Arial"/>
              </a:rPr>
              <a:t>Khách hàng quản lý</a:t>
            </a:r>
          </a:p>
        </p:txBody>
      </p:sp>
      <p:sp>
        <p:nvSpPr>
          <p:cNvPr id="32" name="Rounded Rectangle 31"/>
          <p:cNvSpPr/>
          <p:nvPr/>
        </p:nvSpPr>
        <p:spPr>
          <a:xfrm>
            <a:off x="566928" y="4864608"/>
            <a:ext cx="5373471" cy="365760"/>
          </a:xfrm>
          <a:prstGeom prst="roundRect">
            <a:avLst>
              <a:gd name="adj" fmla="val 12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4000"/>
              </a:lnSpc>
              <a:spcBef>
                <a:spcPts val="0"/>
              </a:spcBef>
              <a:spcAft>
                <a:spcPts val="0"/>
              </a:spcAft>
            </a:pPr>
            <a:r>
              <a:rPr sz="1050" b="1" i="0">
                <a:solidFill>
                  <a:srgbClr val="0E2D4E"/>
                </a:solidFill>
                <a:latin typeface="Arial"/>
              </a:rPr>
              <a:t>Data &amp; Identity</a:t>
            </a:r>
          </a:p>
          <a:p>
            <a:pPr algn="ctr">
              <a:lnSpc>
                <a:spcPct val="104000"/>
              </a:lnSpc>
              <a:spcBef>
                <a:spcPts val="100"/>
              </a:spcBef>
              <a:spcAft>
                <a:spcPts val="0"/>
              </a:spcAft>
            </a:pPr>
            <a:r>
              <a:rPr sz="869" b="0" i="0">
                <a:solidFill>
                  <a:srgbClr val="64788A"/>
                </a:solidFill>
                <a:latin typeface="Arial"/>
              </a:rPr>
              <a:t>Khách hàng quản lý</a:t>
            </a:r>
          </a:p>
        </p:txBody>
      </p:sp>
      <p:sp>
        <p:nvSpPr>
          <p:cNvPr id="33" name="Rounded Rectangle 32"/>
          <p:cNvSpPr/>
          <p:nvPr/>
        </p:nvSpPr>
        <p:spPr>
          <a:xfrm>
            <a:off x="566928" y="5312664"/>
            <a:ext cx="5373471" cy="365760"/>
          </a:xfrm>
          <a:prstGeom prst="roundRect">
            <a:avLst>
              <a:gd name="adj" fmla="val 12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4000"/>
              </a:lnSpc>
              <a:spcBef>
                <a:spcPts val="0"/>
              </a:spcBef>
              <a:spcAft>
                <a:spcPts val="0"/>
              </a:spcAft>
            </a:pPr>
            <a:r>
              <a:rPr sz="1050" b="1" i="0">
                <a:solidFill>
                  <a:srgbClr val="0E2D4E"/>
                </a:solidFill>
                <a:latin typeface="Arial"/>
              </a:rPr>
              <a:t>3rd-party Dependencies</a:t>
            </a:r>
          </a:p>
          <a:p>
            <a:pPr algn="ctr">
              <a:lnSpc>
                <a:spcPct val="104000"/>
              </a:lnSpc>
              <a:spcBef>
                <a:spcPts val="100"/>
              </a:spcBef>
              <a:spcAft>
                <a:spcPts val="0"/>
              </a:spcAft>
            </a:pPr>
            <a:r>
              <a:rPr sz="869" b="0" i="0">
                <a:solidFill>
                  <a:srgbClr val="64788A"/>
                </a:solidFill>
                <a:latin typeface="Arial"/>
              </a:rPr>
              <a:t>Cần kiểm kê &amp; đánh giá</a:t>
            </a:r>
          </a:p>
        </p:txBody>
      </p:sp>
      <p:sp>
        <p:nvSpPr>
          <p:cNvPr id="34" name="Rectangle 33"/>
          <p:cNvSpPr/>
          <p:nvPr/>
        </p:nvSpPr>
        <p:spPr>
          <a:xfrm>
            <a:off x="6251295"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370167" y="1298448"/>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Ba vùng cần kiểm soát</a:t>
            </a:r>
          </a:p>
        </p:txBody>
      </p:sp>
      <p:sp>
        <p:nvSpPr>
          <p:cNvPr id="36" name="Rounded Rectangle 35"/>
          <p:cNvSpPr/>
          <p:nvPr/>
        </p:nvSpPr>
        <p:spPr>
          <a:xfrm>
            <a:off x="6251295" y="1550543"/>
            <a:ext cx="5373471" cy="1060704"/>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251295" y="1550543"/>
            <a:ext cx="59436" cy="10607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52463" y="1687702"/>
            <a:ext cx="5035143" cy="192278"/>
          </a:xfrm>
          <a:prstGeom prst="rect">
            <a:avLst/>
          </a:prstGeom>
          <a:noFill/>
        </p:spPr>
        <p:txBody>
          <a:bodyPr wrap="square" lIns="0" rIns="0" tIns="0" bIns="0" anchor="t">
            <a:spAutoFit/>
          </a:bodyPr>
          <a:lstStyle/>
          <a:p>
            <a:pPr algn="l">
              <a:lnSpc>
                <a:spcPct val="110000"/>
              </a:lnSpc>
              <a:spcBef>
                <a:spcPts val="0"/>
              </a:spcBef>
              <a:spcAft>
                <a:spcPts val="0"/>
              </a:spcAft>
            </a:pPr>
            <a:r>
              <a:rPr sz="1180" b="1" i="0">
                <a:solidFill>
                  <a:srgbClr val="0E2D4E"/>
                </a:solidFill>
                <a:latin typeface="Arial"/>
              </a:rPr>
              <a:t>CSP — Platform Security</a:t>
            </a:r>
          </a:p>
        </p:txBody>
      </p:sp>
      <p:sp>
        <p:nvSpPr>
          <p:cNvPr id="39" name="TextBox 38"/>
          <p:cNvSpPr txBox="1"/>
          <p:nvPr/>
        </p:nvSpPr>
        <p:spPr>
          <a:xfrm>
            <a:off x="6452463" y="1940331"/>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19" b="1" i="0">
                <a:solidFill>
                  <a:srgbClr val="1F6FB2"/>
                </a:solidFill>
                <a:latin typeface="Arial"/>
              </a:rPr>
              <a:t>•</a:t>
            </a:r>
          </a:p>
        </p:txBody>
      </p:sp>
      <p:sp>
        <p:nvSpPr>
          <p:cNvPr id="40" name="TextBox 39"/>
          <p:cNvSpPr txBox="1"/>
          <p:nvPr/>
        </p:nvSpPr>
        <p:spPr>
          <a:xfrm>
            <a:off x="6589623" y="1943988"/>
            <a:ext cx="4897983" cy="177698"/>
          </a:xfrm>
          <a:prstGeom prst="rect">
            <a:avLst/>
          </a:prstGeom>
          <a:noFill/>
        </p:spPr>
        <p:txBody>
          <a:bodyPr wrap="square" lIns="0" rIns="0" tIns="0" bIns="0" anchor="t">
            <a:spAutoFit/>
          </a:bodyPr>
          <a:lstStyle/>
          <a:p>
            <a:pPr algn="l">
              <a:lnSpc>
                <a:spcPct val="116000"/>
              </a:lnSpc>
              <a:spcBef>
                <a:spcPts val="0"/>
              </a:spcBef>
              <a:spcAft>
                <a:spcPts val="0"/>
              </a:spcAft>
            </a:pPr>
            <a:r>
              <a:rPr sz="1019" b="0" i="0">
                <a:solidFill>
                  <a:srgbClr val="2B3A47"/>
                </a:solidFill>
                <a:latin typeface="Arial"/>
              </a:rPr>
              <a:t>Bảo vệ </a:t>
            </a:r>
            <a:r>
              <a:rPr sz="1019" b="1" i="0">
                <a:solidFill>
                  <a:srgbClr val="1F6FB2"/>
                </a:solidFill>
                <a:latin typeface="Arial"/>
              </a:rPr>
              <a:t>hạ tầng, nền tảng và runtime</a:t>
            </a:r>
            <a:r>
              <a:rPr sz="1019" b="0" i="0">
                <a:solidFill>
                  <a:srgbClr val="2B3A47"/>
                </a:solidFill>
                <a:latin typeface="Arial"/>
              </a:rPr>
              <a:t> thuộc phạm vi dịch vụ.</a:t>
            </a:r>
          </a:p>
        </p:txBody>
      </p:sp>
      <p:sp>
        <p:nvSpPr>
          <p:cNvPr id="41" name="TextBox 40"/>
          <p:cNvSpPr txBox="1"/>
          <p:nvPr/>
        </p:nvSpPr>
        <p:spPr>
          <a:xfrm>
            <a:off x="6452463" y="2181529"/>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19" b="1" i="0">
                <a:solidFill>
                  <a:srgbClr val="1F6FB2"/>
                </a:solidFill>
                <a:latin typeface="Arial"/>
              </a:rPr>
              <a:t>•</a:t>
            </a:r>
          </a:p>
        </p:txBody>
      </p:sp>
      <p:sp>
        <p:nvSpPr>
          <p:cNvPr id="42" name="TextBox 41"/>
          <p:cNvSpPr txBox="1"/>
          <p:nvPr/>
        </p:nvSpPr>
        <p:spPr>
          <a:xfrm>
            <a:off x="6589623" y="2185187"/>
            <a:ext cx="4897983" cy="177698"/>
          </a:xfrm>
          <a:prstGeom prst="rect">
            <a:avLst/>
          </a:prstGeom>
          <a:noFill/>
        </p:spPr>
        <p:txBody>
          <a:bodyPr wrap="square" lIns="0" rIns="0" tIns="0" bIns="0" anchor="t">
            <a:spAutoFit/>
          </a:bodyPr>
          <a:lstStyle/>
          <a:p>
            <a:pPr algn="l">
              <a:lnSpc>
                <a:spcPct val="116000"/>
              </a:lnSpc>
              <a:spcBef>
                <a:spcPts val="0"/>
              </a:spcBef>
              <a:spcAft>
                <a:spcPts val="0"/>
              </a:spcAft>
            </a:pPr>
            <a:r>
              <a:rPr sz="1019" b="0" i="0">
                <a:solidFill>
                  <a:srgbClr val="2B3A47"/>
                </a:solidFill>
                <a:latin typeface="Arial"/>
              </a:rPr>
              <a:t>Quản lý bản vá và cô lập workload theo kiến trúc dịch vụ.</a:t>
            </a:r>
          </a:p>
        </p:txBody>
      </p:sp>
      <p:sp>
        <p:nvSpPr>
          <p:cNvPr id="43" name="Rounded Rectangle 42"/>
          <p:cNvSpPr/>
          <p:nvPr/>
        </p:nvSpPr>
        <p:spPr>
          <a:xfrm>
            <a:off x="6251295" y="2757551"/>
            <a:ext cx="5373471" cy="1060704"/>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6251295" y="2757551"/>
            <a:ext cx="59436" cy="10607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452463" y="2894711"/>
            <a:ext cx="5035143" cy="192278"/>
          </a:xfrm>
          <a:prstGeom prst="rect">
            <a:avLst/>
          </a:prstGeom>
          <a:noFill/>
        </p:spPr>
        <p:txBody>
          <a:bodyPr wrap="square" lIns="0" rIns="0" tIns="0" bIns="0" anchor="t">
            <a:spAutoFit/>
          </a:bodyPr>
          <a:lstStyle/>
          <a:p>
            <a:pPr algn="l">
              <a:lnSpc>
                <a:spcPct val="110000"/>
              </a:lnSpc>
              <a:spcBef>
                <a:spcPts val="0"/>
              </a:spcBef>
              <a:spcAft>
                <a:spcPts val="0"/>
              </a:spcAft>
            </a:pPr>
            <a:r>
              <a:rPr sz="1180" b="1" i="0">
                <a:solidFill>
                  <a:srgbClr val="0E2D4E"/>
                </a:solidFill>
                <a:latin typeface="Arial"/>
              </a:rPr>
              <a:t>Khách hàng — Application Security</a:t>
            </a:r>
          </a:p>
        </p:txBody>
      </p:sp>
      <p:sp>
        <p:nvSpPr>
          <p:cNvPr id="46" name="TextBox 45"/>
          <p:cNvSpPr txBox="1"/>
          <p:nvPr/>
        </p:nvSpPr>
        <p:spPr>
          <a:xfrm>
            <a:off x="6452463" y="3147339"/>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19" b="1" i="0">
                <a:solidFill>
                  <a:srgbClr val="1F6FB2"/>
                </a:solidFill>
                <a:latin typeface="Arial"/>
              </a:rPr>
              <a:t>•</a:t>
            </a:r>
          </a:p>
        </p:txBody>
      </p:sp>
      <p:sp>
        <p:nvSpPr>
          <p:cNvPr id="47" name="TextBox 46"/>
          <p:cNvSpPr txBox="1"/>
          <p:nvPr/>
        </p:nvSpPr>
        <p:spPr>
          <a:xfrm>
            <a:off x="6589623" y="3150997"/>
            <a:ext cx="4897983" cy="177698"/>
          </a:xfrm>
          <a:prstGeom prst="rect">
            <a:avLst/>
          </a:prstGeom>
          <a:noFill/>
        </p:spPr>
        <p:txBody>
          <a:bodyPr wrap="square" lIns="0" rIns="0" tIns="0" bIns="0" anchor="t">
            <a:spAutoFit/>
          </a:bodyPr>
          <a:lstStyle/>
          <a:p>
            <a:pPr algn="l">
              <a:lnSpc>
                <a:spcPct val="116000"/>
              </a:lnSpc>
              <a:spcBef>
                <a:spcPts val="0"/>
              </a:spcBef>
              <a:spcAft>
                <a:spcPts val="0"/>
              </a:spcAft>
            </a:pPr>
            <a:r>
              <a:rPr sz="1019" b="0" i="0">
                <a:solidFill>
                  <a:srgbClr val="2B3A47"/>
                </a:solidFill>
                <a:latin typeface="Arial"/>
              </a:rPr>
              <a:t>Bảo vệ </a:t>
            </a:r>
            <a:r>
              <a:rPr sz="1019" b="1" i="0">
                <a:solidFill>
                  <a:srgbClr val="1F6FB2"/>
                </a:solidFill>
                <a:latin typeface="Arial"/>
              </a:rPr>
              <a:t>mã nguồn, dữ liệu và cấu hình ứng dụng</a:t>
            </a:r>
            <a:r>
              <a:rPr sz="1019" b="0" i="0">
                <a:solidFill>
                  <a:srgbClr val="2B3A47"/>
                </a:solidFill>
                <a:latin typeface="Arial"/>
              </a:rPr>
              <a:t>.</a:t>
            </a:r>
          </a:p>
        </p:txBody>
      </p:sp>
      <p:sp>
        <p:nvSpPr>
          <p:cNvPr id="48" name="TextBox 47"/>
          <p:cNvSpPr txBox="1"/>
          <p:nvPr/>
        </p:nvSpPr>
        <p:spPr>
          <a:xfrm>
            <a:off x="6452463" y="3388537"/>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19" b="1" i="0">
                <a:solidFill>
                  <a:srgbClr val="1F6FB2"/>
                </a:solidFill>
                <a:latin typeface="Arial"/>
              </a:rPr>
              <a:t>•</a:t>
            </a:r>
          </a:p>
        </p:txBody>
      </p:sp>
      <p:sp>
        <p:nvSpPr>
          <p:cNvPr id="49" name="TextBox 48"/>
          <p:cNvSpPr txBox="1"/>
          <p:nvPr/>
        </p:nvSpPr>
        <p:spPr>
          <a:xfrm>
            <a:off x="6589623" y="3392195"/>
            <a:ext cx="4897983" cy="177698"/>
          </a:xfrm>
          <a:prstGeom prst="rect">
            <a:avLst/>
          </a:prstGeom>
          <a:noFill/>
        </p:spPr>
        <p:txBody>
          <a:bodyPr wrap="square" lIns="0" rIns="0" tIns="0" bIns="0" anchor="t">
            <a:spAutoFit/>
          </a:bodyPr>
          <a:lstStyle/>
          <a:p>
            <a:pPr algn="l">
              <a:lnSpc>
                <a:spcPct val="116000"/>
              </a:lnSpc>
              <a:spcBef>
                <a:spcPts val="0"/>
              </a:spcBef>
              <a:spcAft>
                <a:spcPts val="0"/>
              </a:spcAft>
            </a:pPr>
            <a:r>
              <a:rPr sz="1019" b="0" i="0">
                <a:solidFill>
                  <a:srgbClr val="2B3A47"/>
                </a:solidFill>
                <a:latin typeface="Arial"/>
              </a:rPr>
              <a:t>Kiểm soát dependency, secret và quyền truy cập.</a:t>
            </a:r>
          </a:p>
        </p:txBody>
      </p:sp>
      <p:sp>
        <p:nvSpPr>
          <p:cNvPr id="50" name="Rounded Rectangle 49"/>
          <p:cNvSpPr/>
          <p:nvPr/>
        </p:nvSpPr>
        <p:spPr>
          <a:xfrm>
            <a:off x="6251295" y="3964559"/>
            <a:ext cx="5373471" cy="1316736"/>
          </a:xfrm>
          <a:prstGeom prst="roundRect">
            <a:avLst>
              <a:gd name="adj" fmla="val 6000"/>
            </a:avLst>
          </a:prstGeom>
          <a:solidFill>
            <a:srgbClr val="FDF4E4"/>
          </a:solidFill>
          <a:ln w="12700">
            <a:solidFill>
              <a:srgbClr val="EBD2A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6251295" y="3964559"/>
            <a:ext cx="59436" cy="1316736"/>
          </a:xfrm>
          <a:prstGeom prst="rect">
            <a:avLst/>
          </a:prstGeom>
          <a:solidFill>
            <a:srgbClr val="A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452463" y="4101719"/>
            <a:ext cx="5035143" cy="192278"/>
          </a:xfrm>
          <a:prstGeom prst="rect">
            <a:avLst/>
          </a:prstGeom>
          <a:noFill/>
        </p:spPr>
        <p:txBody>
          <a:bodyPr wrap="square" lIns="0" rIns="0" tIns="0" bIns="0" anchor="t">
            <a:spAutoFit/>
          </a:bodyPr>
          <a:lstStyle/>
          <a:p>
            <a:pPr algn="l">
              <a:lnSpc>
                <a:spcPct val="110000"/>
              </a:lnSpc>
              <a:spcBef>
                <a:spcPts val="0"/>
              </a:spcBef>
              <a:spcAft>
                <a:spcPts val="0"/>
              </a:spcAft>
            </a:pPr>
            <a:r>
              <a:rPr sz="1180" b="1" i="0">
                <a:solidFill>
                  <a:srgbClr val="A86A00"/>
                </a:solidFill>
                <a:latin typeface="Arial"/>
              </a:rPr>
              <a:t>Third-party Dependencies</a:t>
            </a:r>
          </a:p>
        </p:txBody>
      </p:sp>
      <p:sp>
        <p:nvSpPr>
          <p:cNvPr id="53" name="TextBox 52"/>
          <p:cNvSpPr txBox="1"/>
          <p:nvPr/>
        </p:nvSpPr>
        <p:spPr>
          <a:xfrm>
            <a:off x="6452463" y="4354347"/>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19" b="1" i="0">
                <a:solidFill>
                  <a:srgbClr val="A86A00"/>
                </a:solidFill>
                <a:latin typeface="Arial"/>
              </a:rPr>
              <a:t>•</a:t>
            </a:r>
          </a:p>
        </p:txBody>
      </p:sp>
      <p:sp>
        <p:nvSpPr>
          <p:cNvPr id="54" name="TextBox 53"/>
          <p:cNvSpPr txBox="1"/>
          <p:nvPr/>
        </p:nvSpPr>
        <p:spPr>
          <a:xfrm>
            <a:off x="6589623" y="4358005"/>
            <a:ext cx="4897983" cy="177698"/>
          </a:xfrm>
          <a:prstGeom prst="rect">
            <a:avLst/>
          </a:prstGeom>
          <a:noFill/>
        </p:spPr>
        <p:txBody>
          <a:bodyPr wrap="square" lIns="0" rIns="0" tIns="0" bIns="0" anchor="t">
            <a:spAutoFit/>
          </a:bodyPr>
          <a:lstStyle/>
          <a:p>
            <a:pPr algn="l">
              <a:lnSpc>
                <a:spcPct val="116000"/>
              </a:lnSpc>
              <a:spcBef>
                <a:spcPts val="0"/>
              </a:spcBef>
              <a:spcAft>
                <a:spcPts val="0"/>
              </a:spcAft>
            </a:pPr>
            <a:r>
              <a:rPr sz="1019" b="0" i="0">
                <a:solidFill>
                  <a:srgbClr val="2B3A47"/>
                </a:solidFill>
                <a:latin typeface="Arial"/>
              </a:rPr>
              <a:t>Ứng dụng phụ thuộc </a:t>
            </a:r>
            <a:r>
              <a:rPr sz="1019" b="1" i="0">
                <a:solidFill>
                  <a:srgbClr val="A86A00"/>
                </a:solidFill>
                <a:latin typeface="Arial"/>
              </a:rPr>
              <a:t>API, thư viện, dịch vụ bên ngoài</a:t>
            </a:r>
            <a:r>
              <a:rPr sz="1019" b="0" i="0">
                <a:solidFill>
                  <a:srgbClr val="2B3A47"/>
                </a:solidFill>
                <a:latin typeface="Arial"/>
              </a:rPr>
              <a:t>.</a:t>
            </a:r>
          </a:p>
        </p:txBody>
      </p:sp>
      <p:sp>
        <p:nvSpPr>
          <p:cNvPr id="55" name="TextBox 54"/>
          <p:cNvSpPr txBox="1"/>
          <p:nvPr/>
        </p:nvSpPr>
        <p:spPr>
          <a:xfrm>
            <a:off x="6452463" y="4595545"/>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19" b="1" i="0">
                <a:solidFill>
                  <a:srgbClr val="A86A00"/>
                </a:solidFill>
                <a:latin typeface="Arial"/>
              </a:rPr>
              <a:t>•</a:t>
            </a:r>
          </a:p>
        </p:txBody>
      </p:sp>
      <p:sp>
        <p:nvSpPr>
          <p:cNvPr id="56" name="TextBox 55"/>
          <p:cNvSpPr txBox="1"/>
          <p:nvPr/>
        </p:nvSpPr>
        <p:spPr>
          <a:xfrm>
            <a:off x="6589623" y="4599203"/>
            <a:ext cx="4897983" cy="177698"/>
          </a:xfrm>
          <a:prstGeom prst="rect">
            <a:avLst/>
          </a:prstGeom>
          <a:noFill/>
        </p:spPr>
        <p:txBody>
          <a:bodyPr wrap="square" lIns="0" rIns="0" tIns="0" bIns="0" anchor="t">
            <a:spAutoFit/>
          </a:bodyPr>
          <a:lstStyle/>
          <a:p>
            <a:pPr algn="l">
              <a:lnSpc>
                <a:spcPct val="116000"/>
              </a:lnSpc>
              <a:spcBef>
                <a:spcPts val="0"/>
              </a:spcBef>
              <a:spcAft>
                <a:spcPts val="0"/>
              </a:spcAft>
            </a:pPr>
            <a:r>
              <a:rPr sz="1019" b="0" i="0">
                <a:solidFill>
                  <a:srgbClr val="2B3A47"/>
                </a:solidFill>
                <a:latin typeface="Arial"/>
              </a:rPr>
              <a:t>Một thành phần yếu → </a:t>
            </a:r>
            <a:r>
              <a:rPr sz="1019" b="1" i="0">
                <a:solidFill>
                  <a:srgbClr val="A86A00"/>
                </a:solidFill>
                <a:latin typeface="Arial"/>
              </a:rPr>
              <a:t>điểm xâm nhập vào chuỗi ứng dụng</a:t>
            </a:r>
            <a:r>
              <a:rPr sz="1019" b="0" i="0">
                <a:solidFill>
                  <a:srgbClr val="2B3A47"/>
                </a:solidFill>
                <a:latin typeface="Arial"/>
              </a:rPr>
              <a:t>.</a:t>
            </a:r>
          </a:p>
        </p:txBody>
      </p:sp>
      <p:sp>
        <p:nvSpPr>
          <p:cNvPr id="57" name="TextBox 56"/>
          <p:cNvSpPr txBox="1"/>
          <p:nvPr/>
        </p:nvSpPr>
        <p:spPr>
          <a:xfrm>
            <a:off x="6452463" y="4836744"/>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19" b="1" i="0">
                <a:solidFill>
                  <a:srgbClr val="A86A00"/>
                </a:solidFill>
                <a:latin typeface="Arial"/>
              </a:rPr>
              <a:t>•</a:t>
            </a:r>
          </a:p>
        </p:txBody>
      </p:sp>
      <p:sp>
        <p:nvSpPr>
          <p:cNvPr id="58" name="TextBox 57"/>
          <p:cNvSpPr txBox="1"/>
          <p:nvPr/>
        </p:nvSpPr>
        <p:spPr>
          <a:xfrm>
            <a:off x="6589623" y="4840401"/>
            <a:ext cx="4897983" cy="177698"/>
          </a:xfrm>
          <a:prstGeom prst="rect">
            <a:avLst/>
          </a:prstGeom>
          <a:noFill/>
        </p:spPr>
        <p:txBody>
          <a:bodyPr wrap="square" lIns="0" rIns="0" tIns="0" bIns="0" anchor="t">
            <a:spAutoFit/>
          </a:bodyPr>
          <a:lstStyle/>
          <a:p>
            <a:pPr algn="l">
              <a:lnSpc>
                <a:spcPct val="116000"/>
              </a:lnSpc>
              <a:spcBef>
                <a:spcPts val="0"/>
              </a:spcBef>
              <a:spcAft>
                <a:spcPts val="0"/>
              </a:spcAft>
            </a:pPr>
            <a:r>
              <a:rPr sz="1019" b="0" i="0">
                <a:solidFill>
                  <a:srgbClr val="2B3A47"/>
                </a:solidFill>
                <a:latin typeface="Arial"/>
              </a:rPr>
              <a:t>Cần kiểm kê, đánh giá và cập nhật định kỳ.</a:t>
            </a:r>
          </a:p>
        </p:txBody>
      </p:sp>
      <p:sp>
        <p:nvSpPr>
          <p:cNvPr id="59" name="Rounded Rectangle 58"/>
          <p:cNvSpPr/>
          <p:nvPr/>
        </p:nvSpPr>
        <p:spPr>
          <a:xfrm>
            <a:off x="566928" y="5769864"/>
            <a:ext cx="11057839" cy="588873"/>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566928" y="5769864"/>
            <a:ext cx="64008" cy="588873"/>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749808" y="5888736"/>
            <a:ext cx="10728655" cy="351129"/>
          </a:xfrm>
          <a:prstGeom prst="rect">
            <a:avLst/>
          </a:prstGeom>
          <a:noFill/>
        </p:spPr>
        <p:txBody>
          <a:bodyPr wrap="square" lIns="0" rIns="0" tIns="0" bIns="0" anchor="t">
            <a:spAutoFit/>
          </a:bodyPr>
          <a:lstStyle/>
          <a:p>
            <a:pPr algn="l">
              <a:lnSpc>
                <a:spcPct val="118000"/>
              </a:lnSpc>
              <a:spcBef>
                <a:spcPts val="0"/>
              </a:spcBef>
              <a:spcAft>
                <a:spcPts val="0"/>
              </a:spcAft>
            </a:pPr>
            <a:r>
              <a:rPr sz="1080" b="1" i="0">
                <a:solidFill>
                  <a:srgbClr val="FFFFFF"/>
                </a:solidFill>
                <a:latin typeface="Arial"/>
              </a:rPr>
              <a:t>PaaS giảm gánh nặng hạ tầng, nhưng không làm ứng dụng tự động an toàn:</a:t>
            </a:r>
            <a:r>
              <a:rPr sz="1080" b="0" i="0">
                <a:solidFill>
                  <a:srgbClr val="FFFFFF"/>
                </a:solidFill>
                <a:latin typeface="Arial"/>
              </a:rPr>
              <a:t> CSP bảo vệ nền tảng → khách hàng bảo vệ ứng dụng &amp; dữ liệu → dependency phải được kiểm soát.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PHẦN 5 · BẢO MẬT ỨNG DỤNG &amp; MÁY CHỦ</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ĐỊNH DANH &amp; QUẢN LÝ TRUY CẬP (IAM &amp; SSO)</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14/18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Từ “vị trí mạng” → “định danh”</a:t>
            </a:r>
          </a:p>
        </p:txBody>
      </p:sp>
      <p:sp>
        <p:nvSpPr>
          <p:cNvPr id="10" name="Rounded Rectangle 9"/>
          <p:cNvSpPr/>
          <p:nvPr/>
        </p:nvSpPr>
        <p:spPr>
          <a:xfrm>
            <a:off x="566928" y="1550543"/>
            <a:ext cx="2050633" cy="512064"/>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30" b="1" i="0">
                <a:solidFill>
                  <a:srgbClr val="0E2D4E"/>
                </a:solidFill>
                <a:latin typeface="Arial"/>
              </a:rPr>
              <a:t>Identity</a:t>
            </a:r>
          </a:p>
          <a:p>
            <a:pPr algn="ctr">
              <a:lnSpc>
                <a:spcPct val="106000"/>
              </a:lnSpc>
              <a:spcBef>
                <a:spcPts val="200"/>
              </a:spcBef>
              <a:spcAft>
                <a:spcPts val="0"/>
              </a:spcAft>
            </a:pPr>
            <a:r>
              <a:rPr sz="870" b="0" i="0">
                <a:solidFill>
                  <a:srgbClr val="64788A"/>
                </a:solidFill>
                <a:latin typeface="Arial"/>
              </a:rPr>
              <a:t>Bạn là ai?</a:t>
            </a:r>
          </a:p>
        </p:txBody>
      </p:sp>
      <p:sp>
        <p:nvSpPr>
          <p:cNvPr id="11" name="Right Arrow 10"/>
          <p:cNvSpPr/>
          <p:nvPr/>
        </p:nvSpPr>
        <p:spPr>
          <a:xfrm>
            <a:off x="2608417" y="1737995"/>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2818729" y="1550543"/>
            <a:ext cx="2050633" cy="512064"/>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30" b="1" i="0">
                <a:solidFill>
                  <a:srgbClr val="0E2D4E"/>
                </a:solidFill>
                <a:latin typeface="Arial"/>
              </a:rPr>
              <a:t>Authentication</a:t>
            </a:r>
          </a:p>
          <a:p>
            <a:pPr algn="ctr">
              <a:lnSpc>
                <a:spcPct val="106000"/>
              </a:lnSpc>
              <a:spcBef>
                <a:spcPts val="200"/>
              </a:spcBef>
              <a:spcAft>
                <a:spcPts val="0"/>
              </a:spcAft>
            </a:pPr>
            <a:r>
              <a:rPr sz="870" b="0" i="0">
                <a:solidFill>
                  <a:srgbClr val="64788A"/>
                </a:solidFill>
                <a:latin typeface="Arial"/>
              </a:rPr>
              <a:t>Xác thực</a:t>
            </a:r>
          </a:p>
        </p:txBody>
      </p:sp>
      <p:sp>
        <p:nvSpPr>
          <p:cNvPr id="13" name="Right Arrow 12"/>
          <p:cNvSpPr/>
          <p:nvPr/>
        </p:nvSpPr>
        <p:spPr>
          <a:xfrm>
            <a:off x="4860218" y="1737995"/>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070530" y="1550543"/>
            <a:ext cx="2050633" cy="512064"/>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30" b="1" i="0">
                <a:solidFill>
                  <a:srgbClr val="0E2D4E"/>
                </a:solidFill>
                <a:latin typeface="Arial"/>
              </a:rPr>
              <a:t>Authorization</a:t>
            </a:r>
          </a:p>
          <a:p>
            <a:pPr algn="ctr">
              <a:lnSpc>
                <a:spcPct val="106000"/>
              </a:lnSpc>
              <a:spcBef>
                <a:spcPts val="200"/>
              </a:spcBef>
              <a:spcAft>
                <a:spcPts val="0"/>
              </a:spcAft>
            </a:pPr>
            <a:r>
              <a:rPr sz="870" b="0" i="0">
                <a:solidFill>
                  <a:srgbClr val="64788A"/>
                </a:solidFill>
                <a:latin typeface="Arial"/>
              </a:rPr>
              <a:t>Được phép làm gì?</a:t>
            </a:r>
          </a:p>
        </p:txBody>
      </p:sp>
      <p:sp>
        <p:nvSpPr>
          <p:cNvPr id="15" name="Right Arrow 14"/>
          <p:cNvSpPr/>
          <p:nvPr/>
        </p:nvSpPr>
        <p:spPr>
          <a:xfrm>
            <a:off x="7112020" y="1737995"/>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7322332" y="1550543"/>
            <a:ext cx="2050633" cy="512064"/>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30" b="1" i="0">
                <a:solidFill>
                  <a:srgbClr val="0E2D4E"/>
                </a:solidFill>
                <a:latin typeface="Arial"/>
              </a:rPr>
              <a:t>Resource</a:t>
            </a:r>
          </a:p>
          <a:p>
            <a:pPr algn="ctr">
              <a:lnSpc>
                <a:spcPct val="106000"/>
              </a:lnSpc>
              <a:spcBef>
                <a:spcPts val="200"/>
              </a:spcBef>
              <a:spcAft>
                <a:spcPts val="0"/>
              </a:spcAft>
            </a:pPr>
            <a:r>
              <a:rPr sz="870" b="0" i="0">
                <a:solidFill>
                  <a:srgbClr val="64788A"/>
                </a:solidFill>
                <a:latin typeface="Arial"/>
              </a:rPr>
              <a:t>Trên tài nguyên nào?</a:t>
            </a:r>
          </a:p>
        </p:txBody>
      </p:sp>
      <p:sp>
        <p:nvSpPr>
          <p:cNvPr id="17" name="Right Arrow 16"/>
          <p:cNvSpPr/>
          <p:nvPr/>
        </p:nvSpPr>
        <p:spPr>
          <a:xfrm>
            <a:off x="9363821" y="1737995"/>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9574133" y="1550543"/>
            <a:ext cx="2050633" cy="512064"/>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30" b="1" i="0">
                <a:solidFill>
                  <a:srgbClr val="0E2D4E"/>
                </a:solidFill>
                <a:latin typeface="Arial"/>
              </a:rPr>
              <a:t>Logging</a:t>
            </a:r>
          </a:p>
          <a:p>
            <a:pPr algn="ctr">
              <a:lnSpc>
                <a:spcPct val="106000"/>
              </a:lnSpc>
              <a:spcBef>
                <a:spcPts val="200"/>
              </a:spcBef>
              <a:spcAft>
                <a:spcPts val="0"/>
              </a:spcAft>
            </a:pPr>
            <a:r>
              <a:rPr sz="870" b="0" i="0">
                <a:solidFill>
                  <a:srgbClr val="64788A"/>
                </a:solidFill>
                <a:latin typeface="Arial"/>
              </a:rPr>
              <a:t>Có được ghi nhận?</a:t>
            </a:r>
          </a:p>
        </p:txBody>
      </p:sp>
      <p:sp>
        <p:nvSpPr>
          <p:cNvPr id="19" name="Rounded Rectangle 18"/>
          <p:cNvSpPr/>
          <p:nvPr/>
        </p:nvSpPr>
        <p:spPr>
          <a:xfrm>
            <a:off x="566928" y="2154047"/>
            <a:ext cx="11057839" cy="427024"/>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66928" y="2154047"/>
            <a:ext cx="64008" cy="42702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49808" y="2272919"/>
            <a:ext cx="10728655" cy="189280"/>
          </a:xfrm>
          <a:prstGeom prst="rect">
            <a:avLst/>
          </a:prstGeom>
          <a:noFill/>
        </p:spPr>
        <p:txBody>
          <a:bodyPr wrap="square" lIns="0" rIns="0" tIns="0" bIns="0" anchor="t">
            <a:spAutoFit/>
          </a:bodyPr>
          <a:lstStyle/>
          <a:p>
            <a:pPr algn="l">
              <a:lnSpc>
                <a:spcPct val="118000"/>
              </a:lnSpc>
              <a:spcBef>
                <a:spcPts val="0"/>
              </a:spcBef>
              <a:spcAft>
                <a:spcPts val="0"/>
              </a:spcAft>
            </a:pPr>
            <a:r>
              <a:rPr sz="1080" b="0" i="0">
                <a:solidFill>
                  <a:srgbClr val="0E2D4E"/>
                </a:solidFill>
                <a:latin typeface="Arial"/>
              </a:rPr>
              <a:t>IP, port, firewall vẫn quan trọng nhưng </a:t>
            </a:r>
            <a:r>
              <a:rPr sz="1080" b="1" i="0">
                <a:solidFill>
                  <a:srgbClr val="0E2D4E"/>
                </a:solidFill>
                <a:latin typeface="Arial"/>
              </a:rPr>
              <a:t>không đủ để xác định quyền truy cập</a:t>
            </a:r>
            <a:r>
              <a:rPr sz="1080" b="0" i="0">
                <a:solidFill>
                  <a:srgbClr val="0E2D4E"/>
                </a:solidFill>
                <a:latin typeface="Arial"/>
              </a:rPr>
              <a:t> — </a:t>
            </a:r>
            <a:r>
              <a:rPr sz="1080" b="1" i="0">
                <a:solidFill>
                  <a:srgbClr val="0E2D4E"/>
                </a:solidFill>
                <a:latin typeface="Arial"/>
              </a:rPr>
              <a:t>xác thực thành công ≠ được phép làm mọi thứ</a:t>
            </a:r>
            <a:r>
              <a:rPr sz="1080" b="0" i="0">
                <a:solidFill>
                  <a:srgbClr val="0E2D4E"/>
                </a:solidFill>
                <a:latin typeface="Arial"/>
              </a:rPr>
              <a:t>.</a:t>
            </a:r>
          </a:p>
        </p:txBody>
      </p:sp>
      <p:sp>
        <p:nvSpPr>
          <p:cNvPr id="22" name="Rectangle 21"/>
          <p:cNvSpPr/>
          <p:nvPr/>
        </p:nvSpPr>
        <p:spPr>
          <a:xfrm>
            <a:off x="566928" y="2800527"/>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85800" y="2782239"/>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IAM — nguyên tắc cốt lõi</a:t>
            </a:r>
          </a:p>
        </p:txBody>
      </p:sp>
      <p:sp>
        <p:nvSpPr>
          <p:cNvPr id="24" name="Rounded Rectangle 23"/>
          <p:cNvSpPr/>
          <p:nvPr/>
        </p:nvSpPr>
        <p:spPr>
          <a:xfrm>
            <a:off x="566928" y="3034334"/>
            <a:ext cx="1261071"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19" b="0" i="0">
                <a:solidFill>
                  <a:srgbClr val="0E2D4E"/>
                </a:solidFill>
                <a:latin typeface="Arial"/>
              </a:rPr>
              <a:t>MFA</a:t>
            </a:r>
          </a:p>
        </p:txBody>
      </p:sp>
      <p:sp>
        <p:nvSpPr>
          <p:cNvPr id="25" name="Rounded Rectangle 24"/>
          <p:cNvSpPr/>
          <p:nvPr/>
        </p:nvSpPr>
        <p:spPr>
          <a:xfrm>
            <a:off x="1937727" y="3034334"/>
            <a:ext cx="1261071"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19" b="0" i="0">
                <a:solidFill>
                  <a:srgbClr val="0E2D4E"/>
                </a:solidFill>
                <a:latin typeface="Arial"/>
              </a:rPr>
              <a:t>Least Privilege</a:t>
            </a:r>
          </a:p>
        </p:txBody>
      </p:sp>
      <p:sp>
        <p:nvSpPr>
          <p:cNvPr id="26" name="Rounded Rectangle 25"/>
          <p:cNvSpPr/>
          <p:nvPr/>
        </p:nvSpPr>
        <p:spPr>
          <a:xfrm>
            <a:off x="3308527" y="3034334"/>
            <a:ext cx="1261071"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19" b="0" i="0">
                <a:solidFill>
                  <a:srgbClr val="0E2D4E"/>
                </a:solidFill>
                <a:latin typeface="Arial"/>
              </a:rPr>
              <a:t>Role-based Access</a:t>
            </a:r>
          </a:p>
        </p:txBody>
      </p:sp>
      <p:sp>
        <p:nvSpPr>
          <p:cNvPr id="27" name="Rounded Rectangle 26"/>
          <p:cNvSpPr/>
          <p:nvPr/>
        </p:nvSpPr>
        <p:spPr>
          <a:xfrm>
            <a:off x="4679327" y="3034334"/>
            <a:ext cx="1261071"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19" b="0" i="0">
                <a:solidFill>
                  <a:srgbClr val="0E2D4E"/>
                </a:solidFill>
                <a:latin typeface="Arial"/>
              </a:rPr>
              <a:t>Logging</a:t>
            </a:r>
          </a:p>
        </p:txBody>
      </p:sp>
      <p:sp>
        <p:nvSpPr>
          <p:cNvPr id="28" name="Rectangle 27"/>
          <p:cNvSpPr/>
          <p:nvPr/>
        </p:nvSpPr>
        <p:spPr>
          <a:xfrm>
            <a:off x="566928" y="3546398"/>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85800" y="3528110"/>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3 · SSO — xác thực tập trung</a:t>
            </a:r>
          </a:p>
        </p:txBody>
      </p:sp>
      <p:sp>
        <p:nvSpPr>
          <p:cNvPr id="30" name="Rounded Rectangle 29"/>
          <p:cNvSpPr/>
          <p:nvPr/>
        </p:nvSpPr>
        <p:spPr>
          <a:xfrm>
            <a:off x="978408" y="3780205"/>
            <a:ext cx="4550511" cy="274320"/>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00" b="0" i="0">
                <a:solidFill>
                  <a:srgbClr val="0E2D4E"/>
                </a:solidFill>
                <a:latin typeface="Arial"/>
              </a:rPr>
              <a:t>User</a:t>
            </a:r>
          </a:p>
        </p:txBody>
      </p:sp>
      <p:sp>
        <p:nvSpPr>
          <p:cNvPr id="31" name="Down Arrow 30"/>
          <p:cNvSpPr/>
          <p:nvPr/>
        </p:nvSpPr>
        <p:spPr>
          <a:xfrm>
            <a:off x="3185083" y="4068241"/>
            <a:ext cx="137160" cy="109728"/>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978408" y="4191685"/>
            <a:ext cx="4550511" cy="274320"/>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00" b="0" i="0">
                <a:solidFill>
                  <a:srgbClr val="0E2D4E"/>
                </a:solidFill>
                <a:latin typeface="Arial"/>
              </a:rPr>
              <a:t>Identity Provider (IdP)</a:t>
            </a:r>
          </a:p>
        </p:txBody>
      </p:sp>
      <p:sp>
        <p:nvSpPr>
          <p:cNvPr id="33" name="Down Arrow 32"/>
          <p:cNvSpPr/>
          <p:nvPr/>
        </p:nvSpPr>
        <p:spPr>
          <a:xfrm>
            <a:off x="3185083" y="4479721"/>
            <a:ext cx="137160" cy="109728"/>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978408" y="4603165"/>
            <a:ext cx="4550511" cy="274320"/>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00" b="0" i="0">
                <a:solidFill>
                  <a:srgbClr val="0E2D4E"/>
                </a:solidFill>
                <a:latin typeface="Arial"/>
              </a:rPr>
              <a:t>Authentication + MFA</a:t>
            </a:r>
          </a:p>
        </p:txBody>
      </p:sp>
      <p:sp>
        <p:nvSpPr>
          <p:cNvPr id="35" name="Down Arrow 34"/>
          <p:cNvSpPr/>
          <p:nvPr/>
        </p:nvSpPr>
        <p:spPr>
          <a:xfrm>
            <a:off x="3185083" y="4891201"/>
            <a:ext cx="137160" cy="109728"/>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ounded Rectangle 35"/>
          <p:cNvSpPr/>
          <p:nvPr/>
        </p:nvSpPr>
        <p:spPr>
          <a:xfrm>
            <a:off x="978408" y="5014645"/>
            <a:ext cx="4550511" cy="274320"/>
          </a:xfrm>
          <a:prstGeom prst="roundRect">
            <a:avLst>
              <a:gd name="adj" fmla="val 14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00" b="0" i="0">
                <a:solidFill>
                  <a:srgbClr val="0E2D4E"/>
                </a:solidFill>
                <a:latin typeface="Arial"/>
              </a:rPr>
              <a:t>Token / Session</a:t>
            </a:r>
          </a:p>
        </p:txBody>
      </p:sp>
      <p:sp>
        <p:nvSpPr>
          <p:cNvPr id="37" name="Down Arrow 36"/>
          <p:cNvSpPr/>
          <p:nvPr/>
        </p:nvSpPr>
        <p:spPr>
          <a:xfrm>
            <a:off x="3185083" y="5302681"/>
            <a:ext cx="137160" cy="109728"/>
          </a:xfrm>
          <a:prstGeom prst="down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ounded Rectangle 37"/>
          <p:cNvSpPr/>
          <p:nvPr/>
        </p:nvSpPr>
        <p:spPr>
          <a:xfrm>
            <a:off x="978408" y="5426125"/>
            <a:ext cx="4550511" cy="274320"/>
          </a:xfrm>
          <a:prstGeom prst="roundRect">
            <a:avLst>
              <a:gd name="adj" fmla="val 14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5000"/>
              </a:lnSpc>
              <a:spcBef>
                <a:spcPts val="0"/>
              </a:spcBef>
              <a:spcAft>
                <a:spcPts val="0"/>
              </a:spcAft>
            </a:pPr>
            <a:r>
              <a:rPr sz="1000" b="0" i="0">
                <a:solidFill>
                  <a:srgbClr val="1B7A57"/>
                </a:solidFill>
                <a:latin typeface="Arial"/>
              </a:rPr>
              <a:t>Ứng dụng liên kết</a:t>
            </a:r>
          </a:p>
        </p:txBody>
      </p:sp>
      <p:sp>
        <p:nvSpPr>
          <p:cNvPr id="39" name="Rectangle 38"/>
          <p:cNvSpPr/>
          <p:nvPr/>
        </p:nvSpPr>
        <p:spPr>
          <a:xfrm>
            <a:off x="6251295" y="2800527"/>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370167" y="2782239"/>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Lợi ích &amp; rủi ro của SSO</a:t>
            </a:r>
          </a:p>
        </p:txBody>
      </p:sp>
      <p:sp>
        <p:nvSpPr>
          <p:cNvPr id="41" name="Rounded Rectangle 40"/>
          <p:cNvSpPr/>
          <p:nvPr/>
        </p:nvSpPr>
        <p:spPr>
          <a:xfrm>
            <a:off x="6251295" y="3034334"/>
            <a:ext cx="5373471" cy="1225296"/>
          </a:xfrm>
          <a:prstGeom prst="roundRect">
            <a:avLst>
              <a:gd name="adj" fmla="val 6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6251295" y="3034334"/>
            <a:ext cx="59436" cy="1225296"/>
          </a:xfrm>
          <a:prstGeom prst="rect">
            <a:avLst/>
          </a:prstGeom>
          <a:solidFill>
            <a:srgbClr val="1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452463" y="3171494"/>
            <a:ext cx="5035143" cy="195072"/>
          </a:xfrm>
          <a:prstGeom prst="rect">
            <a:avLst/>
          </a:prstGeom>
          <a:noFill/>
        </p:spPr>
        <p:txBody>
          <a:bodyPr wrap="square" lIns="0" rIns="0" tIns="0" bIns="0" anchor="t">
            <a:spAutoFit/>
          </a:bodyPr>
          <a:lstStyle/>
          <a:p>
            <a:pPr algn="l">
              <a:lnSpc>
                <a:spcPct val="110000"/>
              </a:lnSpc>
              <a:spcBef>
                <a:spcPts val="0"/>
              </a:spcBef>
              <a:spcAft>
                <a:spcPts val="0"/>
              </a:spcAft>
            </a:pPr>
            <a:r>
              <a:rPr sz="1200" b="1" i="0">
                <a:solidFill>
                  <a:srgbClr val="1B7A57"/>
                </a:solidFill>
                <a:latin typeface="Arial"/>
              </a:rPr>
              <a:t>Lợi ích</a:t>
            </a:r>
          </a:p>
        </p:txBody>
      </p:sp>
      <p:sp>
        <p:nvSpPr>
          <p:cNvPr id="44" name="TextBox 43"/>
          <p:cNvSpPr txBox="1"/>
          <p:nvPr/>
        </p:nvSpPr>
        <p:spPr>
          <a:xfrm>
            <a:off x="6452463" y="3426917"/>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10" b="1" i="0">
                <a:solidFill>
                  <a:srgbClr val="1B7A57"/>
                </a:solidFill>
                <a:latin typeface="Arial"/>
              </a:rPr>
              <a:t>•</a:t>
            </a:r>
          </a:p>
        </p:txBody>
      </p:sp>
      <p:sp>
        <p:nvSpPr>
          <p:cNvPr id="45" name="TextBox 44"/>
          <p:cNvSpPr txBox="1"/>
          <p:nvPr/>
        </p:nvSpPr>
        <p:spPr>
          <a:xfrm>
            <a:off x="6589623" y="3430574"/>
            <a:ext cx="4897983" cy="176225"/>
          </a:xfrm>
          <a:prstGeom prst="rect">
            <a:avLst/>
          </a:prstGeom>
          <a:noFill/>
        </p:spPr>
        <p:txBody>
          <a:bodyPr wrap="square" lIns="0" rIns="0" tIns="0" bIns="0" anchor="t">
            <a:spAutoFit/>
          </a:bodyPr>
          <a:lstStyle/>
          <a:p>
            <a:pPr algn="l">
              <a:lnSpc>
                <a:spcPct val="116000"/>
              </a:lnSpc>
              <a:spcBef>
                <a:spcPts val="0"/>
              </a:spcBef>
              <a:spcAft>
                <a:spcPts val="0"/>
              </a:spcAft>
            </a:pPr>
            <a:r>
              <a:rPr sz="1010" b="0" i="0">
                <a:solidFill>
                  <a:srgbClr val="2B3A47"/>
                </a:solidFill>
                <a:latin typeface="Arial"/>
              </a:rPr>
              <a:t>Giảm số mật khẩu phải quản lý.</a:t>
            </a:r>
          </a:p>
        </p:txBody>
      </p:sp>
      <p:sp>
        <p:nvSpPr>
          <p:cNvPr id="46" name="TextBox 45"/>
          <p:cNvSpPr txBox="1"/>
          <p:nvPr/>
        </p:nvSpPr>
        <p:spPr>
          <a:xfrm>
            <a:off x="6452463" y="3666642"/>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10" b="1" i="0">
                <a:solidFill>
                  <a:srgbClr val="1B7A57"/>
                </a:solidFill>
                <a:latin typeface="Arial"/>
              </a:rPr>
              <a:t>•</a:t>
            </a:r>
          </a:p>
        </p:txBody>
      </p:sp>
      <p:sp>
        <p:nvSpPr>
          <p:cNvPr id="47" name="TextBox 46"/>
          <p:cNvSpPr txBox="1"/>
          <p:nvPr/>
        </p:nvSpPr>
        <p:spPr>
          <a:xfrm>
            <a:off x="6589623" y="3670300"/>
            <a:ext cx="4897983" cy="176225"/>
          </a:xfrm>
          <a:prstGeom prst="rect">
            <a:avLst/>
          </a:prstGeom>
          <a:noFill/>
        </p:spPr>
        <p:txBody>
          <a:bodyPr wrap="square" lIns="0" rIns="0" tIns="0" bIns="0" anchor="t">
            <a:spAutoFit/>
          </a:bodyPr>
          <a:lstStyle/>
          <a:p>
            <a:pPr algn="l">
              <a:lnSpc>
                <a:spcPct val="116000"/>
              </a:lnSpc>
              <a:spcBef>
                <a:spcPts val="0"/>
              </a:spcBef>
              <a:spcAft>
                <a:spcPts val="0"/>
              </a:spcAft>
            </a:pPr>
            <a:r>
              <a:rPr sz="1010" b="0" i="0">
                <a:solidFill>
                  <a:srgbClr val="2B3A47"/>
                </a:solidFill>
                <a:latin typeface="Arial"/>
              </a:rPr>
              <a:t>Tập trung quản lý vòng đời tài khoản.</a:t>
            </a:r>
          </a:p>
        </p:txBody>
      </p:sp>
      <p:sp>
        <p:nvSpPr>
          <p:cNvPr id="48" name="TextBox 47"/>
          <p:cNvSpPr txBox="1"/>
          <p:nvPr/>
        </p:nvSpPr>
        <p:spPr>
          <a:xfrm>
            <a:off x="6452463" y="3906367"/>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10" b="1" i="0">
                <a:solidFill>
                  <a:srgbClr val="1B7A57"/>
                </a:solidFill>
                <a:latin typeface="Arial"/>
              </a:rPr>
              <a:t>•</a:t>
            </a:r>
          </a:p>
        </p:txBody>
      </p:sp>
      <p:sp>
        <p:nvSpPr>
          <p:cNvPr id="49" name="TextBox 48"/>
          <p:cNvSpPr txBox="1"/>
          <p:nvPr/>
        </p:nvSpPr>
        <p:spPr>
          <a:xfrm>
            <a:off x="6589623" y="3910025"/>
            <a:ext cx="4897983" cy="176225"/>
          </a:xfrm>
          <a:prstGeom prst="rect">
            <a:avLst/>
          </a:prstGeom>
          <a:noFill/>
        </p:spPr>
        <p:txBody>
          <a:bodyPr wrap="square" lIns="0" rIns="0" tIns="0" bIns="0" anchor="t">
            <a:spAutoFit/>
          </a:bodyPr>
          <a:lstStyle/>
          <a:p>
            <a:pPr algn="l">
              <a:lnSpc>
                <a:spcPct val="116000"/>
              </a:lnSpc>
              <a:spcBef>
                <a:spcPts val="0"/>
              </a:spcBef>
              <a:spcAft>
                <a:spcPts val="0"/>
              </a:spcAft>
            </a:pPr>
            <a:r>
              <a:rPr sz="1010" b="0" i="0">
                <a:solidFill>
                  <a:srgbClr val="2B3A47"/>
                </a:solidFill>
                <a:latin typeface="Arial"/>
              </a:rPr>
              <a:t>Thu hồi quyền nhanh hơn; chính sách xác thực &amp; giám sát tập trung.</a:t>
            </a:r>
          </a:p>
        </p:txBody>
      </p:sp>
      <p:sp>
        <p:nvSpPr>
          <p:cNvPr id="50" name="Rounded Rectangle 49"/>
          <p:cNvSpPr/>
          <p:nvPr/>
        </p:nvSpPr>
        <p:spPr>
          <a:xfrm>
            <a:off x="6251295" y="4387646"/>
            <a:ext cx="5373471" cy="1389888"/>
          </a:xfrm>
          <a:prstGeom prst="roundRect">
            <a:avLst>
              <a:gd name="adj" fmla="val 6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6251295" y="4387646"/>
            <a:ext cx="59436" cy="1389888"/>
          </a:xfrm>
          <a:prstGeom prst="rect">
            <a:avLst/>
          </a:prstGeom>
          <a:solidFill>
            <a:srgbClr val="B83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452463" y="4524806"/>
            <a:ext cx="5035143" cy="195072"/>
          </a:xfrm>
          <a:prstGeom prst="rect">
            <a:avLst/>
          </a:prstGeom>
          <a:noFill/>
        </p:spPr>
        <p:txBody>
          <a:bodyPr wrap="square" lIns="0" rIns="0" tIns="0" bIns="0" anchor="t">
            <a:spAutoFit/>
          </a:bodyPr>
          <a:lstStyle/>
          <a:p>
            <a:pPr algn="l">
              <a:lnSpc>
                <a:spcPct val="110000"/>
              </a:lnSpc>
              <a:spcBef>
                <a:spcPts val="0"/>
              </a:spcBef>
              <a:spcAft>
                <a:spcPts val="0"/>
              </a:spcAft>
            </a:pPr>
            <a:r>
              <a:rPr sz="1200" b="1" i="0">
                <a:solidFill>
                  <a:srgbClr val="B8342A"/>
                </a:solidFill>
                <a:latin typeface="Arial"/>
              </a:rPr>
              <a:t>Rủi ro cần kiểm soát</a:t>
            </a:r>
          </a:p>
        </p:txBody>
      </p:sp>
      <p:sp>
        <p:nvSpPr>
          <p:cNvPr id="53" name="TextBox 52"/>
          <p:cNvSpPr txBox="1"/>
          <p:nvPr/>
        </p:nvSpPr>
        <p:spPr>
          <a:xfrm>
            <a:off x="6452463" y="4780229"/>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10" b="1" i="0">
                <a:solidFill>
                  <a:srgbClr val="B8342A"/>
                </a:solidFill>
                <a:latin typeface="Arial"/>
              </a:rPr>
              <a:t>•</a:t>
            </a:r>
          </a:p>
        </p:txBody>
      </p:sp>
      <p:sp>
        <p:nvSpPr>
          <p:cNvPr id="54" name="TextBox 53"/>
          <p:cNvSpPr txBox="1"/>
          <p:nvPr/>
        </p:nvSpPr>
        <p:spPr>
          <a:xfrm>
            <a:off x="6589623" y="4783886"/>
            <a:ext cx="4897983" cy="325018"/>
          </a:xfrm>
          <a:prstGeom prst="rect">
            <a:avLst/>
          </a:prstGeom>
          <a:noFill/>
        </p:spPr>
        <p:txBody>
          <a:bodyPr wrap="square" lIns="0" rIns="0" tIns="0" bIns="0" anchor="t">
            <a:spAutoFit/>
          </a:bodyPr>
          <a:lstStyle/>
          <a:p>
            <a:pPr algn="l">
              <a:lnSpc>
                <a:spcPct val="116000"/>
              </a:lnSpc>
              <a:spcBef>
                <a:spcPts val="0"/>
              </a:spcBef>
              <a:spcAft>
                <a:spcPts val="0"/>
              </a:spcAft>
            </a:pPr>
            <a:r>
              <a:rPr sz="1010" b="1" i="0">
                <a:solidFill>
                  <a:srgbClr val="B8342A"/>
                </a:solidFill>
                <a:latin typeface="Arial"/>
              </a:rPr>
              <a:t>Compromised identity:</a:t>
            </a:r>
            <a:r>
              <a:rPr sz="1010" b="0" i="0">
                <a:solidFill>
                  <a:srgbClr val="2B3A47"/>
                </a:solidFill>
                <a:latin typeface="Arial"/>
              </a:rPr>
              <a:t> tài khoản trung tâm bị chiếm → nhiều dịch vụ bị ảnh hưởng.</a:t>
            </a:r>
          </a:p>
        </p:txBody>
      </p:sp>
      <p:sp>
        <p:nvSpPr>
          <p:cNvPr id="55" name="TextBox 54"/>
          <p:cNvSpPr txBox="1"/>
          <p:nvPr/>
        </p:nvSpPr>
        <p:spPr>
          <a:xfrm>
            <a:off x="6452463" y="5168747"/>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10" b="1" i="0">
                <a:solidFill>
                  <a:srgbClr val="B8342A"/>
                </a:solidFill>
                <a:latin typeface="Arial"/>
              </a:rPr>
              <a:t>•</a:t>
            </a:r>
          </a:p>
        </p:txBody>
      </p:sp>
      <p:sp>
        <p:nvSpPr>
          <p:cNvPr id="56" name="TextBox 55"/>
          <p:cNvSpPr txBox="1"/>
          <p:nvPr/>
        </p:nvSpPr>
        <p:spPr>
          <a:xfrm>
            <a:off x="6589623" y="5172405"/>
            <a:ext cx="4897983" cy="176225"/>
          </a:xfrm>
          <a:prstGeom prst="rect">
            <a:avLst/>
          </a:prstGeom>
          <a:noFill/>
        </p:spPr>
        <p:txBody>
          <a:bodyPr wrap="square" lIns="0" rIns="0" tIns="0" bIns="0" anchor="t">
            <a:spAutoFit/>
          </a:bodyPr>
          <a:lstStyle/>
          <a:p>
            <a:pPr algn="l">
              <a:lnSpc>
                <a:spcPct val="116000"/>
              </a:lnSpc>
              <a:spcBef>
                <a:spcPts val="0"/>
              </a:spcBef>
              <a:spcAft>
                <a:spcPts val="0"/>
              </a:spcAft>
            </a:pPr>
            <a:r>
              <a:rPr sz="1010" b="1" i="0">
                <a:solidFill>
                  <a:srgbClr val="B8342A"/>
                </a:solidFill>
                <a:latin typeface="Arial"/>
              </a:rPr>
              <a:t>Stolen session / token:</a:t>
            </a:r>
            <a:r>
              <a:rPr sz="1010" b="0" i="0">
                <a:solidFill>
                  <a:srgbClr val="2B3A47"/>
                </a:solidFill>
                <a:latin typeface="Arial"/>
              </a:rPr>
              <a:t> phiên hợp lệ bị đánh cắp.</a:t>
            </a:r>
          </a:p>
        </p:txBody>
      </p:sp>
      <p:sp>
        <p:nvSpPr>
          <p:cNvPr id="57" name="TextBox 56"/>
          <p:cNvSpPr txBox="1"/>
          <p:nvPr/>
        </p:nvSpPr>
        <p:spPr>
          <a:xfrm>
            <a:off x="6452463" y="5408472"/>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10" b="1" i="0">
                <a:solidFill>
                  <a:srgbClr val="B8342A"/>
                </a:solidFill>
                <a:latin typeface="Arial"/>
              </a:rPr>
              <a:t>•</a:t>
            </a:r>
          </a:p>
        </p:txBody>
      </p:sp>
      <p:sp>
        <p:nvSpPr>
          <p:cNvPr id="58" name="TextBox 57"/>
          <p:cNvSpPr txBox="1"/>
          <p:nvPr/>
        </p:nvSpPr>
        <p:spPr>
          <a:xfrm>
            <a:off x="6589623" y="5412130"/>
            <a:ext cx="4897983" cy="176225"/>
          </a:xfrm>
          <a:prstGeom prst="rect">
            <a:avLst/>
          </a:prstGeom>
          <a:noFill/>
        </p:spPr>
        <p:txBody>
          <a:bodyPr wrap="square" lIns="0" rIns="0" tIns="0" bIns="0" anchor="t">
            <a:spAutoFit/>
          </a:bodyPr>
          <a:lstStyle/>
          <a:p>
            <a:pPr algn="l">
              <a:lnSpc>
                <a:spcPct val="116000"/>
              </a:lnSpc>
              <a:spcBef>
                <a:spcPts val="0"/>
              </a:spcBef>
              <a:spcAft>
                <a:spcPts val="0"/>
              </a:spcAft>
            </a:pPr>
            <a:r>
              <a:rPr sz="1010" b="1" i="0">
                <a:solidFill>
                  <a:srgbClr val="B8342A"/>
                </a:solidFill>
                <a:latin typeface="Arial"/>
              </a:rPr>
              <a:t>Over-privilege:</a:t>
            </a:r>
            <a:r>
              <a:rPr sz="1010" b="0" i="0">
                <a:solidFill>
                  <a:srgbClr val="2B3A47"/>
                </a:solidFill>
                <a:latin typeface="Arial"/>
              </a:rPr>
              <a:t> SSO không tự bảo đảm quyền tối thiểu.</a:t>
            </a:r>
          </a:p>
        </p:txBody>
      </p:sp>
      <p:sp>
        <p:nvSpPr>
          <p:cNvPr id="59" name="Rounded Rectangle 58"/>
          <p:cNvSpPr/>
          <p:nvPr/>
        </p:nvSpPr>
        <p:spPr>
          <a:xfrm>
            <a:off x="566928" y="5868974"/>
            <a:ext cx="11057839" cy="433019"/>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566928" y="5868974"/>
            <a:ext cx="64008" cy="433019"/>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749808" y="5987846"/>
            <a:ext cx="10728655" cy="195275"/>
          </a:xfrm>
          <a:prstGeom prst="rect">
            <a:avLst/>
          </a:prstGeom>
          <a:noFill/>
        </p:spPr>
        <p:txBody>
          <a:bodyPr wrap="square" lIns="0" rIns="0" tIns="0" bIns="0" anchor="t">
            <a:spAutoFit/>
          </a:bodyPr>
          <a:lstStyle/>
          <a:p>
            <a:pPr algn="l">
              <a:lnSpc>
                <a:spcPct val="118000"/>
              </a:lnSpc>
              <a:spcBef>
                <a:spcPts val="0"/>
              </a:spcBef>
              <a:spcAft>
                <a:spcPts val="0"/>
              </a:spcAft>
            </a:pPr>
            <a:r>
              <a:rPr sz="1120" b="0" i="0">
                <a:solidFill>
                  <a:srgbClr val="FFFFFF"/>
                </a:solidFill>
                <a:latin typeface="Arial"/>
              </a:rPr>
              <a:t>IAM không chỉ trả lời </a:t>
            </a:r>
            <a:r>
              <a:rPr sz="1120" b="1" i="0">
                <a:solidFill>
                  <a:srgbClr val="FFFFFF"/>
                </a:solidFill>
                <a:latin typeface="Arial"/>
              </a:rPr>
              <a:t>“ai đăng nhập?”</a:t>
            </a:r>
            <a:r>
              <a:rPr sz="1120" b="0" i="0">
                <a:solidFill>
                  <a:srgbClr val="FFFFFF"/>
                </a:solidFill>
                <a:latin typeface="Arial"/>
              </a:rPr>
              <a:t> mà còn: </a:t>
            </a:r>
            <a:r>
              <a:rPr sz="1120" b="1" i="0">
                <a:solidFill>
                  <a:srgbClr val="FFFFFF"/>
                </a:solidFill>
                <a:latin typeface="Arial"/>
              </a:rPr>
              <a:t>được làm gì, trên tài nguyên nào, và hoạt động đó có được ghi nhận hay không?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PHẦN 5 · BẢO MẬT ỨNG DỤNG &amp; MÁY CHỦ</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400" b="1" i="0">
                <a:solidFill>
                  <a:srgbClr val="0E2D4E"/>
                </a:solidFill>
                <a:latin typeface="Arial"/>
              </a:rPr>
              <a:t>BẢO MẬT SaaS &amp; KIỂM SOÁT TRUY CẬP CHI TIẾT</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15/18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SaaS thay đổi trách nhiệm thế nào?</a:t>
            </a:r>
          </a:p>
        </p:txBody>
      </p:sp>
      <p:sp>
        <p:nvSpPr>
          <p:cNvPr id="10" name="Rectangle 9"/>
          <p:cNvSpPr/>
          <p:nvPr/>
        </p:nvSpPr>
        <p:spPr>
          <a:xfrm>
            <a:off x="566928" y="1550543"/>
            <a:ext cx="5373471" cy="294386"/>
          </a:xfrm>
          <a:prstGeom prst="rect">
            <a:avLst/>
          </a:prstGeom>
          <a:solidFill>
            <a:srgbClr val="0E2D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8368" y="1550543"/>
            <a:ext cx="2503855"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SaaS Provider</a:t>
            </a:r>
          </a:p>
        </p:txBody>
      </p:sp>
      <p:sp>
        <p:nvSpPr>
          <p:cNvPr id="12" name="TextBox 11"/>
          <p:cNvSpPr txBox="1"/>
          <p:nvPr/>
        </p:nvSpPr>
        <p:spPr>
          <a:xfrm>
            <a:off x="3345103" y="1550543"/>
            <a:ext cx="2503855" cy="294386"/>
          </a:xfrm>
          <a:prstGeom prst="rect">
            <a:avLst/>
          </a:prstGeom>
          <a:noFill/>
        </p:spPr>
        <p:txBody>
          <a:bodyPr wrap="square" lIns="0" rIns="0" tIns="0" bIns="0" anchor="ctr">
            <a:spAutoFit/>
          </a:bodyPr>
          <a:lstStyle/>
          <a:p>
            <a:pPr algn="l">
              <a:lnSpc>
                <a:spcPct val="110000"/>
              </a:lnSpc>
              <a:spcBef>
                <a:spcPts val="0"/>
              </a:spcBef>
              <a:spcAft>
                <a:spcPts val="0"/>
              </a:spcAft>
            </a:pPr>
            <a:r>
              <a:rPr sz="1060" b="1" i="0">
                <a:solidFill>
                  <a:srgbClr val="FFFFFF"/>
                </a:solidFill>
                <a:latin typeface="Arial"/>
              </a:rPr>
              <a:t>Khách hàng</a:t>
            </a:r>
          </a:p>
        </p:txBody>
      </p:sp>
      <p:sp>
        <p:nvSpPr>
          <p:cNvPr id="13" name="Rectangle 12"/>
          <p:cNvSpPr/>
          <p:nvPr/>
        </p:nvSpPr>
        <p:spPr>
          <a:xfrm>
            <a:off x="566928" y="1844929"/>
            <a:ext cx="5373471" cy="286283"/>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8368" y="1844929"/>
            <a:ext cx="2503855"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Ứng dụng &amp; nền tảng</a:t>
            </a:r>
          </a:p>
        </p:txBody>
      </p:sp>
      <p:sp>
        <p:nvSpPr>
          <p:cNvPr id="15" name="TextBox 14"/>
          <p:cNvSpPr txBox="1"/>
          <p:nvPr/>
        </p:nvSpPr>
        <p:spPr>
          <a:xfrm>
            <a:off x="3345103" y="1844929"/>
            <a:ext cx="2503855"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Người dùng / định danh</a:t>
            </a:r>
          </a:p>
        </p:txBody>
      </p:sp>
      <p:sp>
        <p:nvSpPr>
          <p:cNvPr id="16" name="Rectangle 15"/>
          <p:cNvSpPr/>
          <p:nvPr/>
        </p:nvSpPr>
        <p:spPr>
          <a:xfrm>
            <a:off x="566928" y="2131212"/>
            <a:ext cx="5373471" cy="286283"/>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2131212"/>
            <a:ext cx="2503855"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Hạ tầng &amp; database</a:t>
            </a:r>
          </a:p>
        </p:txBody>
      </p:sp>
      <p:sp>
        <p:nvSpPr>
          <p:cNvPr id="18" name="TextBox 17"/>
          <p:cNvSpPr txBox="1"/>
          <p:nvPr/>
        </p:nvSpPr>
        <p:spPr>
          <a:xfrm>
            <a:off x="3345103" y="2131212"/>
            <a:ext cx="2503855"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Quyền truy cập</a:t>
            </a:r>
          </a:p>
        </p:txBody>
      </p:sp>
      <p:sp>
        <p:nvSpPr>
          <p:cNvPr id="19" name="Rectangle 18"/>
          <p:cNvSpPr/>
          <p:nvPr/>
        </p:nvSpPr>
        <p:spPr>
          <a:xfrm>
            <a:off x="566928" y="2417495"/>
            <a:ext cx="5373471" cy="286283"/>
          </a:xfrm>
          <a:prstGeom prst="rect">
            <a:avLst/>
          </a:prstGeom>
          <a:solidFill>
            <a:srgbClr val="FFFFFF"/>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8368" y="2417495"/>
            <a:ext cx="2503855"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Vá lỗi &amp; vận hành dịch vụ</a:t>
            </a:r>
          </a:p>
        </p:txBody>
      </p:sp>
      <p:sp>
        <p:nvSpPr>
          <p:cNvPr id="21" name="TextBox 20"/>
          <p:cNvSpPr txBox="1"/>
          <p:nvPr/>
        </p:nvSpPr>
        <p:spPr>
          <a:xfrm>
            <a:off x="3345103" y="2417495"/>
            <a:ext cx="2503855"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Dữ liệu &amp; cấu hình</a:t>
            </a:r>
          </a:p>
        </p:txBody>
      </p:sp>
      <p:sp>
        <p:nvSpPr>
          <p:cNvPr id="22" name="Rectangle 21"/>
          <p:cNvSpPr/>
          <p:nvPr/>
        </p:nvSpPr>
        <p:spPr>
          <a:xfrm>
            <a:off x="566928" y="2703779"/>
            <a:ext cx="5373471" cy="286283"/>
          </a:xfrm>
          <a:prstGeom prst="rect">
            <a:avLst/>
          </a:prstGeom>
          <a:solidFill>
            <a:srgbClr val="F5F9FC"/>
          </a:solidFill>
          <a:ln w="635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8368" y="2703779"/>
            <a:ext cx="2503855"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Bảo mật dịch vụ</a:t>
            </a:r>
          </a:p>
        </p:txBody>
      </p:sp>
      <p:sp>
        <p:nvSpPr>
          <p:cNvPr id="24" name="TextBox 23"/>
          <p:cNvSpPr txBox="1"/>
          <p:nvPr/>
        </p:nvSpPr>
        <p:spPr>
          <a:xfrm>
            <a:off x="3345103" y="2703779"/>
            <a:ext cx="2503855" cy="286283"/>
          </a:xfrm>
          <a:prstGeom prst="rect">
            <a:avLst/>
          </a:prstGeom>
          <a:noFill/>
        </p:spPr>
        <p:txBody>
          <a:bodyPr wrap="square" lIns="0" rIns="0" tIns="0" bIns="0" anchor="ctr">
            <a:spAutoFit/>
          </a:bodyPr>
          <a:lstStyle/>
          <a:p>
            <a:pPr algn="l">
              <a:lnSpc>
                <a:spcPct val="114000"/>
              </a:lnSpc>
              <a:spcBef>
                <a:spcPts val="0"/>
              </a:spcBef>
              <a:spcAft>
                <a:spcPts val="0"/>
              </a:spcAft>
            </a:pPr>
            <a:r>
              <a:rPr sz="1030" b="0" i="0">
                <a:solidFill>
                  <a:srgbClr val="2B3A47"/>
                </a:solidFill>
                <a:latin typeface="Arial"/>
              </a:rPr>
              <a:t>Kiểm soát việc sử dụng</a:t>
            </a:r>
          </a:p>
        </p:txBody>
      </p:sp>
      <p:sp>
        <p:nvSpPr>
          <p:cNvPr id="25" name="Rounded Rectangle 24"/>
          <p:cNvSpPr/>
          <p:nvPr/>
        </p:nvSpPr>
        <p:spPr>
          <a:xfrm>
            <a:off x="566928" y="3118078"/>
            <a:ext cx="5373471" cy="588873"/>
          </a:xfrm>
          <a:prstGeom prst="roundRect">
            <a:avLst>
              <a:gd name="adj" fmla="val 10000"/>
            </a:avLst>
          </a:prstGeom>
          <a:solidFill>
            <a:srgbClr val="EAF2F9"/>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566928" y="3118078"/>
            <a:ext cx="64008" cy="588873"/>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49808" y="3236950"/>
            <a:ext cx="5044287" cy="351129"/>
          </a:xfrm>
          <a:prstGeom prst="rect">
            <a:avLst/>
          </a:prstGeom>
          <a:noFill/>
        </p:spPr>
        <p:txBody>
          <a:bodyPr wrap="square" lIns="0" rIns="0" tIns="0" bIns="0" anchor="t">
            <a:spAutoFit/>
          </a:bodyPr>
          <a:lstStyle/>
          <a:p>
            <a:pPr algn="l">
              <a:lnSpc>
                <a:spcPct val="118000"/>
              </a:lnSpc>
              <a:spcBef>
                <a:spcPts val="0"/>
              </a:spcBef>
              <a:spcAft>
                <a:spcPts val="0"/>
              </a:spcAft>
            </a:pPr>
            <a:r>
              <a:rPr sz="1080" b="0" i="0">
                <a:solidFill>
                  <a:srgbClr val="0E2D4E"/>
                </a:solidFill>
                <a:latin typeface="Arial"/>
              </a:rPr>
              <a:t>CSP quản lý nhiều hơn → khách hàng ít kiểm soát hạ tầng hơn → </a:t>
            </a:r>
            <a:r>
              <a:rPr sz="1080" b="1" i="0">
                <a:solidFill>
                  <a:srgbClr val="0E2D4E"/>
                </a:solidFill>
                <a:latin typeface="Arial"/>
              </a:rPr>
              <a:t>IAM, dữ liệu và quyền truy cập</a:t>
            </a:r>
            <a:r>
              <a:rPr sz="1080" b="0" i="0">
                <a:solidFill>
                  <a:srgbClr val="0E2D4E"/>
                </a:solidFill>
                <a:latin typeface="Arial"/>
              </a:rPr>
              <a:t> trở nên đặc biệt quan trọng.</a:t>
            </a:r>
          </a:p>
        </p:txBody>
      </p:sp>
      <p:sp>
        <p:nvSpPr>
          <p:cNvPr id="28" name="Rectangle 27"/>
          <p:cNvSpPr/>
          <p:nvPr/>
        </p:nvSpPr>
        <p:spPr>
          <a:xfrm>
            <a:off x="566928" y="3908120"/>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85800" y="3889832"/>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Khi đánh giá một dịch vụ SaaS</a:t>
            </a:r>
          </a:p>
        </p:txBody>
      </p:sp>
      <p:sp>
        <p:nvSpPr>
          <p:cNvPr id="30" name="Rounded Rectangle 29"/>
          <p:cNvSpPr/>
          <p:nvPr/>
        </p:nvSpPr>
        <p:spPr>
          <a:xfrm>
            <a:off x="566928" y="4141927"/>
            <a:ext cx="2631871"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19" b="0" i="0">
                <a:solidFill>
                  <a:srgbClr val="0E2D4E"/>
                </a:solidFill>
                <a:latin typeface="Arial"/>
              </a:rPr>
              <a:t>Architecture</a:t>
            </a:r>
          </a:p>
        </p:txBody>
      </p:sp>
      <p:sp>
        <p:nvSpPr>
          <p:cNvPr id="31" name="Rounded Rectangle 30"/>
          <p:cNvSpPr/>
          <p:nvPr/>
        </p:nvSpPr>
        <p:spPr>
          <a:xfrm>
            <a:off x="3308527" y="4141927"/>
            <a:ext cx="2631871"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19" b="0" i="0">
                <a:solidFill>
                  <a:srgbClr val="0E2D4E"/>
                </a:solidFill>
                <a:latin typeface="Arial"/>
              </a:rPr>
              <a:t>Secure Development</a:t>
            </a:r>
          </a:p>
        </p:txBody>
      </p:sp>
      <p:sp>
        <p:nvSpPr>
          <p:cNvPr id="32" name="Rounded Rectangle 31"/>
          <p:cNvSpPr/>
          <p:nvPr/>
        </p:nvSpPr>
        <p:spPr>
          <a:xfrm>
            <a:off x="566928" y="4544263"/>
            <a:ext cx="2631871"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19" b="0" i="0">
                <a:solidFill>
                  <a:srgbClr val="0E2D4E"/>
                </a:solidFill>
                <a:latin typeface="Arial"/>
              </a:rPr>
              <a:t>Security Testing</a:t>
            </a:r>
          </a:p>
        </p:txBody>
      </p:sp>
      <p:sp>
        <p:nvSpPr>
          <p:cNvPr id="33" name="Rounded Rectangle 32"/>
          <p:cNvSpPr/>
          <p:nvPr/>
        </p:nvSpPr>
        <p:spPr>
          <a:xfrm>
            <a:off x="3308527" y="4544263"/>
            <a:ext cx="2631871"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19" b="0" i="0">
                <a:solidFill>
                  <a:srgbClr val="0E2D4E"/>
                </a:solidFill>
                <a:latin typeface="Arial"/>
              </a:rPr>
              <a:t>Release Management</a:t>
            </a:r>
          </a:p>
        </p:txBody>
      </p:sp>
      <p:sp>
        <p:nvSpPr>
          <p:cNvPr id="34" name="Rounded Rectangle 33"/>
          <p:cNvSpPr/>
          <p:nvPr/>
        </p:nvSpPr>
        <p:spPr>
          <a:xfrm>
            <a:off x="566928" y="4946599"/>
            <a:ext cx="2631871"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19" b="0" i="0">
                <a:solidFill>
                  <a:srgbClr val="0E2D4E"/>
                </a:solidFill>
                <a:latin typeface="Arial"/>
              </a:rPr>
              <a:t>Access Control</a:t>
            </a:r>
          </a:p>
        </p:txBody>
      </p:sp>
      <p:sp>
        <p:nvSpPr>
          <p:cNvPr id="35" name="Rounded Rectangle 34"/>
          <p:cNvSpPr/>
          <p:nvPr/>
        </p:nvSpPr>
        <p:spPr>
          <a:xfrm>
            <a:off x="3308527" y="4946599"/>
            <a:ext cx="2631871" cy="310896"/>
          </a:xfrm>
          <a:prstGeom prst="roundRect">
            <a:avLst>
              <a:gd name="adj" fmla="val 30000"/>
            </a:avLst>
          </a:prstGeom>
          <a:solidFill>
            <a:srgbClr val="EAF2F9"/>
          </a:solidFill>
          <a:ln w="9525">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lnSpc>
                <a:spcPct val="100000"/>
              </a:lnSpc>
              <a:spcBef>
                <a:spcPts val="0"/>
              </a:spcBef>
              <a:spcAft>
                <a:spcPts val="0"/>
              </a:spcAft>
            </a:pPr>
            <a:r>
              <a:rPr sz="1019" b="0" i="0">
                <a:solidFill>
                  <a:srgbClr val="0E2D4E"/>
                </a:solidFill>
                <a:latin typeface="Arial"/>
              </a:rPr>
              <a:t>Audit &amp; Review</a:t>
            </a:r>
          </a:p>
        </p:txBody>
      </p:sp>
      <p:sp>
        <p:nvSpPr>
          <p:cNvPr id="36" name="Rectangle 35"/>
          <p:cNvSpPr/>
          <p:nvPr/>
        </p:nvSpPr>
        <p:spPr>
          <a:xfrm>
            <a:off x="6251295"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370167" y="1298448"/>
            <a:ext cx="5254599"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Fine-grained Access Control</a:t>
            </a:r>
          </a:p>
        </p:txBody>
      </p:sp>
      <p:sp>
        <p:nvSpPr>
          <p:cNvPr id="38" name="Rounded Rectangle 37"/>
          <p:cNvSpPr/>
          <p:nvPr/>
        </p:nvSpPr>
        <p:spPr>
          <a:xfrm>
            <a:off x="6251295" y="1550543"/>
            <a:ext cx="5373471" cy="786384"/>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379311" y="1678559"/>
            <a:ext cx="5117439" cy="348589"/>
          </a:xfrm>
          <a:prstGeom prst="rect">
            <a:avLst/>
          </a:prstGeom>
          <a:noFill/>
        </p:spPr>
        <p:txBody>
          <a:bodyPr wrap="square" lIns="0" rIns="0" tIns="0" bIns="0" anchor="t">
            <a:spAutoFit/>
          </a:bodyPr>
          <a:lstStyle/>
          <a:p>
            <a:pPr algn="l">
              <a:lnSpc>
                <a:spcPct val="116000"/>
              </a:lnSpc>
              <a:spcBef>
                <a:spcPts val="0"/>
              </a:spcBef>
              <a:spcAft>
                <a:spcPts val="0"/>
              </a:spcAft>
            </a:pPr>
            <a:r>
              <a:rPr sz="1090" b="0" i="0">
                <a:solidFill>
                  <a:srgbClr val="2B3A47"/>
                </a:solidFill>
                <a:latin typeface="Arial"/>
              </a:rPr>
              <a:t>Không chỉ hỏi “ai được vào ứng dụng?” mà </a:t>
            </a:r>
            <a:r>
              <a:rPr sz="1090" b="1" i="0">
                <a:solidFill>
                  <a:srgbClr val="1F6FB2"/>
                </a:solidFill>
                <a:latin typeface="Arial"/>
              </a:rPr>
              <a:t>“ai được làm gì, trên tài nguyên nào, trong điều kiện nào?”</a:t>
            </a:r>
          </a:p>
        </p:txBody>
      </p:sp>
      <p:sp>
        <p:nvSpPr>
          <p:cNvPr id="40" name="Rounded Rectangle 39"/>
          <p:cNvSpPr/>
          <p:nvPr/>
        </p:nvSpPr>
        <p:spPr>
          <a:xfrm>
            <a:off x="6251295" y="2483231"/>
            <a:ext cx="1247355" cy="71323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00" b="1" i="0">
                <a:solidFill>
                  <a:srgbClr val="0E2D4E"/>
                </a:solidFill>
                <a:latin typeface="Arial"/>
              </a:rPr>
              <a:t>Identity</a:t>
            </a:r>
          </a:p>
          <a:p>
            <a:pPr algn="ctr">
              <a:lnSpc>
                <a:spcPct val="106000"/>
              </a:lnSpc>
              <a:spcBef>
                <a:spcPts val="200"/>
              </a:spcBef>
              <a:spcAft>
                <a:spcPts val="0"/>
              </a:spcAft>
            </a:pPr>
            <a:r>
              <a:rPr sz="840" b="0" i="0">
                <a:solidFill>
                  <a:srgbClr val="64788A"/>
                </a:solidFill>
                <a:latin typeface="Arial"/>
              </a:rPr>
              <a:t>Nhân viên kế toán</a:t>
            </a:r>
          </a:p>
        </p:txBody>
      </p:sp>
      <p:sp>
        <p:nvSpPr>
          <p:cNvPr id="41" name="Right Arrow 40"/>
          <p:cNvSpPr/>
          <p:nvPr/>
        </p:nvSpPr>
        <p:spPr>
          <a:xfrm>
            <a:off x="7452931" y="2771267"/>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7626667" y="2483231"/>
            <a:ext cx="1247355" cy="71323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00" b="1" i="0">
                <a:solidFill>
                  <a:srgbClr val="0E2D4E"/>
                </a:solidFill>
                <a:latin typeface="Arial"/>
              </a:rPr>
              <a:t>Resource</a:t>
            </a:r>
          </a:p>
          <a:p>
            <a:pPr algn="ctr">
              <a:lnSpc>
                <a:spcPct val="106000"/>
              </a:lnSpc>
              <a:spcBef>
                <a:spcPts val="200"/>
              </a:spcBef>
              <a:spcAft>
                <a:spcPts val="0"/>
              </a:spcAft>
            </a:pPr>
            <a:r>
              <a:rPr sz="840" b="0" i="0">
                <a:solidFill>
                  <a:srgbClr val="64788A"/>
                </a:solidFill>
                <a:latin typeface="Arial"/>
              </a:rPr>
              <a:t>Báo cáo tài chính</a:t>
            </a:r>
          </a:p>
        </p:txBody>
      </p:sp>
      <p:sp>
        <p:nvSpPr>
          <p:cNvPr id="43" name="Right Arrow 42"/>
          <p:cNvSpPr/>
          <p:nvPr/>
        </p:nvSpPr>
        <p:spPr>
          <a:xfrm>
            <a:off x="8828303" y="2771267"/>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ounded Rectangle 43"/>
          <p:cNvSpPr/>
          <p:nvPr/>
        </p:nvSpPr>
        <p:spPr>
          <a:xfrm>
            <a:off x="9002039" y="2483231"/>
            <a:ext cx="1247355" cy="71323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00" b="1" i="0">
                <a:solidFill>
                  <a:srgbClr val="0E2D4E"/>
                </a:solidFill>
                <a:latin typeface="Arial"/>
              </a:rPr>
              <a:t>Action</a:t>
            </a:r>
          </a:p>
          <a:p>
            <a:pPr algn="ctr">
              <a:lnSpc>
                <a:spcPct val="106000"/>
              </a:lnSpc>
              <a:spcBef>
                <a:spcPts val="200"/>
              </a:spcBef>
              <a:spcAft>
                <a:spcPts val="0"/>
              </a:spcAft>
            </a:pPr>
            <a:r>
              <a:rPr sz="840" b="0" i="0">
                <a:solidFill>
                  <a:srgbClr val="64788A"/>
                </a:solidFill>
                <a:latin typeface="Arial"/>
              </a:rPr>
              <a:t>Xem / sửa / chia sẻ</a:t>
            </a:r>
          </a:p>
        </p:txBody>
      </p:sp>
      <p:sp>
        <p:nvSpPr>
          <p:cNvPr id="45" name="Right Arrow 44"/>
          <p:cNvSpPr/>
          <p:nvPr/>
        </p:nvSpPr>
        <p:spPr>
          <a:xfrm>
            <a:off x="10203675" y="2771267"/>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ounded Rectangle 45"/>
          <p:cNvSpPr/>
          <p:nvPr/>
        </p:nvSpPr>
        <p:spPr>
          <a:xfrm>
            <a:off x="10377411" y="2483231"/>
            <a:ext cx="1247355" cy="71323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00" b="1" i="0">
                <a:solidFill>
                  <a:srgbClr val="0E2D4E"/>
                </a:solidFill>
                <a:latin typeface="Arial"/>
              </a:rPr>
              <a:t>Condition</a:t>
            </a:r>
          </a:p>
          <a:p>
            <a:pPr algn="ctr">
              <a:lnSpc>
                <a:spcPct val="106000"/>
              </a:lnSpc>
              <a:spcBef>
                <a:spcPts val="200"/>
              </a:spcBef>
              <a:spcAft>
                <a:spcPts val="0"/>
              </a:spcAft>
            </a:pPr>
            <a:r>
              <a:rPr sz="840" b="0" i="0">
                <a:solidFill>
                  <a:srgbClr val="64788A"/>
                </a:solidFill>
                <a:latin typeface="Arial"/>
              </a:rPr>
              <a:t>Thiết bị, vị trí, thời gian</a:t>
            </a:r>
          </a:p>
        </p:txBody>
      </p:sp>
      <p:sp>
        <p:nvSpPr>
          <p:cNvPr id="47" name="Rounded Rectangle 46"/>
          <p:cNvSpPr/>
          <p:nvPr/>
        </p:nvSpPr>
        <p:spPr>
          <a:xfrm>
            <a:off x="6251295" y="3361055"/>
            <a:ext cx="5373471" cy="1261872"/>
          </a:xfrm>
          <a:prstGeom prst="roundRect">
            <a:avLst>
              <a:gd name="adj" fmla="val 6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6251295" y="3361055"/>
            <a:ext cx="59436" cy="1261872"/>
          </a:xfrm>
          <a:prstGeom prst="rect">
            <a:avLst/>
          </a:prstGeom>
          <a:solidFill>
            <a:srgbClr val="B83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452463" y="3498215"/>
            <a:ext cx="5035143" cy="195072"/>
          </a:xfrm>
          <a:prstGeom prst="rect">
            <a:avLst/>
          </a:prstGeom>
          <a:noFill/>
        </p:spPr>
        <p:txBody>
          <a:bodyPr wrap="square" lIns="0" rIns="0" tIns="0" bIns="0" anchor="t">
            <a:spAutoFit/>
          </a:bodyPr>
          <a:lstStyle/>
          <a:p>
            <a:pPr algn="l">
              <a:lnSpc>
                <a:spcPct val="110000"/>
              </a:lnSpc>
              <a:spcBef>
                <a:spcPts val="0"/>
              </a:spcBef>
              <a:spcAft>
                <a:spcPts val="0"/>
              </a:spcAft>
            </a:pPr>
            <a:r>
              <a:rPr sz="1200" b="1" i="0">
                <a:solidFill>
                  <a:srgbClr val="B8342A"/>
                </a:solidFill>
                <a:latin typeface="Arial"/>
              </a:rPr>
              <a:t>3 · Rủi ro khi quyền quá thô</a:t>
            </a:r>
          </a:p>
        </p:txBody>
      </p:sp>
      <p:sp>
        <p:nvSpPr>
          <p:cNvPr id="50" name="TextBox 49"/>
          <p:cNvSpPr txBox="1"/>
          <p:nvPr/>
        </p:nvSpPr>
        <p:spPr>
          <a:xfrm>
            <a:off x="6452463" y="3753637"/>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40" b="1" i="0">
                <a:solidFill>
                  <a:srgbClr val="B8342A"/>
                </a:solidFill>
                <a:latin typeface="Arial"/>
              </a:rPr>
              <a:t>•</a:t>
            </a:r>
          </a:p>
        </p:txBody>
      </p:sp>
      <p:sp>
        <p:nvSpPr>
          <p:cNvPr id="51" name="TextBox 50"/>
          <p:cNvSpPr txBox="1"/>
          <p:nvPr/>
        </p:nvSpPr>
        <p:spPr>
          <a:xfrm>
            <a:off x="6589623" y="3757294"/>
            <a:ext cx="4897983" cy="180644"/>
          </a:xfrm>
          <a:prstGeom prst="rect">
            <a:avLst/>
          </a:prstGeom>
          <a:noFill/>
        </p:spPr>
        <p:txBody>
          <a:bodyPr wrap="square" lIns="0" rIns="0" tIns="0" bIns="0" anchor="t">
            <a:spAutoFit/>
          </a:bodyPr>
          <a:lstStyle/>
          <a:p>
            <a:pPr algn="l">
              <a:lnSpc>
                <a:spcPct val="116000"/>
              </a:lnSpc>
              <a:spcBef>
                <a:spcPts val="0"/>
              </a:spcBef>
              <a:spcAft>
                <a:spcPts val="0"/>
              </a:spcAft>
            </a:pPr>
            <a:r>
              <a:rPr sz="1040" b="0" i="0">
                <a:solidFill>
                  <a:srgbClr val="2B3A47"/>
                </a:solidFill>
                <a:latin typeface="Arial"/>
              </a:rPr>
              <a:t>Chỉ có mức quyền đơn giản </a:t>
            </a:r>
            <a:r>
              <a:rPr sz="1040" b="1" i="0">
                <a:solidFill>
                  <a:srgbClr val="B8342A"/>
                </a:solidFill>
                <a:latin typeface="Arial"/>
              </a:rPr>
              <a:t>View / Edit / Share</a:t>
            </a:r>
            <a:r>
              <a:rPr sz="1040" b="0" i="0">
                <a:solidFill>
                  <a:srgbClr val="2B3A47"/>
                </a:solidFill>
                <a:latin typeface="Arial"/>
              </a:rPr>
              <a:t>.</a:t>
            </a:r>
          </a:p>
        </p:txBody>
      </p:sp>
      <p:sp>
        <p:nvSpPr>
          <p:cNvPr id="52" name="TextBox 51"/>
          <p:cNvSpPr txBox="1"/>
          <p:nvPr/>
        </p:nvSpPr>
        <p:spPr>
          <a:xfrm>
            <a:off x="6452463" y="3997782"/>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40" b="1" i="0">
                <a:solidFill>
                  <a:srgbClr val="B8342A"/>
                </a:solidFill>
                <a:latin typeface="Arial"/>
              </a:rPr>
              <a:t>•</a:t>
            </a:r>
          </a:p>
        </p:txBody>
      </p:sp>
      <p:sp>
        <p:nvSpPr>
          <p:cNvPr id="53" name="TextBox 52"/>
          <p:cNvSpPr txBox="1"/>
          <p:nvPr/>
        </p:nvSpPr>
        <p:spPr>
          <a:xfrm>
            <a:off x="6589623" y="4001439"/>
            <a:ext cx="4897983" cy="180644"/>
          </a:xfrm>
          <a:prstGeom prst="rect">
            <a:avLst/>
          </a:prstGeom>
          <a:noFill/>
        </p:spPr>
        <p:txBody>
          <a:bodyPr wrap="square" lIns="0" rIns="0" tIns="0" bIns="0" anchor="t">
            <a:spAutoFit/>
          </a:bodyPr>
          <a:lstStyle/>
          <a:p>
            <a:pPr algn="l">
              <a:lnSpc>
                <a:spcPct val="116000"/>
              </a:lnSpc>
              <a:spcBef>
                <a:spcPts val="0"/>
              </a:spcBef>
              <a:spcAft>
                <a:spcPts val="0"/>
              </a:spcAft>
            </a:pPr>
            <a:r>
              <a:rPr sz="1040" b="0" i="0">
                <a:solidFill>
                  <a:srgbClr val="2B3A47"/>
                </a:solidFill>
                <a:latin typeface="Arial"/>
              </a:rPr>
              <a:t>Khó giới hạn theo </a:t>
            </a:r>
            <a:r>
              <a:rPr sz="1040" b="1" i="0">
                <a:solidFill>
                  <a:srgbClr val="B8342A"/>
                </a:solidFill>
                <a:latin typeface="Arial"/>
              </a:rPr>
              <a:t>người dùng → tài nguyên → hành động → điều kiện</a:t>
            </a:r>
            <a:r>
              <a:rPr sz="1040" b="0" i="0">
                <a:solidFill>
                  <a:srgbClr val="2B3A47"/>
                </a:solidFill>
                <a:latin typeface="Arial"/>
              </a:rPr>
              <a:t>.</a:t>
            </a:r>
          </a:p>
        </p:txBody>
      </p:sp>
      <p:sp>
        <p:nvSpPr>
          <p:cNvPr id="54" name="TextBox 53"/>
          <p:cNvSpPr txBox="1"/>
          <p:nvPr/>
        </p:nvSpPr>
        <p:spPr>
          <a:xfrm>
            <a:off x="6452463" y="4241927"/>
            <a:ext cx="137160" cy="274320"/>
          </a:xfrm>
          <a:prstGeom prst="rect">
            <a:avLst/>
          </a:prstGeom>
          <a:noFill/>
        </p:spPr>
        <p:txBody>
          <a:bodyPr wrap="square" lIns="0" rIns="0" tIns="0" bIns="0" anchor="t">
            <a:spAutoFit/>
          </a:bodyPr>
          <a:lstStyle/>
          <a:p>
            <a:pPr algn="l">
              <a:lnSpc>
                <a:spcPct val="116000"/>
              </a:lnSpc>
              <a:spcBef>
                <a:spcPts val="0"/>
              </a:spcBef>
              <a:spcAft>
                <a:spcPts val="0"/>
              </a:spcAft>
            </a:pPr>
            <a:r>
              <a:rPr sz="1040" b="1" i="0">
                <a:solidFill>
                  <a:srgbClr val="B8342A"/>
                </a:solidFill>
                <a:latin typeface="Arial"/>
              </a:rPr>
              <a:t>•</a:t>
            </a:r>
          </a:p>
        </p:txBody>
      </p:sp>
      <p:sp>
        <p:nvSpPr>
          <p:cNvPr id="55" name="TextBox 54"/>
          <p:cNvSpPr txBox="1"/>
          <p:nvPr/>
        </p:nvSpPr>
        <p:spPr>
          <a:xfrm>
            <a:off x="6589623" y="4245584"/>
            <a:ext cx="4897983" cy="180644"/>
          </a:xfrm>
          <a:prstGeom prst="rect">
            <a:avLst/>
          </a:prstGeom>
          <a:noFill/>
        </p:spPr>
        <p:txBody>
          <a:bodyPr wrap="square" lIns="0" rIns="0" tIns="0" bIns="0" anchor="t">
            <a:spAutoFit/>
          </a:bodyPr>
          <a:lstStyle/>
          <a:p>
            <a:pPr algn="l">
              <a:lnSpc>
                <a:spcPct val="116000"/>
              </a:lnSpc>
              <a:spcBef>
                <a:spcPts val="0"/>
              </a:spcBef>
              <a:spcAft>
                <a:spcPts val="0"/>
              </a:spcAft>
            </a:pPr>
            <a:r>
              <a:rPr sz="1040" b="0" i="0">
                <a:solidFill>
                  <a:srgbClr val="2B3A47"/>
                </a:solidFill>
                <a:latin typeface="Arial"/>
              </a:rPr>
              <a:t>Dễ phát sinh </a:t>
            </a:r>
            <a:r>
              <a:rPr sz="1040" b="1" i="0">
                <a:solidFill>
                  <a:srgbClr val="B8342A"/>
                </a:solidFill>
                <a:latin typeface="Arial"/>
              </a:rPr>
              <a:t>over-privilege</a:t>
            </a:r>
            <a:r>
              <a:rPr sz="1040" b="0" i="0">
                <a:solidFill>
                  <a:srgbClr val="2B3A47"/>
                </a:solidFill>
                <a:latin typeface="Arial"/>
              </a:rPr>
              <a:t>, khó đáp ứng kiểm toán.</a:t>
            </a:r>
          </a:p>
        </p:txBody>
      </p:sp>
      <p:sp>
        <p:nvSpPr>
          <p:cNvPr id="56" name="Rounded Rectangle 55"/>
          <p:cNvSpPr/>
          <p:nvPr/>
        </p:nvSpPr>
        <p:spPr>
          <a:xfrm>
            <a:off x="6251295" y="4769231"/>
            <a:ext cx="5373471" cy="588873"/>
          </a:xfrm>
          <a:prstGeom prst="roundRect">
            <a:avLst>
              <a:gd name="adj" fmla="val 10000"/>
            </a:avLst>
          </a:prstGeom>
          <a:solidFill>
            <a:srgbClr val="FDF4E4"/>
          </a:solidFill>
          <a:ln w="12700">
            <a:solidFill>
              <a:srgbClr val="EBD2A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6251295" y="4769231"/>
            <a:ext cx="64008" cy="588873"/>
          </a:xfrm>
          <a:prstGeom prst="rect">
            <a:avLst/>
          </a:prstGeom>
          <a:solidFill>
            <a:srgbClr val="A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6434175" y="4888103"/>
            <a:ext cx="5044287" cy="351129"/>
          </a:xfrm>
          <a:prstGeom prst="rect">
            <a:avLst/>
          </a:prstGeom>
          <a:noFill/>
        </p:spPr>
        <p:txBody>
          <a:bodyPr wrap="square" lIns="0" rIns="0" tIns="0" bIns="0" anchor="t">
            <a:spAutoFit/>
          </a:bodyPr>
          <a:lstStyle/>
          <a:p>
            <a:pPr algn="l">
              <a:lnSpc>
                <a:spcPct val="118000"/>
              </a:lnSpc>
              <a:spcBef>
                <a:spcPts val="0"/>
              </a:spcBef>
              <a:spcAft>
                <a:spcPts val="0"/>
              </a:spcAft>
            </a:pPr>
            <a:r>
              <a:rPr sz="1080" b="0" i="0">
                <a:solidFill>
                  <a:srgbClr val="A86A00"/>
                </a:solidFill>
                <a:latin typeface="Arial"/>
              </a:rPr>
              <a:t>Tài liệu có thể </a:t>
            </a:r>
            <a:r>
              <a:rPr sz="1080" b="1" i="0">
                <a:solidFill>
                  <a:srgbClr val="A86A00"/>
                </a:solidFill>
                <a:latin typeface="Arial"/>
              </a:rPr>
              <a:t>nhúng / tham chiếu tài nguyên khác</a:t>
            </a:r>
            <a:r>
              <a:rPr sz="1080" b="0" i="0">
                <a:solidFill>
                  <a:srgbClr val="A86A00"/>
                </a:solidFill>
                <a:latin typeface="Arial"/>
              </a:rPr>
              <a:t>: thu hồi quyền tài liệu chính ≠ thu hồi mọi quyền liên quan.</a:t>
            </a:r>
          </a:p>
        </p:txBody>
      </p:sp>
      <p:sp>
        <p:nvSpPr>
          <p:cNvPr id="59" name="Rounded Rectangle 58"/>
          <p:cNvSpPr/>
          <p:nvPr/>
        </p:nvSpPr>
        <p:spPr>
          <a:xfrm>
            <a:off x="566928" y="5449544"/>
            <a:ext cx="11057839" cy="436016"/>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566928" y="5449544"/>
            <a:ext cx="64008" cy="436016"/>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749808" y="5568416"/>
            <a:ext cx="10728655" cy="198272"/>
          </a:xfrm>
          <a:prstGeom prst="rect">
            <a:avLst/>
          </a:prstGeom>
          <a:noFill/>
        </p:spPr>
        <p:txBody>
          <a:bodyPr wrap="square" lIns="0" rIns="0" tIns="0" bIns="0" anchor="t">
            <a:spAutoFit/>
          </a:bodyPr>
          <a:lstStyle/>
          <a:p>
            <a:pPr algn="l">
              <a:lnSpc>
                <a:spcPct val="118000"/>
              </a:lnSpc>
              <a:spcBef>
                <a:spcPts val="0"/>
              </a:spcBef>
              <a:spcAft>
                <a:spcPts val="0"/>
              </a:spcAft>
            </a:pPr>
            <a:r>
              <a:rPr sz="1140" b="1" i="0">
                <a:solidFill>
                  <a:srgbClr val="FFFFFF"/>
                </a:solidFill>
                <a:latin typeface="Arial"/>
              </a:rPr>
              <a:t>Identity → Resource → Action → Condition</a:t>
            </a:r>
            <a:r>
              <a:rPr sz="1140" b="0" i="0">
                <a:solidFill>
                  <a:srgbClr val="FFFFFF"/>
                </a:solidFill>
                <a:latin typeface="Arial"/>
              </a:rPr>
              <a:t>, đi kèm </a:t>
            </a:r>
            <a:r>
              <a:rPr sz="1140" b="1" i="0">
                <a:solidFill>
                  <a:srgbClr val="FFFFFF"/>
                </a:solidFill>
                <a:latin typeface="Arial"/>
              </a:rPr>
              <a:t>Least Privilege + Logging + Monitoring + Access Review</a:t>
            </a:r>
            <a:r>
              <a:rPr sz="1140" b="0" i="0">
                <a:solidFill>
                  <a:srgbClr val="FFFFFF"/>
                </a:solidFill>
                <a:latin typeface="Arial"/>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PHẦN 5 · BẢO MẬT ỨNG DỤNG &amp; MÁY CHỦ</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100" b="1" i="0">
                <a:solidFill>
                  <a:srgbClr val="0E2D4E"/>
                </a:solidFill>
                <a:latin typeface="Arial"/>
              </a:rPr>
              <a:t>BẢO MẬT MÁY CHỦ ẢO (VIRTUAL MACHINE SECURITY)</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16/18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IaaS: khách hàng trực tiếp quản lý VM</a:t>
            </a:r>
          </a:p>
        </p:txBody>
      </p:sp>
      <p:sp>
        <p:nvSpPr>
          <p:cNvPr id="10" name="Rounded Rectangle 9"/>
          <p:cNvSpPr/>
          <p:nvPr/>
        </p:nvSpPr>
        <p:spPr>
          <a:xfrm>
            <a:off x="566928" y="1550543"/>
            <a:ext cx="1675333" cy="384048"/>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0E2D4E"/>
                </a:solidFill>
                <a:latin typeface="Arial"/>
              </a:rPr>
              <a:t>VM</a:t>
            </a:r>
          </a:p>
        </p:txBody>
      </p:sp>
      <p:sp>
        <p:nvSpPr>
          <p:cNvPr id="11" name="Right Arrow 10"/>
          <p:cNvSpPr/>
          <p:nvPr/>
        </p:nvSpPr>
        <p:spPr>
          <a:xfrm>
            <a:off x="2233117" y="1673987"/>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2443429" y="1550543"/>
            <a:ext cx="1675333" cy="384048"/>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0E2D4E"/>
                </a:solidFill>
                <a:latin typeface="Arial"/>
              </a:rPr>
              <a:t>OS</a:t>
            </a:r>
          </a:p>
        </p:txBody>
      </p:sp>
      <p:sp>
        <p:nvSpPr>
          <p:cNvPr id="13" name="Right Arrow 12"/>
          <p:cNvSpPr/>
          <p:nvPr/>
        </p:nvSpPr>
        <p:spPr>
          <a:xfrm>
            <a:off x="4109618" y="1673987"/>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319930" y="1550543"/>
            <a:ext cx="1675333" cy="384048"/>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0E2D4E"/>
                </a:solidFill>
                <a:latin typeface="Arial"/>
              </a:rPr>
              <a:t>Services</a:t>
            </a:r>
          </a:p>
        </p:txBody>
      </p:sp>
      <p:sp>
        <p:nvSpPr>
          <p:cNvPr id="15" name="Right Arrow 14"/>
          <p:cNvSpPr/>
          <p:nvPr/>
        </p:nvSpPr>
        <p:spPr>
          <a:xfrm>
            <a:off x="5986119" y="1673987"/>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196431" y="1550543"/>
            <a:ext cx="1675333" cy="384048"/>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0E2D4E"/>
                </a:solidFill>
                <a:latin typeface="Arial"/>
              </a:rPr>
              <a:t>Accounts</a:t>
            </a:r>
          </a:p>
        </p:txBody>
      </p:sp>
      <p:sp>
        <p:nvSpPr>
          <p:cNvPr id="17" name="Right Arrow 16"/>
          <p:cNvSpPr/>
          <p:nvPr/>
        </p:nvSpPr>
        <p:spPr>
          <a:xfrm>
            <a:off x="7862620" y="1673987"/>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8072932" y="1550543"/>
            <a:ext cx="1675333" cy="384048"/>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0E2D4E"/>
                </a:solidFill>
                <a:latin typeface="Arial"/>
              </a:rPr>
              <a:t>Network Rules</a:t>
            </a:r>
          </a:p>
        </p:txBody>
      </p:sp>
      <p:sp>
        <p:nvSpPr>
          <p:cNvPr id="19" name="Right Arrow 18"/>
          <p:cNvSpPr/>
          <p:nvPr/>
        </p:nvSpPr>
        <p:spPr>
          <a:xfrm>
            <a:off x="9739122" y="1673987"/>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9949434" y="1550543"/>
            <a:ext cx="1675333" cy="384048"/>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80" b="1" i="0">
                <a:solidFill>
                  <a:srgbClr val="0E2D4E"/>
                </a:solidFill>
                <a:latin typeface="Arial"/>
              </a:rPr>
              <a:t>Application</a:t>
            </a:r>
          </a:p>
        </p:txBody>
      </p:sp>
      <p:sp>
        <p:nvSpPr>
          <p:cNvPr id="21" name="Rounded Rectangle 20"/>
          <p:cNvSpPr/>
          <p:nvPr/>
        </p:nvSpPr>
        <p:spPr>
          <a:xfrm>
            <a:off x="566928" y="2026031"/>
            <a:ext cx="11057839" cy="588873"/>
          </a:xfrm>
          <a:prstGeom prst="roundRect">
            <a:avLst>
              <a:gd name="adj" fmla="val 10000"/>
            </a:avLst>
          </a:prstGeom>
          <a:solidFill>
            <a:srgbClr val="FDF4E4"/>
          </a:solidFill>
          <a:ln w="12700">
            <a:solidFill>
              <a:srgbClr val="EBD2A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566928" y="2026031"/>
            <a:ext cx="64008" cy="588873"/>
          </a:xfrm>
          <a:prstGeom prst="rect">
            <a:avLst/>
          </a:prstGeom>
          <a:solidFill>
            <a:srgbClr val="A86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49808" y="2144903"/>
            <a:ext cx="10728655" cy="351129"/>
          </a:xfrm>
          <a:prstGeom prst="rect">
            <a:avLst/>
          </a:prstGeom>
          <a:noFill/>
        </p:spPr>
        <p:txBody>
          <a:bodyPr wrap="square" lIns="0" rIns="0" tIns="0" bIns="0" anchor="t">
            <a:spAutoFit/>
          </a:bodyPr>
          <a:lstStyle/>
          <a:p>
            <a:pPr algn="l">
              <a:lnSpc>
                <a:spcPct val="118000"/>
              </a:lnSpc>
              <a:spcBef>
                <a:spcPts val="0"/>
              </a:spcBef>
              <a:spcAft>
                <a:spcPts val="0"/>
              </a:spcAft>
            </a:pPr>
            <a:r>
              <a:rPr sz="1080" b="1" i="0">
                <a:solidFill>
                  <a:srgbClr val="A86A00"/>
                </a:solidFill>
                <a:latin typeface="Arial"/>
              </a:rPr>
              <a:t>Self-provisioning</a:t>
            </a:r>
            <a:r>
              <a:rPr sz="1080" b="0" i="0">
                <a:solidFill>
                  <a:srgbClr val="A86A00"/>
                </a:solidFill>
                <a:latin typeface="Arial"/>
              </a:rPr>
              <a:t> tạo VM rất nhanh nhưng dễ sinh ra: image chưa gia cố · cổng/dịch vụ thừa · credential lưu sai chỗ · quyền quá rộng. → </a:t>
            </a:r>
            <a:r>
              <a:rPr sz="1080" b="1" i="0">
                <a:solidFill>
                  <a:srgbClr val="A86A00"/>
                </a:solidFill>
                <a:latin typeface="Arial"/>
              </a:rPr>
              <a:t>Secure-by-default: VM phải bắt đầu từ cấu hình an toàn.</a:t>
            </a:r>
          </a:p>
        </p:txBody>
      </p:sp>
      <p:sp>
        <p:nvSpPr>
          <p:cNvPr id="24" name="Rectangle 23"/>
          <p:cNvSpPr/>
          <p:nvPr/>
        </p:nvSpPr>
        <p:spPr>
          <a:xfrm>
            <a:off x="566928" y="2816072"/>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85800" y="2797784"/>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VM Security Checklist — 6 lớp kiểm soát</a:t>
            </a:r>
          </a:p>
        </p:txBody>
      </p:sp>
      <p:sp>
        <p:nvSpPr>
          <p:cNvPr id="26" name="Rounded Rectangle 25"/>
          <p:cNvSpPr/>
          <p:nvPr/>
        </p:nvSpPr>
        <p:spPr>
          <a:xfrm>
            <a:off x="566928" y="3049879"/>
            <a:ext cx="3551834" cy="91440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04088" y="3187039"/>
            <a:ext cx="3277514" cy="183896"/>
          </a:xfrm>
          <a:prstGeom prst="rect">
            <a:avLst/>
          </a:prstGeom>
          <a:noFill/>
        </p:spPr>
        <p:txBody>
          <a:bodyPr wrap="square" lIns="0" rIns="0" tIns="0" bIns="0" anchor="t">
            <a:spAutoFit/>
          </a:bodyPr>
          <a:lstStyle/>
          <a:p>
            <a:pPr algn="l">
              <a:lnSpc>
                <a:spcPct val="110000"/>
              </a:lnSpc>
              <a:spcBef>
                <a:spcPts val="0"/>
              </a:spcBef>
              <a:spcAft>
                <a:spcPts val="0"/>
              </a:spcAft>
            </a:pPr>
            <a:r>
              <a:rPr sz="1120" b="1" i="0">
                <a:solidFill>
                  <a:srgbClr val="0E2D4E"/>
                </a:solidFill>
                <a:latin typeface="Arial"/>
              </a:rPr>
              <a:t>1 · Hardened Image</a:t>
            </a:r>
          </a:p>
        </p:txBody>
      </p:sp>
      <p:sp>
        <p:nvSpPr>
          <p:cNvPr id="28" name="TextBox 27"/>
          <p:cNvSpPr txBox="1"/>
          <p:nvPr/>
        </p:nvSpPr>
        <p:spPr>
          <a:xfrm>
            <a:off x="704088" y="3434943"/>
            <a:ext cx="3277514" cy="322072"/>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2B3A47"/>
                </a:solidFill>
                <a:latin typeface="Arial"/>
              </a:rPr>
              <a:t>Golden image đã kiểm tra; chỉ cài thành phần cần thiết</a:t>
            </a:r>
          </a:p>
        </p:txBody>
      </p:sp>
      <p:sp>
        <p:nvSpPr>
          <p:cNvPr id="29" name="Rounded Rectangle 28"/>
          <p:cNvSpPr/>
          <p:nvPr/>
        </p:nvSpPr>
        <p:spPr>
          <a:xfrm>
            <a:off x="4319930" y="3049879"/>
            <a:ext cx="3551834" cy="91440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457090" y="3187039"/>
            <a:ext cx="3277514" cy="183896"/>
          </a:xfrm>
          <a:prstGeom prst="rect">
            <a:avLst/>
          </a:prstGeom>
          <a:noFill/>
        </p:spPr>
        <p:txBody>
          <a:bodyPr wrap="square" lIns="0" rIns="0" tIns="0" bIns="0" anchor="t">
            <a:spAutoFit/>
          </a:bodyPr>
          <a:lstStyle/>
          <a:p>
            <a:pPr algn="l">
              <a:lnSpc>
                <a:spcPct val="110000"/>
              </a:lnSpc>
              <a:spcBef>
                <a:spcPts val="0"/>
              </a:spcBef>
              <a:spcAft>
                <a:spcPts val="0"/>
              </a:spcAft>
            </a:pPr>
            <a:r>
              <a:rPr sz="1120" b="1" i="0">
                <a:solidFill>
                  <a:srgbClr val="0E2D4E"/>
                </a:solidFill>
                <a:latin typeface="Arial"/>
              </a:rPr>
              <a:t>2 · Patch &amp; Configuration</a:t>
            </a:r>
          </a:p>
        </p:txBody>
      </p:sp>
      <p:sp>
        <p:nvSpPr>
          <p:cNvPr id="31" name="TextBox 30"/>
          <p:cNvSpPr txBox="1"/>
          <p:nvPr/>
        </p:nvSpPr>
        <p:spPr>
          <a:xfrm>
            <a:off x="4457090" y="3434943"/>
            <a:ext cx="3277514" cy="174751"/>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2B3A47"/>
                </a:solidFill>
                <a:latin typeface="Arial"/>
              </a:rPr>
              <a:t>Vá OS/package; chuẩn hóa cấu hình, kiểm tra drift</a:t>
            </a:r>
          </a:p>
        </p:txBody>
      </p:sp>
      <p:sp>
        <p:nvSpPr>
          <p:cNvPr id="32" name="Rounded Rectangle 31"/>
          <p:cNvSpPr/>
          <p:nvPr/>
        </p:nvSpPr>
        <p:spPr>
          <a:xfrm>
            <a:off x="8072932" y="3049879"/>
            <a:ext cx="3551834" cy="91440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210092" y="3187039"/>
            <a:ext cx="3277514" cy="183896"/>
          </a:xfrm>
          <a:prstGeom prst="rect">
            <a:avLst/>
          </a:prstGeom>
          <a:noFill/>
        </p:spPr>
        <p:txBody>
          <a:bodyPr wrap="square" lIns="0" rIns="0" tIns="0" bIns="0" anchor="t">
            <a:spAutoFit/>
          </a:bodyPr>
          <a:lstStyle/>
          <a:p>
            <a:pPr algn="l">
              <a:lnSpc>
                <a:spcPct val="110000"/>
              </a:lnSpc>
              <a:spcBef>
                <a:spcPts val="0"/>
              </a:spcBef>
              <a:spcAft>
                <a:spcPts val="0"/>
              </a:spcAft>
            </a:pPr>
            <a:r>
              <a:rPr sz="1120" b="1" i="0">
                <a:solidFill>
                  <a:srgbClr val="0E2D4E"/>
                </a:solidFill>
                <a:latin typeface="Arial"/>
              </a:rPr>
              <a:t>3 · Identity &amp; Credentials</a:t>
            </a:r>
          </a:p>
        </p:txBody>
      </p:sp>
      <p:sp>
        <p:nvSpPr>
          <p:cNvPr id="34" name="TextBox 33"/>
          <p:cNvSpPr txBox="1"/>
          <p:nvPr/>
        </p:nvSpPr>
        <p:spPr>
          <a:xfrm>
            <a:off x="8210092" y="3434943"/>
            <a:ext cx="3277514" cy="322072"/>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2B3A47"/>
                </a:solidFill>
                <a:latin typeface="Arial"/>
              </a:rPr>
              <a:t>Không lưu secret trong image; MFA/SSH key; least privilege</a:t>
            </a:r>
          </a:p>
        </p:txBody>
      </p:sp>
      <p:sp>
        <p:nvSpPr>
          <p:cNvPr id="35" name="Rounded Rectangle 34"/>
          <p:cNvSpPr/>
          <p:nvPr/>
        </p:nvSpPr>
        <p:spPr>
          <a:xfrm>
            <a:off x="566928" y="4110583"/>
            <a:ext cx="3551834" cy="91440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04088" y="4247743"/>
            <a:ext cx="3277514" cy="183896"/>
          </a:xfrm>
          <a:prstGeom prst="rect">
            <a:avLst/>
          </a:prstGeom>
          <a:noFill/>
        </p:spPr>
        <p:txBody>
          <a:bodyPr wrap="square" lIns="0" rIns="0" tIns="0" bIns="0" anchor="t">
            <a:spAutoFit/>
          </a:bodyPr>
          <a:lstStyle/>
          <a:p>
            <a:pPr algn="l">
              <a:lnSpc>
                <a:spcPct val="110000"/>
              </a:lnSpc>
              <a:spcBef>
                <a:spcPts val="0"/>
              </a:spcBef>
              <a:spcAft>
                <a:spcPts val="0"/>
              </a:spcAft>
            </a:pPr>
            <a:r>
              <a:rPr sz="1120" b="1" i="0">
                <a:solidFill>
                  <a:srgbClr val="0E2D4E"/>
                </a:solidFill>
                <a:latin typeface="Arial"/>
              </a:rPr>
              <a:t>4 · Host Firewall</a:t>
            </a:r>
          </a:p>
        </p:txBody>
      </p:sp>
      <p:sp>
        <p:nvSpPr>
          <p:cNvPr id="37" name="TextBox 36"/>
          <p:cNvSpPr txBox="1"/>
          <p:nvPr/>
        </p:nvSpPr>
        <p:spPr>
          <a:xfrm>
            <a:off x="704088" y="4495647"/>
            <a:ext cx="3277514" cy="322072"/>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2B3A47"/>
                </a:solidFill>
                <a:latin typeface="Arial"/>
              </a:rPr>
              <a:t>Chỉ mở port cần thiết; giới hạn nguồn; tắt dịch vụ thừa</a:t>
            </a:r>
          </a:p>
        </p:txBody>
      </p:sp>
      <p:sp>
        <p:nvSpPr>
          <p:cNvPr id="38" name="Rounded Rectangle 37"/>
          <p:cNvSpPr/>
          <p:nvPr/>
        </p:nvSpPr>
        <p:spPr>
          <a:xfrm>
            <a:off x="4319930" y="4110583"/>
            <a:ext cx="3551834" cy="91440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4457090" y="4247743"/>
            <a:ext cx="3277514" cy="183896"/>
          </a:xfrm>
          <a:prstGeom prst="rect">
            <a:avLst/>
          </a:prstGeom>
          <a:noFill/>
        </p:spPr>
        <p:txBody>
          <a:bodyPr wrap="square" lIns="0" rIns="0" tIns="0" bIns="0" anchor="t">
            <a:spAutoFit/>
          </a:bodyPr>
          <a:lstStyle/>
          <a:p>
            <a:pPr algn="l">
              <a:lnSpc>
                <a:spcPct val="110000"/>
              </a:lnSpc>
              <a:spcBef>
                <a:spcPts val="0"/>
              </a:spcBef>
              <a:spcAft>
                <a:spcPts val="0"/>
              </a:spcAft>
            </a:pPr>
            <a:r>
              <a:rPr sz="1120" b="1" i="0">
                <a:solidFill>
                  <a:srgbClr val="0E2D4E"/>
                </a:solidFill>
                <a:latin typeface="Arial"/>
              </a:rPr>
              <a:t>5 · Logging &amp; Auditing</a:t>
            </a:r>
          </a:p>
        </p:txBody>
      </p:sp>
      <p:sp>
        <p:nvSpPr>
          <p:cNvPr id="40" name="TextBox 39"/>
          <p:cNvSpPr txBox="1"/>
          <p:nvPr/>
        </p:nvSpPr>
        <p:spPr>
          <a:xfrm>
            <a:off x="4457090" y="4495647"/>
            <a:ext cx="3277514" cy="322072"/>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2B3A47"/>
                </a:solidFill>
                <a:latin typeface="Arial"/>
              </a:rPr>
              <a:t>Thu thập sự kiện xác thực, đặc quyền, hệ thống về nơi tập trung</a:t>
            </a:r>
          </a:p>
        </p:txBody>
      </p:sp>
      <p:sp>
        <p:nvSpPr>
          <p:cNvPr id="41" name="Rounded Rectangle 40"/>
          <p:cNvSpPr/>
          <p:nvPr/>
        </p:nvSpPr>
        <p:spPr>
          <a:xfrm>
            <a:off x="8072932" y="4110583"/>
            <a:ext cx="3551834" cy="91440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210092" y="4247743"/>
            <a:ext cx="3277514" cy="183896"/>
          </a:xfrm>
          <a:prstGeom prst="rect">
            <a:avLst/>
          </a:prstGeom>
          <a:noFill/>
        </p:spPr>
        <p:txBody>
          <a:bodyPr wrap="square" lIns="0" rIns="0" tIns="0" bIns="0" anchor="t">
            <a:spAutoFit/>
          </a:bodyPr>
          <a:lstStyle/>
          <a:p>
            <a:pPr algn="l">
              <a:lnSpc>
                <a:spcPct val="110000"/>
              </a:lnSpc>
              <a:spcBef>
                <a:spcPts val="0"/>
              </a:spcBef>
              <a:spcAft>
                <a:spcPts val="0"/>
              </a:spcAft>
            </a:pPr>
            <a:r>
              <a:rPr sz="1120" b="1" i="0">
                <a:solidFill>
                  <a:srgbClr val="0E2D4E"/>
                </a:solidFill>
                <a:latin typeface="Arial"/>
              </a:rPr>
              <a:t>6 · Continuous Verification</a:t>
            </a:r>
          </a:p>
        </p:txBody>
      </p:sp>
      <p:sp>
        <p:nvSpPr>
          <p:cNvPr id="43" name="TextBox 42"/>
          <p:cNvSpPr txBox="1"/>
          <p:nvPr/>
        </p:nvSpPr>
        <p:spPr>
          <a:xfrm>
            <a:off x="8210092" y="4495647"/>
            <a:ext cx="3277514" cy="174751"/>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2B3A47"/>
                </a:solidFill>
                <a:latin typeface="Arial"/>
              </a:rPr>
              <a:t>Quét lỗ hổng, đánh giá cấu hình, kiểm tra định kỳ</a:t>
            </a:r>
          </a:p>
        </p:txBody>
      </p:sp>
      <p:sp>
        <p:nvSpPr>
          <p:cNvPr id="44" name="Rectangle 43"/>
          <p:cNvSpPr/>
          <p:nvPr/>
        </p:nvSpPr>
        <p:spPr>
          <a:xfrm>
            <a:off x="566928" y="5226151"/>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85800" y="5207863"/>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3 · Secure VM Lifecycle — một quy trình liên tục</a:t>
            </a:r>
          </a:p>
        </p:txBody>
      </p:sp>
      <p:sp>
        <p:nvSpPr>
          <p:cNvPr id="46" name="Rounded Rectangle 45"/>
          <p:cNvSpPr/>
          <p:nvPr/>
        </p:nvSpPr>
        <p:spPr>
          <a:xfrm>
            <a:off x="566928" y="5459958"/>
            <a:ext cx="1485638" cy="420624"/>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940" b="1" i="0">
                <a:solidFill>
                  <a:srgbClr val="0E2D4E"/>
                </a:solidFill>
                <a:latin typeface="Arial"/>
              </a:rPr>
              <a:t>Golden Image</a:t>
            </a:r>
          </a:p>
        </p:txBody>
      </p:sp>
      <p:sp>
        <p:nvSpPr>
          <p:cNvPr id="47" name="Right Arrow 46"/>
          <p:cNvSpPr/>
          <p:nvPr/>
        </p:nvSpPr>
        <p:spPr>
          <a:xfrm>
            <a:off x="1997702" y="5601690"/>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2162294" y="5459958"/>
            <a:ext cx="1485638" cy="420624"/>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940" b="1" i="0">
                <a:solidFill>
                  <a:srgbClr val="0E2D4E"/>
                </a:solidFill>
                <a:latin typeface="Arial"/>
              </a:rPr>
              <a:t>Secure Config</a:t>
            </a:r>
          </a:p>
        </p:txBody>
      </p:sp>
      <p:sp>
        <p:nvSpPr>
          <p:cNvPr id="49" name="Right Arrow 48"/>
          <p:cNvSpPr/>
          <p:nvPr/>
        </p:nvSpPr>
        <p:spPr>
          <a:xfrm>
            <a:off x="3593069" y="5601690"/>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ounded Rectangle 49"/>
          <p:cNvSpPr/>
          <p:nvPr/>
        </p:nvSpPr>
        <p:spPr>
          <a:xfrm>
            <a:off x="3757661" y="5459958"/>
            <a:ext cx="1485638" cy="420624"/>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940" b="1" i="0">
                <a:solidFill>
                  <a:srgbClr val="0E2D4E"/>
                </a:solidFill>
                <a:latin typeface="Arial"/>
              </a:rPr>
              <a:t>Controlled Provisioning</a:t>
            </a:r>
          </a:p>
        </p:txBody>
      </p:sp>
      <p:sp>
        <p:nvSpPr>
          <p:cNvPr id="51" name="Right Arrow 50"/>
          <p:cNvSpPr/>
          <p:nvPr/>
        </p:nvSpPr>
        <p:spPr>
          <a:xfrm>
            <a:off x="5188436" y="5601690"/>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ounded Rectangle 51"/>
          <p:cNvSpPr/>
          <p:nvPr/>
        </p:nvSpPr>
        <p:spPr>
          <a:xfrm>
            <a:off x="5353028" y="5459958"/>
            <a:ext cx="1485638" cy="420624"/>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940" b="1" i="0">
                <a:solidFill>
                  <a:srgbClr val="0E2D4E"/>
                </a:solidFill>
                <a:latin typeface="Arial"/>
              </a:rPr>
              <a:t>Least Privilege</a:t>
            </a:r>
          </a:p>
        </p:txBody>
      </p:sp>
      <p:sp>
        <p:nvSpPr>
          <p:cNvPr id="53" name="Right Arrow 52"/>
          <p:cNvSpPr/>
          <p:nvPr/>
        </p:nvSpPr>
        <p:spPr>
          <a:xfrm>
            <a:off x="6783802" y="5601690"/>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ounded Rectangle 53"/>
          <p:cNvSpPr/>
          <p:nvPr/>
        </p:nvSpPr>
        <p:spPr>
          <a:xfrm>
            <a:off x="6948394" y="5459958"/>
            <a:ext cx="1485638" cy="420624"/>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940" b="1" i="0">
                <a:solidFill>
                  <a:srgbClr val="0E2D4E"/>
                </a:solidFill>
                <a:latin typeface="Arial"/>
              </a:rPr>
              <a:t>Minimal Attack Surface</a:t>
            </a:r>
          </a:p>
        </p:txBody>
      </p:sp>
      <p:sp>
        <p:nvSpPr>
          <p:cNvPr id="55" name="Right Arrow 54"/>
          <p:cNvSpPr/>
          <p:nvPr/>
        </p:nvSpPr>
        <p:spPr>
          <a:xfrm>
            <a:off x="8379169" y="5601690"/>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ounded Rectangle 55"/>
          <p:cNvSpPr/>
          <p:nvPr/>
        </p:nvSpPr>
        <p:spPr>
          <a:xfrm>
            <a:off x="8543761" y="5459958"/>
            <a:ext cx="1485638" cy="420624"/>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940" b="1" i="0">
                <a:solidFill>
                  <a:srgbClr val="0E2D4E"/>
                </a:solidFill>
                <a:latin typeface="Arial"/>
              </a:rPr>
              <a:t>Central Logging</a:t>
            </a:r>
          </a:p>
        </p:txBody>
      </p:sp>
      <p:sp>
        <p:nvSpPr>
          <p:cNvPr id="57" name="Right Arrow 56"/>
          <p:cNvSpPr/>
          <p:nvPr/>
        </p:nvSpPr>
        <p:spPr>
          <a:xfrm>
            <a:off x="9974536" y="5601690"/>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ounded Rectangle 57"/>
          <p:cNvSpPr/>
          <p:nvPr/>
        </p:nvSpPr>
        <p:spPr>
          <a:xfrm>
            <a:off x="10139128" y="5459958"/>
            <a:ext cx="1485638" cy="420624"/>
          </a:xfrm>
          <a:prstGeom prst="roundRect">
            <a:avLst>
              <a:gd name="adj" fmla="val 10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940" b="1" i="0">
                <a:solidFill>
                  <a:srgbClr val="1B7A57"/>
                </a:solidFill>
                <a:latin typeface="Arial"/>
              </a:rPr>
              <a:t>Scan · Patch · Review</a:t>
            </a:r>
          </a:p>
        </p:txBody>
      </p:sp>
      <p:sp>
        <p:nvSpPr>
          <p:cNvPr id="59" name="Rounded Rectangle 58"/>
          <p:cNvSpPr/>
          <p:nvPr/>
        </p:nvSpPr>
        <p:spPr>
          <a:xfrm>
            <a:off x="566928" y="5972022"/>
            <a:ext cx="11057839" cy="427024"/>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566928" y="5972022"/>
            <a:ext cx="64008" cy="427024"/>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749808" y="6090894"/>
            <a:ext cx="10728655" cy="189280"/>
          </a:xfrm>
          <a:prstGeom prst="rect">
            <a:avLst/>
          </a:prstGeom>
          <a:noFill/>
        </p:spPr>
        <p:txBody>
          <a:bodyPr wrap="square" lIns="0" rIns="0" tIns="0" bIns="0" anchor="t">
            <a:spAutoFit/>
          </a:bodyPr>
          <a:lstStyle/>
          <a:p>
            <a:pPr algn="l">
              <a:lnSpc>
                <a:spcPct val="118000"/>
              </a:lnSpc>
              <a:spcBef>
                <a:spcPts val="0"/>
              </a:spcBef>
              <a:spcAft>
                <a:spcPts val="0"/>
              </a:spcAft>
            </a:pPr>
            <a:r>
              <a:rPr sz="1080" b="1" i="0">
                <a:solidFill>
                  <a:srgbClr val="FFFFFF"/>
                </a:solidFill>
                <a:latin typeface="Arial"/>
              </a:rPr>
              <a:t>VM Security ≠ hardening một lần</a:t>
            </a:r>
            <a:r>
              <a:rPr sz="1080" b="0" i="0">
                <a:solidFill>
                  <a:srgbClr val="FFFFFF"/>
                </a:solidFill>
                <a:latin typeface="Arial"/>
              </a:rPr>
              <a:t> — bảo mật VM bắt đầu </a:t>
            </a:r>
            <a:r>
              <a:rPr sz="1080" b="1" i="0">
                <a:solidFill>
                  <a:srgbClr val="FFFFFF"/>
                </a:solidFill>
                <a:latin typeface="Arial"/>
              </a:rPr>
              <a:t>trước khi VM được tạo</a:t>
            </a:r>
            <a:r>
              <a:rPr sz="1080" b="0" i="0">
                <a:solidFill>
                  <a:srgbClr val="FFFFFF"/>
                </a:solidFill>
                <a:latin typeface="Arial"/>
              </a:rPr>
              <a:t> và tiếp tục suốt vòng đời của nó.</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PHẦN 6 · KIỂM SOÁT &amp; PHÒNG THỦ ĐA LỚP</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100" b="1" i="0">
                <a:solidFill>
                  <a:srgbClr val="0E2D4E"/>
                </a:solidFill>
                <a:latin typeface="Arial"/>
              </a:rPr>
              <a:t>SECURITY CONTROLS — NGĂN NGỪA, PHÁT HIỆN &amp; KHẮC PHỤC</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17/18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Bốn nhóm Security Controls</a:t>
            </a:r>
          </a:p>
        </p:txBody>
      </p:sp>
      <p:sp>
        <p:nvSpPr>
          <p:cNvPr id="10" name="Rounded Rectangle 9"/>
          <p:cNvSpPr/>
          <p:nvPr/>
        </p:nvSpPr>
        <p:spPr>
          <a:xfrm>
            <a:off x="566928" y="1550543"/>
            <a:ext cx="2613583" cy="1517904"/>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04088" y="1687702"/>
            <a:ext cx="2339263" cy="209042"/>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0E2D4E"/>
                </a:solidFill>
                <a:latin typeface="Arial"/>
              </a:rPr>
              <a:t>Deterrent</a:t>
            </a:r>
          </a:p>
        </p:txBody>
      </p:sp>
      <p:sp>
        <p:nvSpPr>
          <p:cNvPr id="12" name="TextBox 11"/>
          <p:cNvSpPr txBox="1"/>
          <p:nvPr/>
        </p:nvSpPr>
        <p:spPr>
          <a:xfrm>
            <a:off x="704088" y="1960753"/>
            <a:ext cx="2339263" cy="554990"/>
          </a:xfrm>
          <a:prstGeom prst="rect">
            <a:avLst/>
          </a:prstGeom>
          <a:noFill/>
        </p:spPr>
        <p:txBody>
          <a:bodyPr wrap="square" lIns="0" rIns="0" tIns="0" bIns="0" anchor="t">
            <a:spAutoFit/>
          </a:bodyPr>
          <a:lstStyle/>
          <a:p>
            <a:pPr algn="l">
              <a:lnSpc>
                <a:spcPct val="116000"/>
              </a:lnSpc>
              <a:spcBef>
                <a:spcPts val="0"/>
              </a:spcBef>
              <a:spcAft>
                <a:spcPts val="500"/>
              </a:spcAft>
            </a:pPr>
            <a:r>
              <a:rPr sz="1050" b="1" i="0">
                <a:solidFill>
                  <a:srgbClr val="1F6FB2"/>
                </a:solidFill>
                <a:latin typeface="Arial"/>
              </a:rPr>
              <a:t>Mục tiêu:</a:t>
            </a:r>
            <a:r>
              <a:rPr sz="1050" b="0" i="0">
                <a:solidFill>
                  <a:srgbClr val="2B3A47"/>
                </a:solidFill>
                <a:latin typeface="Arial"/>
              </a:rPr>
              <a:t> giảm ý định vi phạm</a:t>
            </a:r>
          </a:p>
          <a:p>
            <a:pPr algn="l">
              <a:lnSpc>
                <a:spcPct val="116000"/>
              </a:lnSpc>
              <a:spcBef>
                <a:spcPts val="0"/>
              </a:spcBef>
              <a:spcAft>
                <a:spcPts val="0"/>
              </a:spcAft>
            </a:pPr>
            <a:r>
              <a:rPr sz="1050" b="0" i="0">
                <a:solidFill>
                  <a:srgbClr val="2B3A47"/>
                </a:solidFill>
                <a:latin typeface="Arial"/>
              </a:rPr>
              <a:t>Security policy · warning · legal notice</a:t>
            </a:r>
          </a:p>
        </p:txBody>
      </p:sp>
      <p:sp>
        <p:nvSpPr>
          <p:cNvPr id="13" name="Rounded Rectangle 12"/>
          <p:cNvSpPr/>
          <p:nvPr/>
        </p:nvSpPr>
        <p:spPr>
          <a:xfrm>
            <a:off x="3381679" y="1550543"/>
            <a:ext cx="2613583" cy="1517904"/>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518839" y="1687702"/>
            <a:ext cx="2339263" cy="209042"/>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0E2D4E"/>
                </a:solidFill>
                <a:latin typeface="Arial"/>
              </a:rPr>
              <a:t>Preventive</a:t>
            </a:r>
          </a:p>
        </p:txBody>
      </p:sp>
      <p:sp>
        <p:nvSpPr>
          <p:cNvPr id="15" name="TextBox 14"/>
          <p:cNvSpPr txBox="1"/>
          <p:nvPr/>
        </p:nvSpPr>
        <p:spPr>
          <a:xfrm>
            <a:off x="3518839" y="1960753"/>
            <a:ext cx="2339263" cy="709676"/>
          </a:xfrm>
          <a:prstGeom prst="rect">
            <a:avLst/>
          </a:prstGeom>
          <a:noFill/>
        </p:spPr>
        <p:txBody>
          <a:bodyPr wrap="square" lIns="0" rIns="0" tIns="0" bIns="0" anchor="t">
            <a:spAutoFit/>
          </a:bodyPr>
          <a:lstStyle/>
          <a:p>
            <a:pPr algn="l">
              <a:lnSpc>
                <a:spcPct val="116000"/>
              </a:lnSpc>
              <a:spcBef>
                <a:spcPts val="0"/>
              </a:spcBef>
              <a:spcAft>
                <a:spcPts val="500"/>
              </a:spcAft>
            </a:pPr>
            <a:r>
              <a:rPr sz="1050" b="1" i="0">
                <a:solidFill>
                  <a:srgbClr val="1F6FB2"/>
                </a:solidFill>
                <a:latin typeface="Arial"/>
              </a:rPr>
              <a:t>Mục tiêu:</a:t>
            </a:r>
            <a:r>
              <a:rPr sz="1050" b="0" i="0">
                <a:solidFill>
                  <a:srgbClr val="2B3A47"/>
                </a:solidFill>
                <a:latin typeface="Arial"/>
              </a:rPr>
              <a:t> ngăn / giảm khả năng xảy ra</a:t>
            </a:r>
          </a:p>
          <a:p>
            <a:pPr algn="l">
              <a:lnSpc>
                <a:spcPct val="116000"/>
              </a:lnSpc>
              <a:spcBef>
                <a:spcPts val="0"/>
              </a:spcBef>
              <a:spcAft>
                <a:spcPts val="0"/>
              </a:spcAft>
            </a:pPr>
            <a:r>
              <a:rPr sz="1050" b="0" i="0">
                <a:solidFill>
                  <a:srgbClr val="2B3A47"/>
                </a:solidFill>
                <a:latin typeface="Arial"/>
              </a:rPr>
              <a:t>MFA · IAM · mã hóa · firewall · hardening</a:t>
            </a:r>
          </a:p>
        </p:txBody>
      </p:sp>
      <p:sp>
        <p:nvSpPr>
          <p:cNvPr id="16" name="Rounded Rectangle 15"/>
          <p:cNvSpPr/>
          <p:nvPr/>
        </p:nvSpPr>
        <p:spPr>
          <a:xfrm>
            <a:off x="6196431" y="1550543"/>
            <a:ext cx="2613583" cy="1517904"/>
          </a:xfrm>
          <a:prstGeom prst="roundRect">
            <a:avLst>
              <a:gd name="adj" fmla="val 6000"/>
            </a:avLst>
          </a:prstGeom>
          <a:solidFill>
            <a:srgbClr val="FDF4E4"/>
          </a:solidFill>
          <a:ln w="12700">
            <a:solidFill>
              <a:srgbClr val="EBD2A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333591" y="1687702"/>
            <a:ext cx="2339263" cy="209042"/>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A86A00"/>
                </a:solidFill>
                <a:latin typeface="Arial"/>
              </a:rPr>
              <a:t>Detective</a:t>
            </a:r>
          </a:p>
        </p:txBody>
      </p:sp>
      <p:sp>
        <p:nvSpPr>
          <p:cNvPr id="18" name="TextBox 17"/>
          <p:cNvSpPr txBox="1"/>
          <p:nvPr/>
        </p:nvSpPr>
        <p:spPr>
          <a:xfrm>
            <a:off x="6333591" y="1960753"/>
            <a:ext cx="2339263" cy="554990"/>
          </a:xfrm>
          <a:prstGeom prst="rect">
            <a:avLst/>
          </a:prstGeom>
          <a:noFill/>
        </p:spPr>
        <p:txBody>
          <a:bodyPr wrap="square" lIns="0" rIns="0" tIns="0" bIns="0" anchor="t">
            <a:spAutoFit/>
          </a:bodyPr>
          <a:lstStyle/>
          <a:p>
            <a:pPr algn="l">
              <a:lnSpc>
                <a:spcPct val="116000"/>
              </a:lnSpc>
              <a:spcBef>
                <a:spcPts val="0"/>
              </a:spcBef>
              <a:spcAft>
                <a:spcPts val="500"/>
              </a:spcAft>
            </a:pPr>
            <a:r>
              <a:rPr sz="1050" b="1" i="0">
                <a:solidFill>
                  <a:srgbClr val="A86A00"/>
                </a:solidFill>
                <a:latin typeface="Arial"/>
              </a:rPr>
              <a:t>Mục tiêu:</a:t>
            </a:r>
            <a:r>
              <a:rPr sz="1050" b="0" i="0">
                <a:solidFill>
                  <a:srgbClr val="2B3A47"/>
                </a:solidFill>
                <a:latin typeface="Arial"/>
              </a:rPr>
              <a:t> phát hiện bất thường</a:t>
            </a:r>
          </a:p>
          <a:p>
            <a:pPr algn="l">
              <a:lnSpc>
                <a:spcPct val="116000"/>
              </a:lnSpc>
              <a:spcBef>
                <a:spcPts val="0"/>
              </a:spcBef>
              <a:spcAft>
                <a:spcPts val="0"/>
              </a:spcAft>
            </a:pPr>
            <a:r>
              <a:rPr sz="1050" b="0" i="0">
                <a:solidFill>
                  <a:srgbClr val="2B3A47"/>
                </a:solidFill>
                <a:latin typeface="Arial"/>
              </a:rPr>
              <a:t>Logging · monitoring · IDS/IPS · alerting</a:t>
            </a:r>
          </a:p>
        </p:txBody>
      </p:sp>
      <p:sp>
        <p:nvSpPr>
          <p:cNvPr id="19" name="Rounded Rectangle 18"/>
          <p:cNvSpPr/>
          <p:nvPr/>
        </p:nvSpPr>
        <p:spPr>
          <a:xfrm>
            <a:off x="9011183" y="1550543"/>
            <a:ext cx="2613583" cy="1517904"/>
          </a:xfrm>
          <a:prstGeom prst="roundRect">
            <a:avLst>
              <a:gd name="adj" fmla="val 6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148343" y="1687702"/>
            <a:ext cx="2339263" cy="209042"/>
          </a:xfrm>
          <a:prstGeom prst="rect">
            <a:avLst/>
          </a:prstGeom>
          <a:noFill/>
        </p:spPr>
        <p:txBody>
          <a:bodyPr wrap="square" lIns="0" rIns="0" tIns="0" bIns="0" anchor="t">
            <a:spAutoFit/>
          </a:bodyPr>
          <a:lstStyle/>
          <a:p>
            <a:pPr algn="l">
              <a:lnSpc>
                <a:spcPct val="110000"/>
              </a:lnSpc>
              <a:spcBef>
                <a:spcPts val="0"/>
              </a:spcBef>
              <a:spcAft>
                <a:spcPts val="0"/>
              </a:spcAft>
            </a:pPr>
            <a:r>
              <a:rPr sz="1300" b="1" i="0">
                <a:solidFill>
                  <a:srgbClr val="1B7A57"/>
                </a:solidFill>
                <a:latin typeface="Arial"/>
              </a:rPr>
              <a:t>Corrective</a:t>
            </a:r>
          </a:p>
        </p:txBody>
      </p:sp>
      <p:sp>
        <p:nvSpPr>
          <p:cNvPr id="21" name="TextBox 20"/>
          <p:cNvSpPr txBox="1"/>
          <p:nvPr/>
        </p:nvSpPr>
        <p:spPr>
          <a:xfrm>
            <a:off x="9148343" y="1960753"/>
            <a:ext cx="2339263" cy="554990"/>
          </a:xfrm>
          <a:prstGeom prst="rect">
            <a:avLst/>
          </a:prstGeom>
          <a:noFill/>
        </p:spPr>
        <p:txBody>
          <a:bodyPr wrap="square" lIns="0" rIns="0" tIns="0" bIns="0" anchor="t">
            <a:spAutoFit/>
          </a:bodyPr>
          <a:lstStyle/>
          <a:p>
            <a:pPr algn="l">
              <a:lnSpc>
                <a:spcPct val="116000"/>
              </a:lnSpc>
              <a:spcBef>
                <a:spcPts val="0"/>
              </a:spcBef>
              <a:spcAft>
                <a:spcPts val="500"/>
              </a:spcAft>
            </a:pPr>
            <a:r>
              <a:rPr sz="1050" b="1" i="0">
                <a:solidFill>
                  <a:srgbClr val="1B7A57"/>
                </a:solidFill>
                <a:latin typeface="Arial"/>
              </a:rPr>
              <a:t>Mục tiêu:</a:t>
            </a:r>
            <a:r>
              <a:rPr sz="1050" b="0" i="0">
                <a:solidFill>
                  <a:srgbClr val="2B3A47"/>
                </a:solidFill>
                <a:latin typeface="Arial"/>
              </a:rPr>
              <a:t> giảm tác động &amp; khôi phục</a:t>
            </a:r>
          </a:p>
          <a:p>
            <a:pPr algn="l">
              <a:lnSpc>
                <a:spcPct val="116000"/>
              </a:lnSpc>
              <a:spcBef>
                <a:spcPts val="0"/>
              </a:spcBef>
              <a:spcAft>
                <a:spcPts val="0"/>
              </a:spcAft>
            </a:pPr>
            <a:r>
              <a:rPr sz="1050" b="0" i="0">
                <a:solidFill>
                  <a:srgbClr val="2B3A47"/>
                </a:solidFill>
                <a:latin typeface="Arial"/>
              </a:rPr>
              <a:t>Incident response · isolation · backup · recovery</a:t>
            </a:r>
          </a:p>
        </p:txBody>
      </p:sp>
      <p:sp>
        <p:nvSpPr>
          <p:cNvPr id="22" name="Rectangle 21"/>
          <p:cNvSpPr/>
          <p:nvPr/>
        </p:nvSpPr>
        <p:spPr>
          <a:xfrm>
            <a:off x="566928" y="3287903"/>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85800" y="3269615"/>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Các control phối hợp theo vòng đời sự cố</a:t>
            </a:r>
          </a:p>
        </p:txBody>
      </p:sp>
      <p:sp>
        <p:nvSpPr>
          <p:cNvPr id="24" name="Rounded Rectangle 23"/>
          <p:cNvSpPr/>
          <p:nvPr/>
        </p:nvSpPr>
        <p:spPr>
          <a:xfrm>
            <a:off x="566928" y="3521710"/>
            <a:ext cx="1690573" cy="43891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60" b="1" i="0">
                <a:solidFill>
                  <a:srgbClr val="0E2D4E"/>
                </a:solidFill>
                <a:latin typeface="Arial"/>
              </a:rPr>
              <a:t>Security Event</a:t>
            </a:r>
          </a:p>
        </p:txBody>
      </p:sp>
      <p:sp>
        <p:nvSpPr>
          <p:cNvPr id="25" name="Right Arrow 24"/>
          <p:cNvSpPr/>
          <p:nvPr/>
        </p:nvSpPr>
        <p:spPr>
          <a:xfrm>
            <a:off x="2239213" y="3672586"/>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2440381" y="3521710"/>
            <a:ext cx="1690573" cy="43891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60" b="1" i="0">
                <a:solidFill>
                  <a:srgbClr val="0E2D4E"/>
                </a:solidFill>
                <a:latin typeface="Arial"/>
              </a:rPr>
              <a:t>Deterrent</a:t>
            </a:r>
          </a:p>
        </p:txBody>
      </p:sp>
      <p:sp>
        <p:nvSpPr>
          <p:cNvPr id="27" name="Right Arrow 26"/>
          <p:cNvSpPr/>
          <p:nvPr/>
        </p:nvSpPr>
        <p:spPr>
          <a:xfrm>
            <a:off x="4112666" y="3672586"/>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4313834" y="3521710"/>
            <a:ext cx="1690573" cy="43891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60" b="1" i="0">
                <a:solidFill>
                  <a:srgbClr val="0E2D4E"/>
                </a:solidFill>
                <a:latin typeface="Arial"/>
              </a:rPr>
              <a:t>Preventive</a:t>
            </a:r>
          </a:p>
        </p:txBody>
      </p:sp>
      <p:sp>
        <p:nvSpPr>
          <p:cNvPr id="29" name="Right Arrow 28"/>
          <p:cNvSpPr/>
          <p:nvPr/>
        </p:nvSpPr>
        <p:spPr>
          <a:xfrm>
            <a:off x="5986119" y="3672586"/>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3521710"/>
            <a:ext cx="1690573" cy="43891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60" b="1" i="0">
                <a:solidFill>
                  <a:srgbClr val="0E2D4E"/>
                </a:solidFill>
                <a:latin typeface="Arial"/>
              </a:rPr>
              <a:t>Detective</a:t>
            </a:r>
          </a:p>
        </p:txBody>
      </p:sp>
      <p:sp>
        <p:nvSpPr>
          <p:cNvPr id="31" name="Right Arrow 30"/>
          <p:cNvSpPr/>
          <p:nvPr/>
        </p:nvSpPr>
        <p:spPr>
          <a:xfrm>
            <a:off x="7859572" y="3672586"/>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8060740" y="3521710"/>
            <a:ext cx="1690573" cy="438912"/>
          </a:xfrm>
          <a:prstGeom prst="roundRect">
            <a:avLst>
              <a:gd name="adj" fmla="val 10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60" b="1" i="0">
                <a:solidFill>
                  <a:srgbClr val="0E2D4E"/>
                </a:solidFill>
                <a:latin typeface="Arial"/>
              </a:rPr>
              <a:t>Corrective</a:t>
            </a:r>
          </a:p>
        </p:txBody>
      </p:sp>
      <p:sp>
        <p:nvSpPr>
          <p:cNvPr id="33" name="Right Arrow 32"/>
          <p:cNvSpPr/>
          <p:nvPr/>
        </p:nvSpPr>
        <p:spPr>
          <a:xfrm>
            <a:off x="9733026" y="3672586"/>
            <a:ext cx="219456" cy="137160"/>
          </a:xfrm>
          <a:prstGeom prst="rightArrow">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9934194" y="3521710"/>
            <a:ext cx="1690573" cy="438912"/>
          </a:xfrm>
          <a:prstGeom prst="roundRect">
            <a:avLst>
              <a:gd name="adj" fmla="val 10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06000"/>
              </a:lnSpc>
              <a:spcBef>
                <a:spcPts val="0"/>
              </a:spcBef>
              <a:spcAft>
                <a:spcPts val="0"/>
              </a:spcAft>
            </a:pPr>
            <a:r>
              <a:rPr sz="1060" b="1" i="0">
                <a:solidFill>
                  <a:srgbClr val="1B7A57"/>
                </a:solidFill>
                <a:latin typeface="Arial"/>
              </a:rPr>
              <a:t>Recovery</a:t>
            </a:r>
          </a:p>
        </p:txBody>
      </p:sp>
      <p:sp>
        <p:nvSpPr>
          <p:cNvPr id="35" name="Rectangle 34"/>
          <p:cNvSpPr/>
          <p:nvPr/>
        </p:nvSpPr>
        <p:spPr>
          <a:xfrm>
            <a:off x="566928" y="4180077"/>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85800" y="4161790"/>
            <a:ext cx="10938967"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3 · Ví dụ: tài khoản Cloud bị chiếm quyền</a:t>
            </a:r>
          </a:p>
        </p:txBody>
      </p:sp>
      <p:sp>
        <p:nvSpPr>
          <p:cNvPr id="37" name="Rounded Rectangle 36"/>
          <p:cNvSpPr/>
          <p:nvPr/>
        </p:nvSpPr>
        <p:spPr>
          <a:xfrm>
            <a:off x="566928" y="4413885"/>
            <a:ext cx="2613583" cy="859536"/>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04088" y="4551045"/>
            <a:ext cx="2339263" cy="189484"/>
          </a:xfrm>
          <a:prstGeom prst="rect">
            <a:avLst/>
          </a:prstGeom>
          <a:noFill/>
        </p:spPr>
        <p:txBody>
          <a:bodyPr wrap="square" lIns="0" rIns="0" tIns="0" bIns="0" anchor="t">
            <a:spAutoFit/>
          </a:bodyPr>
          <a:lstStyle/>
          <a:p>
            <a:pPr algn="l">
              <a:lnSpc>
                <a:spcPct val="110000"/>
              </a:lnSpc>
              <a:spcBef>
                <a:spcPts val="0"/>
              </a:spcBef>
              <a:spcAft>
                <a:spcPts val="0"/>
              </a:spcAft>
            </a:pPr>
            <a:r>
              <a:rPr sz="1160" b="1" i="0">
                <a:solidFill>
                  <a:srgbClr val="0E2D4E"/>
                </a:solidFill>
                <a:latin typeface="Arial"/>
              </a:rPr>
              <a:t>Preventive</a:t>
            </a:r>
          </a:p>
        </p:txBody>
      </p:sp>
      <p:sp>
        <p:nvSpPr>
          <p:cNvPr id="39" name="TextBox 38"/>
          <p:cNvSpPr txBox="1"/>
          <p:nvPr/>
        </p:nvSpPr>
        <p:spPr>
          <a:xfrm>
            <a:off x="704088" y="4804537"/>
            <a:ext cx="2339263" cy="179171"/>
          </a:xfrm>
          <a:prstGeom prst="rect">
            <a:avLst/>
          </a:prstGeom>
          <a:noFill/>
        </p:spPr>
        <p:txBody>
          <a:bodyPr wrap="square" lIns="0" rIns="0" tIns="0" bIns="0" anchor="t">
            <a:spAutoFit/>
          </a:bodyPr>
          <a:lstStyle/>
          <a:p>
            <a:pPr algn="l">
              <a:lnSpc>
                <a:spcPct val="116000"/>
              </a:lnSpc>
              <a:spcBef>
                <a:spcPts val="0"/>
              </a:spcBef>
              <a:spcAft>
                <a:spcPts val="0"/>
              </a:spcAft>
            </a:pPr>
            <a:r>
              <a:rPr sz="1030" b="0" i="0">
                <a:solidFill>
                  <a:srgbClr val="2B3A47"/>
                </a:solidFill>
                <a:latin typeface="Arial"/>
              </a:rPr>
              <a:t>MFA + least privilege</a:t>
            </a:r>
          </a:p>
        </p:txBody>
      </p:sp>
      <p:sp>
        <p:nvSpPr>
          <p:cNvPr id="40" name="Rounded Rectangle 39"/>
          <p:cNvSpPr/>
          <p:nvPr/>
        </p:nvSpPr>
        <p:spPr>
          <a:xfrm>
            <a:off x="3381679" y="4413885"/>
            <a:ext cx="2613583" cy="859536"/>
          </a:xfrm>
          <a:prstGeom prst="roundRect">
            <a:avLst>
              <a:gd name="adj" fmla="val 6000"/>
            </a:avLst>
          </a:prstGeom>
          <a:solidFill>
            <a:srgbClr val="FDF4E4"/>
          </a:solidFill>
          <a:ln w="12700">
            <a:solidFill>
              <a:srgbClr val="EBD2A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518839" y="4551045"/>
            <a:ext cx="2339263" cy="189484"/>
          </a:xfrm>
          <a:prstGeom prst="rect">
            <a:avLst/>
          </a:prstGeom>
          <a:noFill/>
        </p:spPr>
        <p:txBody>
          <a:bodyPr wrap="square" lIns="0" rIns="0" tIns="0" bIns="0" anchor="t">
            <a:spAutoFit/>
          </a:bodyPr>
          <a:lstStyle/>
          <a:p>
            <a:pPr algn="l">
              <a:lnSpc>
                <a:spcPct val="110000"/>
              </a:lnSpc>
              <a:spcBef>
                <a:spcPts val="0"/>
              </a:spcBef>
              <a:spcAft>
                <a:spcPts val="0"/>
              </a:spcAft>
            </a:pPr>
            <a:r>
              <a:rPr sz="1160" b="1" i="0">
                <a:solidFill>
                  <a:srgbClr val="A86A00"/>
                </a:solidFill>
                <a:latin typeface="Arial"/>
              </a:rPr>
              <a:t>Detective</a:t>
            </a:r>
          </a:p>
        </p:txBody>
      </p:sp>
      <p:sp>
        <p:nvSpPr>
          <p:cNvPr id="42" name="TextBox 41"/>
          <p:cNvSpPr txBox="1"/>
          <p:nvPr/>
        </p:nvSpPr>
        <p:spPr>
          <a:xfrm>
            <a:off x="3518839" y="4804537"/>
            <a:ext cx="2339263" cy="330911"/>
          </a:xfrm>
          <a:prstGeom prst="rect">
            <a:avLst/>
          </a:prstGeom>
          <a:noFill/>
        </p:spPr>
        <p:txBody>
          <a:bodyPr wrap="square" lIns="0" rIns="0" tIns="0" bIns="0" anchor="t">
            <a:spAutoFit/>
          </a:bodyPr>
          <a:lstStyle/>
          <a:p>
            <a:pPr algn="l">
              <a:lnSpc>
                <a:spcPct val="116000"/>
              </a:lnSpc>
              <a:spcBef>
                <a:spcPts val="0"/>
              </a:spcBef>
              <a:spcAft>
                <a:spcPts val="0"/>
              </a:spcAft>
            </a:pPr>
            <a:r>
              <a:rPr sz="1030" b="0" i="0">
                <a:solidFill>
                  <a:srgbClr val="2B3A47"/>
                </a:solidFill>
                <a:latin typeface="Arial"/>
              </a:rPr>
              <a:t>Phát hiện đăng nhập bất thường + logging</a:t>
            </a:r>
          </a:p>
        </p:txBody>
      </p:sp>
      <p:sp>
        <p:nvSpPr>
          <p:cNvPr id="43" name="Rounded Rectangle 42"/>
          <p:cNvSpPr/>
          <p:nvPr/>
        </p:nvSpPr>
        <p:spPr>
          <a:xfrm>
            <a:off x="6196431" y="4413885"/>
            <a:ext cx="2613583" cy="859536"/>
          </a:xfrm>
          <a:prstGeom prst="roundRect">
            <a:avLst>
              <a:gd name="adj" fmla="val 6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333591" y="4551045"/>
            <a:ext cx="2339263" cy="189484"/>
          </a:xfrm>
          <a:prstGeom prst="rect">
            <a:avLst/>
          </a:prstGeom>
          <a:noFill/>
        </p:spPr>
        <p:txBody>
          <a:bodyPr wrap="square" lIns="0" rIns="0" tIns="0" bIns="0" anchor="t">
            <a:spAutoFit/>
          </a:bodyPr>
          <a:lstStyle/>
          <a:p>
            <a:pPr algn="l">
              <a:lnSpc>
                <a:spcPct val="110000"/>
              </a:lnSpc>
              <a:spcBef>
                <a:spcPts val="0"/>
              </a:spcBef>
              <a:spcAft>
                <a:spcPts val="0"/>
              </a:spcAft>
            </a:pPr>
            <a:r>
              <a:rPr sz="1160" b="1" i="0">
                <a:solidFill>
                  <a:srgbClr val="1B7A57"/>
                </a:solidFill>
                <a:latin typeface="Arial"/>
              </a:rPr>
              <a:t>Corrective</a:t>
            </a:r>
          </a:p>
        </p:txBody>
      </p:sp>
      <p:sp>
        <p:nvSpPr>
          <p:cNvPr id="45" name="TextBox 44"/>
          <p:cNvSpPr txBox="1"/>
          <p:nvPr/>
        </p:nvSpPr>
        <p:spPr>
          <a:xfrm>
            <a:off x="6333591" y="4804537"/>
            <a:ext cx="2339263" cy="330911"/>
          </a:xfrm>
          <a:prstGeom prst="rect">
            <a:avLst/>
          </a:prstGeom>
          <a:noFill/>
        </p:spPr>
        <p:txBody>
          <a:bodyPr wrap="square" lIns="0" rIns="0" tIns="0" bIns="0" anchor="t">
            <a:spAutoFit/>
          </a:bodyPr>
          <a:lstStyle/>
          <a:p>
            <a:pPr algn="l">
              <a:lnSpc>
                <a:spcPct val="116000"/>
              </a:lnSpc>
              <a:spcBef>
                <a:spcPts val="0"/>
              </a:spcBef>
              <a:spcAft>
                <a:spcPts val="0"/>
              </a:spcAft>
            </a:pPr>
            <a:r>
              <a:rPr sz="1030" b="0" i="0">
                <a:solidFill>
                  <a:srgbClr val="2B3A47"/>
                </a:solidFill>
                <a:latin typeface="Arial"/>
              </a:rPr>
              <a:t>Thu hồi session/token → khóa tài khoản → reset credential</a:t>
            </a:r>
          </a:p>
        </p:txBody>
      </p:sp>
      <p:sp>
        <p:nvSpPr>
          <p:cNvPr id="46" name="Rounded Rectangle 45"/>
          <p:cNvSpPr/>
          <p:nvPr/>
        </p:nvSpPr>
        <p:spPr>
          <a:xfrm>
            <a:off x="9011183" y="4413885"/>
            <a:ext cx="2613583" cy="859536"/>
          </a:xfrm>
          <a:prstGeom prst="roundRect">
            <a:avLst>
              <a:gd name="adj" fmla="val 6000"/>
            </a:avLst>
          </a:prstGeom>
          <a:solidFill>
            <a:srgbClr val="E9F5F0"/>
          </a:solidFill>
          <a:ln w="12700">
            <a:solidFill>
              <a:srgbClr val="B3DC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148343" y="4551045"/>
            <a:ext cx="2339263" cy="189484"/>
          </a:xfrm>
          <a:prstGeom prst="rect">
            <a:avLst/>
          </a:prstGeom>
          <a:noFill/>
        </p:spPr>
        <p:txBody>
          <a:bodyPr wrap="square" lIns="0" rIns="0" tIns="0" bIns="0" anchor="t">
            <a:spAutoFit/>
          </a:bodyPr>
          <a:lstStyle/>
          <a:p>
            <a:pPr algn="l">
              <a:lnSpc>
                <a:spcPct val="110000"/>
              </a:lnSpc>
              <a:spcBef>
                <a:spcPts val="0"/>
              </a:spcBef>
              <a:spcAft>
                <a:spcPts val="0"/>
              </a:spcAft>
            </a:pPr>
            <a:r>
              <a:rPr sz="1160" b="1" i="0">
                <a:solidFill>
                  <a:srgbClr val="1B7A57"/>
                </a:solidFill>
                <a:latin typeface="Arial"/>
              </a:rPr>
              <a:t>Recovery</a:t>
            </a:r>
          </a:p>
        </p:txBody>
      </p:sp>
      <p:sp>
        <p:nvSpPr>
          <p:cNvPr id="48" name="TextBox 47"/>
          <p:cNvSpPr txBox="1"/>
          <p:nvPr/>
        </p:nvSpPr>
        <p:spPr>
          <a:xfrm>
            <a:off x="9148343" y="4804537"/>
            <a:ext cx="2339263" cy="330911"/>
          </a:xfrm>
          <a:prstGeom prst="rect">
            <a:avLst/>
          </a:prstGeom>
          <a:noFill/>
        </p:spPr>
        <p:txBody>
          <a:bodyPr wrap="square" lIns="0" rIns="0" tIns="0" bIns="0" anchor="t">
            <a:spAutoFit/>
          </a:bodyPr>
          <a:lstStyle/>
          <a:p>
            <a:pPr algn="l">
              <a:lnSpc>
                <a:spcPct val="116000"/>
              </a:lnSpc>
              <a:spcBef>
                <a:spcPts val="0"/>
              </a:spcBef>
              <a:spcAft>
                <a:spcPts val="0"/>
              </a:spcAft>
            </a:pPr>
            <a:r>
              <a:rPr sz="1030" b="0" i="0">
                <a:solidFill>
                  <a:srgbClr val="2B3A47"/>
                </a:solidFill>
                <a:latin typeface="Arial"/>
              </a:rPr>
              <a:t>Khôi phục cấu hình / dữ liệu nếu bị thay đổi</a:t>
            </a:r>
          </a:p>
        </p:txBody>
      </p:sp>
      <p:sp>
        <p:nvSpPr>
          <p:cNvPr id="49" name="Rounded Rectangle 48"/>
          <p:cNvSpPr/>
          <p:nvPr/>
        </p:nvSpPr>
        <p:spPr>
          <a:xfrm>
            <a:off x="566928" y="5419725"/>
            <a:ext cx="11057839" cy="600862"/>
          </a:xfrm>
          <a:prstGeom prst="roundRect">
            <a:avLst>
              <a:gd name="adj" fmla="val 10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566928" y="5419725"/>
            <a:ext cx="64008" cy="600862"/>
          </a:xfrm>
          <a:prstGeom prst="rect">
            <a:avLst/>
          </a:prstGeom>
          <a:solidFill>
            <a:srgbClr val="5D9B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49808" y="5538597"/>
            <a:ext cx="10728655" cy="363118"/>
          </a:xfrm>
          <a:prstGeom prst="rect">
            <a:avLst/>
          </a:prstGeom>
          <a:noFill/>
        </p:spPr>
        <p:txBody>
          <a:bodyPr wrap="square" lIns="0" rIns="0" tIns="0" bIns="0" anchor="t">
            <a:spAutoFit/>
          </a:bodyPr>
          <a:lstStyle/>
          <a:p>
            <a:pPr algn="l">
              <a:lnSpc>
                <a:spcPct val="118000"/>
              </a:lnSpc>
              <a:spcBef>
                <a:spcPts val="0"/>
              </a:spcBef>
              <a:spcAft>
                <a:spcPts val="0"/>
              </a:spcAft>
            </a:pPr>
            <a:r>
              <a:rPr sz="1120" b="0" i="0">
                <a:solidFill>
                  <a:srgbClr val="FFFFFF"/>
                </a:solidFill>
                <a:latin typeface="Arial"/>
              </a:rPr>
              <a:t>Mục tiêu không chỉ là “ngăn chặn” mà là một </a:t>
            </a:r>
            <a:r>
              <a:rPr sz="1120" b="1" i="0">
                <a:solidFill>
                  <a:srgbClr val="FFFFFF"/>
                </a:solidFill>
                <a:latin typeface="Arial"/>
              </a:rPr>
              <a:t>chuỗi kiểm soát liên tục: Deterrent → Preventive → Detective → Corrective</a:t>
            </a:r>
            <a:r>
              <a:rPr sz="1120" b="0" i="0">
                <a:solidFill>
                  <a:srgbClr val="FFFFFF"/>
                </a:solidFill>
                <a:latin typeface="Arial"/>
              </a:rPr>
              <a:t> — không control đơn lẻ nào bảo vệ được toàn bộ hệ thống.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84048"/>
            <a:ext cx="77724" cy="6035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68096" y="329184"/>
            <a:ext cx="10783519" cy="219456"/>
          </a:xfrm>
          <a:prstGeom prst="rect">
            <a:avLst/>
          </a:prstGeom>
          <a:noFill/>
        </p:spPr>
        <p:txBody>
          <a:bodyPr wrap="square" lIns="0" rIns="0" tIns="0" bIns="0" anchor="t">
            <a:spAutoFit/>
          </a:bodyPr>
          <a:lstStyle/>
          <a:p>
            <a:pPr algn="l">
              <a:lnSpc>
                <a:spcPct val="100000"/>
              </a:lnSpc>
              <a:spcBef>
                <a:spcPts val="0"/>
              </a:spcBef>
              <a:spcAft>
                <a:spcPts val="0"/>
              </a:spcAft>
            </a:pPr>
            <a:r>
              <a:rPr sz="1050" b="1" i="0">
                <a:solidFill>
                  <a:srgbClr val="1F6FB2"/>
                </a:solidFill>
                <a:latin typeface="Arial"/>
              </a:rPr>
              <a:t>TỔNG KẾT</a:t>
            </a:r>
          </a:p>
        </p:txBody>
      </p:sp>
      <p:sp>
        <p:nvSpPr>
          <p:cNvPr id="4" name="TextBox 3"/>
          <p:cNvSpPr txBox="1"/>
          <p:nvPr/>
        </p:nvSpPr>
        <p:spPr>
          <a:xfrm>
            <a:off x="768096" y="566928"/>
            <a:ext cx="10783519" cy="512064"/>
          </a:xfrm>
          <a:prstGeom prst="rect">
            <a:avLst/>
          </a:prstGeom>
          <a:noFill/>
        </p:spPr>
        <p:txBody>
          <a:bodyPr wrap="square" lIns="0" rIns="0" tIns="0" bIns="0" anchor="t">
            <a:spAutoFit/>
          </a:bodyPr>
          <a:lstStyle/>
          <a:p>
            <a:pPr algn="l">
              <a:lnSpc>
                <a:spcPct val="102000"/>
              </a:lnSpc>
              <a:spcBef>
                <a:spcPts val="0"/>
              </a:spcBef>
              <a:spcAft>
                <a:spcPts val="0"/>
              </a:spcAft>
            </a:pPr>
            <a:r>
              <a:rPr sz="2100" b="1" i="0">
                <a:solidFill>
                  <a:srgbClr val="0E2D4E"/>
                </a:solidFill>
                <a:latin typeface="Arial"/>
              </a:rPr>
              <a:t>TỔNG KẾT — KIẾN TRÚC BẢO MẬT &amp; DEFENSE-IN-DEPTH</a:t>
            </a:r>
          </a:p>
        </p:txBody>
      </p:sp>
      <p:cxnSp>
        <p:nvCxnSpPr>
          <p:cNvPr id="5" name="Connector 4"/>
          <p:cNvCxnSpPr/>
          <p:nvPr/>
        </p:nvCxnSpPr>
        <p:spPr>
          <a:xfrm>
            <a:off x="566928" y="1152144"/>
            <a:ext cx="11057839" cy="0"/>
          </a:xfrm>
          <a:prstGeom prst="line">
            <a:avLst/>
          </a:prstGeom>
          <a:ln w="12700">
            <a:solidFill>
              <a:srgbClr val="C3D8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9672"/>
            <a:ext cx="7315200" cy="21945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4788A"/>
                </a:solidFill>
                <a:latin typeface="Arial"/>
              </a:rPr>
              <a:t>Bảo mật đám mây (Cloud Security) · Nông Văn Tình</a:t>
            </a:r>
          </a:p>
        </p:txBody>
      </p:sp>
      <p:sp>
        <p:nvSpPr>
          <p:cNvPr id="7" name="TextBox 6"/>
          <p:cNvSpPr txBox="1"/>
          <p:nvPr/>
        </p:nvSpPr>
        <p:spPr>
          <a:xfrm>
            <a:off x="10161727" y="6519672"/>
            <a:ext cx="1463040" cy="219456"/>
          </a:xfrm>
          <a:prstGeom prst="rect">
            <a:avLst/>
          </a:prstGeom>
          <a:noFill/>
        </p:spPr>
        <p:txBody>
          <a:bodyPr wrap="square" lIns="0" rIns="0" tIns="0" bIns="0" anchor="t">
            <a:spAutoFit/>
          </a:bodyPr>
          <a:lstStyle/>
          <a:p>
            <a:pPr algn="r">
              <a:lnSpc>
                <a:spcPct val="100000"/>
              </a:lnSpc>
              <a:spcBef>
                <a:spcPts val="0"/>
              </a:spcBef>
              <a:spcAft>
                <a:spcPts val="0"/>
              </a:spcAft>
            </a:pPr>
            <a:r>
              <a:rPr sz="900" b="0" i="0">
                <a:solidFill>
                  <a:srgbClr val="64788A"/>
                </a:solidFill>
                <a:latin typeface="Arial"/>
              </a:rPr>
              <a:t>18/18</a:t>
            </a:r>
          </a:p>
        </p:txBody>
      </p:sp>
      <p:sp>
        <p:nvSpPr>
          <p:cNvPr id="8" name="Rectangle 7"/>
          <p:cNvSpPr/>
          <p:nvPr/>
        </p:nvSpPr>
        <p:spPr>
          <a:xfrm>
            <a:off x="566928"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1298448"/>
            <a:ext cx="3721608"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1 · Kiến trúc bảo mật nhiều lớp</a:t>
            </a:r>
          </a:p>
        </p:txBody>
      </p:sp>
      <p:sp>
        <p:nvSpPr>
          <p:cNvPr id="10" name="Rounded Rectangle 9"/>
          <p:cNvSpPr/>
          <p:nvPr/>
        </p:nvSpPr>
        <p:spPr>
          <a:xfrm>
            <a:off x="566928" y="1550543"/>
            <a:ext cx="3840480" cy="530352"/>
          </a:xfrm>
          <a:prstGeom prst="roundRect">
            <a:avLst>
              <a:gd name="adj" fmla="val 12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4000"/>
              </a:lnSpc>
              <a:spcBef>
                <a:spcPts val="0"/>
              </a:spcBef>
              <a:spcAft>
                <a:spcPts val="0"/>
              </a:spcAft>
            </a:pPr>
            <a:r>
              <a:rPr sz="1060" b="1" i="0">
                <a:solidFill>
                  <a:srgbClr val="0E2D4E"/>
                </a:solidFill>
                <a:latin typeface="Arial"/>
              </a:rPr>
              <a:t>SHARED RESPONSIBILITY + CIA</a:t>
            </a:r>
          </a:p>
          <a:p>
            <a:pPr algn="ctr">
              <a:lnSpc>
                <a:spcPct val="104000"/>
              </a:lnSpc>
              <a:spcBef>
                <a:spcPts val="100"/>
              </a:spcBef>
              <a:spcAft>
                <a:spcPts val="0"/>
              </a:spcAft>
            </a:pPr>
            <a:r>
              <a:rPr sz="879" b="0" i="0">
                <a:solidFill>
                  <a:srgbClr val="64788A"/>
                </a:solidFill>
                <a:latin typeface="Arial"/>
              </a:rPr>
              <a:t>Nền tảng</a:t>
            </a:r>
          </a:p>
        </p:txBody>
      </p:sp>
      <p:sp>
        <p:nvSpPr>
          <p:cNvPr id="11" name="Rounded Rectangle 10"/>
          <p:cNvSpPr/>
          <p:nvPr/>
        </p:nvSpPr>
        <p:spPr>
          <a:xfrm>
            <a:off x="566928" y="2181479"/>
            <a:ext cx="3840480" cy="530352"/>
          </a:xfrm>
          <a:prstGeom prst="roundRect">
            <a:avLst>
              <a:gd name="adj" fmla="val 12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4000"/>
              </a:lnSpc>
              <a:spcBef>
                <a:spcPts val="0"/>
              </a:spcBef>
              <a:spcAft>
                <a:spcPts val="0"/>
              </a:spcAft>
            </a:pPr>
            <a:r>
              <a:rPr sz="1060" b="1" i="0">
                <a:solidFill>
                  <a:srgbClr val="0E2D4E"/>
                </a:solidFill>
                <a:latin typeface="Arial"/>
              </a:rPr>
              <a:t>DATA SECURITY</a:t>
            </a:r>
          </a:p>
          <a:p>
            <a:pPr algn="ctr">
              <a:lnSpc>
                <a:spcPct val="104000"/>
              </a:lnSpc>
              <a:spcBef>
                <a:spcPts val="100"/>
              </a:spcBef>
              <a:spcAft>
                <a:spcPts val="0"/>
              </a:spcAft>
            </a:pPr>
            <a:r>
              <a:rPr sz="879" b="0" i="0">
                <a:solidFill>
                  <a:srgbClr val="64788A"/>
                </a:solidFill>
                <a:latin typeface="Arial"/>
              </a:rPr>
              <a:t>Crypto + access control</a:t>
            </a:r>
          </a:p>
        </p:txBody>
      </p:sp>
      <p:sp>
        <p:nvSpPr>
          <p:cNvPr id="12" name="Rounded Rectangle 11"/>
          <p:cNvSpPr/>
          <p:nvPr/>
        </p:nvSpPr>
        <p:spPr>
          <a:xfrm>
            <a:off x="566928" y="2812415"/>
            <a:ext cx="3840480" cy="530352"/>
          </a:xfrm>
          <a:prstGeom prst="roundRect">
            <a:avLst>
              <a:gd name="adj" fmla="val 12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4000"/>
              </a:lnSpc>
              <a:spcBef>
                <a:spcPts val="0"/>
              </a:spcBef>
              <a:spcAft>
                <a:spcPts val="0"/>
              </a:spcAft>
            </a:pPr>
            <a:r>
              <a:rPr sz="1060" b="1" i="0">
                <a:solidFill>
                  <a:srgbClr val="0E2D4E"/>
                </a:solidFill>
                <a:latin typeface="Arial"/>
              </a:rPr>
              <a:t>CRYPTOGRAPHY · IAM · NETWORK</a:t>
            </a:r>
          </a:p>
          <a:p>
            <a:pPr algn="ctr">
              <a:lnSpc>
                <a:spcPct val="104000"/>
              </a:lnSpc>
              <a:spcBef>
                <a:spcPts val="100"/>
              </a:spcBef>
              <a:spcAft>
                <a:spcPts val="0"/>
              </a:spcAft>
            </a:pPr>
            <a:r>
              <a:rPr sz="879" b="0" i="0">
                <a:solidFill>
                  <a:srgbClr val="64788A"/>
                </a:solidFill>
                <a:latin typeface="Arial"/>
              </a:rPr>
              <a:t>ABE/FHE/SE · identity · trust zones</a:t>
            </a:r>
          </a:p>
        </p:txBody>
      </p:sp>
      <p:sp>
        <p:nvSpPr>
          <p:cNvPr id="13" name="Rounded Rectangle 12"/>
          <p:cNvSpPr/>
          <p:nvPr/>
        </p:nvSpPr>
        <p:spPr>
          <a:xfrm>
            <a:off x="566928" y="3443351"/>
            <a:ext cx="3840480" cy="530352"/>
          </a:xfrm>
          <a:prstGeom prst="roundRect">
            <a:avLst>
              <a:gd name="adj" fmla="val 12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4000"/>
              </a:lnSpc>
              <a:spcBef>
                <a:spcPts val="0"/>
              </a:spcBef>
              <a:spcAft>
                <a:spcPts val="0"/>
              </a:spcAft>
            </a:pPr>
            <a:r>
              <a:rPr sz="1060" b="1" i="0">
                <a:solidFill>
                  <a:srgbClr val="0E2D4E"/>
                </a:solidFill>
                <a:latin typeface="Arial"/>
              </a:rPr>
              <a:t>APPLICATION &amp; VM</a:t>
            </a:r>
          </a:p>
          <a:p>
            <a:pPr algn="ctr">
              <a:lnSpc>
                <a:spcPct val="104000"/>
              </a:lnSpc>
              <a:spcBef>
                <a:spcPts val="100"/>
              </a:spcBef>
              <a:spcAft>
                <a:spcPts val="0"/>
              </a:spcAft>
            </a:pPr>
            <a:r>
              <a:rPr sz="879" b="0" i="0">
                <a:solidFill>
                  <a:srgbClr val="64788A"/>
                </a:solidFill>
                <a:latin typeface="Arial"/>
              </a:rPr>
              <a:t>SaaS · PaaS · IaaS</a:t>
            </a:r>
          </a:p>
        </p:txBody>
      </p:sp>
      <p:sp>
        <p:nvSpPr>
          <p:cNvPr id="14" name="Rounded Rectangle 13"/>
          <p:cNvSpPr/>
          <p:nvPr/>
        </p:nvSpPr>
        <p:spPr>
          <a:xfrm>
            <a:off x="566928" y="4074286"/>
            <a:ext cx="3840480" cy="530352"/>
          </a:xfrm>
          <a:prstGeom prst="roundRect">
            <a:avLst>
              <a:gd name="adj" fmla="val 12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4000"/>
              </a:lnSpc>
              <a:spcBef>
                <a:spcPts val="0"/>
              </a:spcBef>
              <a:spcAft>
                <a:spcPts val="0"/>
              </a:spcAft>
            </a:pPr>
            <a:r>
              <a:rPr sz="1060" b="1" i="0">
                <a:solidFill>
                  <a:srgbClr val="0E2D4E"/>
                </a:solidFill>
                <a:latin typeface="Arial"/>
              </a:rPr>
              <a:t>MONITORING &amp; LOGGING</a:t>
            </a:r>
          </a:p>
          <a:p>
            <a:pPr algn="ctr">
              <a:lnSpc>
                <a:spcPct val="104000"/>
              </a:lnSpc>
              <a:spcBef>
                <a:spcPts val="100"/>
              </a:spcBef>
              <a:spcAft>
                <a:spcPts val="0"/>
              </a:spcAft>
            </a:pPr>
            <a:r>
              <a:rPr sz="879" b="0" i="0">
                <a:solidFill>
                  <a:srgbClr val="64788A"/>
                </a:solidFill>
                <a:latin typeface="Arial"/>
              </a:rPr>
              <a:t>Phát hiện</a:t>
            </a:r>
          </a:p>
        </p:txBody>
      </p:sp>
      <p:sp>
        <p:nvSpPr>
          <p:cNvPr id="15" name="Rounded Rectangle 14"/>
          <p:cNvSpPr/>
          <p:nvPr/>
        </p:nvSpPr>
        <p:spPr>
          <a:xfrm>
            <a:off x="566928" y="4705223"/>
            <a:ext cx="3840480" cy="530352"/>
          </a:xfrm>
          <a:prstGeom prst="roundRect">
            <a:avLst>
              <a:gd name="adj" fmla="val 12000"/>
            </a:avLst>
          </a:prstGeom>
          <a:solidFill>
            <a:srgbClr val="EAF2F9"/>
          </a:solidFill>
          <a:ln w="12700">
            <a:solidFill>
              <a:srgbClr val="5D9BD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4000"/>
              </a:lnSpc>
              <a:spcBef>
                <a:spcPts val="0"/>
              </a:spcBef>
              <a:spcAft>
                <a:spcPts val="0"/>
              </a:spcAft>
            </a:pPr>
            <a:r>
              <a:rPr sz="1060" b="1" i="0">
                <a:solidFill>
                  <a:srgbClr val="0E2D4E"/>
                </a:solidFill>
                <a:latin typeface="Arial"/>
              </a:rPr>
              <a:t>RESPONSE &amp; RECOVERY</a:t>
            </a:r>
          </a:p>
          <a:p>
            <a:pPr algn="ctr">
              <a:lnSpc>
                <a:spcPct val="104000"/>
              </a:lnSpc>
              <a:spcBef>
                <a:spcPts val="100"/>
              </a:spcBef>
              <a:spcAft>
                <a:spcPts val="0"/>
              </a:spcAft>
            </a:pPr>
            <a:r>
              <a:rPr sz="879" b="0" i="0">
                <a:solidFill>
                  <a:srgbClr val="64788A"/>
                </a:solidFill>
                <a:latin typeface="Arial"/>
              </a:rPr>
              <a:t>Khắc phục</a:t>
            </a:r>
          </a:p>
        </p:txBody>
      </p:sp>
      <p:sp>
        <p:nvSpPr>
          <p:cNvPr id="16" name="Rounded Rectangle 15"/>
          <p:cNvSpPr/>
          <p:nvPr/>
        </p:nvSpPr>
        <p:spPr>
          <a:xfrm>
            <a:off x="566928" y="5336159"/>
            <a:ext cx="3840480" cy="530352"/>
          </a:xfrm>
          <a:prstGeom prst="roundRect">
            <a:avLst>
              <a:gd name="adj" fmla="val 12000"/>
            </a:avLst>
          </a:prstGeom>
          <a:solidFill>
            <a:srgbClr val="0E2D4E"/>
          </a:solidFill>
          <a:ln w="12700">
            <a:solidFill>
              <a:srgbClr val="0E2D4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4000"/>
              </a:lnSpc>
              <a:spcBef>
                <a:spcPts val="0"/>
              </a:spcBef>
              <a:spcAft>
                <a:spcPts val="0"/>
              </a:spcAft>
            </a:pPr>
            <a:r>
              <a:rPr sz="1060" b="1" i="0">
                <a:solidFill>
                  <a:srgbClr val="FFFFFF"/>
                </a:solidFill>
                <a:latin typeface="Arial"/>
              </a:rPr>
              <a:t>DEFENSE-IN-DEPTH</a:t>
            </a:r>
          </a:p>
          <a:p>
            <a:pPr algn="ctr">
              <a:lnSpc>
                <a:spcPct val="104000"/>
              </a:lnSpc>
              <a:spcBef>
                <a:spcPts val="100"/>
              </a:spcBef>
              <a:spcAft>
                <a:spcPts val="0"/>
              </a:spcAft>
            </a:pPr>
            <a:r>
              <a:rPr sz="879" b="0" i="0">
                <a:solidFill>
                  <a:srgbClr val="64788A"/>
                </a:solidFill>
                <a:latin typeface="Arial"/>
              </a:rPr>
              <a:t>Kết quả tổng hợp</a:t>
            </a:r>
          </a:p>
        </p:txBody>
      </p:sp>
      <p:sp>
        <p:nvSpPr>
          <p:cNvPr id="17" name="Rectangle 16"/>
          <p:cNvSpPr/>
          <p:nvPr/>
        </p:nvSpPr>
        <p:spPr>
          <a:xfrm>
            <a:off x="4718304" y="1316736"/>
            <a:ext cx="50292" cy="142367"/>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837176" y="1298448"/>
            <a:ext cx="6787591" cy="188087"/>
          </a:xfrm>
          <a:prstGeom prst="rect">
            <a:avLst/>
          </a:prstGeom>
          <a:noFill/>
        </p:spPr>
        <p:txBody>
          <a:bodyPr wrap="square" lIns="0" rIns="0" tIns="0" bIns="0" anchor="t">
            <a:spAutoFit/>
          </a:bodyPr>
          <a:lstStyle/>
          <a:p>
            <a:pPr algn="l">
              <a:lnSpc>
                <a:spcPct val="110000"/>
              </a:lnSpc>
              <a:spcBef>
                <a:spcPts val="0"/>
              </a:spcBef>
              <a:spcAft>
                <a:spcPts val="0"/>
              </a:spcAft>
            </a:pPr>
            <a:r>
              <a:rPr sz="1150" b="1" i="0">
                <a:solidFill>
                  <a:srgbClr val="0E2D4E"/>
                </a:solidFill>
                <a:latin typeface="Arial"/>
              </a:rPr>
              <a:t>2 · Ba nguyên tắc cần nhớ</a:t>
            </a:r>
          </a:p>
        </p:txBody>
      </p:sp>
      <p:sp>
        <p:nvSpPr>
          <p:cNvPr id="19" name="Rounded Rectangle 18"/>
          <p:cNvSpPr/>
          <p:nvPr/>
        </p:nvSpPr>
        <p:spPr>
          <a:xfrm>
            <a:off x="4718304" y="1550543"/>
            <a:ext cx="6906463" cy="1115568"/>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718304" y="1550543"/>
            <a:ext cx="59436" cy="111556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919472" y="1687702"/>
            <a:ext cx="6568135" cy="197866"/>
          </a:xfrm>
          <a:prstGeom prst="rect">
            <a:avLst/>
          </a:prstGeom>
          <a:noFill/>
        </p:spPr>
        <p:txBody>
          <a:bodyPr wrap="square" lIns="0" rIns="0" tIns="0" bIns="0" anchor="t">
            <a:spAutoFit/>
          </a:bodyPr>
          <a:lstStyle/>
          <a:p>
            <a:pPr algn="l">
              <a:lnSpc>
                <a:spcPct val="110000"/>
              </a:lnSpc>
              <a:spcBef>
                <a:spcPts val="0"/>
              </a:spcBef>
              <a:spcAft>
                <a:spcPts val="0"/>
              </a:spcAft>
            </a:pPr>
            <a:r>
              <a:rPr sz="1220" b="1" i="0">
                <a:solidFill>
                  <a:srgbClr val="0E2D4E"/>
                </a:solidFill>
                <a:latin typeface="Arial"/>
              </a:rPr>
              <a:t>1 · Shared Responsibility</a:t>
            </a:r>
          </a:p>
        </p:txBody>
      </p:sp>
      <p:sp>
        <p:nvSpPr>
          <p:cNvPr id="22" name="TextBox 21"/>
          <p:cNvSpPr txBox="1"/>
          <p:nvPr/>
        </p:nvSpPr>
        <p:spPr>
          <a:xfrm>
            <a:off x="4919472" y="1949576"/>
            <a:ext cx="6568135" cy="333857"/>
          </a:xfrm>
          <a:prstGeom prst="rect">
            <a:avLst/>
          </a:prstGeom>
          <a:noFill/>
        </p:spPr>
        <p:txBody>
          <a:bodyPr wrap="square" lIns="0" rIns="0" tIns="0" bIns="0" anchor="t">
            <a:spAutoFit/>
          </a:bodyPr>
          <a:lstStyle/>
          <a:p>
            <a:pPr algn="l">
              <a:lnSpc>
                <a:spcPct val="116000"/>
              </a:lnSpc>
              <a:spcBef>
                <a:spcPts val="0"/>
              </a:spcBef>
              <a:spcAft>
                <a:spcPts val="0"/>
              </a:spcAft>
            </a:pPr>
            <a:r>
              <a:rPr sz="1040" b="0" i="0">
                <a:solidFill>
                  <a:srgbClr val="2B3A47"/>
                </a:solidFill>
                <a:latin typeface="Arial"/>
              </a:rPr>
              <a:t>Cloud </a:t>
            </a:r>
            <a:r>
              <a:rPr sz="1040" b="1" i="0">
                <a:solidFill>
                  <a:srgbClr val="1F6FB2"/>
                </a:solidFill>
                <a:latin typeface="Arial"/>
              </a:rPr>
              <a:t>không loại bỏ</a:t>
            </a:r>
            <a:r>
              <a:rPr sz="1040" b="0" i="0">
                <a:solidFill>
                  <a:srgbClr val="2B3A47"/>
                </a:solidFill>
                <a:latin typeface="Arial"/>
              </a:rPr>
              <a:t> trách nhiệm bảo mật — Cloud </a:t>
            </a:r>
            <a:r>
              <a:rPr sz="1040" b="1" i="0">
                <a:solidFill>
                  <a:srgbClr val="1F6FB2"/>
                </a:solidFill>
                <a:latin typeface="Arial"/>
              </a:rPr>
              <a:t>phân chia lại</a:t>
            </a:r>
            <a:r>
              <a:rPr sz="1040" b="0" i="0">
                <a:solidFill>
                  <a:srgbClr val="2B3A47"/>
                </a:solidFill>
                <a:latin typeface="Arial"/>
              </a:rPr>
              <a:t>. </a:t>
            </a:r>
            <a:r>
              <a:rPr sz="1040" b="1" i="0">
                <a:solidFill>
                  <a:srgbClr val="1F6FB2"/>
                </a:solidFill>
                <a:latin typeface="Arial"/>
              </a:rPr>
              <a:t>IaaS:</a:t>
            </a:r>
            <a:r>
              <a:rPr sz="1040" b="0" i="0">
                <a:solidFill>
                  <a:srgbClr val="2B3A47"/>
                </a:solidFill>
                <a:latin typeface="Arial"/>
              </a:rPr>
              <a:t> OS, VM, mạng, app, dữ liệu · </a:t>
            </a:r>
            <a:r>
              <a:rPr sz="1040" b="1" i="0">
                <a:solidFill>
                  <a:srgbClr val="1F6FB2"/>
                </a:solidFill>
                <a:latin typeface="Arial"/>
              </a:rPr>
              <a:t>PaaS:</a:t>
            </a:r>
            <a:r>
              <a:rPr sz="1040" b="0" i="0">
                <a:solidFill>
                  <a:srgbClr val="2B3A47"/>
                </a:solidFill>
                <a:latin typeface="Arial"/>
              </a:rPr>
              <a:t> app, dữ liệu, identity · </a:t>
            </a:r>
            <a:r>
              <a:rPr sz="1040" b="1" i="0">
                <a:solidFill>
                  <a:srgbClr val="1F6FB2"/>
                </a:solidFill>
                <a:latin typeface="Arial"/>
              </a:rPr>
              <a:t>SaaS:</a:t>
            </a:r>
            <a:r>
              <a:rPr sz="1040" b="0" i="0">
                <a:solidFill>
                  <a:srgbClr val="2B3A47"/>
                </a:solidFill>
                <a:latin typeface="Arial"/>
              </a:rPr>
              <a:t> identity, dữ liệu, quyền truy cập.</a:t>
            </a:r>
          </a:p>
        </p:txBody>
      </p:sp>
      <p:sp>
        <p:nvSpPr>
          <p:cNvPr id="23" name="Rounded Rectangle 22"/>
          <p:cNvSpPr/>
          <p:nvPr/>
        </p:nvSpPr>
        <p:spPr>
          <a:xfrm>
            <a:off x="4718304" y="2794127"/>
            <a:ext cx="6906463" cy="100584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718304" y="2794127"/>
            <a:ext cx="59436" cy="10058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919472" y="2931286"/>
            <a:ext cx="6568135" cy="197866"/>
          </a:xfrm>
          <a:prstGeom prst="rect">
            <a:avLst/>
          </a:prstGeom>
          <a:noFill/>
        </p:spPr>
        <p:txBody>
          <a:bodyPr wrap="square" lIns="0" rIns="0" tIns="0" bIns="0" anchor="t">
            <a:spAutoFit/>
          </a:bodyPr>
          <a:lstStyle/>
          <a:p>
            <a:pPr algn="l">
              <a:lnSpc>
                <a:spcPct val="110000"/>
              </a:lnSpc>
              <a:spcBef>
                <a:spcPts val="0"/>
              </a:spcBef>
              <a:spcAft>
                <a:spcPts val="0"/>
              </a:spcAft>
            </a:pPr>
            <a:r>
              <a:rPr sz="1220" b="1" i="0">
                <a:solidFill>
                  <a:srgbClr val="0E2D4E"/>
                </a:solidFill>
                <a:latin typeface="Arial"/>
              </a:rPr>
              <a:t>2 · Data Security ≠ Encryption only</a:t>
            </a:r>
          </a:p>
        </p:txBody>
      </p:sp>
      <p:sp>
        <p:nvSpPr>
          <p:cNvPr id="26" name="TextBox 25"/>
          <p:cNvSpPr txBox="1"/>
          <p:nvPr/>
        </p:nvSpPr>
        <p:spPr>
          <a:xfrm>
            <a:off x="4919472" y="3193160"/>
            <a:ext cx="6568135" cy="333857"/>
          </a:xfrm>
          <a:prstGeom prst="rect">
            <a:avLst/>
          </a:prstGeom>
          <a:noFill/>
        </p:spPr>
        <p:txBody>
          <a:bodyPr wrap="square" lIns="0" rIns="0" tIns="0" bIns="0" anchor="t">
            <a:spAutoFit/>
          </a:bodyPr>
          <a:lstStyle/>
          <a:p>
            <a:pPr algn="l">
              <a:lnSpc>
                <a:spcPct val="116000"/>
              </a:lnSpc>
              <a:spcBef>
                <a:spcPts val="0"/>
              </a:spcBef>
              <a:spcAft>
                <a:spcPts val="0"/>
              </a:spcAft>
            </a:pPr>
            <a:r>
              <a:rPr sz="1040" b="0" i="0">
                <a:solidFill>
                  <a:srgbClr val="2B3A47"/>
                </a:solidFill>
                <a:latin typeface="Arial"/>
              </a:rPr>
              <a:t>Kết hợp </a:t>
            </a:r>
            <a:r>
              <a:rPr sz="1040" b="1" i="0">
                <a:solidFill>
                  <a:srgbClr val="1F6FB2"/>
                </a:solidFill>
                <a:latin typeface="Arial"/>
              </a:rPr>
              <a:t>CIA</a:t>
            </a:r>
            <a:r>
              <a:rPr sz="1040" b="0" i="0">
                <a:solidFill>
                  <a:srgbClr val="2B3A47"/>
                </a:solidFill>
                <a:latin typeface="Arial"/>
              </a:rPr>
              <a:t> với </a:t>
            </a:r>
            <a:r>
              <a:rPr sz="1040" b="1" i="0">
                <a:solidFill>
                  <a:srgbClr val="1F6FB2"/>
                </a:solidFill>
                <a:latin typeface="Arial"/>
              </a:rPr>
              <a:t>access control + privacy + data lifecycle + metadata</a:t>
            </a:r>
            <a:r>
              <a:rPr sz="1040" b="0" i="0">
                <a:solidFill>
                  <a:srgbClr val="2B3A47"/>
                </a:solidFill>
                <a:latin typeface="Arial"/>
              </a:rPr>
              <a:t>: mã hóa bảo vệ dữ liệu, nhưng </a:t>
            </a:r>
            <a:r>
              <a:rPr sz="1040" b="1" i="0">
                <a:solidFill>
                  <a:srgbClr val="1F6FB2"/>
                </a:solidFill>
                <a:latin typeface="Arial"/>
              </a:rPr>
              <a:t>quyền truy cập</a:t>
            </a:r>
            <a:r>
              <a:rPr sz="1040" b="0" i="0">
                <a:solidFill>
                  <a:srgbClr val="2B3A47"/>
                </a:solidFill>
                <a:latin typeface="Arial"/>
              </a:rPr>
              <a:t> quyết định ai dùng được dữ liệu.</a:t>
            </a:r>
          </a:p>
        </p:txBody>
      </p:sp>
      <p:sp>
        <p:nvSpPr>
          <p:cNvPr id="27" name="Rounded Rectangle 26"/>
          <p:cNvSpPr/>
          <p:nvPr/>
        </p:nvSpPr>
        <p:spPr>
          <a:xfrm>
            <a:off x="4718304" y="3927982"/>
            <a:ext cx="6906463" cy="1005840"/>
          </a:xfrm>
          <a:prstGeom prst="roundRect">
            <a:avLst>
              <a:gd name="adj" fmla="val 6000"/>
            </a:avLst>
          </a:prstGeom>
          <a:solidFill>
            <a:srgbClr val="F5F9FC"/>
          </a:solidFill>
          <a:ln w="12700">
            <a:solidFill>
              <a:srgbClr val="C3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4718304" y="3927982"/>
            <a:ext cx="59436" cy="10058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919472" y="4065143"/>
            <a:ext cx="6568135" cy="197866"/>
          </a:xfrm>
          <a:prstGeom prst="rect">
            <a:avLst/>
          </a:prstGeom>
          <a:noFill/>
        </p:spPr>
        <p:txBody>
          <a:bodyPr wrap="square" lIns="0" rIns="0" tIns="0" bIns="0" anchor="t">
            <a:spAutoFit/>
          </a:bodyPr>
          <a:lstStyle/>
          <a:p>
            <a:pPr algn="l">
              <a:lnSpc>
                <a:spcPct val="110000"/>
              </a:lnSpc>
              <a:spcBef>
                <a:spcPts val="0"/>
              </a:spcBef>
              <a:spcAft>
                <a:spcPts val="0"/>
              </a:spcAft>
            </a:pPr>
            <a:r>
              <a:rPr sz="1220" b="1" i="0">
                <a:solidFill>
                  <a:srgbClr val="0E2D4E"/>
                </a:solidFill>
                <a:latin typeface="Arial"/>
              </a:rPr>
              <a:t>3 · Defense-in-Depth</a:t>
            </a:r>
          </a:p>
        </p:txBody>
      </p:sp>
      <p:sp>
        <p:nvSpPr>
          <p:cNvPr id="30" name="TextBox 29"/>
          <p:cNvSpPr txBox="1"/>
          <p:nvPr/>
        </p:nvSpPr>
        <p:spPr>
          <a:xfrm>
            <a:off x="4919472" y="4327017"/>
            <a:ext cx="6568135" cy="333857"/>
          </a:xfrm>
          <a:prstGeom prst="rect">
            <a:avLst/>
          </a:prstGeom>
          <a:noFill/>
        </p:spPr>
        <p:txBody>
          <a:bodyPr wrap="square" lIns="0" rIns="0" tIns="0" bIns="0" anchor="t">
            <a:spAutoFit/>
          </a:bodyPr>
          <a:lstStyle/>
          <a:p>
            <a:pPr algn="l">
              <a:lnSpc>
                <a:spcPct val="116000"/>
              </a:lnSpc>
              <a:spcBef>
                <a:spcPts val="0"/>
              </a:spcBef>
              <a:spcAft>
                <a:spcPts val="0"/>
              </a:spcAft>
            </a:pPr>
            <a:r>
              <a:rPr sz="1040" b="0" i="0">
                <a:solidFill>
                  <a:srgbClr val="2B3A47"/>
                </a:solidFill>
                <a:latin typeface="Arial"/>
              </a:rPr>
              <a:t>Không phụ thuộc một cơ chế duy nhất: </a:t>
            </a:r>
            <a:r>
              <a:rPr sz="1040" b="1" i="0">
                <a:solidFill>
                  <a:srgbClr val="1F6FB2"/>
                </a:solidFill>
                <a:latin typeface="Arial"/>
              </a:rPr>
              <a:t>crypto → IAM → network → application/VM → monitoring → response</a:t>
            </a:r>
            <a:r>
              <a:rPr sz="1040" b="0" i="0">
                <a:solidFill>
                  <a:srgbClr val="2B3A47"/>
                </a:solidFill>
                <a:latin typeface="Arial"/>
              </a:rPr>
              <a:t>. Một lớp bị vượt qua, các lớp còn lại vẫn giới hạn tác động.</a:t>
            </a:r>
          </a:p>
        </p:txBody>
      </p:sp>
      <p:sp>
        <p:nvSpPr>
          <p:cNvPr id="31" name="Rounded Rectangle 30"/>
          <p:cNvSpPr/>
          <p:nvPr/>
        </p:nvSpPr>
        <p:spPr>
          <a:xfrm>
            <a:off x="4718304" y="5061839"/>
            <a:ext cx="6906463" cy="1225296"/>
          </a:xfrm>
          <a:prstGeom prst="roundRect">
            <a:avLst>
              <a:gd name="adj" fmla="val 6000"/>
            </a:avLst>
          </a:prstGeom>
          <a:solidFill>
            <a:srgbClr val="FBEDEB"/>
          </a:solidFill>
          <a:ln w="12700">
            <a:solidFill>
              <a:srgbClr val="EEBDB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4718304" y="5061839"/>
            <a:ext cx="59436" cy="1225296"/>
          </a:xfrm>
          <a:prstGeom prst="rect">
            <a:avLst/>
          </a:prstGeom>
          <a:solidFill>
            <a:srgbClr val="B834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919472" y="5198999"/>
            <a:ext cx="6568135" cy="197866"/>
          </a:xfrm>
          <a:prstGeom prst="rect">
            <a:avLst/>
          </a:prstGeom>
          <a:noFill/>
        </p:spPr>
        <p:txBody>
          <a:bodyPr wrap="square" lIns="0" rIns="0" tIns="0" bIns="0" anchor="t">
            <a:spAutoFit/>
          </a:bodyPr>
          <a:lstStyle/>
          <a:p>
            <a:pPr algn="l">
              <a:lnSpc>
                <a:spcPct val="110000"/>
              </a:lnSpc>
              <a:spcBef>
                <a:spcPts val="0"/>
              </a:spcBef>
              <a:spcAft>
                <a:spcPts val="0"/>
              </a:spcAft>
            </a:pPr>
            <a:r>
              <a:rPr sz="1220" b="1" i="0">
                <a:solidFill>
                  <a:srgbClr val="B8342A"/>
                </a:solidFill>
                <a:latin typeface="Arial"/>
              </a:rPr>
              <a:t>Đặc biệt bảo vệ: Credentials &amp; Secrets</a:t>
            </a:r>
          </a:p>
        </p:txBody>
      </p:sp>
      <p:sp>
        <p:nvSpPr>
          <p:cNvPr id="34" name="TextBox 33"/>
          <p:cNvSpPr txBox="1"/>
          <p:nvPr/>
        </p:nvSpPr>
        <p:spPr>
          <a:xfrm>
            <a:off x="4919472" y="5460873"/>
            <a:ext cx="6568135" cy="605231"/>
          </a:xfrm>
          <a:prstGeom prst="rect">
            <a:avLst/>
          </a:prstGeom>
          <a:noFill/>
        </p:spPr>
        <p:txBody>
          <a:bodyPr wrap="square" lIns="0" rIns="0" tIns="0" bIns="0" anchor="t">
            <a:spAutoFit/>
          </a:bodyPr>
          <a:lstStyle/>
          <a:p>
            <a:pPr algn="l">
              <a:lnSpc>
                <a:spcPct val="116000"/>
              </a:lnSpc>
              <a:spcBef>
                <a:spcPts val="0"/>
              </a:spcBef>
              <a:spcAft>
                <a:spcPts val="500"/>
              </a:spcAft>
            </a:pPr>
            <a:r>
              <a:rPr sz="1019" b="0" i="0">
                <a:solidFill>
                  <a:srgbClr val="2B3A47"/>
                </a:solidFill>
                <a:latin typeface="Arial"/>
              </a:rPr>
              <a:t>API keys · passwords · tokens · certificates · SSH keys · service accounts.</a:t>
            </a:r>
          </a:p>
          <a:p>
            <a:pPr algn="l">
              <a:lnSpc>
                <a:spcPct val="116000"/>
              </a:lnSpc>
              <a:spcBef>
                <a:spcPts val="0"/>
              </a:spcBef>
              <a:spcAft>
                <a:spcPts val="500"/>
              </a:spcAft>
            </a:pPr>
            <a:r>
              <a:rPr sz="1019" b="1" i="0">
                <a:solidFill>
                  <a:srgbClr val="B8342A"/>
                </a:solidFill>
                <a:latin typeface="Arial"/>
              </a:rPr>
              <a:t>Leaked secret → unauthorized access → privilege escalation → lateral movement.</a:t>
            </a:r>
          </a:p>
          <a:p>
            <a:pPr algn="l">
              <a:lnSpc>
                <a:spcPct val="116000"/>
              </a:lnSpc>
              <a:spcBef>
                <a:spcPts val="0"/>
              </a:spcBef>
              <a:spcAft>
                <a:spcPts val="0"/>
              </a:spcAft>
            </a:pPr>
            <a:r>
              <a:rPr sz="1019" b="1" i="0">
                <a:solidFill>
                  <a:srgbClr val="B8342A"/>
                </a:solidFill>
                <a:latin typeface="Arial"/>
              </a:rPr>
              <a:t>Least Privilege → Secure Storage → Rotation → Monitoring → Revocation.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